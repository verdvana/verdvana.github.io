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notesSlides/notesSlide20.xml" ContentType="application/vnd.openxmlformats-officedocument.presentationml.notesSlide+xml"/>
  <Override PartName="/ppt/notesSlides/notesSlide21.xml" ContentType="application/vnd.openxmlformats-officedocument.presentationml.notesSlide+xml"/>
  <Override PartName="/ppt/notesSlides/notesSlide22.xml" ContentType="application/vnd.openxmlformats-officedocument.presentationml.notesSlide+xml"/>
  <Override PartName="/ppt/notesSlides/notesSlide23.xml" ContentType="application/vnd.openxmlformats-officedocument.presentationml.notesSlide+xml"/>
  <Override PartName="/ppt/notesSlides/notesSlide24.xml" ContentType="application/vnd.openxmlformats-officedocument.presentationml.notesSlide+xml"/>
  <Override PartName="/ppt/notesSlides/notesSlide25.xml" ContentType="application/vnd.openxmlformats-officedocument.presentationml.notesSlide+xml"/>
  <Override PartName="/ppt/notesSlides/notesSlide26.xml" ContentType="application/vnd.openxmlformats-officedocument.presentationml.notesSlide+xml"/>
  <Override PartName="/ppt/notesSlides/notesSlide27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  <Override PartName="/docMetadata/LabelInfo.xml" ContentType="application/vnd.ms-office.classificationlabel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microsoft.com/office/2020/02/relationships/classificationlabels" Target="docMetadata/LabelInfo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29"/>
  </p:notesMasterIdLst>
  <p:sldIdLst>
    <p:sldId id="256" r:id="rId2"/>
    <p:sldId id="257" r:id="rId3"/>
    <p:sldId id="258" r:id="rId4"/>
    <p:sldId id="262" r:id="rId5"/>
    <p:sldId id="259" r:id="rId6"/>
    <p:sldId id="260" r:id="rId7"/>
    <p:sldId id="261" r:id="rId8"/>
    <p:sldId id="263" r:id="rId9"/>
    <p:sldId id="264" r:id="rId10"/>
    <p:sldId id="281" r:id="rId11"/>
    <p:sldId id="265" r:id="rId12"/>
    <p:sldId id="266" r:id="rId13"/>
    <p:sldId id="267" r:id="rId14"/>
    <p:sldId id="268" r:id="rId15"/>
    <p:sldId id="269" r:id="rId16"/>
    <p:sldId id="270" r:id="rId17"/>
    <p:sldId id="271" r:id="rId18"/>
    <p:sldId id="273" r:id="rId19"/>
    <p:sldId id="272" r:id="rId20"/>
    <p:sldId id="274" r:id="rId21"/>
    <p:sldId id="275" r:id="rId22"/>
    <p:sldId id="276" r:id="rId23"/>
    <p:sldId id="277" r:id="rId24"/>
    <p:sldId id="278" r:id="rId25"/>
    <p:sldId id="279" r:id="rId26"/>
    <p:sldId id="284" r:id="rId27"/>
    <p:sldId id="285" r:id="rId28"/>
  </p:sldIdLst>
  <p:sldSz cx="9144000" cy="5143500" type="screen16x9"/>
  <p:notesSz cx="6858000" cy="9144000"/>
  <p:defaultTextStyle>
    <a:defPPr>
      <a:defRPr lang="en-US"/>
    </a:defPPr>
    <a:lvl1pPr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0956"/>
    <p:restoredTop sz="94623"/>
  </p:normalViewPr>
  <p:slideViewPr>
    <p:cSldViewPr snapToGrid="0" snapToObjects="1">
      <p:cViewPr>
        <p:scale>
          <a:sx n="116" d="100"/>
          <a:sy n="116" d="100"/>
        </p:scale>
        <p:origin x="706" y="13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34" Type="http://schemas.microsoft.com/office/2016/11/relationships/changesInfo" Target="changesInfos/changesInfo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presProps" Target="presProps.xml"/><Relationship Id="rId8" Type="http://schemas.openxmlformats.org/officeDocument/2006/relationships/slide" Target="slides/slide7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Jinyin Yan" userId="7d7b1cac-fbbc-4678-8cfc-23ca66a374ce" providerId="ADAL" clId="{F4B2358E-BEBC-4C30-A24B-D5654E2AC392}"/>
    <pc:docChg chg="undo redo custSel delSld modSld">
      <pc:chgData name="Jinyin Yan" userId="7d7b1cac-fbbc-4678-8cfc-23ca66a374ce" providerId="ADAL" clId="{F4B2358E-BEBC-4C30-A24B-D5654E2AC392}" dt="2026-07-26T05:59:09.385" v="413" actId="1076"/>
      <pc:docMkLst>
        <pc:docMk/>
      </pc:docMkLst>
      <pc:sldChg chg="delSp mod">
        <pc:chgData name="Jinyin Yan" userId="7d7b1cac-fbbc-4678-8cfc-23ca66a374ce" providerId="ADAL" clId="{F4B2358E-BEBC-4C30-A24B-D5654E2AC392}" dt="2026-07-21T08:31:51.290" v="136" actId="478"/>
        <pc:sldMkLst>
          <pc:docMk/>
          <pc:sldMk cId="1711511345" sldId="256"/>
        </pc:sldMkLst>
      </pc:sldChg>
      <pc:sldChg chg="addSp delSp modSp mod">
        <pc:chgData name="Jinyin Yan" userId="7d7b1cac-fbbc-4678-8cfc-23ca66a374ce" providerId="ADAL" clId="{F4B2358E-BEBC-4C30-A24B-D5654E2AC392}" dt="2026-07-21T08:59:27.434" v="333" actId="478"/>
        <pc:sldMkLst>
          <pc:docMk/>
          <pc:sldMk cId="236741536" sldId="257"/>
        </pc:sldMkLst>
        <pc:spChg chg="mod">
          <ac:chgData name="Jinyin Yan" userId="7d7b1cac-fbbc-4678-8cfc-23ca66a374ce" providerId="ADAL" clId="{F4B2358E-BEBC-4C30-A24B-D5654E2AC392}" dt="2026-07-21T08:55:26.972" v="275" actId="20577"/>
          <ac:spMkLst>
            <pc:docMk/>
            <pc:sldMk cId="236741536" sldId="257"/>
            <ac:spMk id="12" creationId="{A3DF9DBA-4CFB-4E32-85C1-C8D618ABD189}"/>
          </ac:spMkLst>
        </pc:spChg>
        <pc:spChg chg="mod">
          <ac:chgData name="Jinyin Yan" userId="7d7b1cac-fbbc-4678-8cfc-23ca66a374ce" providerId="ADAL" clId="{F4B2358E-BEBC-4C30-A24B-D5654E2AC392}" dt="2026-07-21T08:55:31.484" v="280" actId="20577"/>
          <ac:spMkLst>
            <pc:docMk/>
            <pc:sldMk cId="236741536" sldId="257"/>
            <ac:spMk id="16" creationId="{B836FF47-599E-409E-95D1-9585AF9FEC1C}"/>
          </ac:spMkLst>
        </pc:spChg>
        <pc:spChg chg="mod">
          <ac:chgData name="Jinyin Yan" userId="7d7b1cac-fbbc-4678-8cfc-23ca66a374ce" providerId="ADAL" clId="{F4B2358E-BEBC-4C30-A24B-D5654E2AC392}" dt="2026-07-21T08:58:57.725" v="314"/>
          <ac:spMkLst>
            <pc:docMk/>
            <pc:sldMk cId="236741536" sldId="257"/>
            <ac:spMk id="20" creationId="{04A915D7-5F47-43BB-B6A2-72848F35622B}"/>
          </ac:spMkLst>
        </pc:spChg>
        <pc:spChg chg="mod">
          <ac:chgData name="Jinyin Yan" userId="7d7b1cac-fbbc-4678-8cfc-23ca66a374ce" providerId="ADAL" clId="{F4B2358E-BEBC-4C30-A24B-D5654E2AC392}" dt="2026-07-21T08:59:02.524" v="315"/>
          <ac:spMkLst>
            <pc:docMk/>
            <pc:sldMk cId="236741536" sldId="257"/>
            <ac:spMk id="24" creationId="{347889C8-D24A-4B56-90C8-6F94E2EBDD86}"/>
          </ac:spMkLst>
        </pc:spChg>
        <pc:spChg chg="mod">
          <ac:chgData name="Jinyin Yan" userId="7d7b1cac-fbbc-4678-8cfc-23ca66a374ce" providerId="ADAL" clId="{F4B2358E-BEBC-4C30-A24B-D5654E2AC392}" dt="2026-07-21T08:59:06.816" v="316"/>
          <ac:spMkLst>
            <pc:docMk/>
            <pc:sldMk cId="236741536" sldId="257"/>
            <ac:spMk id="28" creationId="{96BDE2A3-DCA1-4C38-9A51-E875B764DAEE}"/>
          </ac:spMkLst>
        </pc:spChg>
        <pc:spChg chg="add del">
          <ac:chgData name="Jinyin Yan" userId="7d7b1cac-fbbc-4678-8cfc-23ca66a374ce" providerId="ADAL" clId="{F4B2358E-BEBC-4C30-A24B-D5654E2AC392}" dt="2026-07-21T08:55:12.327" v="272" actId="478"/>
          <ac:spMkLst>
            <pc:docMk/>
            <pc:sldMk cId="236741536" sldId="257"/>
            <ac:spMk id="33" creationId="{1BAC6240-92D2-4E28-AF7B-E6B8CE4A1BB0}"/>
          </ac:spMkLst>
        </pc:spChg>
        <pc:spChg chg="add del">
          <ac:chgData name="Jinyin Yan" userId="7d7b1cac-fbbc-4678-8cfc-23ca66a374ce" providerId="ADAL" clId="{F4B2358E-BEBC-4C30-A24B-D5654E2AC392}" dt="2026-07-21T08:55:12.020" v="271" actId="478"/>
          <ac:spMkLst>
            <pc:docMk/>
            <pc:sldMk cId="236741536" sldId="257"/>
            <ac:spMk id="34" creationId="{1594782E-7EC8-439E-8C39-0F1015D35F74}"/>
          </ac:spMkLst>
        </pc:spChg>
        <pc:spChg chg="add del">
          <ac:chgData name="Jinyin Yan" userId="7d7b1cac-fbbc-4678-8cfc-23ca66a374ce" providerId="ADAL" clId="{F4B2358E-BEBC-4C30-A24B-D5654E2AC392}" dt="2026-07-21T08:55:11.423" v="269" actId="478"/>
          <ac:spMkLst>
            <pc:docMk/>
            <pc:sldMk cId="236741536" sldId="257"/>
            <ac:spMk id="35" creationId="{53EB3239-DB23-4B49-A7AB-F135A3F208C1}"/>
          </ac:spMkLst>
        </pc:spChg>
        <pc:spChg chg="add del mod">
          <ac:chgData name="Jinyin Yan" userId="7d7b1cac-fbbc-4678-8cfc-23ca66a374ce" providerId="ADAL" clId="{F4B2358E-BEBC-4C30-A24B-D5654E2AC392}" dt="2026-07-21T08:59:18.690" v="329"/>
          <ac:spMkLst>
            <pc:docMk/>
            <pc:sldMk cId="236741536" sldId="257"/>
            <ac:spMk id="36" creationId="{5E457D0F-138E-41A2-A7CB-CB53FC813944}"/>
          </ac:spMkLst>
        </pc:spChg>
        <pc:spChg chg="add mod">
          <ac:chgData name="Jinyin Yan" userId="7d7b1cac-fbbc-4678-8cfc-23ca66a374ce" providerId="ADAL" clId="{F4B2358E-BEBC-4C30-A24B-D5654E2AC392}" dt="2026-07-21T08:59:14.638" v="328" actId="20577"/>
          <ac:spMkLst>
            <pc:docMk/>
            <pc:sldMk cId="236741536" sldId="257"/>
            <ac:spMk id="47" creationId="{6CA2CBDC-75FB-D9B6-F829-85A5CDBE1C1F}"/>
          </ac:spMkLst>
        </pc:spChg>
        <pc:picChg chg="mod">
          <ac:chgData name="Jinyin Yan" userId="7d7b1cac-fbbc-4678-8cfc-23ca66a374ce" providerId="ADAL" clId="{F4B2358E-BEBC-4C30-A24B-D5654E2AC392}" dt="2026-07-21T08:51:08.863" v="244" actId="1076"/>
          <ac:picMkLst>
            <pc:docMk/>
            <pc:sldMk cId="236741536" sldId="257"/>
            <ac:picMk id="48" creationId="{00000000-0000-0000-0000-000000000000}"/>
          </ac:picMkLst>
        </pc:picChg>
      </pc:sldChg>
      <pc:sldChg chg="delSp mod">
        <pc:chgData name="Jinyin Yan" userId="7d7b1cac-fbbc-4678-8cfc-23ca66a374ce" providerId="ADAL" clId="{F4B2358E-BEBC-4C30-A24B-D5654E2AC392}" dt="2026-07-21T08:28:49.319" v="106" actId="478"/>
        <pc:sldMkLst>
          <pc:docMk/>
          <pc:sldMk cId="386953213" sldId="258"/>
        </pc:sldMkLst>
      </pc:sldChg>
      <pc:sldChg chg="delSp mod">
        <pc:chgData name="Jinyin Yan" userId="7d7b1cac-fbbc-4678-8cfc-23ca66a374ce" providerId="ADAL" clId="{F4B2358E-BEBC-4C30-A24B-D5654E2AC392}" dt="2026-07-21T08:28:58.892" v="108" actId="478"/>
        <pc:sldMkLst>
          <pc:docMk/>
          <pc:sldMk cId="918532958" sldId="259"/>
        </pc:sldMkLst>
      </pc:sldChg>
      <pc:sldChg chg="delSp mod">
        <pc:chgData name="Jinyin Yan" userId="7d7b1cac-fbbc-4678-8cfc-23ca66a374ce" providerId="ADAL" clId="{F4B2358E-BEBC-4C30-A24B-D5654E2AC392}" dt="2026-07-21T08:29:02.782" v="109" actId="478"/>
        <pc:sldMkLst>
          <pc:docMk/>
          <pc:sldMk cId="1049974845" sldId="260"/>
        </pc:sldMkLst>
      </pc:sldChg>
      <pc:sldChg chg="delSp mod">
        <pc:chgData name="Jinyin Yan" userId="7d7b1cac-fbbc-4678-8cfc-23ca66a374ce" providerId="ADAL" clId="{F4B2358E-BEBC-4C30-A24B-D5654E2AC392}" dt="2026-07-21T08:29:06.868" v="110" actId="478"/>
        <pc:sldMkLst>
          <pc:docMk/>
          <pc:sldMk cId="769711435" sldId="261"/>
        </pc:sldMkLst>
      </pc:sldChg>
      <pc:sldChg chg="delSp mod">
        <pc:chgData name="Jinyin Yan" userId="7d7b1cac-fbbc-4678-8cfc-23ca66a374ce" providerId="ADAL" clId="{F4B2358E-BEBC-4C30-A24B-D5654E2AC392}" dt="2026-07-21T08:28:55.363" v="107" actId="478"/>
        <pc:sldMkLst>
          <pc:docMk/>
          <pc:sldMk cId="344481807" sldId="262"/>
        </pc:sldMkLst>
      </pc:sldChg>
      <pc:sldChg chg="delSp mod">
        <pc:chgData name="Jinyin Yan" userId="7d7b1cac-fbbc-4678-8cfc-23ca66a374ce" providerId="ADAL" clId="{F4B2358E-BEBC-4C30-A24B-D5654E2AC392}" dt="2026-07-21T08:29:12.549" v="111" actId="478"/>
        <pc:sldMkLst>
          <pc:docMk/>
          <pc:sldMk cId="491408968" sldId="263"/>
        </pc:sldMkLst>
      </pc:sldChg>
      <pc:sldChg chg="delSp mod">
        <pc:chgData name="Jinyin Yan" userId="7d7b1cac-fbbc-4678-8cfc-23ca66a374ce" providerId="ADAL" clId="{F4B2358E-BEBC-4C30-A24B-D5654E2AC392}" dt="2026-07-21T08:29:17.958" v="112" actId="478"/>
        <pc:sldMkLst>
          <pc:docMk/>
          <pc:sldMk cId="972818528" sldId="264"/>
        </pc:sldMkLst>
      </pc:sldChg>
      <pc:sldChg chg="delSp mod">
        <pc:chgData name="Jinyin Yan" userId="7d7b1cac-fbbc-4678-8cfc-23ca66a374ce" providerId="ADAL" clId="{F4B2358E-BEBC-4C30-A24B-D5654E2AC392}" dt="2026-07-21T08:29:27.154" v="114" actId="478"/>
        <pc:sldMkLst>
          <pc:docMk/>
          <pc:sldMk cId="268273494" sldId="265"/>
        </pc:sldMkLst>
      </pc:sldChg>
      <pc:sldChg chg="delSp mod">
        <pc:chgData name="Jinyin Yan" userId="7d7b1cac-fbbc-4678-8cfc-23ca66a374ce" providerId="ADAL" clId="{F4B2358E-BEBC-4C30-A24B-D5654E2AC392}" dt="2026-07-21T08:29:33.198" v="115" actId="478"/>
        <pc:sldMkLst>
          <pc:docMk/>
          <pc:sldMk cId="392951874" sldId="266"/>
        </pc:sldMkLst>
      </pc:sldChg>
      <pc:sldChg chg="delSp mod">
        <pc:chgData name="Jinyin Yan" userId="7d7b1cac-fbbc-4678-8cfc-23ca66a374ce" providerId="ADAL" clId="{F4B2358E-BEBC-4C30-A24B-D5654E2AC392}" dt="2026-07-21T08:29:37.314" v="116" actId="478"/>
        <pc:sldMkLst>
          <pc:docMk/>
          <pc:sldMk cId="1268131237" sldId="267"/>
        </pc:sldMkLst>
      </pc:sldChg>
      <pc:sldChg chg="delSp mod">
        <pc:chgData name="Jinyin Yan" userId="7d7b1cac-fbbc-4678-8cfc-23ca66a374ce" providerId="ADAL" clId="{F4B2358E-BEBC-4C30-A24B-D5654E2AC392}" dt="2026-07-21T08:29:40.790" v="117" actId="478"/>
        <pc:sldMkLst>
          <pc:docMk/>
          <pc:sldMk cId="506171269" sldId="268"/>
        </pc:sldMkLst>
      </pc:sldChg>
      <pc:sldChg chg="delSp mod">
        <pc:chgData name="Jinyin Yan" userId="7d7b1cac-fbbc-4678-8cfc-23ca66a374ce" providerId="ADAL" clId="{F4B2358E-BEBC-4C30-A24B-D5654E2AC392}" dt="2026-07-21T08:29:44.879" v="118" actId="478"/>
        <pc:sldMkLst>
          <pc:docMk/>
          <pc:sldMk cId="1957651777" sldId="269"/>
        </pc:sldMkLst>
      </pc:sldChg>
      <pc:sldChg chg="delSp mod">
        <pc:chgData name="Jinyin Yan" userId="7d7b1cac-fbbc-4678-8cfc-23ca66a374ce" providerId="ADAL" clId="{F4B2358E-BEBC-4C30-A24B-D5654E2AC392}" dt="2026-07-21T08:29:52.643" v="119" actId="478"/>
        <pc:sldMkLst>
          <pc:docMk/>
          <pc:sldMk cId="834088118" sldId="270"/>
        </pc:sldMkLst>
      </pc:sldChg>
      <pc:sldChg chg="delSp modSp mod">
        <pc:chgData name="Jinyin Yan" userId="7d7b1cac-fbbc-4678-8cfc-23ca66a374ce" providerId="ADAL" clId="{F4B2358E-BEBC-4C30-A24B-D5654E2AC392}" dt="2026-07-26T05:59:09.385" v="413" actId="1076"/>
        <pc:sldMkLst>
          <pc:docMk/>
          <pc:sldMk cId="192879563" sldId="271"/>
        </pc:sldMkLst>
        <pc:spChg chg="mod">
          <ac:chgData name="Jinyin Yan" userId="7d7b1cac-fbbc-4678-8cfc-23ca66a374ce" providerId="ADAL" clId="{F4B2358E-BEBC-4C30-A24B-D5654E2AC392}" dt="2026-07-26T05:57:31.532" v="402" actId="20577"/>
          <ac:spMkLst>
            <pc:docMk/>
            <pc:sldMk cId="192879563" sldId="271"/>
            <ac:spMk id="4" creationId="{9B08E860-9131-49EE-90CE-50E1FF228996}"/>
          </ac:spMkLst>
        </pc:spChg>
        <pc:spChg chg="mod">
          <ac:chgData name="Jinyin Yan" userId="7d7b1cac-fbbc-4678-8cfc-23ca66a374ce" providerId="ADAL" clId="{F4B2358E-BEBC-4C30-A24B-D5654E2AC392}" dt="2026-07-26T05:58:26.215" v="412" actId="1076"/>
          <ac:spMkLst>
            <pc:docMk/>
            <pc:sldMk cId="192879563" sldId="271"/>
            <ac:spMk id="10" creationId="{EACABA4A-E835-4961-9602-CB0AD7C39B14}"/>
          </ac:spMkLst>
        </pc:spChg>
        <pc:spChg chg="mod">
          <ac:chgData name="Jinyin Yan" userId="7d7b1cac-fbbc-4678-8cfc-23ca66a374ce" providerId="ADAL" clId="{F4B2358E-BEBC-4C30-A24B-D5654E2AC392}" dt="2026-07-26T05:58:26.215" v="412" actId="1076"/>
          <ac:spMkLst>
            <pc:docMk/>
            <pc:sldMk cId="192879563" sldId="271"/>
            <ac:spMk id="12" creationId="{2160E4DC-C864-4432-8A24-6946B707D452}"/>
          </ac:spMkLst>
        </pc:spChg>
        <pc:spChg chg="mod">
          <ac:chgData name="Jinyin Yan" userId="7d7b1cac-fbbc-4678-8cfc-23ca66a374ce" providerId="ADAL" clId="{F4B2358E-BEBC-4C30-A24B-D5654E2AC392}" dt="2026-07-26T05:58:26.215" v="412" actId="1076"/>
          <ac:spMkLst>
            <pc:docMk/>
            <pc:sldMk cId="192879563" sldId="271"/>
            <ac:spMk id="20" creationId="{62F981EC-2CF7-4853-AE23-2378569AA20A}"/>
          </ac:spMkLst>
        </pc:spChg>
        <pc:spChg chg="mod">
          <ac:chgData name="Jinyin Yan" userId="7d7b1cac-fbbc-4678-8cfc-23ca66a374ce" providerId="ADAL" clId="{F4B2358E-BEBC-4C30-A24B-D5654E2AC392}" dt="2026-07-26T05:58:26.215" v="412" actId="1076"/>
          <ac:spMkLst>
            <pc:docMk/>
            <pc:sldMk cId="192879563" sldId="271"/>
            <ac:spMk id="21" creationId="{3741B16D-5E60-44AD-A583-C4A4E6651319}"/>
          </ac:spMkLst>
        </pc:spChg>
        <pc:spChg chg="mod">
          <ac:chgData name="Jinyin Yan" userId="7d7b1cac-fbbc-4678-8cfc-23ca66a374ce" providerId="ADAL" clId="{F4B2358E-BEBC-4C30-A24B-D5654E2AC392}" dt="2026-07-26T05:58:26.215" v="412" actId="1076"/>
          <ac:spMkLst>
            <pc:docMk/>
            <pc:sldMk cId="192879563" sldId="271"/>
            <ac:spMk id="23" creationId="{7B01CB57-A11B-41D0-8EA0-7B47EA321961}"/>
          </ac:spMkLst>
        </pc:spChg>
        <pc:spChg chg="mod">
          <ac:chgData name="Jinyin Yan" userId="7d7b1cac-fbbc-4678-8cfc-23ca66a374ce" providerId="ADAL" clId="{F4B2358E-BEBC-4C30-A24B-D5654E2AC392}" dt="2026-07-26T05:58:26.215" v="412" actId="1076"/>
          <ac:spMkLst>
            <pc:docMk/>
            <pc:sldMk cId="192879563" sldId="271"/>
            <ac:spMk id="24" creationId="{BA0639E5-A24E-4ACC-8999-BC2941B22C5C}"/>
          </ac:spMkLst>
        </pc:spChg>
        <pc:spChg chg="mod">
          <ac:chgData name="Jinyin Yan" userId="7d7b1cac-fbbc-4678-8cfc-23ca66a374ce" providerId="ADAL" clId="{F4B2358E-BEBC-4C30-A24B-D5654E2AC392}" dt="2026-07-26T05:58:26.215" v="412" actId="1076"/>
          <ac:spMkLst>
            <pc:docMk/>
            <pc:sldMk cId="192879563" sldId="271"/>
            <ac:spMk id="28" creationId="{F556CEBA-D4DB-4FCE-A22E-1C033376CDD2}"/>
          </ac:spMkLst>
        </pc:spChg>
        <pc:spChg chg="mod">
          <ac:chgData name="Jinyin Yan" userId="7d7b1cac-fbbc-4678-8cfc-23ca66a374ce" providerId="ADAL" clId="{F4B2358E-BEBC-4C30-A24B-D5654E2AC392}" dt="2026-07-26T05:58:26.215" v="412" actId="1076"/>
          <ac:spMkLst>
            <pc:docMk/>
            <pc:sldMk cId="192879563" sldId="271"/>
            <ac:spMk id="31" creationId="{168F9BF2-8103-4F5E-8379-8BD3C8CECA2A}"/>
          </ac:spMkLst>
        </pc:spChg>
        <pc:spChg chg="mod">
          <ac:chgData name="Jinyin Yan" userId="7d7b1cac-fbbc-4678-8cfc-23ca66a374ce" providerId="ADAL" clId="{F4B2358E-BEBC-4C30-A24B-D5654E2AC392}" dt="2026-07-26T05:58:26.215" v="412" actId="1076"/>
          <ac:spMkLst>
            <pc:docMk/>
            <pc:sldMk cId="192879563" sldId="271"/>
            <ac:spMk id="32" creationId="{E5C6633C-D063-4D34-983E-5F07138B1038}"/>
          </ac:spMkLst>
        </pc:spChg>
        <pc:spChg chg="mod">
          <ac:chgData name="Jinyin Yan" userId="7d7b1cac-fbbc-4678-8cfc-23ca66a374ce" providerId="ADAL" clId="{F4B2358E-BEBC-4C30-A24B-D5654E2AC392}" dt="2026-07-26T05:58:14.507" v="411" actId="1076"/>
          <ac:spMkLst>
            <pc:docMk/>
            <pc:sldMk cId="192879563" sldId="271"/>
            <ac:spMk id="34" creationId="{564C2F1C-9504-47B7-AAAF-E6D36379C25D}"/>
          </ac:spMkLst>
        </pc:spChg>
        <pc:spChg chg="mod">
          <ac:chgData name="Jinyin Yan" userId="7d7b1cac-fbbc-4678-8cfc-23ca66a374ce" providerId="ADAL" clId="{F4B2358E-BEBC-4C30-A24B-D5654E2AC392}" dt="2026-07-26T05:58:26.215" v="412" actId="1076"/>
          <ac:spMkLst>
            <pc:docMk/>
            <pc:sldMk cId="192879563" sldId="271"/>
            <ac:spMk id="35" creationId="{06DA3D4B-3EAD-44CE-8FDA-DFA23AF90331}"/>
          </ac:spMkLst>
        </pc:spChg>
        <pc:spChg chg="mod">
          <ac:chgData name="Jinyin Yan" userId="7d7b1cac-fbbc-4678-8cfc-23ca66a374ce" providerId="ADAL" clId="{F4B2358E-BEBC-4C30-A24B-D5654E2AC392}" dt="2026-07-26T05:58:14.507" v="411" actId="1076"/>
          <ac:spMkLst>
            <pc:docMk/>
            <pc:sldMk cId="192879563" sldId="271"/>
            <ac:spMk id="37" creationId="{49357DA6-9E89-4527-B644-3A4318152E06}"/>
          </ac:spMkLst>
        </pc:spChg>
        <pc:spChg chg="mod">
          <ac:chgData name="Jinyin Yan" userId="7d7b1cac-fbbc-4678-8cfc-23ca66a374ce" providerId="ADAL" clId="{F4B2358E-BEBC-4C30-A24B-D5654E2AC392}" dt="2026-07-21T08:55:15.456" v="274" actId="20577"/>
          <ac:spMkLst>
            <pc:docMk/>
            <pc:sldMk cId="192879563" sldId="271"/>
            <ac:spMk id="38" creationId="{90F95377-76C1-477F-9582-DFB0565EE1B6}"/>
          </ac:spMkLst>
        </pc:spChg>
        <pc:spChg chg="del">
          <ac:chgData name="Jinyin Yan" userId="7d7b1cac-fbbc-4678-8cfc-23ca66a374ce" providerId="ADAL" clId="{F4B2358E-BEBC-4C30-A24B-D5654E2AC392}" dt="2026-07-26T05:57:47.002" v="404" actId="478"/>
          <ac:spMkLst>
            <pc:docMk/>
            <pc:sldMk cId="192879563" sldId="271"/>
            <ac:spMk id="39" creationId="{5658E464-D23D-4015-B039-8D747CA8FFF8}"/>
          </ac:spMkLst>
        </pc:spChg>
        <pc:picChg chg="mod">
          <ac:chgData name="Jinyin Yan" userId="7d7b1cac-fbbc-4678-8cfc-23ca66a374ce" providerId="ADAL" clId="{F4B2358E-BEBC-4C30-A24B-D5654E2AC392}" dt="2026-07-26T05:59:09.385" v="413" actId="1076"/>
          <ac:picMkLst>
            <pc:docMk/>
            <pc:sldMk cId="192879563" sldId="271"/>
            <ac:picMk id="48" creationId="{00000000-0000-0000-0000-000000000000}"/>
          </ac:picMkLst>
        </pc:picChg>
        <pc:picChg chg="del">
          <ac:chgData name="Jinyin Yan" userId="7d7b1cac-fbbc-4678-8cfc-23ca66a374ce" providerId="ADAL" clId="{F4B2358E-BEBC-4C30-A24B-D5654E2AC392}" dt="2026-07-26T05:57:45.573" v="403" actId="478"/>
          <ac:picMkLst>
            <pc:docMk/>
            <pc:sldMk cId="192879563" sldId="271"/>
            <ac:picMk id="86" creationId="{00000000-0000-0000-0000-000000000000}"/>
          </ac:picMkLst>
        </pc:picChg>
      </pc:sldChg>
      <pc:sldChg chg="delSp modSp mod">
        <pc:chgData name="Jinyin Yan" userId="7d7b1cac-fbbc-4678-8cfc-23ca66a374ce" providerId="ADAL" clId="{F4B2358E-BEBC-4C30-A24B-D5654E2AC392}" dt="2026-07-21T08:30:16.672" v="124" actId="478"/>
        <pc:sldMkLst>
          <pc:docMk/>
          <pc:sldMk cId="319729781" sldId="272"/>
        </pc:sldMkLst>
        <pc:spChg chg="mod">
          <ac:chgData name="Jinyin Yan" userId="7d7b1cac-fbbc-4678-8cfc-23ca66a374ce" providerId="ADAL" clId="{F4B2358E-BEBC-4C30-A24B-D5654E2AC392}" dt="2026-07-20T13:53:53.532" v="7" actId="20577"/>
          <ac:spMkLst>
            <pc:docMk/>
            <pc:sldMk cId="319729781" sldId="272"/>
            <ac:spMk id="4" creationId="{27744673-F9FE-4274-9F4E-EBB5DEE009D1}"/>
          </ac:spMkLst>
        </pc:spChg>
      </pc:sldChg>
      <pc:sldChg chg="addSp delSp modSp mod">
        <pc:chgData name="Jinyin Yan" userId="7d7b1cac-fbbc-4678-8cfc-23ca66a374ce" providerId="ADAL" clId="{F4B2358E-BEBC-4C30-A24B-D5654E2AC392}" dt="2026-07-21T08:35:42.549" v="187" actId="1076"/>
        <pc:sldMkLst>
          <pc:docMk/>
          <pc:sldMk cId="79783225" sldId="273"/>
        </pc:sldMkLst>
        <pc:spChg chg="mod">
          <ac:chgData name="Jinyin Yan" userId="7d7b1cac-fbbc-4678-8cfc-23ca66a374ce" providerId="ADAL" clId="{F4B2358E-BEBC-4C30-A24B-D5654E2AC392}" dt="2026-07-21T08:34:09.425" v="151" actId="20577"/>
          <ac:spMkLst>
            <pc:docMk/>
            <pc:sldMk cId="79783225" sldId="273"/>
            <ac:spMk id="4" creationId="{9A1BA0B3-2731-4087-8894-150DD2BEF246}"/>
          </ac:spMkLst>
        </pc:spChg>
        <pc:spChg chg="mod">
          <ac:chgData name="Jinyin Yan" userId="7d7b1cac-fbbc-4678-8cfc-23ca66a374ce" providerId="ADAL" clId="{F4B2358E-BEBC-4C30-A24B-D5654E2AC392}" dt="2026-07-21T08:35:37.810" v="186" actId="1076"/>
          <ac:spMkLst>
            <pc:docMk/>
            <pc:sldMk cId="79783225" sldId="273"/>
            <ac:spMk id="5" creationId="{18FC11B2-966C-4967-A8D6-3D5E7B59C189}"/>
          </ac:spMkLst>
        </pc:spChg>
        <pc:spChg chg="mod">
          <ac:chgData name="Jinyin Yan" userId="7d7b1cac-fbbc-4678-8cfc-23ca66a374ce" providerId="ADAL" clId="{F4B2358E-BEBC-4C30-A24B-D5654E2AC392}" dt="2026-07-21T08:35:37.810" v="186" actId="1076"/>
          <ac:spMkLst>
            <pc:docMk/>
            <pc:sldMk cId="79783225" sldId="273"/>
            <ac:spMk id="10" creationId="{68245DEB-CA96-4EB5-8D0C-D6BBF64EF5C6}"/>
          </ac:spMkLst>
        </pc:spChg>
        <pc:spChg chg="mod">
          <ac:chgData name="Jinyin Yan" userId="7d7b1cac-fbbc-4678-8cfc-23ca66a374ce" providerId="ADAL" clId="{F4B2358E-BEBC-4C30-A24B-D5654E2AC392}" dt="2026-07-21T08:35:37.810" v="186" actId="1076"/>
          <ac:spMkLst>
            <pc:docMk/>
            <pc:sldMk cId="79783225" sldId="273"/>
            <ac:spMk id="11" creationId="{6990F491-E769-437E-AB27-60F1B13CD9DB}"/>
          </ac:spMkLst>
        </pc:spChg>
        <pc:spChg chg="mod">
          <ac:chgData name="Jinyin Yan" userId="7d7b1cac-fbbc-4678-8cfc-23ca66a374ce" providerId="ADAL" clId="{F4B2358E-BEBC-4C30-A24B-D5654E2AC392}" dt="2026-07-21T08:35:37.810" v="186" actId="1076"/>
          <ac:spMkLst>
            <pc:docMk/>
            <pc:sldMk cId="79783225" sldId="273"/>
            <ac:spMk id="12" creationId="{CBDCDE09-0610-4A11-9045-1D43C1076C6E}"/>
          </ac:spMkLst>
        </pc:spChg>
        <pc:spChg chg="mod">
          <ac:chgData name="Jinyin Yan" userId="7d7b1cac-fbbc-4678-8cfc-23ca66a374ce" providerId="ADAL" clId="{F4B2358E-BEBC-4C30-A24B-D5654E2AC392}" dt="2026-07-21T08:35:37.810" v="186" actId="1076"/>
          <ac:spMkLst>
            <pc:docMk/>
            <pc:sldMk cId="79783225" sldId="273"/>
            <ac:spMk id="13" creationId="{5A4BF7DA-FB74-415D-BD5C-38E92A85AEEE}"/>
          </ac:spMkLst>
        </pc:spChg>
        <pc:spChg chg="mod">
          <ac:chgData name="Jinyin Yan" userId="7d7b1cac-fbbc-4678-8cfc-23ca66a374ce" providerId="ADAL" clId="{F4B2358E-BEBC-4C30-A24B-D5654E2AC392}" dt="2026-07-21T08:35:37.810" v="186" actId="1076"/>
          <ac:spMkLst>
            <pc:docMk/>
            <pc:sldMk cId="79783225" sldId="273"/>
            <ac:spMk id="14" creationId="{AB3A83D0-54C0-4B86-AF6C-E6B6B3DEDFFB}"/>
          </ac:spMkLst>
        </pc:spChg>
        <pc:spChg chg="mod">
          <ac:chgData name="Jinyin Yan" userId="7d7b1cac-fbbc-4678-8cfc-23ca66a374ce" providerId="ADAL" clId="{F4B2358E-BEBC-4C30-A24B-D5654E2AC392}" dt="2026-07-21T08:35:37.810" v="186" actId="1076"/>
          <ac:spMkLst>
            <pc:docMk/>
            <pc:sldMk cId="79783225" sldId="273"/>
            <ac:spMk id="15" creationId="{B4C3CE73-135F-4AA4-A118-6162EF0B4BC0}"/>
          </ac:spMkLst>
        </pc:spChg>
        <pc:spChg chg="mod">
          <ac:chgData name="Jinyin Yan" userId="7d7b1cac-fbbc-4678-8cfc-23ca66a374ce" providerId="ADAL" clId="{F4B2358E-BEBC-4C30-A24B-D5654E2AC392}" dt="2026-07-21T08:35:37.810" v="186" actId="1076"/>
          <ac:spMkLst>
            <pc:docMk/>
            <pc:sldMk cId="79783225" sldId="273"/>
            <ac:spMk id="17" creationId="{A3BAEC7A-0ABF-4F2D-9C15-E815191AAA80}"/>
          </ac:spMkLst>
        </pc:spChg>
        <pc:spChg chg="mod">
          <ac:chgData name="Jinyin Yan" userId="7d7b1cac-fbbc-4678-8cfc-23ca66a374ce" providerId="ADAL" clId="{F4B2358E-BEBC-4C30-A24B-D5654E2AC392}" dt="2026-07-21T08:35:37.810" v="186" actId="1076"/>
          <ac:spMkLst>
            <pc:docMk/>
            <pc:sldMk cId="79783225" sldId="273"/>
            <ac:spMk id="19" creationId="{A5A96213-E171-4AE3-9701-4536AD369D71}"/>
          </ac:spMkLst>
        </pc:spChg>
        <pc:spChg chg="mod">
          <ac:chgData name="Jinyin Yan" userId="7d7b1cac-fbbc-4678-8cfc-23ca66a374ce" providerId="ADAL" clId="{F4B2358E-BEBC-4C30-A24B-D5654E2AC392}" dt="2026-07-21T08:35:37.810" v="186" actId="1076"/>
          <ac:spMkLst>
            <pc:docMk/>
            <pc:sldMk cId="79783225" sldId="273"/>
            <ac:spMk id="23" creationId="{565CA13B-C222-4DD9-88CC-4FAA4EB8EB3A}"/>
          </ac:spMkLst>
        </pc:spChg>
        <pc:picChg chg="add del mod">
          <ac:chgData name="Jinyin Yan" userId="7d7b1cac-fbbc-4678-8cfc-23ca66a374ce" providerId="ADAL" clId="{F4B2358E-BEBC-4C30-A24B-D5654E2AC392}" dt="2026-07-21T08:35:42.549" v="187" actId="1076"/>
          <ac:picMkLst>
            <pc:docMk/>
            <pc:sldMk cId="79783225" sldId="273"/>
            <ac:picMk id="57" creationId="{00000000-0000-0000-0000-000000000000}"/>
          </ac:picMkLst>
        </pc:picChg>
      </pc:sldChg>
      <pc:sldChg chg="delSp modSp mod">
        <pc:chgData name="Jinyin Yan" userId="7d7b1cac-fbbc-4678-8cfc-23ca66a374ce" providerId="ADAL" clId="{F4B2358E-BEBC-4C30-A24B-D5654E2AC392}" dt="2026-07-21T08:36:25.867" v="191" actId="20577"/>
        <pc:sldMkLst>
          <pc:docMk/>
          <pc:sldMk cId="888372294" sldId="274"/>
        </pc:sldMkLst>
        <pc:spChg chg="mod">
          <ac:chgData name="Jinyin Yan" userId="7d7b1cac-fbbc-4678-8cfc-23ca66a374ce" providerId="ADAL" clId="{F4B2358E-BEBC-4C30-A24B-D5654E2AC392}" dt="2026-07-21T08:36:25.867" v="191" actId="20577"/>
          <ac:spMkLst>
            <pc:docMk/>
            <pc:sldMk cId="888372294" sldId="274"/>
            <ac:spMk id="4" creationId="{53B3F636-C27B-4C42-A03C-95C69DE9E0A0}"/>
          </ac:spMkLst>
        </pc:spChg>
      </pc:sldChg>
      <pc:sldChg chg="addSp delSp modSp mod">
        <pc:chgData name="Jinyin Yan" userId="7d7b1cac-fbbc-4678-8cfc-23ca66a374ce" providerId="ADAL" clId="{F4B2358E-BEBC-4C30-A24B-D5654E2AC392}" dt="2026-07-21T08:36:29.624" v="195" actId="20577"/>
        <pc:sldMkLst>
          <pc:docMk/>
          <pc:sldMk cId="249312381" sldId="275"/>
        </pc:sldMkLst>
        <pc:spChg chg="mod">
          <ac:chgData name="Jinyin Yan" userId="7d7b1cac-fbbc-4678-8cfc-23ca66a374ce" providerId="ADAL" clId="{F4B2358E-BEBC-4C30-A24B-D5654E2AC392}" dt="2026-07-21T08:36:29.624" v="195" actId="20577"/>
          <ac:spMkLst>
            <pc:docMk/>
            <pc:sldMk cId="249312381" sldId="275"/>
            <ac:spMk id="4" creationId="{4AFB7AA5-84B5-45F2-8AAE-2EC7813DF130}"/>
          </ac:spMkLst>
        </pc:spChg>
        <pc:spChg chg="mod">
          <ac:chgData name="Jinyin Yan" userId="7d7b1cac-fbbc-4678-8cfc-23ca66a374ce" providerId="ADAL" clId="{F4B2358E-BEBC-4C30-A24B-D5654E2AC392}" dt="2026-07-21T07:07:19.771" v="54" actId="1076"/>
          <ac:spMkLst>
            <pc:docMk/>
            <pc:sldMk cId="249312381" sldId="275"/>
            <ac:spMk id="5" creationId="{1EF93748-77BE-4F5F-84D2-8C17BA39D8EA}"/>
          </ac:spMkLst>
        </pc:spChg>
        <pc:spChg chg="mod">
          <ac:chgData name="Jinyin Yan" userId="7d7b1cac-fbbc-4678-8cfc-23ca66a374ce" providerId="ADAL" clId="{F4B2358E-BEBC-4C30-A24B-D5654E2AC392}" dt="2026-07-21T07:07:19.771" v="54" actId="1076"/>
          <ac:spMkLst>
            <pc:docMk/>
            <pc:sldMk cId="249312381" sldId="275"/>
            <ac:spMk id="7" creationId="{EF7703A0-7F21-4BEF-9F9B-8D291607C623}"/>
          </ac:spMkLst>
        </pc:spChg>
        <pc:spChg chg="mod">
          <ac:chgData name="Jinyin Yan" userId="7d7b1cac-fbbc-4678-8cfc-23ca66a374ce" providerId="ADAL" clId="{F4B2358E-BEBC-4C30-A24B-D5654E2AC392}" dt="2026-07-21T07:52:34.165" v="94" actId="20577"/>
          <ac:spMkLst>
            <pc:docMk/>
            <pc:sldMk cId="249312381" sldId="275"/>
            <ac:spMk id="12" creationId="{1B345C97-A197-4B9E-8210-75D41DED40CC}"/>
          </ac:spMkLst>
        </pc:spChg>
        <pc:spChg chg="mod">
          <ac:chgData name="Jinyin Yan" userId="7d7b1cac-fbbc-4678-8cfc-23ca66a374ce" providerId="ADAL" clId="{F4B2358E-BEBC-4C30-A24B-D5654E2AC392}" dt="2026-07-21T07:53:52.560" v="95" actId="20577"/>
          <ac:spMkLst>
            <pc:docMk/>
            <pc:sldMk cId="249312381" sldId="275"/>
            <ac:spMk id="13" creationId="{DA423A7E-56F1-4B62-9774-B325E9A6E5D6}"/>
          </ac:spMkLst>
        </pc:spChg>
        <pc:spChg chg="mod">
          <ac:chgData name="Jinyin Yan" userId="7d7b1cac-fbbc-4678-8cfc-23ca66a374ce" providerId="ADAL" clId="{F4B2358E-BEBC-4C30-A24B-D5654E2AC392}" dt="2026-07-21T07:47:25.680" v="57"/>
          <ac:spMkLst>
            <pc:docMk/>
            <pc:sldMk cId="249312381" sldId="275"/>
            <ac:spMk id="14" creationId="{3F3876F6-9070-4B13-90AF-0DBC8515818D}"/>
          </ac:spMkLst>
        </pc:spChg>
        <pc:spChg chg="mod">
          <ac:chgData name="Jinyin Yan" userId="7d7b1cac-fbbc-4678-8cfc-23ca66a374ce" providerId="ADAL" clId="{F4B2358E-BEBC-4C30-A24B-D5654E2AC392}" dt="2026-07-21T07:47:33.160" v="60"/>
          <ac:spMkLst>
            <pc:docMk/>
            <pc:sldMk cId="249312381" sldId="275"/>
            <ac:spMk id="15" creationId="{643B6F17-2CBF-4F98-8939-459623F66262}"/>
          </ac:spMkLst>
        </pc:spChg>
        <pc:spChg chg="mod">
          <ac:chgData name="Jinyin Yan" userId="7d7b1cac-fbbc-4678-8cfc-23ca66a374ce" providerId="ADAL" clId="{F4B2358E-BEBC-4C30-A24B-D5654E2AC392}" dt="2026-07-21T07:07:19.771" v="54" actId="1076"/>
          <ac:spMkLst>
            <pc:docMk/>
            <pc:sldMk cId="249312381" sldId="275"/>
            <ac:spMk id="17" creationId="{1B8ABEA6-3184-44D4-9D43-8237BD0CCE81}"/>
          </ac:spMkLst>
        </pc:spChg>
        <pc:spChg chg="mod">
          <ac:chgData name="Jinyin Yan" userId="7d7b1cac-fbbc-4678-8cfc-23ca66a374ce" providerId="ADAL" clId="{F4B2358E-BEBC-4C30-A24B-D5654E2AC392}" dt="2026-07-21T07:07:19.771" v="54" actId="1076"/>
          <ac:spMkLst>
            <pc:docMk/>
            <pc:sldMk cId="249312381" sldId="275"/>
            <ac:spMk id="18" creationId="{4755BC0A-D17D-4FE2-8643-0A2DA2AEC616}"/>
          </ac:spMkLst>
        </pc:spChg>
        <pc:spChg chg="mod">
          <ac:chgData name="Jinyin Yan" userId="7d7b1cac-fbbc-4678-8cfc-23ca66a374ce" providerId="ADAL" clId="{F4B2358E-BEBC-4C30-A24B-D5654E2AC392}" dt="2026-07-21T07:07:19.771" v="54" actId="1076"/>
          <ac:spMkLst>
            <pc:docMk/>
            <pc:sldMk cId="249312381" sldId="275"/>
            <ac:spMk id="20" creationId="{44CA489A-3390-468A-8916-B2795E71F758}"/>
          </ac:spMkLst>
        </pc:spChg>
        <pc:spChg chg="mod">
          <ac:chgData name="Jinyin Yan" userId="7d7b1cac-fbbc-4678-8cfc-23ca66a374ce" providerId="ADAL" clId="{F4B2358E-BEBC-4C30-A24B-D5654E2AC392}" dt="2026-07-21T07:07:19.771" v="54" actId="1076"/>
          <ac:spMkLst>
            <pc:docMk/>
            <pc:sldMk cId="249312381" sldId="275"/>
            <ac:spMk id="21" creationId="{1BC487DF-300B-4A17-A402-EA9483BCA7A6}"/>
          </ac:spMkLst>
        </pc:spChg>
        <pc:picChg chg="add del mod">
          <ac:chgData name="Jinyin Yan" userId="7d7b1cac-fbbc-4678-8cfc-23ca66a374ce" providerId="ADAL" clId="{F4B2358E-BEBC-4C30-A24B-D5654E2AC392}" dt="2026-07-21T07:06:39.219" v="49" actId="1076"/>
          <ac:picMkLst>
            <pc:docMk/>
            <pc:sldMk cId="249312381" sldId="275"/>
            <ac:picMk id="31" creationId="{00000000-0000-0000-0000-000000000000}"/>
          </ac:picMkLst>
        </pc:picChg>
      </pc:sldChg>
      <pc:sldChg chg="delSp modSp mod">
        <pc:chgData name="Jinyin Yan" userId="7d7b1cac-fbbc-4678-8cfc-23ca66a374ce" providerId="ADAL" clId="{F4B2358E-BEBC-4C30-A24B-D5654E2AC392}" dt="2026-07-21T08:36:32.557" v="199" actId="20577"/>
        <pc:sldMkLst>
          <pc:docMk/>
          <pc:sldMk cId="1638592438" sldId="276"/>
        </pc:sldMkLst>
        <pc:spChg chg="mod">
          <ac:chgData name="Jinyin Yan" userId="7d7b1cac-fbbc-4678-8cfc-23ca66a374ce" providerId="ADAL" clId="{F4B2358E-BEBC-4C30-A24B-D5654E2AC392}" dt="2026-07-21T08:36:32.557" v="199" actId="20577"/>
          <ac:spMkLst>
            <pc:docMk/>
            <pc:sldMk cId="1638592438" sldId="276"/>
            <ac:spMk id="4" creationId="{FD488467-C46E-43B9-8037-D64C82B694E9}"/>
          </ac:spMkLst>
        </pc:spChg>
        <pc:spChg chg="mod">
          <ac:chgData name="Jinyin Yan" userId="7d7b1cac-fbbc-4678-8cfc-23ca66a374ce" providerId="ADAL" clId="{F4B2358E-BEBC-4C30-A24B-D5654E2AC392}" dt="2026-07-21T05:33:25.175" v="13" actId="20577"/>
          <ac:spMkLst>
            <pc:docMk/>
            <pc:sldMk cId="1638592438" sldId="276"/>
            <ac:spMk id="8" creationId="{84D20F01-8F18-4878-A46A-D9E5D8EB4B13}"/>
          </ac:spMkLst>
        </pc:spChg>
      </pc:sldChg>
      <pc:sldChg chg="delSp modSp mod">
        <pc:chgData name="Jinyin Yan" userId="7d7b1cac-fbbc-4678-8cfc-23ca66a374ce" providerId="ADAL" clId="{F4B2358E-BEBC-4C30-A24B-D5654E2AC392}" dt="2026-07-21T08:36:37.009" v="203" actId="20577"/>
        <pc:sldMkLst>
          <pc:docMk/>
          <pc:sldMk cId="1588855906" sldId="277"/>
        </pc:sldMkLst>
        <pc:spChg chg="mod">
          <ac:chgData name="Jinyin Yan" userId="7d7b1cac-fbbc-4678-8cfc-23ca66a374ce" providerId="ADAL" clId="{F4B2358E-BEBC-4C30-A24B-D5654E2AC392}" dt="2026-07-21T08:36:37.009" v="203" actId="20577"/>
          <ac:spMkLst>
            <pc:docMk/>
            <pc:sldMk cId="1588855906" sldId="277"/>
            <ac:spMk id="4" creationId="{22898D89-3F16-4297-816D-A6879A5A4696}"/>
          </ac:spMkLst>
        </pc:spChg>
      </pc:sldChg>
      <pc:sldChg chg="delSp modSp mod">
        <pc:chgData name="Jinyin Yan" userId="7d7b1cac-fbbc-4678-8cfc-23ca66a374ce" providerId="ADAL" clId="{F4B2358E-BEBC-4C30-A24B-D5654E2AC392}" dt="2026-07-21T08:36:40.394" v="207" actId="20577"/>
        <pc:sldMkLst>
          <pc:docMk/>
          <pc:sldMk cId="491058500" sldId="278"/>
        </pc:sldMkLst>
        <pc:spChg chg="mod">
          <ac:chgData name="Jinyin Yan" userId="7d7b1cac-fbbc-4678-8cfc-23ca66a374ce" providerId="ADAL" clId="{F4B2358E-BEBC-4C30-A24B-D5654E2AC392}" dt="2026-07-21T08:36:40.394" v="207" actId="20577"/>
          <ac:spMkLst>
            <pc:docMk/>
            <pc:sldMk cId="491058500" sldId="278"/>
            <ac:spMk id="4" creationId="{719A0284-9AA9-4A13-B667-5C779E55C689}"/>
          </ac:spMkLst>
        </pc:spChg>
      </pc:sldChg>
      <pc:sldChg chg="delSp modSp mod">
        <pc:chgData name="Jinyin Yan" userId="7d7b1cac-fbbc-4678-8cfc-23ca66a374ce" providerId="ADAL" clId="{F4B2358E-BEBC-4C30-A24B-D5654E2AC392}" dt="2026-07-21T08:45:28.253" v="237" actId="1076"/>
        <pc:sldMkLst>
          <pc:docMk/>
          <pc:sldMk cId="2080264559" sldId="279"/>
        </pc:sldMkLst>
        <pc:spChg chg="mod">
          <ac:chgData name="Jinyin Yan" userId="7d7b1cac-fbbc-4678-8cfc-23ca66a374ce" providerId="ADAL" clId="{F4B2358E-BEBC-4C30-A24B-D5654E2AC392}" dt="2026-07-21T08:36:44.028" v="211" actId="20577"/>
          <ac:spMkLst>
            <pc:docMk/>
            <pc:sldMk cId="2080264559" sldId="279"/>
            <ac:spMk id="4" creationId="{E6DCBBFC-EEA1-4788-9AE9-2DB145980EB0}"/>
          </ac:spMkLst>
        </pc:spChg>
        <pc:picChg chg="mod">
          <ac:chgData name="Jinyin Yan" userId="7d7b1cac-fbbc-4678-8cfc-23ca66a374ce" providerId="ADAL" clId="{F4B2358E-BEBC-4C30-A24B-D5654E2AC392}" dt="2026-07-21T08:44:52.326" v="224" actId="1076"/>
          <ac:picMkLst>
            <pc:docMk/>
            <pc:sldMk cId="2080264559" sldId="279"/>
            <ac:picMk id="33" creationId="{00000000-0000-0000-0000-000000000000}"/>
          </ac:picMkLst>
        </pc:picChg>
        <pc:picChg chg="mod">
          <ac:chgData name="Jinyin Yan" userId="7d7b1cac-fbbc-4678-8cfc-23ca66a374ce" providerId="ADAL" clId="{F4B2358E-BEBC-4C30-A24B-D5654E2AC392}" dt="2026-07-21T08:45:28.253" v="237" actId="1076"/>
          <ac:picMkLst>
            <pc:docMk/>
            <pc:sldMk cId="2080264559" sldId="279"/>
            <ac:picMk id="58" creationId="{00000000-0000-0000-0000-000000000000}"/>
          </ac:picMkLst>
        </pc:picChg>
      </pc:sldChg>
      <pc:sldChg chg="delSp modSp mod">
        <pc:chgData name="Jinyin Yan" userId="7d7b1cac-fbbc-4678-8cfc-23ca66a374ce" providerId="ADAL" clId="{F4B2358E-BEBC-4C30-A24B-D5654E2AC392}" dt="2026-07-21T08:56:53.584" v="301"/>
        <pc:sldMkLst>
          <pc:docMk/>
          <pc:sldMk cId="1639706822" sldId="281"/>
        </pc:sldMkLst>
        <pc:spChg chg="mod">
          <ac:chgData name="Jinyin Yan" userId="7d7b1cac-fbbc-4678-8cfc-23ca66a374ce" providerId="ADAL" clId="{F4B2358E-BEBC-4C30-A24B-D5654E2AC392}" dt="2026-07-21T08:56:53.584" v="301"/>
          <ac:spMkLst>
            <pc:docMk/>
            <pc:sldMk cId="1639706822" sldId="281"/>
            <ac:spMk id="4" creationId="{907DA78F-0D1A-4ADC-BD3A-FEFA7415592F}"/>
          </ac:spMkLst>
        </pc:spChg>
      </pc:sldChg>
      <pc:sldChg chg="delSp modSp mod">
        <pc:chgData name="Jinyin Yan" userId="7d7b1cac-fbbc-4678-8cfc-23ca66a374ce" providerId="ADAL" clId="{F4B2358E-BEBC-4C30-A24B-D5654E2AC392}" dt="2026-07-21T09:20:15.148" v="389" actId="6549"/>
        <pc:sldMkLst>
          <pc:docMk/>
          <pc:sldMk cId="1342804820" sldId="284"/>
        </pc:sldMkLst>
        <pc:spChg chg="mod">
          <ac:chgData name="Jinyin Yan" userId="7d7b1cac-fbbc-4678-8cfc-23ca66a374ce" providerId="ADAL" clId="{F4B2358E-BEBC-4C30-A24B-D5654E2AC392}" dt="2026-07-21T09:16:51.749" v="334"/>
          <ac:spMkLst>
            <pc:docMk/>
            <pc:sldMk cId="1342804820" sldId="284"/>
            <ac:spMk id="8" creationId="{417C1D21-E407-481D-8DD6-05B655016232}"/>
          </ac:spMkLst>
        </pc:spChg>
        <pc:spChg chg="mod">
          <ac:chgData name="Jinyin Yan" userId="7d7b1cac-fbbc-4678-8cfc-23ca66a374ce" providerId="ADAL" clId="{F4B2358E-BEBC-4C30-A24B-D5654E2AC392}" dt="2026-07-21T09:19:32.495" v="369" actId="20577"/>
          <ac:spMkLst>
            <pc:docMk/>
            <pc:sldMk cId="1342804820" sldId="284"/>
            <ac:spMk id="9" creationId="{87D42380-DC69-444B-AE1E-19F588F249EC}"/>
          </ac:spMkLst>
        </pc:spChg>
        <pc:spChg chg="mod">
          <ac:chgData name="Jinyin Yan" userId="7d7b1cac-fbbc-4678-8cfc-23ca66a374ce" providerId="ADAL" clId="{F4B2358E-BEBC-4C30-A24B-D5654E2AC392}" dt="2026-07-21T09:17:53.623" v="343" actId="14100"/>
          <ac:spMkLst>
            <pc:docMk/>
            <pc:sldMk cId="1342804820" sldId="284"/>
            <ac:spMk id="13" creationId="{E278A92E-1B9D-4249-B8DC-385689887644}"/>
          </ac:spMkLst>
        </pc:spChg>
        <pc:spChg chg="mod">
          <ac:chgData name="Jinyin Yan" userId="7d7b1cac-fbbc-4678-8cfc-23ca66a374ce" providerId="ADAL" clId="{F4B2358E-BEBC-4C30-A24B-D5654E2AC392}" dt="2026-07-21T09:19:26.301" v="365" actId="20577"/>
          <ac:spMkLst>
            <pc:docMk/>
            <pc:sldMk cId="1342804820" sldId="284"/>
            <ac:spMk id="14" creationId="{76D2806C-36E4-4886-BE3E-EB11D64A295A}"/>
          </ac:spMkLst>
        </pc:spChg>
        <pc:spChg chg="mod">
          <ac:chgData name="Jinyin Yan" userId="7d7b1cac-fbbc-4678-8cfc-23ca66a374ce" providerId="ADAL" clId="{F4B2358E-BEBC-4C30-A24B-D5654E2AC392}" dt="2026-07-21T09:18:13.557" v="345"/>
          <ac:spMkLst>
            <pc:docMk/>
            <pc:sldMk cId="1342804820" sldId="284"/>
            <ac:spMk id="18" creationId="{9E179DE6-C127-42DC-8056-F41DB480000C}"/>
          </ac:spMkLst>
        </pc:spChg>
        <pc:spChg chg="mod">
          <ac:chgData name="Jinyin Yan" userId="7d7b1cac-fbbc-4678-8cfc-23ca66a374ce" providerId="ADAL" clId="{F4B2358E-BEBC-4C30-A24B-D5654E2AC392}" dt="2026-07-21T09:20:15.148" v="389" actId="6549"/>
          <ac:spMkLst>
            <pc:docMk/>
            <pc:sldMk cId="1342804820" sldId="284"/>
            <ac:spMk id="19" creationId="{45ECE5AB-6FE4-4927-8277-DA44FF383DA8}"/>
          </ac:spMkLst>
        </pc:spChg>
        <pc:spChg chg="mod">
          <ac:chgData name="Jinyin Yan" userId="7d7b1cac-fbbc-4678-8cfc-23ca66a374ce" providerId="ADAL" clId="{F4B2358E-BEBC-4C30-A24B-D5654E2AC392}" dt="2026-07-21T09:18:32.337" v="347"/>
          <ac:spMkLst>
            <pc:docMk/>
            <pc:sldMk cId="1342804820" sldId="284"/>
            <ac:spMk id="23" creationId="{8B4E4572-49AD-4340-92F4-CD31B6B7F1CF}"/>
          </ac:spMkLst>
        </pc:spChg>
        <pc:spChg chg="mod">
          <ac:chgData name="Jinyin Yan" userId="7d7b1cac-fbbc-4678-8cfc-23ca66a374ce" providerId="ADAL" clId="{F4B2358E-BEBC-4C30-A24B-D5654E2AC392}" dt="2026-07-21T09:18:56.010" v="355" actId="20577"/>
          <ac:spMkLst>
            <pc:docMk/>
            <pc:sldMk cId="1342804820" sldId="284"/>
            <ac:spMk id="24" creationId="{9223A2C9-3BE7-4988-91F2-104A7EF322CA}"/>
          </ac:spMkLst>
        </pc:spChg>
      </pc:sldChg>
      <pc:sldChg chg="delSp mod">
        <pc:chgData name="Jinyin Yan" userId="7d7b1cac-fbbc-4678-8cfc-23ca66a374ce" providerId="ADAL" clId="{F4B2358E-BEBC-4C30-A24B-D5654E2AC392}" dt="2026-07-21T08:31:20.281" v="135" actId="478"/>
        <pc:sldMkLst>
          <pc:docMk/>
          <pc:sldMk cId="753593761" sldId="285"/>
        </pc:sldMkLst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"/>
          <p:cNvSpPr>
            <a:spLocks noGrp="1"/>
          </p:cNvSpPr>
          <p:nvPr>
            <p:ph type="hdr" sz="quarter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3" name="Date Placeholder"/>
          <p:cNvSpPr>
            <a:spLocks noGrp="1"/>
          </p:cNvSpPr>
          <p:nvPr>
            <p:ph type="dt" sz="quarter" idx="1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4" name="Slide Image Placeholder"/>
          <p:cNvSpPr>
            <a:spLocks noGrp="1" noRot="1" noChangeAspect="1"/>
          </p:cNvSpPr>
          <p:nvPr>
            <p:ph type="sldImg" idx="2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5" name="Notes Placeholder"/>
          <p:cNvSpPr>
            <a:spLocks noGrp="1"/>
          </p:cNvSpPr>
          <p:nvPr>
            <p:ph type="body" sz="quarter" idx="3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6" name="Footer Placeholder"/>
          <p:cNvSpPr>
            <a:spLocks noGrp="1"/>
          </p:cNvSpPr>
          <p:nvPr>
            <p:ph type="ftr" sz="quarter" idx="4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  <p:sp>
        <p:nvSpPr>
          <p:cNvPr id="7" name="Slide Number Placeholder"/>
          <p:cNvSpPr>
            <a:spLocks noGrp="1"/>
          </p:cNvSpPr>
          <p:nvPr>
            <p:ph type="sldNum" sz="quarter" idx="5"/>
          </p:nvPr>
        </p:nvSpPr>
        <p:spPr>
          <a:prstGeom prst="rect">
            <a:avLst/>
          </a:prstGeom>
        </p:spPr>
        <p:txBody>
          <a:bodyPr/>
          <a:lstStyle/>
          <a:p>
            <a:endParaRPr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/>
    </a:lvl1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2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2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_rels/notesSlide2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2.xml"/><Relationship Id="rId1" Type="http://schemas.openxmlformats.org/officeDocument/2006/relationships/notesMaster" Target="../notesMasters/notesMaster1.xml"/></Relationships>
</file>

<file path=ppt/notesSlides/_rels/notesSlide2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3.xml"/><Relationship Id="rId1" Type="http://schemas.openxmlformats.org/officeDocument/2006/relationships/notesMaster" Target="../notesMasters/notesMaster1.xml"/></Relationships>
</file>

<file path=ppt/notesSlides/_rels/notesSlide2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4.xml"/><Relationship Id="rId1" Type="http://schemas.openxmlformats.org/officeDocument/2006/relationships/notesMaster" Target="../notesMasters/notesMaster1.xml"/></Relationships>
</file>

<file path=ppt/notesSlides/_rels/notesSlide2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5.xml"/><Relationship Id="rId1" Type="http://schemas.openxmlformats.org/officeDocument/2006/relationships/notesMaster" Target="../notesMasters/notesMaster1.xml"/></Relationships>
</file>

<file path=ppt/notesSlides/_rels/notesSlide2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6.xml"/><Relationship Id="rId1" Type="http://schemas.openxmlformats.org/officeDocument/2006/relationships/notesMaster" Target="../notesMasters/notesMaster1.xml"/></Relationships>
</file>

<file path=ppt/notesSlides/_rels/notesSlide2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notesSlides/notesSlide2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/>
          </p:nvPr>
        </p:nvSpPr>
        <p:spPr/>
        <p:txBody>
          <a:bodyPr/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marL="342900" indent="-342900" algn="l" defTabSz="914400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lt"/>
          <a:cs typeface="+mn-lt"/>
        </a:defRPr>
      </a:lvl1pPr>
      <a:lvl2pPr marL="742950" indent="-285750" algn="l" defTabSz="914400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lt"/>
          <a:cs typeface="+mn-lt"/>
        </a:defRPr>
      </a:lvl2pPr>
      <a:lvl3pPr marL="1143000" indent="-228600" algn="l" defTabSz="914400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lt"/>
          <a:cs typeface="+mn-lt"/>
        </a:defRPr>
      </a:lvl3pPr>
      <a:lvl4pPr marL="1600200" indent="-228600" algn="l" defTabSz="914400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lt"/>
          <a:cs typeface="+mn-lt"/>
        </a:defRPr>
      </a:lvl4pPr>
      <a:lvl5pPr marL="2057400" indent="-228600" algn="l" defTabSz="914400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lt"/>
          <a:cs typeface="+mn-lt"/>
        </a:defRPr>
      </a:lvl5pPr>
      <a:lvl6pPr marL="25146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6pPr>
      <a:lvl7pPr marL="29718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7pPr>
      <a:lvl8pPr marL="34290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8pPr>
      <a:lvl9pPr marL="3886200" indent="-228600" algn="l" defTabSz="914400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marL="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1pPr>
      <a:lvl2pPr marL="457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2pPr>
      <a:lvl3pPr marL="914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3pPr>
      <a:lvl4pPr marL="1371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4pPr>
      <a:lvl5pPr marL="18288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5pPr>
      <a:lvl6pPr marL="22860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6pPr>
      <a:lvl7pPr marL="27432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7pPr>
      <a:lvl8pPr marL="32004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8pPr>
      <a:lvl9pPr marL="3657600" algn="l" defTabSz="914400">
        <a:buNone/>
        <a:defRPr sz="1800" kern="12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jpe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5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.png"/><Relationship Id="rId3" Type="http://schemas.openxmlformats.org/officeDocument/2006/relationships/image" Target="../media/image3.jpeg"/><Relationship Id="rId7" Type="http://schemas.openxmlformats.org/officeDocument/2006/relationships/image" Target="../media/image9.pn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.png"/><Relationship Id="rId5" Type="http://schemas.openxmlformats.org/officeDocument/2006/relationships/image" Target="../media/image7.png"/><Relationship Id="rId4" Type="http://schemas.openxmlformats.org/officeDocument/2006/relationships/image" Target="../media/image6.png"/><Relationship Id="rId9" Type="http://schemas.openxmlformats.org/officeDocument/2006/relationships/image" Target="../media/image11.png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jpe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5" Type="http://schemas.openxmlformats.org/officeDocument/2006/relationships/image" Target="../media/image14.png"/><Relationship Id="rId4" Type="http://schemas.openxmlformats.org/officeDocument/2006/relationships/image" Target="../media/image1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.png"/><Relationship Id="rId5" Type="http://schemas.openxmlformats.org/officeDocument/2006/relationships/image" Target="../media/image16.png"/><Relationship Id="rId4" Type="http://schemas.openxmlformats.org/officeDocument/2006/relationships/image" Target="../media/image15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8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1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0.png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1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2.png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3.png"/></Relationships>
</file>

<file path=ppt/slides/_rels/slide1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4.png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7.png"/><Relationship Id="rId5" Type="http://schemas.openxmlformats.org/officeDocument/2006/relationships/image" Target="../media/image26.png"/><Relationship Id="rId4" Type="http://schemas.openxmlformats.org/officeDocument/2006/relationships/image" Target="../media/image2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8.png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0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1.xml"/><Relationship Id="rId1" Type="http://schemas.openxmlformats.org/officeDocument/2006/relationships/slideLayout" Target="../slideLayouts/slideLayout1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2.png"/></Relationships>
</file>

<file path=ppt/slides/_rels/slide2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3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34.jpeg"/><Relationship Id="rId2" Type="http://schemas.openxmlformats.org/officeDocument/2006/relationships/notesSlide" Target="../notesSlides/notesSlide24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5.png"/></Relationships>
</file>

<file path=ppt/slides/_rels/slide25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2" Type="http://schemas.openxmlformats.org/officeDocument/2006/relationships/notesSlide" Target="../notesSlides/notesSlide25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6.png"/></Relationships>
</file>

<file path=ppt/slides/_rels/slide2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jpeg"/><Relationship Id="rId7" Type="http://schemas.openxmlformats.org/officeDocument/2006/relationships/image" Target="../media/image40.png"/><Relationship Id="rId2" Type="http://schemas.openxmlformats.org/officeDocument/2006/relationships/notesSlide" Target="../notesSlides/notesSlide26.xml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5" Type="http://schemas.openxmlformats.org/officeDocument/2006/relationships/image" Target="../media/image38.png"/><Relationship Id="rId4" Type="http://schemas.openxmlformats.org/officeDocument/2006/relationships/image" Target="../media/image37.png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41.jpeg"/><Relationship Id="rId2" Type="http://schemas.openxmlformats.org/officeDocument/2006/relationships/notesSlide" Target="../notesSlides/notesSlide27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2AAB2454-5D7F-4913-A5FE-ACE15FE95F6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3571875" cy="5143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A3F94825-49B3-4935-B62A-2B8F79233B52}"/>
              </a:ext>
            </a:extLst>
          </p:cNvPr>
          <p:cNvSpPr>
            <a:spLocks noGrp="1"/>
          </p:cNvSpPr>
          <p:nvPr/>
        </p:nvSpPr>
        <p:spPr>
          <a:xfrm>
            <a:off x="685800" y="1039806"/>
            <a:ext cx="2457450" cy="122895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96000"/>
              </a:lnSpc>
              <a:buNone/>
            </a:pPr>
            <a:r>
              <a:rPr sz="21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SMART MMU (SMMU)
Design Module Overview</a:t>
            </a:r>
          </a:p>
        </p:txBody>
      </p:sp>
      <p:sp>
        <p:nvSpPr>
          <p:cNvPr id="5" name="Text 2">
            <a:extLst>
              <a:ext uri="{FF2B5EF4-FFF2-40B4-BE49-F238E27FC236}">
                <a16:creationId xmlns:a16="http://schemas.microsoft.com/office/drawing/2014/main" id="{297306EA-DA1C-4028-9E55-126992199FD6}"/>
              </a:ext>
            </a:extLst>
          </p:cNvPr>
          <p:cNvSpPr>
            <a:spLocks noGrp="1"/>
          </p:cNvSpPr>
          <p:nvPr/>
        </p:nvSpPr>
        <p:spPr>
          <a:xfrm>
            <a:off x="685800" y="2262783"/>
            <a:ext cx="2457450" cy="589359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50">
                <a:solidFill>
                  <a:srgbClr val="A5C8FF"/>
                </a:solidFill>
                <a:latin typeface="Arial"/>
                <a:ea typeface="Arial"/>
                <a:cs typeface="Arial"/>
              </a:rPr>
              <a:t>Flexible Shared SRAM Address Management Module</a:t>
            </a:r>
          </a:p>
        </p:txBody>
      </p:sp>
      <p:sp>
        <p:nvSpPr>
          <p:cNvPr id="6" name="Text 3">
            <a:extLst>
              <a:ext uri="{FF2B5EF4-FFF2-40B4-BE49-F238E27FC236}">
                <a16:creationId xmlns:a16="http://schemas.microsoft.com/office/drawing/2014/main" id="{AC5B9A4B-9F7D-4B14-B23C-0025484F4515}"/>
              </a:ext>
            </a:extLst>
          </p:cNvPr>
          <p:cNvSpPr>
            <a:spLocks noGrp="1"/>
          </p:cNvSpPr>
          <p:nvPr/>
        </p:nvSpPr>
        <p:spPr>
          <a:xfrm>
            <a:off x="428625" y="3486484"/>
            <a:ext cx="2714625" cy="20571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b="1" dirty="0">
                <a:solidFill>
                  <a:srgbClr val="00C2DE"/>
                </a:solidFill>
                <a:latin typeface="Arial"/>
                <a:ea typeface="Arial"/>
                <a:cs typeface="Arial"/>
              </a:rPr>
              <a:t>Project: 4-Port 2.5G/1G/100M Ethernet Switch</a:t>
            </a:r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8E176A8-8EC3-4840-A95F-645F72684B8E}"/>
              </a:ext>
            </a:extLst>
          </p:cNvPr>
          <p:cNvSpPr>
            <a:spLocks noGrp="1"/>
          </p:cNvSpPr>
          <p:nvPr/>
        </p:nvSpPr>
        <p:spPr>
          <a:xfrm>
            <a:off x="428625" y="3692202"/>
            <a:ext cx="2714625" cy="20571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b="1">
                <a:solidFill>
                  <a:srgbClr val="00C2DE"/>
                </a:solidFill>
                <a:latin typeface="Arial"/>
                <a:ea typeface="Arial"/>
                <a:cs typeface="Arial"/>
              </a:rPr>
              <a:t>Clock Domain: clk_core, 300 MHz Single Clock Domain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C703188-9479-4687-A3AC-C3BDFDA39C33}"/>
              </a:ext>
            </a:extLst>
          </p:cNvPr>
          <p:cNvSpPr>
            <a:spLocks noGrp="1"/>
          </p:cNvSpPr>
          <p:nvPr/>
        </p:nvSpPr>
        <p:spPr>
          <a:xfrm>
            <a:off x="428625" y="3897920"/>
            <a:ext cx="2714625" cy="20571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b="1" dirty="0">
                <a:solidFill>
                  <a:srgbClr val="00C2DE"/>
                </a:solidFill>
                <a:latin typeface="Arial"/>
                <a:ea typeface="Arial"/>
                <a:cs typeface="Arial"/>
              </a:rPr>
              <a:t>Date: July 16, 2026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B61D3D3-E3F4-47B4-B51B-282B9BFED761}"/>
              </a:ext>
            </a:extLst>
          </p:cNvPr>
          <p:cNvSpPr>
            <a:spLocks noGrp="1"/>
          </p:cNvSpPr>
          <p:nvPr/>
        </p:nvSpPr>
        <p:spPr>
          <a:xfrm>
            <a:off x="428625" y="4757738"/>
            <a:ext cx="1492486" cy="1000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FFFFFF">
                    <a:alpha val="50000"/>
                  </a:srgbClr>
                </a:solidFill>
                <a:latin typeface="Arial"/>
                <a:ea typeface="Arial"/>
                <a:cs typeface="Arial"/>
              </a:rPr>
              <a:t>CONFIDENTIAL TECHNICAL REVIEW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4E89FF26-6EF6-4428-8AF5-715AA62AC236}"/>
              </a:ext>
            </a:extLst>
          </p:cNvPr>
          <p:cNvSpPr>
            <a:spLocks noGrp="1"/>
          </p:cNvSpPr>
          <p:nvPr/>
        </p:nvSpPr>
        <p:spPr>
          <a:xfrm>
            <a:off x="3571875" y="0"/>
            <a:ext cx="5572125" cy="5143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85202B6A-DD8A-4B65-B7D9-A6B045582EBC}"/>
              </a:ext>
            </a:extLst>
          </p:cNvPr>
          <p:cNvSpPr>
            <a:spLocks noGrp="1"/>
          </p:cNvSpPr>
          <p:nvPr/>
        </p:nvSpPr>
        <p:spPr>
          <a:xfrm>
            <a:off x="4205262" y="762595"/>
            <a:ext cx="426883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ctr">
              <a:buNone/>
            </a:pPr>
            <a:r>
              <a:rPr sz="1000" b="1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Simplified Block Diagram of the Main Packet-Processing Path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8EFF0D6D-7051-4453-8CDB-D8AAA28BE793}"/>
              </a:ext>
            </a:extLst>
          </p:cNvPr>
          <p:cNvSpPr>
            <a:spLocks noGrp="1"/>
          </p:cNvSpPr>
          <p:nvPr/>
        </p:nvSpPr>
        <p:spPr>
          <a:xfrm>
            <a:off x="3857625" y="1173361"/>
            <a:ext cx="5000625" cy="2857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30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857625" y="1173361"/>
            <a:ext cx="5000625" cy="28575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711511345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D0813A6F-5D38-4ECB-A601-967F1A0809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4E600EA-78CF-47B3-AAB3-38895B6E347A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1663601" cy="310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AGENDA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073C444-A0A0-4E46-9EFA-505AC7B654AA}"/>
              </a:ext>
            </a:extLst>
          </p:cNvPr>
          <p:cNvSpPr>
            <a:spLocks noGrp="1"/>
          </p:cNvSpPr>
          <p:nvPr/>
        </p:nvSpPr>
        <p:spPr>
          <a:xfrm>
            <a:off x="428625" y="1000125"/>
            <a:ext cx="4000500" cy="571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FB20F71-8F5A-4F51-9250-8979F101D55A}"/>
              </a:ext>
            </a:extLst>
          </p:cNvPr>
          <p:cNvSpPr>
            <a:spLocks noGrp="1"/>
          </p:cNvSpPr>
          <p:nvPr/>
        </p:nvSpPr>
        <p:spPr>
          <a:xfrm>
            <a:off x="428625" y="1000125"/>
            <a:ext cx="28575" cy="571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7E81FE3-0F9D-4334-8595-0ED022BA77EB}"/>
              </a:ext>
            </a:extLst>
          </p:cNvPr>
          <p:cNvSpPr>
            <a:spLocks noGrp="1"/>
          </p:cNvSpPr>
          <p:nvPr/>
        </p:nvSpPr>
        <p:spPr>
          <a:xfrm>
            <a:off x="642938" y="1187648"/>
            <a:ext cx="285750" cy="1964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01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99C48417-10B4-4F35-A30E-F05FCE5005C7}"/>
              </a:ext>
            </a:extLst>
          </p:cNvPr>
          <p:cNvSpPr>
            <a:spLocks noGrp="1"/>
          </p:cNvSpPr>
          <p:nvPr/>
        </p:nvSpPr>
        <p:spPr>
          <a:xfrm>
            <a:off x="1071563" y="1187648"/>
            <a:ext cx="1000125" cy="1964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Design Context and Positioning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EAFFC03D-0D19-42EA-BFE1-90935ACD2022}"/>
              </a:ext>
            </a:extLst>
          </p:cNvPr>
          <p:cNvSpPr>
            <a:spLocks noGrp="1"/>
          </p:cNvSpPr>
          <p:nvPr/>
        </p:nvSpPr>
        <p:spPr>
          <a:xfrm>
            <a:off x="4714875" y="1000125"/>
            <a:ext cx="4000500" cy="571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F4F39629-6DE1-47D4-AE45-EE062F563A7E}"/>
              </a:ext>
            </a:extLst>
          </p:cNvPr>
          <p:cNvSpPr>
            <a:spLocks noGrp="1"/>
          </p:cNvSpPr>
          <p:nvPr/>
        </p:nvSpPr>
        <p:spPr>
          <a:xfrm>
            <a:off x="4714875" y="1000125"/>
            <a:ext cx="28575" cy="571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6B9BB6E9-0C9A-467F-8A46-953F8782E3A0}"/>
              </a:ext>
            </a:extLst>
          </p:cNvPr>
          <p:cNvSpPr>
            <a:spLocks noGrp="1"/>
          </p:cNvSpPr>
          <p:nvPr/>
        </p:nvSpPr>
        <p:spPr>
          <a:xfrm>
            <a:off x="4929188" y="1187648"/>
            <a:ext cx="285750" cy="1964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02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A3DF9DBA-4CFB-4E32-85C1-C8D618ABD189}"/>
              </a:ext>
            </a:extLst>
          </p:cNvPr>
          <p:cNvSpPr>
            <a:spLocks noGrp="1"/>
          </p:cNvSpPr>
          <p:nvPr/>
        </p:nvSpPr>
        <p:spPr>
          <a:xfrm>
            <a:off x="5357812" y="1187648"/>
            <a:ext cx="2289539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Top-Level Architecture and Module</a:t>
            </a:r>
            <a:r>
              <a:rPr lang="en-US" sz="1000" b="1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 </a:t>
            </a:r>
            <a:r>
              <a:rPr sz="1000" b="1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Partitioning</a:t>
            </a:r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F359ECC5-49B0-449C-AFC8-62D110270A18}"/>
              </a:ext>
            </a:extLst>
          </p:cNvPr>
          <p:cNvSpPr>
            <a:spLocks noGrp="1"/>
          </p:cNvSpPr>
          <p:nvPr/>
        </p:nvSpPr>
        <p:spPr>
          <a:xfrm>
            <a:off x="428625" y="1714500"/>
            <a:ext cx="4000500" cy="571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67BA8E10-86AA-4092-95A7-0EE03750167A}"/>
              </a:ext>
            </a:extLst>
          </p:cNvPr>
          <p:cNvSpPr>
            <a:spLocks noGrp="1"/>
          </p:cNvSpPr>
          <p:nvPr/>
        </p:nvSpPr>
        <p:spPr>
          <a:xfrm>
            <a:off x="428625" y="1714500"/>
            <a:ext cx="28575" cy="571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9D8BF64D-51D9-41CA-8F58-3E24ED26D150}"/>
              </a:ext>
            </a:extLst>
          </p:cNvPr>
          <p:cNvSpPr>
            <a:spLocks noGrp="1"/>
          </p:cNvSpPr>
          <p:nvPr/>
        </p:nvSpPr>
        <p:spPr>
          <a:xfrm>
            <a:off x="642938" y="1902023"/>
            <a:ext cx="285750" cy="1964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03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B836FF47-599E-409E-95D1-9585AF9FEC1C}"/>
              </a:ext>
            </a:extLst>
          </p:cNvPr>
          <p:cNvSpPr>
            <a:spLocks noGrp="1"/>
          </p:cNvSpPr>
          <p:nvPr/>
        </p:nvSpPr>
        <p:spPr>
          <a:xfrm>
            <a:off x="1071563" y="1902023"/>
            <a:ext cx="2063818" cy="3048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Data Structures (Cells / Linked Lists / Dual Pools)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B88570CA-DB0C-4766-A19E-C0201CF8F859}"/>
              </a:ext>
            </a:extLst>
          </p:cNvPr>
          <p:cNvSpPr>
            <a:spLocks noGrp="1"/>
          </p:cNvSpPr>
          <p:nvPr/>
        </p:nvSpPr>
        <p:spPr>
          <a:xfrm>
            <a:off x="4714875" y="1714500"/>
            <a:ext cx="4000500" cy="571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2466859A-60F4-4441-8061-5D281C20B374}"/>
              </a:ext>
            </a:extLst>
          </p:cNvPr>
          <p:cNvSpPr>
            <a:spLocks noGrp="1"/>
          </p:cNvSpPr>
          <p:nvPr/>
        </p:nvSpPr>
        <p:spPr>
          <a:xfrm>
            <a:off x="4714875" y="1714500"/>
            <a:ext cx="28575" cy="571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C1B9A129-18F7-4966-A27E-84C3D4F98A95}"/>
              </a:ext>
            </a:extLst>
          </p:cNvPr>
          <p:cNvSpPr>
            <a:spLocks noGrp="1"/>
          </p:cNvSpPr>
          <p:nvPr/>
        </p:nvSpPr>
        <p:spPr>
          <a:xfrm>
            <a:off x="4929188" y="1902023"/>
            <a:ext cx="285750" cy="1964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04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4A915D7-5F47-43BB-B6A2-72848F35622B}"/>
              </a:ext>
            </a:extLst>
          </p:cNvPr>
          <p:cNvSpPr>
            <a:spLocks noGrp="1"/>
          </p:cNvSpPr>
          <p:nvPr/>
        </p:nvSpPr>
        <p:spPr>
          <a:xfrm>
            <a:off x="5357813" y="1902023"/>
            <a:ext cx="2214507" cy="30777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00" b="1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Workflows (Initialization / Enqueue / Dequeue, etc.)</a:t>
            </a:r>
          </a:p>
        </p:txBody>
      </p:sp>
      <p:sp>
        <p:nvSpPr>
          <p:cNvPr id="21" name="Shape 18">
            <a:extLst>
              <a:ext uri="{FF2B5EF4-FFF2-40B4-BE49-F238E27FC236}">
                <a16:creationId xmlns:a16="http://schemas.microsoft.com/office/drawing/2014/main" id="{82BC8908-E88A-4073-B49E-3694B9C013D5}"/>
              </a:ext>
            </a:extLst>
          </p:cNvPr>
          <p:cNvSpPr>
            <a:spLocks noGrp="1"/>
          </p:cNvSpPr>
          <p:nvPr/>
        </p:nvSpPr>
        <p:spPr>
          <a:xfrm>
            <a:off x="428625" y="2428875"/>
            <a:ext cx="4000500" cy="571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DF2221DE-096F-439E-87BF-D12CDCB22FFA}"/>
              </a:ext>
            </a:extLst>
          </p:cNvPr>
          <p:cNvSpPr>
            <a:spLocks noGrp="1"/>
          </p:cNvSpPr>
          <p:nvPr/>
        </p:nvSpPr>
        <p:spPr>
          <a:xfrm>
            <a:off x="428625" y="2428875"/>
            <a:ext cx="28575" cy="571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5C32DD56-D695-4677-B7F0-1D5B34FFA1B2}"/>
              </a:ext>
            </a:extLst>
          </p:cNvPr>
          <p:cNvSpPr>
            <a:spLocks noGrp="1"/>
          </p:cNvSpPr>
          <p:nvPr/>
        </p:nvSpPr>
        <p:spPr>
          <a:xfrm>
            <a:off x="642938" y="2616398"/>
            <a:ext cx="285750" cy="1964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05</a:t>
            </a: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347889C8-D24A-4B56-90C8-6F94E2EBDD86}"/>
              </a:ext>
            </a:extLst>
          </p:cNvPr>
          <p:cNvSpPr>
            <a:spLocks noGrp="1"/>
          </p:cNvSpPr>
          <p:nvPr/>
        </p:nvSpPr>
        <p:spPr>
          <a:xfrm>
            <a:off x="1071563" y="2616398"/>
            <a:ext cx="2476760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00" b="1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Multicast</a:t>
            </a:r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3258B0FE-E396-4105-AE13-99E14DCB9FB1}"/>
              </a:ext>
            </a:extLst>
          </p:cNvPr>
          <p:cNvSpPr>
            <a:spLocks noGrp="1"/>
          </p:cNvSpPr>
          <p:nvPr/>
        </p:nvSpPr>
        <p:spPr>
          <a:xfrm>
            <a:off x="4714875" y="2428875"/>
            <a:ext cx="4000500" cy="571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6" name="Shape 23">
            <a:extLst>
              <a:ext uri="{FF2B5EF4-FFF2-40B4-BE49-F238E27FC236}">
                <a16:creationId xmlns:a16="http://schemas.microsoft.com/office/drawing/2014/main" id="{2610661F-CA50-427C-BD92-752185B358B1}"/>
              </a:ext>
            </a:extLst>
          </p:cNvPr>
          <p:cNvSpPr>
            <a:spLocks noGrp="1"/>
          </p:cNvSpPr>
          <p:nvPr/>
        </p:nvSpPr>
        <p:spPr>
          <a:xfrm>
            <a:off x="4714875" y="2428875"/>
            <a:ext cx="28575" cy="571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5C57067F-D8E0-4B92-8C9D-A10CEE6656D5}"/>
              </a:ext>
            </a:extLst>
          </p:cNvPr>
          <p:cNvSpPr>
            <a:spLocks noGrp="1"/>
          </p:cNvSpPr>
          <p:nvPr/>
        </p:nvSpPr>
        <p:spPr>
          <a:xfrm>
            <a:off x="4929188" y="2616398"/>
            <a:ext cx="285750" cy="1964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06</a:t>
            </a: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96BDE2A3-DCA1-4C38-9A51-E875B764DAEE}"/>
              </a:ext>
            </a:extLst>
          </p:cNvPr>
          <p:cNvSpPr>
            <a:spLocks noGrp="1"/>
          </p:cNvSpPr>
          <p:nvPr/>
        </p:nvSpPr>
        <p:spPr>
          <a:xfrm>
            <a:off x="5357813" y="2616398"/>
            <a:ext cx="2369238" cy="1538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000" b="1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Aging</a:t>
            </a:r>
          </a:p>
        </p:txBody>
      </p:sp>
      <p:sp>
        <p:nvSpPr>
          <p:cNvPr id="29" name="Shape 26">
            <a:extLst>
              <a:ext uri="{FF2B5EF4-FFF2-40B4-BE49-F238E27FC236}">
                <a16:creationId xmlns:a16="http://schemas.microsoft.com/office/drawing/2014/main" id="{FDB75356-C479-4AF9-BC9C-B01C7830D9BE}"/>
              </a:ext>
            </a:extLst>
          </p:cNvPr>
          <p:cNvSpPr>
            <a:spLocks noGrp="1"/>
          </p:cNvSpPr>
          <p:nvPr/>
        </p:nvSpPr>
        <p:spPr>
          <a:xfrm>
            <a:off x="428625" y="3143250"/>
            <a:ext cx="4000500" cy="571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dirty="0"/>
          </a:p>
        </p:txBody>
      </p:sp>
      <p:sp>
        <p:nvSpPr>
          <p:cNvPr id="30" name="Shape 27">
            <a:extLst>
              <a:ext uri="{FF2B5EF4-FFF2-40B4-BE49-F238E27FC236}">
                <a16:creationId xmlns:a16="http://schemas.microsoft.com/office/drawing/2014/main" id="{FE5C3841-A775-4BB0-A6CC-B3855F3667FE}"/>
              </a:ext>
            </a:extLst>
          </p:cNvPr>
          <p:cNvSpPr>
            <a:spLocks noGrp="1"/>
          </p:cNvSpPr>
          <p:nvPr/>
        </p:nvSpPr>
        <p:spPr>
          <a:xfrm>
            <a:off x="428625" y="3143250"/>
            <a:ext cx="28575" cy="571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104F2862-596A-4A0D-A66F-B7805C9AFBDA}"/>
              </a:ext>
            </a:extLst>
          </p:cNvPr>
          <p:cNvSpPr>
            <a:spLocks noGrp="1"/>
          </p:cNvSpPr>
          <p:nvPr/>
        </p:nvSpPr>
        <p:spPr>
          <a:xfrm>
            <a:off x="642938" y="3330773"/>
            <a:ext cx="285750" cy="1964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07</a:t>
            </a:r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1BAC6240-92D2-4E28-AF7B-E6B8CE4A1BB0}"/>
              </a:ext>
            </a:extLst>
          </p:cNvPr>
          <p:cNvSpPr>
            <a:spLocks noGrp="1"/>
          </p:cNvSpPr>
          <p:nvPr/>
        </p:nvSpPr>
        <p:spPr>
          <a:xfrm>
            <a:off x="4714875" y="3143250"/>
            <a:ext cx="4000500" cy="571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4" name="Shape 31">
            <a:extLst>
              <a:ext uri="{FF2B5EF4-FFF2-40B4-BE49-F238E27FC236}">
                <a16:creationId xmlns:a16="http://schemas.microsoft.com/office/drawing/2014/main" id="{1594782E-7EC8-439E-8C39-0F1015D35F74}"/>
              </a:ext>
            </a:extLst>
          </p:cNvPr>
          <p:cNvSpPr>
            <a:spLocks noGrp="1"/>
          </p:cNvSpPr>
          <p:nvPr/>
        </p:nvSpPr>
        <p:spPr>
          <a:xfrm>
            <a:off x="4714875" y="3143250"/>
            <a:ext cx="28575" cy="571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53EB3239-DB23-4B49-A7AB-F135A3F208C1}"/>
              </a:ext>
            </a:extLst>
          </p:cNvPr>
          <p:cNvSpPr>
            <a:spLocks noGrp="1"/>
          </p:cNvSpPr>
          <p:nvPr/>
        </p:nvSpPr>
        <p:spPr>
          <a:xfrm>
            <a:off x="4929188" y="3330773"/>
            <a:ext cx="285750" cy="19645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 dirty="0">
                <a:solidFill>
                  <a:srgbClr val="3253DC"/>
                </a:solidFill>
                <a:latin typeface="Arial"/>
                <a:ea typeface="Arial"/>
                <a:cs typeface="Arial"/>
              </a:rPr>
              <a:t>08</a:t>
            </a:r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5E457D0F-138E-41A2-A7CB-CB53FC813944}"/>
              </a:ext>
            </a:extLst>
          </p:cNvPr>
          <p:cNvSpPr>
            <a:spLocks noGrp="1"/>
          </p:cNvSpPr>
          <p:nvPr/>
        </p:nvSpPr>
        <p:spPr>
          <a:xfrm>
            <a:off x="5357813" y="3330773"/>
            <a:ext cx="581891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000" b="1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Summary</a:t>
            </a:r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224982B6-70D5-4831-877C-F4D123288DC5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47" name="Text 33">
            <a:extLst>
              <a:ext uri="{FF2B5EF4-FFF2-40B4-BE49-F238E27FC236}">
                <a16:creationId xmlns:a16="http://schemas.microsoft.com/office/drawing/2014/main" id="{6CA2CBDC-75FB-D9B6-F829-85A5CDBE1C1F}"/>
              </a:ext>
            </a:extLst>
          </p:cNvPr>
          <p:cNvSpPr>
            <a:spLocks noGrp="1"/>
          </p:cNvSpPr>
          <p:nvPr/>
        </p:nvSpPr>
        <p:spPr>
          <a:xfrm>
            <a:off x="1068149" y="3361385"/>
            <a:ext cx="1744067" cy="1538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sz="1000" b="1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Flow Control (PAUSE / PFC)</a:t>
            </a:r>
          </a:p>
        </p:txBody>
      </p:sp>
    </p:spTree>
    <p:extLst>
      <p:ext uri="{BB962C8B-B14F-4D97-AF65-F5344CB8AC3E}">
        <p14:creationId xmlns:p14="http://schemas.microsoft.com/office/powerpoint/2010/main" val="236741536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60AA3FA3-1B2D-4432-A987-47D413EC7BE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54C7F1A-5029-4A3A-96AD-ADA06CBFA271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4165476" cy="310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Context — MMU in the Switch ASIC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FB36C21-15F7-4807-AA69-EF792A7C9D40}"/>
              </a:ext>
            </a:extLst>
          </p:cNvPr>
          <p:cNvSpPr>
            <a:spLocks noGrp="1"/>
          </p:cNvSpPr>
          <p:nvPr/>
        </p:nvSpPr>
        <p:spPr>
          <a:xfrm>
            <a:off x="428625" y="742950"/>
            <a:ext cx="2857500" cy="12858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3BD2D73D-2A45-442E-953B-64D4BDD4621F}"/>
              </a:ext>
            </a:extLst>
          </p:cNvPr>
          <p:cNvSpPr>
            <a:spLocks noGrp="1"/>
          </p:cNvSpPr>
          <p:nvPr/>
        </p:nvSpPr>
        <p:spPr>
          <a:xfrm>
            <a:off x="428625" y="742950"/>
            <a:ext cx="28575" cy="1285875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F1005E1-5AE2-4866-BCDC-587245938C24}"/>
              </a:ext>
            </a:extLst>
          </p:cNvPr>
          <p:cNvSpPr>
            <a:spLocks noGrp="1"/>
          </p:cNvSpPr>
          <p:nvPr/>
        </p:nvSpPr>
        <p:spPr>
          <a:xfrm>
            <a:off x="571500" y="885825"/>
            <a:ext cx="2571750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Core Responsibilities and Positioning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8A62587-7204-4C13-967A-9D808C9E9F4C}"/>
              </a:ext>
            </a:extLst>
          </p:cNvPr>
          <p:cNvSpPr>
            <a:spLocks noGrp="1"/>
          </p:cNvSpPr>
          <p:nvPr/>
        </p:nvSpPr>
        <p:spPr>
          <a:xfrm>
            <a:off x="571500" y="1189434"/>
            <a:ext cx="2571750" cy="663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The MMU is the address-management </a:t>
            </a:r>
            <a:r>
              <a:rPr lang="en-US"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submodule </a:t>
            </a:r>
            <a:r>
              <a:rPr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of the QM (Queue Manager). It centrally allocates addresses and organizes linked lists for the 2 MB shared data SRAM at a granularity of 256-byte cells.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2E20A87-4E85-4721-B980-87B5ED8AE7BA}"/>
              </a:ext>
            </a:extLst>
          </p:cNvPr>
          <p:cNvSpPr>
            <a:spLocks noGrp="1"/>
          </p:cNvSpPr>
          <p:nvPr/>
        </p:nvSpPr>
        <p:spPr>
          <a:xfrm>
            <a:off x="428625" y="2243138"/>
            <a:ext cx="2857500" cy="1875234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3F8C4F7C-5959-46C4-BD40-E5F3A472AAA1}"/>
              </a:ext>
            </a:extLst>
          </p:cNvPr>
          <p:cNvSpPr>
            <a:spLocks noGrp="1"/>
          </p:cNvSpPr>
          <p:nvPr/>
        </p:nvSpPr>
        <p:spPr>
          <a:xfrm>
            <a:off x="428625" y="2243138"/>
            <a:ext cx="28575" cy="1875234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49AA4744-B2D3-4A59-BDE5-347F676F86EA}"/>
              </a:ext>
            </a:extLst>
          </p:cNvPr>
          <p:cNvSpPr>
            <a:spLocks noGrp="1"/>
          </p:cNvSpPr>
          <p:nvPr/>
        </p:nvSpPr>
        <p:spPr>
          <a:xfrm>
            <a:off x="571500" y="2386013"/>
            <a:ext cx="2571750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Capacity Derivation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148E40D1-BE26-4C60-AEAD-F514C7BEDE79}"/>
              </a:ext>
            </a:extLst>
          </p:cNvPr>
          <p:cNvSpPr>
            <a:spLocks noGrp="1"/>
          </p:cNvSpPr>
          <p:nvPr/>
        </p:nvSpPr>
        <p:spPr>
          <a:xfrm>
            <a:off x="571500" y="2689622"/>
            <a:ext cx="2571750" cy="14287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D438371A-9C88-4BF4-8F71-0860B37CEC3E}"/>
              </a:ext>
            </a:extLst>
          </p:cNvPr>
          <p:cNvSpPr>
            <a:spLocks noGrp="1"/>
          </p:cNvSpPr>
          <p:nvPr/>
        </p:nvSpPr>
        <p:spPr>
          <a:xfrm>
            <a:off x="575072" y="2689622"/>
            <a:ext cx="1096008" cy="28217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7F74C6D-8FA9-484D-9DC5-22F94A63C35F}"/>
              </a:ext>
            </a:extLst>
          </p:cNvPr>
          <p:cNvSpPr>
            <a:spLocks noGrp="1"/>
          </p:cNvSpPr>
          <p:nvPr/>
        </p:nvSpPr>
        <p:spPr>
          <a:xfrm>
            <a:off x="575072" y="2689622"/>
            <a:ext cx="1096008" cy="282178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Item</a:t>
            </a: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8F28B88B-83D2-47AA-A6B7-E00538AA373D}"/>
              </a:ext>
            </a:extLst>
          </p:cNvPr>
          <p:cNvSpPr>
            <a:spLocks noGrp="1"/>
          </p:cNvSpPr>
          <p:nvPr/>
        </p:nvSpPr>
        <p:spPr>
          <a:xfrm>
            <a:off x="1671079" y="2689622"/>
            <a:ext cx="520098" cy="28217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84AED11-CAA5-4910-9F76-4CA8EBDF6294}"/>
              </a:ext>
            </a:extLst>
          </p:cNvPr>
          <p:cNvSpPr>
            <a:spLocks noGrp="1"/>
          </p:cNvSpPr>
          <p:nvPr/>
        </p:nvSpPr>
        <p:spPr>
          <a:xfrm>
            <a:off x="1671079" y="2689622"/>
            <a:ext cx="520098" cy="282178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087CE847-A6CF-4301-9264-2FFBDA48612E}"/>
              </a:ext>
            </a:extLst>
          </p:cNvPr>
          <p:cNvSpPr>
            <a:spLocks noGrp="1"/>
          </p:cNvSpPr>
          <p:nvPr/>
        </p:nvSpPr>
        <p:spPr>
          <a:xfrm>
            <a:off x="2191178" y="2689622"/>
            <a:ext cx="948500" cy="28217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988EB12F-F639-4F23-875C-17EB6E4FC6FB}"/>
              </a:ext>
            </a:extLst>
          </p:cNvPr>
          <p:cNvSpPr>
            <a:spLocks noGrp="1"/>
          </p:cNvSpPr>
          <p:nvPr/>
        </p:nvSpPr>
        <p:spPr>
          <a:xfrm>
            <a:off x="2191178" y="2689622"/>
            <a:ext cx="948500" cy="282178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Description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3D554CCF-AF7C-47C7-BC61-CEDB208B1EBC}"/>
              </a:ext>
            </a:extLst>
          </p:cNvPr>
          <p:cNvSpPr>
            <a:spLocks noGrp="1"/>
          </p:cNvSpPr>
          <p:nvPr/>
        </p:nvSpPr>
        <p:spPr>
          <a:xfrm>
            <a:off x="575072" y="2971800"/>
            <a:ext cx="1096008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Shared Data SRAM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B3A779A6-A3FE-493A-A42E-B235627A3151}"/>
              </a:ext>
            </a:extLst>
          </p:cNvPr>
          <p:cNvSpPr>
            <a:spLocks noGrp="1"/>
          </p:cNvSpPr>
          <p:nvPr/>
        </p:nvSpPr>
        <p:spPr>
          <a:xfrm>
            <a:off x="1671079" y="2971800"/>
            <a:ext cx="520098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2 MB</a:t>
            </a: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D1460927-BCC5-4A2B-8934-771FCB892E71}"/>
              </a:ext>
            </a:extLst>
          </p:cNvPr>
          <p:cNvSpPr>
            <a:spLocks noGrp="1"/>
          </p:cNvSpPr>
          <p:nvPr/>
        </p:nvSpPr>
        <p:spPr>
          <a:xfrm>
            <a:off x="2191178" y="2971800"/>
            <a:ext cx="94850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Packet payload buffer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03517D35-5E9C-4756-8808-7838EAE4254A}"/>
              </a:ext>
            </a:extLst>
          </p:cNvPr>
          <p:cNvSpPr>
            <a:spLocks noGrp="1"/>
          </p:cNvSpPr>
          <p:nvPr/>
        </p:nvSpPr>
        <p:spPr>
          <a:xfrm>
            <a:off x="575072" y="3257550"/>
            <a:ext cx="1096008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Cell Granularity</a:t>
            </a: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08413016-EF02-4531-90F0-7CBC53860AEF}"/>
              </a:ext>
            </a:extLst>
          </p:cNvPr>
          <p:cNvSpPr>
            <a:spLocks noGrp="1"/>
          </p:cNvSpPr>
          <p:nvPr/>
        </p:nvSpPr>
        <p:spPr>
          <a:xfrm>
            <a:off x="1671079" y="3257550"/>
            <a:ext cx="520098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256 B</a:t>
            </a: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5AF109DD-40E7-4DEE-A96B-3EEC4082359D}"/>
              </a:ext>
            </a:extLst>
          </p:cNvPr>
          <p:cNvSpPr>
            <a:spLocks noGrp="1"/>
          </p:cNvSpPr>
          <p:nvPr/>
        </p:nvSpPr>
        <p:spPr>
          <a:xfrm>
            <a:off x="2191178" y="3257550"/>
            <a:ext cx="94850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Minimum management unit</a:t>
            </a: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48132E44-3201-4555-A0AE-F12003979097}"/>
              </a:ext>
            </a:extLst>
          </p:cNvPr>
          <p:cNvSpPr>
            <a:spLocks noGrp="1"/>
          </p:cNvSpPr>
          <p:nvPr/>
        </p:nvSpPr>
        <p:spPr>
          <a:xfrm>
            <a:off x="575072" y="3543300"/>
            <a:ext cx="1096008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Total Cells</a:t>
            </a: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D29EE2ED-DAAB-422B-84B3-F8F501882974}"/>
              </a:ext>
            </a:extLst>
          </p:cNvPr>
          <p:cNvSpPr>
            <a:spLocks noGrp="1"/>
          </p:cNvSpPr>
          <p:nvPr/>
        </p:nvSpPr>
        <p:spPr>
          <a:xfrm>
            <a:off x="1671079" y="3543300"/>
            <a:ext cx="520098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8192</a:t>
            </a: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E0E0774E-A4E2-4B32-9C2B-6DD7AE546709}"/>
              </a:ext>
            </a:extLst>
          </p:cNvPr>
          <p:cNvSpPr>
            <a:spLocks noGrp="1"/>
          </p:cNvSpPr>
          <p:nvPr/>
        </p:nvSpPr>
        <p:spPr>
          <a:xfrm>
            <a:off x="2191178" y="3543300"/>
            <a:ext cx="94850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2MB / 256B</a:t>
            </a: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60A1591D-D8B1-4D6D-9101-297FEAD3DD14}"/>
              </a:ext>
            </a:extLst>
          </p:cNvPr>
          <p:cNvSpPr>
            <a:spLocks noGrp="1"/>
          </p:cNvSpPr>
          <p:nvPr/>
        </p:nvSpPr>
        <p:spPr>
          <a:xfrm>
            <a:off x="575072" y="3829050"/>
            <a:ext cx="1096008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Address Width</a:t>
            </a: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0A348D4A-F4E1-4DFC-B54F-FB50D04785DC}"/>
              </a:ext>
            </a:extLst>
          </p:cNvPr>
          <p:cNvSpPr>
            <a:spLocks noGrp="1"/>
          </p:cNvSpPr>
          <p:nvPr/>
        </p:nvSpPr>
        <p:spPr>
          <a:xfrm>
            <a:off x="1671079" y="3829050"/>
            <a:ext cx="520098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13 bit</a:t>
            </a: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7879D6D0-A44E-4EAA-B281-DAE1C2C1915A}"/>
              </a:ext>
            </a:extLst>
          </p:cNvPr>
          <p:cNvSpPr>
            <a:spLocks noGrp="1"/>
          </p:cNvSpPr>
          <p:nvPr/>
        </p:nvSpPr>
        <p:spPr>
          <a:xfrm>
            <a:off x="2191178" y="3829050"/>
            <a:ext cx="94850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$clog2(8192)</a:t>
            </a: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BE3C78A5-51D9-414E-85F7-0163AE83EE4E}"/>
              </a:ext>
            </a:extLst>
          </p:cNvPr>
          <p:cNvSpPr>
            <a:spLocks noGrp="1"/>
          </p:cNvSpPr>
          <p:nvPr/>
        </p:nvSpPr>
        <p:spPr>
          <a:xfrm>
            <a:off x="4750371" y="742950"/>
            <a:ext cx="2786509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Data Plane (Payload) vs. Address Plane Comparison</a:t>
            </a:r>
          </a:p>
        </p:txBody>
      </p:sp>
      <p:sp>
        <p:nvSpPr>
          <p:cNvPr id="32" name="Shape 29">
            <a:extLst>
              <a:ext uri="{FF2B5EF4-FFF2-40B4-BE49-F238E27FC236}">
                <a16:creationId xmlns:a16="http://schemas.microsoft.com/office/drawing/2014/main" id="{9562F839-EEC1-46FC-AC5A-87B9649E72F0}"/>
              </a:ext>
            </a:extLst>
          </p:cNvPr>
          <p:cNvSpPr>
            <a:spLocks noGrp="1"/>
          </p:cNvSpPr>
          <p:nvPr/>
        </p:nvSpPr>
        <p:spPr>
          <a:xfrm>
            <a:off x="3571875" y="1025128"/>
            <a:ext cx="5143500" cy="3429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70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571875" y="1025128"/>
            <a:ext cx="5143500" cy="3429000"/>
          </a:xfrm>
          <a:prstGeom prst="rect">
            <a:avLst/>
          </a:prstGeom>
        </p:spPr>
      </p:pic>
      <p:sp>
        <p:nvSpPr>
          <p:cNvPr id="34" name="Text 30">
            <a:extLst>
              <a:ext uri="{FF2B5EF4-FFF2-40B4-BE49-F238E27FC236}">
                <a16:creationId xmlns:a16="http://schemas.microsoft.com/office/drawing/2014/main" id="{101B83A1-0BB1-45E5-8084-43659F14386D}"/>
              </a:ext>
            </a:extLst>
          </p:cNvPr>
          <p:cNvSpPr>
            <a:spLocks noGrp="1"/>
          </p:cNvSpPr>
          <p:nvPr/>
        </p:nvSpPr>
        <p:spPr>
          <a:xfrm>
            <a:off x="4170945" y="4454128"/>
            <a:ext cx="3945303" cy="356108"/>
          </a:xfrm>
          <a:prstGeom prst="rect">
            <a:avLst/>
          </a:prstGeom>
          <a:noFill/>
        </p:spPr>
        <p:txBody>
          <a:bodyPr wrap="square" lIns="0" tIns="127508" rIns="0" bIns="0" anchor="t">
            <a:sp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6E6E7A"/>
                </a:solidFill>
                <a:latin typeface="Arial"/>
                <a:ea typeface="Arial"/>
                <a:cs typeface="Arial"/>
              </a:rPr>
              <a:t>QM/EPS moves the data; SMMU only allocates and reclaims 256-byte cell addresses (pointers) and manages their linked lists.</a:t>
            </a:r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5A9B00E7-8D5E-4633-A1AB-0F85AE9CA09A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</p:spTree>
    <p:extLst>
      <p:ext uri="{BB962C8B-B14F-4D97-AF65-F5344CB8AC3E}">
        <p14:creationId xmlns:p14="http://schemas.microsoft.com/office/powerpoint/2010/main" val="386953213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9018B61E-45FA-4973-AA7B-D555CBCFC51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FC5B76C-E3AB-4696-B453-07561C20F610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3505349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Linked Lists vs. Static Partitioning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3E1FE09-F0B8-422D-B4E0-D3EFD55B1523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4000500" cy="116644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6FD5DDF-AA1E-47A7-9128-92167A36D61E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28575" cy="1166440"/>
          </a:xfrm>
          <a:prstGeom prst="rect">
            <a:avLst/>
          </a:prstGeom>
          <a:solidFill>
            <a:srgbClr val="E4002B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FC52B43-D294-476C-ACFF-6CABBAE2A4FF}"/>
              </a:ext>
            </a:extLst>
          </p:cNvPr>
          <p:cNvSpPr>
            <a:spLocks noGrp="1"/>
          </p:cNvSpPr>
          <p:nvPr/>
        </p:nvSpPr>
        <p:spPr>
          <a:xfrm>
            <a:off x="607219" y="928688"/>
            <a:ext cx="3629025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E4002B"/>
                </a:solidFill>
                <a:latin typeface="Arial"/>
                <a:ea typeface="Arial"/>
                <a:cs typeface="Arial"/>
              </a:rPr>
              <a:t>Static Partitioning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2B8C9B5-8ED9-467F-BD95-809922AC71E6}"/>
              </a:ext>
            </a:extLst>
          </p:cNvPr>
          <p:cNvSpPr>
            <a:spLocks noGrp="1"/>
          </p:cNvSpPr>
          <p:nvPr/>
        </p:nvSpPr>
        <p:spPr>
          <a:xfrm>
            <a:off x="607219" y="1232297"/>
            <a:ext cx="3629025" cy="182835"/>
          </a:xfrm>
          <a:prstGeom prst="rect">
            <a:avLst/>
          </a:prstGeom>
          <a:noFill/>
        </p:spPr>
        <p:txBody>
          <a:bodyPr wrap="none" lIns="170053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Low utilization: idle cells cannot be borrowed across queues.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9A49A1B3-281E-4B3C-9052-46CD1D712635}"/>
              </a:ext>
            </a:extLst>
          </p:cNvPr>
          <p:cNvSpPr>
            <a:spLocks noGrp="1"/>
          </p:cNvSpPr>
          <p:nvPr/>
        </p:nvSpPr>
        <p:spPr>
          <a:xfrm>
            <a:off x="607219" y="1472282"/>
            <a:ext cx="3629025" cy="182835"/>
          </a:xfrm>
          <a:prstGeom prst="rect">
            <a:avLst/>
          </a:prstGeom>
          <a:noFill/>
        </p:spPr>
        <p:txBody>
          <a:bodyPr wrap="none" lIns="170053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Inflexible: changing queue quotas requires repartitioning physical addresses.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90045978-C6DC-4837-9337-9907AD1C088A}"/>
              </a:ext>
            </a:extLst>
          </p:cNvPr>
          <p:cNvSpPr>
            <a:spLocks noGrp="1"/>
          </p:cNvSpPr>
          <p:nvPr/>
        </p:nvSpPr>
        <p:spPr>
          <a:xfrm>
            <a:off x="607219" y="1712268"/>
            <a:ext cx="3629025" cy="182835"/>
          </a:xfrm>
          <a:prstGeom prst="rect">
            <a:avLst/>
          </a:prstGeom>
          <a:noFill/>
        </p:spPr>
        <p:txBody>
          <a:bodyPr wrap="none" lIns="170053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Fragmentation: scattered free space cannot be utilized.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F3907A93-ABFC-49FE-B7AD-1793DDA96B6C}"/>
              </a:ext>
            </a:extLst>
          </p:cNvPr>
          <p:cNvSpPr>
            <a:spLocks noGrp="1"/>
          </p:cNvSpPr>
          <p:nvPr/>
        </p:nvSpPr>
        <p:spPr>
          <a:xfrm>
            <a:off x="4700588" y="785813"/>
            <a:ext cx="4014788" cy="116644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D59A5779-9558-4620-B62C-A04E21B7DDF2}"/>
              </a:ext>
            </a:extLst>
          </p:cNvPr>
          <p:cNvSpPr>
            <a:spLocks noGrp="1"/>
          </p:cNvSpPr>
          <p:nvPr/>
        </p:nvSpPr>
        <p:spPr>
          <a:xfrm>
            <a:off x="4700588" y="785813"/>
            <a:ext cx="28575" cy="1166440"/>
          </a:xfrm>
          <a:prstGeom prst="rect">
            <a:avLst/>
          </a:prstGeom>
          <a:solidFill>
            <a:srgbClr val="3DBB6B"/>
          </a:solidFill>
        </p:spPr>
        <p:txBody>
          <a:bodyPr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974C6E02-DE11-42FA-9C3C-E77D318DC4F1}"/>
              </a:ext>
            </a:extLst>
          </p:cNvPr>
          <p:cNvSpPr>
            <a:spLocks noGrp="1"/>
          </p:cNvSpPr>
          <p:nvPr/>
        </p:nvSpPr>
        <p:spPr>
          <a:xfrm>
            <a:off x="607219" y="1232297"/>
            <a:ext cx="39960" cy="1828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1804C3FA-5F20-4A92-8C2A-4771CEF0B62F}"/>
              </a:ext>
            </a:extLst>
          </p:cNvPr>
          <p:cNvSpPr>
            <a:spLocks noGrp="1"/>
          </p:cNvSpPr>
          <p:nvPr/>
        </p:nvSpPr>
        <p:spPr>
          <a:xfrm>
            <a:off x="607219" y="1472282"/>
            <a:ext cx="39960" cy="1828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CD60BBFC-04D7-438D-B3CD-44B5FC6B1D8E}"/>
              </a:ext>
            </a:extLst>
          </p:cNvPr>
          <p:cNvSpPr>
            <a:spLocks noGrp="1"/>
          </p:cNvSpPr>
          <p:nvPr/>
        </p:nvSpPr>
        <p:spPr>
          <a:xfrm>
            <a:off x="607219" y="1712268"/>
            <a:ext cx="39960" cy="1828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B67D7D6-4F18-45B3-A22E-A96FB7C65E9F}"/>
              </a:ext>
            </a:extLst>
          </p:cNvPr>
          <p:cNvSpPr>
            <a:spLocks noGrp="1"/>
          </p:cNvSpPr>
          <p:nvPr/>
        </p:nvSpPr>
        <p:spPr>
          <a:xfrm>
            <a:off x="4893469" y="928688"/>
            <a:ext cx="3643313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DBB6B"/>
                </a:solidFill>
                <a:latin typeface="Arial"/>
                <a:ea typeface="Arial"/>
                <a:cs typeface="Arial"/>
              </a:rPr>
              <a:t>Linked-List Approach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0149E3C-A58E-4A3A-90D7-2C6089BDFD71}"/>
              </a:ext>
            </a:extLst>
          </p:cNvPr>
          <p:cNvSpPr>
            <a:spLocks noGrp="1"/>
          </p:cNvSpPr>
          <p:nvPr/>
        </p:nvSpPr>
        <p:spPr>
          <a:xfrm>
            <a:off x="4893469" y="1232297"/>
            <a:ext cx="3643313" cy="182835"/>
          </a:xfrm>
          <a:prstGeom prst="rect">
            <a:avLst/>
          </a:prstGeom>
          <a:noFill/>
        </p:spPr>
        <p:txBody>
          <a:bodyPr wrap="none" lIns="170053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Fully shared: any cell can be assigned to any queue, approaching 100% utilization.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BC790B89-EC3D-4BD4-800C-F00D026D4E5F}"/>
              </a:ext>
            </a:extLst>
          </p:cNvPr>
          <p:cNvSpPr>
            <a:spLocks noGrp="1"/>
          </p:cNvSpPr>
          <p:nvPr/>
        </p:nvSpPr>
        <p:spPr>
          <a:xfrm>
            <a:off x="4893469" y="1472282"/>
            <a:ext cx="3643313" cy="182835"/>
          </a:xfrm>
          <a:prstGeom prst="rect">
            <a:avLst/>
          </a:prstGeom>
          <a:noFill/>
        </p:spPr>
        <p:txBody>
          <a:bodyPr wrap="none" lIns="170053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O(1) complexity: enqueue and dequeue update only head and tail pointers.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66340350-A0E6-456C-B901-3B21664CCBA3}"/>
              </a:ext>
            </a:extLst>
          </p:cNvPr>
          <p:cNvSpPr>
            <a:spLocks noGrp="1"/>
          </p:cNvSpPr>
          <p:nvPr/>
        </p:nvSpPr>
        <p:spPr>
          <a:xfrm>
            <a:off x="4893469" y="1712268"/>
            <a:ext cx="3643313" cy="182835"/>
          </a:xfrm>
          <a:prstGeom prst="rect">
            <a:avLst/>
          </a:prstGeom>
          <a:noFill/>
        </p:spPr>
        <p:txBody>
          <a:bodyPr wrap="none" lIns="170053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Native dual pools: reserved guarantees plus dynamic sharing.</a:t>
            </a: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B8209879-FF8B-4CE7-B721-2FF5C1FEFD44}"/>
              </a:ext>
            </a:extLst>
          </p:cNvPr>
          <p:cNvSpPr>
            <a:spLocks noGrp="1"/>
          </p:cNvSpPr>
          <p:nvPr/>
        </p:nvSpPr>
        <p:spPr>
          <a:xfrm>
            <a:off x="428625" y="2166565"/>
            <a:ext cx="8286750" cy="24288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3B628523-E956-41BE-B7CB-14EC60C61A38}"/>
              </a:ext>
            </a:extLst>
          </p:cNvPr>
          <p:cNvSpPr>
            <a:spLocks noGrp="1"/>
          </p:cNvSpPr>
          <p:nvPr/>
        </p:nvSpPr>
        <p:spPr>
          <a:xfrm>
            <a:off x="4893469" y="1232297"/>
            <a:ext cx="39960" cy="1828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65FEFDB0-B311-4867-A8E5-F2BEA0106D9E}"/>
              </a:ext>
            </a:extLst>
          </p:cNvPr>
          <p:cNvSpPr>
            <a:spLocks noGrp="1"/>
          </p:cNvSpPr>
          <p:nvPr/>
        </p:nvSpPr>
        <p:spPr>
          <a:xfrm>
            <a:off x="4893469" y="1472282"/>
            <a:ext cx="39960" cy="1828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EE54522E-3FAC-4E76-8949-957E29A2E05A}"/>
              </a:ext>
            </a:extLst>
          </p:cNvPr>
          <p:cNvSpPr>
            <a:spLocks noGrp="1"/>
          </p:cNvSpPr>
          <p:nvPr/>
        </p:nvSpPr>
        <p:spPr>
          <a:xfrm>
            <a:off x="4893469" y="1712268"/>
            <a:ext cx="39960" cy="18283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pic>
        <p:nvPicPr>
          <p:cNvPr id="51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2238003"/>
            <a:ext cx="8286750" cy="2286000"/>
          </a:xfrm>
          <a:prstGeom prst="rect">
            <a:avLst/>
          </a:prstGeom>
        </p:spPr>
      </p:pic>
      <p:sp>
        <p:nvSpPr>
          <p:cNvPr id="25" name="Text 21">
            <a:extLst>
              <a:ext uri="{FF2B5EF4-FFF2-40B4-BE49-F238E27FC236}">
                <a16:creationId xmlns:a16="http://schemas.microsoft.com/office/drawing/2014/main" id="{188BAF5D-9142-4F7A-B929-EB2619AFECDE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</p:spTree>
    <p:extLst>
      <p:ext uri="{BB962C8B-B14F-4D97-AF65-F5344CB8AC3E}">
        <p14:creationId xmlns:p14="http://schemas.microsoft.com/office/powerpoint/2010/main" val="34448180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E25509F5-70A6-431A-B88A-D72DD8AEC97B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A57DF68-54D4-45DC-BE5B-ECA094BC36A3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4267498" cy="310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Core Design Constraints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56166A7-8043-401C-BA24-986E464C5781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2619356" cy="167878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0327B0FE-6C90-45A8-8F26-70280DC7CDE2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28575" cy="1678781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49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1035844"/>
            <a:ext cx="2262169" cy="17145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0DF573E0-5623-4D5C-97DF-E0AD8452FA70}"/>
              </a:ext>
            </a:extLst>
          </p:cNvPr>
          <p:cNvSpPr>
            <a:spLocks noGrp="1"/>
          </p:cNvSpPr>
          <p:nvPr/>
        </p:nvSpPr>
        <p:spPr>
          <a:xfrm>
            <a:off x="607219" y="1314450"/>
            <a:ext cx="2262169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1. Maximum Performance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6642DE3-2E03-4CB2-A88E-27013333045E}"/>
              </a:ext>
            </a:extLst>
          </p:cNvPr>
          <p:cNvSpPr>
            <a:spLocks noGrp="1"/>
          </p:cNvSpPr>
          <p:nvPr/>
        </p:nvSpPr>
        <p:spPr>
          <a:xfrm>
            <a:off x="607219" y="1560909"/>
            <a:ext cx="226216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Enqueue and dequeue complete in exactly one cycle (request at T0, result at T1), sustaining back-to-back throughput of one cell per cycle.</a:t>
            </a: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ED93DF40-A360-4BB0-A59A-A35D4458D5A0}"/>
              </a:ext>
            </a:extLst>
          </p:cNvPr>
          <p:cNvSpPr>
            <a:spLocks noGrp="1"/>
          </p:cNvSpPr>
          <p:nvPr/>
        </p:nvSpPr>
        <p:spPr>
          <a:xfrm>
            <a:off x="3262294" y="857250"/>
            <a:ext cx="2619356" cy="167878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8CCBDDC2-6235-4798-9544-850E902A490B}"/>
              </a:ext>
            </a:extLst>
          </p:cNvPr>
          <p:cNvSpPr>
            <a:spLocks noGrp="1"/>
          </p:cNvSpPr>
          <p:nvPr/>
        </p:nvSpPr>
        <p:spPr>
          <a:xfrm>
            <a:off x="3262294" y="857250"/>
            <a:ext cx="28575" cy="1678781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54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40888" y="1035844"/>
            <a:ext cx="2262169" cy="17145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12EAFF7A-6734-42CE-ACBA-B935F0A8C882}"/>
              </a:ext>
            </a:extLst>
          </p:cNvPr>
          <p:cNvSpPr>
            <a:spLocks noGrp="1"/>
          </p:cNvSpPr>
          <p:nvPr/>
        </p:nvSpPr>
        <p:spPr>
          <a:xfrm>
            <a:off x="3440888" y="1314450"/>
            <a:ext cx="2262169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2. Unicast and Multicast</a:t>
            </a: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E555F873-9FE7-4B91-88F6-E0245F69945B}"/>
              </a:ext>
            </a:extLst>
          </p:cNvPr>
          <p:cNvSpPr>
            <a:spLocks noGrp="1"/>
          </p:cNvSpPr>
          <p:nvPr/>
        </p:nvSpPr>
        <p:spPr>
          <a:xfrm>
            <a:off x="3440888" y="1560909"/>
            <a:ext cx="226216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Supports both unicast and multicast. Multicast uses one shared data copy across multiple ports and reclaims storage automatically through reference counting.</a:t>
            </a: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6E1AE7C4-978A-404F-B0FF-35D3518BA289}"/>
              </a:ext>
            </a:extLst>
          </p:cNvPr>
          <p:cNvSpPr>
            <a:spLocks noGrp="1"/>
          </p:cNvSpPr>
          <p:nvPr/>
        </p:nvSpPr>
        <p:spPr>
          <a:xfrm>
            <a:off x="6095963" y="857250"/>
            <a:ext cx="2619356" cy="167878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6D91F8E0-7059-4876-8650-6DD5087174D0}"/>
              </a:ext>
            </a:extLst>
          </p:cNvPr>
          <p:cNvSpPr>
            <a:spLocks noGrp="1"/>
          </p:cNvSpPr>
          <p:nvPr/>
        </p:nvSpPr>
        <p:spPr>
          <a:xfrm>
            <a:off x="6095963" y="857250"/>
            <a:ext cx="28575" cy="1678781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59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4557" y="1035844"/>
            <a:ext cx="2262169" cy="171450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34C6F747-2FF3-490F-BADB-03E5F2E22119}"/>
              </a:ext>
            </a:extLst>
          </p:cNvPr>
          <p:cNvSpPr>
            <a:spLocks noGrp="1"/>
          </p:cNvSpPr>
          <p:nvPr/>
        </p:nvSpPr>
        <p:spPr>
          <a:xfrm>
            <a:off x="6274557" y="1314450"/>
            <a:ext cx="2262169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3. Flow Control</a:t>
            </a: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CC79CC97-695F-44A9-BB64-9781A98266B8}"/>
              </a:ext>
            </a:extLst>
          </p:cNvPr>
          <p:cNvSpPr>
            <a:spLocks noGrp="1"/>
          </p:cNvSpPr>
          <p:nvPr/>
        </p:nvSpPr>
        <p:spPr>
          <a:xfrm>
            <a:off x="6274557" y="1560909"/>
            <a:ext cx="226216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Supports PAUSE (802.3x) and PFC (802.1Qbb), with per-queue, per-port, and global max/near-full feedback for enqueue gating.</a:t>
            </a:r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8AB930AB-C57F-4028-AF9B-5097A91C7720}"/>
              </a:ext>
            </a:extLst>
          </p:cNvPr>
          <p:cNvSpPr>
            <a:spLocks noGrp="1"/>
          </p:cNvSpPr>
          <p:nvPr/>
        </p:nvSpPr>
        <p:spPr>
          <a:xfrm>
            <a:off x="428625" y="2750344"/>
            <a:ext cx="2619356" cy="167878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B08B971A-0A7D-4372-A95D-1454AC4BA4A4}"/>
              </a:ext>
            </a:extLst>
          </p:cNvPr>
          <p:cNvSpPr>
            <a:spLocks noGrp="1"/>
          </p:cNvSpPr>
          <p:nvPr/>
        </p:nvSpPr>
        <p:spPr>
          <a:xfrm>
            <a:off x="428625" y="2750344"/>
            <a:ext cx="28575" cy="1678781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64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607219" y="2928938"/>
            <a:ext cx="2262169" cy="171450"/>
          </a:xfrm>
          <a:prstGeom prst="rect">
            <a:avLst/>
          </a:prstGeom>
        </p:spPr>
      </p:pic>
      <p:sp>
        <p:nvSpPr>
          <p:cNvPr id="23" name="Text 16">
            <a:extLst>
              <a:ext uri="{FF2B5EF4-FFF2-40B4-BE49-F238E27FC236}">
                <a16:creationId xmlns:a16="http://schemas.microsoft.com/office/drawing/2014/main" id="{4B3ACD94-A90E-4A2B-BACF-BA7F8418B0BD}"/>
              </a:ext>
            </a:extLst>
          </p:cNvPr>
          <p:cNvSpPr>
            <a:spLocks noGrp="1"/>
          </p:cNvSpPr>
          <p:nvPr/>
        </p:nvSpPr>
        <p:spPr>
          <a:xfrm>
            <a:off x="607219" y="3207544"/>
            <a:ext cx="2262169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4. Storage Optimization</a:t>
            </a: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0968D0D7-45A4-4DE6-8EA1-0B0FA50C48D0}"/>
              </a:ext>
            </a:extLst>
          </p:cNvPr>
          <p:cNvSpPr>
            <a:spLocks noGrp="1"/>
          </p:cNvSpPr>
          <p:nvPr/>
        </p:nvSpPr>
        <p:spPr>
          <a:xfrm>
            <a:off x="607219" y="3454003"/>
            <a:ext cx="2262169" cy="54864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Linked-list pointers reside in Next-Ptr SRAM. Two-stage prefetch registers absorb the one-cycle read latency and keep the pipeline running without stalls.</a:t>
            </a:r>
          </a:p>
        </p:txBody>
      </p:sp>
      <p:sp>
        <p:nvSpPr>
          <p:cNvPr id="25" name="Shape 18">
            <a:extLst>
              <a:ext uri="{FF2B5EF4-FFF2-40B4-BE49-F238E27FC236}">
                <a16:creationId xmlns:a16="http://schemas.microsoft.com/office/drawing/2014/main" id="{1C4E5E94-1B73-44B8-9777-4A7EC19C54D6}"/>
              </a:ext>
            </a:extLst>
          </p:cNvPr>
          <p:cNvSpPr>
            <a:spLocks noGrp="1"/>
          </p:cNvSpPr>
          <p:nvPr/>
        </p:nvSpPr>
        <p:spPr>
          <a:xfrm>
            <a:off x="3262294" y="2750344"/>
            <a:ext cx="2619356" cy="167878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6" name="Shape 19">
            <a:extLst>
              <a:ext uri="{FF2B5EF4-FFF2-40B4-BE49-F238E27FC236}">
                <a16:creationId xmlns:a16="http://schemas.microsoft.com/office/drawing/2014/main" id="{D6A28F4B-E1F1-4813-B43E-5C4E803F2689}"/>
              </a:ext>
            </a:extLst>
          </p:cNvPr>
          <p:cNvSpPr>
            <a:spLocks noGrp="1"/>
          </p:cNvSpPr>
          <p:nvPr/>
        </p:nvSpPr>
        <p:spPr>
          <a:xfrm>
            <a:off x="3262294" y="2750344"/>
            <a:ext cx="28575" cy="1678781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69" name="Image 5"/>
          <p:cNvPicPr>
            <a:picLocks noChangeAspect="1"/>
          </p:cNvPicPr>
          <p:nvPr/>
        </p:nvPicPr>
        <p:blipFill>
          <a:blip r:embed="rId8"/>
          <a:stretch>
            <a:fillRect/>
          </a:stretch>
        </p:blipFill>
        <p:spPr>
          <a:xfrm>
            <a:off x="3440888" y="2928938"/>
            <a:ext cx="2262169" cy="171450"/>
          </a:xfrm>
          <a:prstGeom prst="rect">
            <a:avLst/>
          </a:prstGeom>
        </p:spPr>
      </p:pic>
      <p:sp>
        <p:nvSpPr>
          <p:cNvPr id="28" name="Text 20">
            <a:extLst>
              <a:ext uri="{FF2B5EF4-FFF2-40B4-BE49-F238E27FC236}">
                <a16:creationId xmlns:a16="http://schemas.microsoft.com/office/drawing/2014/main" id="{2929C744-CF38-4D87-A2D1-5CA550BC42B9}"/>
              </a:ext>
            </a:extLst>
          </p:cNvPr>
          <p:cNvSpPr>
            <a:spLocks noGrp="1"/>
          </p:cNvSpPr>
          <p:nvPr/>
        </p:nvSpPr>
        <p:spPr>
          <a:xfrm>
            <a:off x="3440888" y="3207544"/>
            <a:ext cx="2262169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5. Dual Buffer Pools</a:t>
            </a:r>
          </a:p>
        </p:txBody>
      </p:sp>
      <p:sp>
        <p:nvSpPr>
          <p:cNvPr id="29" name="Text 21">
            <a:extLst>
              <a:ext uri="{FF2B5EF4-FFF2-40B4-BE49-F238E27FC236}">
                <a16:creationId xmlns:a16="http://schemas.microsoft.com/office/drawing/2014/main" id="{D0674B13-87BC-4981-B32C-2FB4E3652179}"/>
              </a:ext>
            </a:extLst>
          </p:cNvPr>
          <p:cNvSpPr>
            <a:spLocks noGrp="1"/>
          </p:cNvSpPr>
          <p:nvPr/>
        </p:nvSpPr>
        <p:spPr>
          <a:xfrm>
            <a:off x="3440888" y="3454003"/>
            <a:ext cx="226216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A statically reserved pool (per-queue guarantee) plus a dynamically shared pool balances QoS fairness with buffer utilization.</a:t>
            </a:r>
          </a:p>
        </p:txBody>
      </p:sp>
      <p:sp>
        <p:nvSpPr>
          <p:cNvPr id="30" name="Shape 22">
            <a:extLst>
              <a:ext uri="{FF2B5EF4-FFF2-40B4-BE49-F238E27FC236}">
                <a16:creationId xmlns:a16="http://schemas.microsoft.com/office/drawing/2014/main" id="{43FE4B90-E933-4651-8C0C-72A619B1F4B2}"/>
              </a:ext>
            </a:extLst>
          </p:cNvPr>
          <p:cNvSpPr>
            <a:spLocks noGrp="1"/>
          </p:cNvSpPr>
          <p:nvPr/>
        </p:nvSpPr>
        <p:spPr>
          <a:xfrm>
            <a:off x="6095963" y="2750344"/>
            <a:ext cx="2619356" cy="167878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1" name="Shape 23">
            <a:extLst>
              <a:ext uri="{FF2B5EF4-FFF2-40B4-BE49-F238E27FC236}">
                <a16:creationId xmlns:a16="http://schemas.microsoft.com/office/drawing/2014/main" id="{6628C3B1-9CB0-4DE7-A389-EB877DF13C6F}"/>
              </a:ext>
            </a:extLst>
          </p:cNvPr>
          <p:cNvSpPr>
            <a:spLocks noGrp="1"/>
          </p:cNvSpPr>
          <p:nvPr/>
        </p:nvSpPr>
        <p:spPr>
          <a:xfrm>
            <a:off x="6095963" y="2750344"/>
            <a:ext cx="28575" cy="1678781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74" name="Image 6"/>
          <p:cNvPicPr>
            <a:picLocks noChangeAspect="1"/>
          </p:cNvPicPr>
          <p:nvPr/>
        </p:nvPicPr>
        <p:blipFill>
          <a:blip r:embed="rId9"/>
          <a:stretch>
            <a:fillRect/>
          </a:stretch>
        </p:blipFill>
        <p:spPr>
          <a:xfrm>
            <a:off x="6274557" y="2928938"/>
            <a:ext cx="2262169" cy="171450"/>
          </a:xfrm>
          <a:prstGeom prst="rect">
            <a:avLst/>
          </a:prstGeom>
        </p:spPr>
      </p:pic>
      <p:sp>
        <p:nvSpPr>
          <p:cNvPr id="33" name="Text 24">
            <a:extLst>
              <a:ext uri="{FF2B5EF4-FFF2-40B4-BE49-F238E27FC236}">
                <a16:creationId xmlns:a16="http://schemas.microsoft.com/office/drawing/2014/main" id="{F4AD60B2-DB52-4479-A423-9AEE9E9B7BEF}"/>
              </a:ext>
            </a:extLst>
          </p:cNvPr>
          <p:cNvSpPr>
            <a:spLocks noGrp="1"/>
          </p:cNvSpPr>
          <p:nvPr/>
        </p:nvSpPr>
        <p:spPr>
          <a:xfrm>
            <a:off x="6274557" y="3207544"/>
            <a:ext cx="2262169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6. Configuration Plane</a:t>
            </a:r>
          </a:p>
        </p:txBody>
      </p:sp>
      <p:sp>
        <p:nvSpPr>
          <p:cNvPr id="34" name="Text 25">
            <a:extLst>
              <a:ext uri="{FF2B5EF4-FFF2-40B4-BE49-F238E27FC236}">
                <a16:creationId xmlns:a16="http://schemas.microsoft.com/office/drawing/2014/main" id="{20A3D04A-7CC1-4007-AABD-68FEE5D9F8E5}"/>
              </a:ext>
            </a:extLst>
          </p:cNvPr>
          <p:cNvSpPr>
            <a:spLocks noGrp="1"/>
          </p:cNvSpPr>
          <p:nvPr/>
        </p:nvSpPr>
        <p:spPr>
          <a:xfrm>
            <a:off x="6274557" y="3454003"/>
            <a:ext cx="2262169" cy="4114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CSRs bypass a slow bus. Configuration signals are sampled directly in the clk_core domain for immediate updates and simpler integration.</a:t>
            </a:r>
          </a:p>
        </p:txBody>
      </p:sp>
      <p:sp>
        <p:nvSpPr>
          <p:cNvPr id="35" name="Text 26">
            <a:extLst>
              <a:ext uri="{FF2B5EF4-FFF2-40B4-BE49-F238E27FC236}">
                <a16:creationId xmlns:a16="http://schemas.microsoft.com/office/drawing/2014/main" id="{B3437805-D1F9-4FB5-8AD7-14275EDFF3A6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</p:spTree>
    <p:extLst>
      <p:ext uri="{BB962C8B-B14F-4D97-AF65-F5344CB8AC3E}">
        <p14:creationId xmlns:p14="http://schemas.microsoft.com/office/powerpoint/2010/main" val="918532958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EDB58D8-453B-4BBD-966C-244641ACC0A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F31824A-62B3-4919-8555-38FDAA996099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257844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Top Level</a:t>
            </a:r>
            <a:r>
              <a:rPr lang="zh-CN" alt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Arch</a:t>
            </a:r>
            <a:endParaRPr sz="1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B99306E-3F34-4FC1-8371-613D08B145D0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5000625" cy="3214688"/>
          </a:xfrm>
          <a:prstGeom prst="rect">
            <a:avLst/>
          </a:prstGeom>
          <a:solidFill>
            <a:srgbClr val="FFFFFF"/>
          </a:solidFill>
          <a:ln w="9144">
            <a:solidFill>
              <a:srgbClr val="E0E0E0"/>
            </a:solidFill>
            <a:prstDash val="solid"/>
          </a:ln>
        </p:spPr>
        <p:txBody>
          <a:bodyPr/>
          <a:lstStyle/>
          <a:p>
            <a:endParaRPr/>
          </a:p>
        </p:txBody>
      </p:sp>
      <p:pic>
        <p:nvPicPr>
          <p:cNvPr id="5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8625" y="785813"/>
            <a:ext cx="5000625" cy="3214688"/>
          </a:xfrm>
          <a:prstGeom prst="rect">
            <a:avLst/>
          </a:prstGeom>
        </p:spPr>
      </p:pic>
      <p:sp>
        <p:nvSpPr>
          <p:cNvPr id="7" name="Text 3">
            <a:extLst>
              <a:ext uri="{FF2B5EF4-FFF2-40B4-BE49-F238E27FC236}">
                <a16:creationId xmlns:a16="http://schemas.microsoft.com/office/drawing/2014/main" id="{6DBDC25F-17EE-43A1-BF35-7F1C19560C64}"/>
              </a:ext>
            </a:extLst>
          </p:cNvPr>
          <p:cNvSpPr>
            <a:spLocks noGrp="1"/>
          </p:cNvSpPr>
          <p:nvPr/>
        </p:nvSpPr>
        <p:spPr>
          <a:xfrm>
            <a:off x="564356" y="4164806"/>
            <a:ext cx="535781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Core:</a:t>
            </a:r>
          </a:p>
        </p:txBody>
      </p:sp>
      <p:sp>
        <p:nvSpPr>
          <p:cNvPr id="8" name="Text 4">
            <a:extLst>
              <a:ext uri="{FF2B5EF4-FFF2-40B4-BE49-F238E27FC236}">
                <a16:creationId xmlns:a16="http://schemas.microsoft.com/office/drawing/2014/main" id="{38244FA9-3B92-436F-8606-4476967548AA}"/>
              </a:ext>
            </a:extLst>
          </p:cNvPr>
          <p:cNvSpPr>
            <a:spLocks noGrp="1"/>
          </p:cNvSpPr>
          <p:nvPr/>
        </p:nvSpPr>
        <p:spPr>
          <a:xfrm>
            <a:off x="1100138" y="4164806"/>
            <a:ext cx="1250268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Seven modules center on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5C39D68F-66B1-48C5-A384-92E107A48A98}"/>
              </a:ext>
            </a:extLst>
          </p:cNvPr>
          <p:cNvSpPr>
            <a:spLocks noGrp="1"/>
          </p:cNvSpPr>
          <p:nvPr/>
        </p:nvSpPr>
        <p:spPr>
          <a:xfrm>
            <a:off x="2350405" y="4164806"/>
            <a:ext cx="1136972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LLE (Link-List Engine)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5EE8BBFE-7FD9-431E-A8C1-9806ABEA08D4}"/>
              </a:ext>
            </a:extLst>
          </p:cNvPr>
          <p:cNvSpPr>
            <a:spLocks noGrp="1"/>
          </p:cNvSpPr>
          <p:nvPr/>
        </p:nvSpPr>
        <p:spPr>
          <a:xfrm>
            <a:off x="3487378" y="4164806"/>
            <a:ext cx="702487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and link via</a:t>
            </a:r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A6ABFE7A-D502-431F-90DC-429B8DB8345C}"/>
              </a:ext>
            </a:extLst>
          </p:cNvPr>
          <p:cNvSpPr>
            <a:spLocks noGrp="1"/>
          </p:cNvSpPr>
          <p:nvPr/>
        </p:nvSpPr>
        <p:spPr>
          <a:xfrm>
            <a:off x="4189865" y="4164806"/>
            <a:ext cx="494426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occ_query</a:t>
            </a:r>
          </a:p>
        </p:txBody>
      </p:sp>
      <p:sp>
        <p:nvSpPr>
          <p:cNvPr id="12" name="Text 8">
            <a:extLst>
              <a:ext uri="{FF2B5EF4-FFF2-40B4-BE49-F238E27FC236}">
                <a16:creationId xmlns:a16="http://schemas.microsoft.com/office/drawing/2014/main" id="{0D377DA3-B89D-42C1-98FF-54490716D90E}"/>
              </a:ext>
            </a:extLst>
          </p:cNvPr>
          <p:cNvSpPr>
            <a:spLocks noGrp="1"/>
          </p:cNvSpPr>
          <p:nvPr/>
        </p:nvSpPr>
        <p:spPr>
          <a:xfrm>
            <a:off x="4684291" y="4164806"/>
            <a:ext cx="107156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,</a:t>
            </a:r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9FE1DA2F-6052-453F-AF1A-09B949F71DB9}"/>
              </a:ext>
            </a:extLst>
          </p:cNvPr>
          <p:cNvSpPr>
            <a:spLocks noGrp="1"/>
          </p:cNvSpPr>
          <p:nvPr/>
        </p:nvSpPr>
        <p:spPr>
          <a:xfrm>
            <a:off x="4791447" y="4164806"/>
            <a:ext cx="42884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alloc_fire</a:t>
            </a: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6D76B60B-889F-4AC8-875B-52017A0E3389}"/>
              </a:ext>
            </a:extLst>
          </p:cNvPr>
          <p:cNvSpPr>
            <a:spLocks noGrp="1"/>
          </p:cNvSpPr>
          <p:nvPr/>
        </p:nvSpPr>
        <p:spPr>
          <a:xfrm>
            <a:off x="5220295" y="4164806"/>
            <a:ext cx="136959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/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5F7DA2C5-3782-4453-B879-AEDAA03588BB}"/>
              </a:ext>
            </a:extLst>
          </p:cNvPr>
          <p:cNvSpPr>
            <a:spLocks noGrp="1"/>
          </p:cNvSpPr>
          <p:nvPr/>
        </p:nvSpPr>
        <p:spPr>
          <a:xfrm>
            <a:off x="564356" y="4325541"/>
            <a:ext cx="1821656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to decouple control and storage planes.</a:t>
            </a:r>
          </a:p>
        </p:txBody>
      </p:sp>
      <p:sp>
        <p:nvSpPr>
          <p:cNvPr id="16" name="Shape 12">
            <a:extLst>
              <a:ext uri="{FF2B5EF4-FFF2-40B4-BE49-F238E27FC236}">
                <a16:creationId xmlns:a16="http://schemas.microsoft.com/office/drawing/2014/main" id="{CA40A36F-3AE6-4320-A064-7029EF9608B4}"/>
              </a:ext>
            </a:extLst>
          </p:cNvPr>
          <p:cNvSpPr>
            <a:spLocks noGrp="1"/>
          </p:cNvSpPr>
          <p:nvPr/>
        </p:nvSpPr>
        <p:spPr>
          <a:xfrm>
            <a:off x="5715000" y="785813"/>
            <a:ext cx="3000375" cy="2916324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7" name="Shape 13">
            <a:extLst>
              <a:ext uri="{FF2B5EF4-FFF2-40B4-BE49-F238E27FC236}">
                <a16:creationId xmlns:a16="http://schemas.microsoft.com/office/drawing/2014/main" id="{CECA842F-CFA4-4DD1-BA50-D29EE75501C1}"/>
              </a:ext>
            </a:extLst>
          </p:cNvPr>
          <p:cNvSpPr>
            <a:spLocks noGrp="1"/>
          </p:cNvSpPr>
          <p:nvPr/>
        </p:nvSpPr>
        <p:spPr>
          <a:xfrm>
            <a:off x="5718572" y="785813"/>
            <a:ext cx="890848" cy="24288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2B40C682-C0C3-48FD-AC28-3D0B6AEC1FE9}"/>
              </a:ext>
            </a:extLst>
          </p:cNvPr>
          <p:cNvSpPr>
            <a:spLocks noGrp="1"/>
          </p:cNvSpPr>
          <p:nvPr/>
        </p:nvSpPr>
        <p:spPr>
          <a:xfrm>
            <a:off x="5718572" y="785813"/>
            <a:ext cx="890848" cy="242888"/>
          </a:xfrm>
          <a:prstGeom prst="rect">
            <a:avLst/>
          </a:prstGeom>
          <a:noFill/>
        </p:spPr>
        <p:txBody>
          <a:bodyPr wrap="none" lIns="102108" tIns="68072" rIns="102108" bIns="68072" anchor="ctr">
            <a:spAutoFit/>
          </a:bodyPr>
          <a:lstStyle/>
          <a:p>
            <a:pPr marL="0" indent="0" algn="l">
              <a:buNone/>
            </a:pPr>
            <a:r>
              <a:rPr sz="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Submodule</a:t>
            </a:r>
          </a:p>
        </p:txBody>
      </p:sp>
      <p:sp>
        <p:nvSpPr>
          <p:cNvPr id="19" name="Shape 15">
            <a:extLst>
              <a:ext uri="{FF2B5EF4-FFF2-40B4-BE49-F238E27FC236}">
                <a16:creationId xmlns:a16="http://schemas.microsoft.com/office/drawing/2014/main" id="{E833A77A-C6D4-4C39-8F75-C3B56876B575}"/>
              </a:ext>
            </a:extLst>
          </p:cNvPr>
          <p:cNvSpPr>
            <a:spLocks noGrp="1"/>
          </p:cNvSpPr>
          <p:nvPr/>
        </p:nvSpPr>
        <p:spPr>
          <a:xfrm>
            <a:off x="6609420" y="785813"/>
            <a:ext cx="364220" cy="24288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A8F54D8B-70A8-4A6D-A357-235AA5289C81}"/>
              </a:ext>
            </a:extLst>
          </p:cNvPr>
          <p:cNvSpPr>
            <a:spLocks noGrp="1"/>
          </p:cNvSpPr>
          <p:nvPr/>
        </p:nvSpPr>
        <p:spPr>
          <a:xfrm>
            <a:off x="6609420" y="785813"/>
            <a:ext cx="364220" cy="242888"/>
          </a:xfrm>
          <a:prstGeom prst="rect">
            <a:avLst/>
          </a:prstGeom>
          <a:noFill/>
        </p:spPr>
        <p:txBody>
          <a:bodyPr wrap="none" lIns="102108" tIns="68072" rIns="102108" bIns="68072" anchor="ctr">
            <a:spAutoFit/>
          </a:bodyPr>
          <a:lstStyle/>
          <a:p>
            <a:pPr marL="0" indent="0" algn="l">
              <a:buNone/>
            </a:pPr>
            <a:r>
              <a:rPr sz="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Plane</a:t>
            </a:r>
          </a:p>
        </p:txBody>
      </p:sp>
      <p:sp>
        <p:nvSpPr>
          <p:cNvPr id="21" name="Shape 17">
            <a:extLst>
              <a:ext uri="{FF2B5EF4-FFF2-40B4-BE49-F238E27FC236}">
                <a16:creationId xmlns:a16="http://schemas.microsoft.com/office/drawing/2014/main" id="{27514160-973B-4F60-B497-1587736F13C8}"/>
              </a:ext>
            </a:extLst>
          </p:cNvPr>
          <p:cNvSpPr>
            <a:spLocks noGrp="1"/>
          </p:cNvSpPr>
          <p:nvPr/>
        </p:nvSpPr>
        <p:spPr>
          <a:xfrm>
            <a:off x="6973639" y="785813"/>
            <a:ext cx="1738164" cy="24288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22" name="Text 18">
            <a:extLst>
              <a:ext uri="{FF2B5EF4-FFF2-40B4-BE49-F238E27FC236}">
                <a16:creationId xmlns:a16="http://schemas.microsoft.com/office/drawing/2014/main" id="{AA14787C-B9D8-4B71-A728-6672944809E3}"/>
              </a:ext>
            </a:extLst>
          </p:cNvPr>
          <p:cNvSpPr>
            <a:spLocks noGrp="1"/>
          </p:cNvSpPr>
          <p:nvPr/>
        </p:nvSpPr>
        <p:spPr>
          <a:xfrm>
            <a:off x="6973639" y="785813"/>
            <a:ext cx="1738164" cy="242888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buNone/>
            </a:pPr>
            <a:r>
              <a:rPr sz="65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Primary Responsibility</a:t>
            </a:r>
          </a:p>
        </p:txBody>
      </p:sp>
      <p:sp>
        <p:nvSpPr>
          <p:cNvPr id="23" name="Text 19">
            <a:extLst>
              <a:ext uri="{FF2B5EF4-FFF2-40B4-BE49-F238E27FC236}">
                <a16:creationId xmlns:a16="http://schemas.microsoft.com/office/drawing/2014/main" id="{59FC13D1-3B45-4BC9-AC3D-6CF80A6363C7}"/>
              </a:ext>
            </a:extLst>
          </p:cNvPr>
          <p:cNvSpPr>
            <a:spLocks noGrp="1"/>
          </p:cNvSpPr>
          <p:nvPr/>
        </p:nvSpPr>
        <p:spPr>
          <a:xfrm>
            <a:off x="5807869" y="1165101"/>
            <a:ext cx="175413" cy="1071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LLE</a:t>
            </a:r>
          </a:p>
        </p:txBody>
      </p:sp>
      <p:sp>
        <p:nvSpPr>
          <p:cNvPr id="24" name="Text 20">
            <a:extLst>
              <a:ext uri="{FF2B5EF4-FFF2-40B4-BE49-F238E27FC236}">
                <a16:creationId xmlns:a16="http://schemas.microsoft.com/office/drawing/2014/main" id="{0B88543F-5E57-485A-832F-4ECC7157A19D}"/>
              </a:ext>
            </a:extLst>
          </p:cNvPr>
          <p:cNvSpPr>
            <a:spLocks noGrp="1"/>
          </p:cNvSpPr>
          <p:nvPr/>
        </p:nvSpPr>
        <p:spPr>
          <a:xfrm>
            <a:off x="6609420" y="1028700"/>
            <a:ext cx="364220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25" name="Text 21">
            <a:extLst>
              <a:ext uri="{FF2B5EF4-FFF2-40B4-BE49-F238E27FC236}">
                <a16:creationId xmlns:a16="http://schemas.microsoft.com/office/drawing/2014/main" id="{8FBBA161-DB3B-4EE2-A98D-5A3413486AC2}"/>
              </a:ext>
            </a:extLst>
          </p:cNvPr>
          <p:cNvSpPr>
            <a:spLocks noGrp="1"/>
          </p:cNvSpPr>
          <p:nvPr/>
        </p:nvSpPr>
        <p:spPr>
          <a:xfrm>
            <a:off x="6973639" y="1028700"/>
            <a:ext cx="1738164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Linked-list engine; sole accessor of Next-Ptr SRAM</a:t>
            </a:r>
          </a:p>
        </p:txBody>
      </p:sp>
      <p:sp>
        <p:nvSpPr>
          <p:cNvPr id="26" name="Text 22">
            <a:extLst>
              <a:ext uri="{FF2B5EF4-FFF2-40B4-BE49-F238E27FC236}">
                <a16:creationId xmlns:a16="http://schemas.microsoft.com/office/drawing/2014/main" id="{6E2F668D-A774-425A-A7D7-BF62A341DE3A}"/>
              </a:ext>
            </a:extLst>
          </p:cNvPr>
          <p:cNvSpPr>
            <a:spLocks noGrp="1"/>
          </p:cNvSpPr>
          <p:nvPr/>
        </p:nvSpPr>
        <p:spPr>
          <a:xfrm>
            <a:off x="5807869" y="1546510"/>
            <a:ext cx="578030" cy="1071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enqueue_ctrl</a:t>
            </a: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6C82F312-9515-4CE0-82DE-D0F8E8A641E2}"/>
              </a:ext>
            </a:extLst>
          </p:cNvPr>
          <p:cNvSpPr>
            <a:spLocks noGrp="1"/>
          </p:cNvSpPr>
          <p:nvPr/>
        </p:nvSpPr>
        <p:spPr>
          <a:xfrm>
            <a:off x="6609420" y="1410109"/>
            <a:ext cx="364220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Ctrl</a:t>
            </a:r>
          </a:p>
        </p:txBody>
      </p:sp>
      <p:sp>
        <p:nvSpPr>
          <p:cNvPr id="28" name="Text 24">
            <a:extLst>
              <a:ext uri="{FF2B5EF4-FFF2-40B4-BE49-F238E27FC236}">
                <a16:creationId xmlns:a16="http://schemas.microsoft.com/office/drawing/2014/main" id="{E2D72860-7AEE-48BB-BA8D-15C5A6442750}"/>
              </a:ext>
            </a:extLst>
          </p:cNvPr>
          <p:cNvSpPr>
            <a:spLocks noGrp="1"/>
          </p:cNvSpPr>
          <p:nvPr/>
        </p:nvSpPr>
        <p:spPr>
          <a:xfrm>
            <a:off x="6973639" y="1410109"/>
            <a:ext cx="1738164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One-cycle enqueue command; whole-frame drop FSM</a:t>
            </a:r>
          </a:p>
        </p:txBody>
      </p:sp>
      <p:sp>
        <p:nvSpPr>
          <p:cNvPr id="29" name="Text 25">
            <a:extLst>
              <a:ext uri="{FF2B5EF4-FFF2-40B4-BE49-F238E27FC236}">
                <a16:creationId xmlns:a16="http://schemas.microsoft.com/office/drawing/2014/main" id="{A8B21CF2-E3F6-41DD-AE59-577AFB91E926}"/>
              </a:ext>
            </a:extLst>
          </p:cNvPr>
          <p:cNvSpPr>
            <a:spLocks noGrp="1"/>
          </p:cNvSpPr>
          <p:nvPr/>
        </p:nvSpPr>
        <p:spPr>
          <a:xfrm>
            <a:off x="5807869" y="1927920"/>
            <a:ext cx="578030" cy="1071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dequeue_ctrl</a:t>
            </a:r>
          </a:p>
        </p:txBody>
      </p:sp>
      <p:sp>
        <p:nvSpPr>
          <p:cNvPr id="30" name="Text 26">
            <a:extLst>
              <a:ext uri="{FF2B5EF4-FFF2-40B4-BE49-F238E27FC236}">
                <a16:creationId xmlns:a16="http://schemas.microsoft.com/office/drawing/2014/main" id="{B307CBBF-8663-4B0F-8FBF-971FAD8701A1}"/>
              </a:ext>
            </a:extLst>
          </p:cNvPr>
          <p:cNvSpPr>
            <a:spLocks noGrp="1"/>
          </p:cNvSpPr>
          <p:nvPr/>
        </p:nvSpPr>
        <p:spPr>
          <a:xfrm>
            <a:off x="6609420" y="1791519"/>
            <a:ext cx="364220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Ctrl</a:t>
            </a:r>
          </a:p>
        </p:txBody>
      </p:sp>
      <p:sp>
        <p:nvSpPr>
          <p:cNvPr id="31" name="Text 27">
            <a:extLst>
              <a:ext uri="{FF2B5EF4-FFF2-40B4-BE49-F238E27FC236}">
                <a16:creationId xmlns:a16="http://schemas.microsoft.com/office/drawing/2014/main" id="{110CF45E-1EC3-4884-B012-5D1D66C59422}"/>
              </a:ext>
            </a:extLst>
          </p:cNvPr>
          <p:cNvSpPr>
            <a:spLocks noGrp="1"/>
          </p:cNvSpPr>
          <p:nvPr/>
        </p:nvSpPr>
        <p:spPr>
          <a:xfrm>
            <a:off x="6973639" y="1791519"/>
            <a:ext cx="1738164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One-cycle dequeue command; backpressure check</a:t>
            </a:r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6B29805A-DA39-4FF4-BD81-3514D2218F46}"/>
              </a:ext>
            </a:extLst>
          </p:cNvPr>
          <p:cNvSpPr>
            <a:spLocks noGrp="1"/>
          </p:cNvSpPr>
          <p:nvPr/>
        </p:nvSpPr>
        <p:spPr>
          <a:xfrm>
            <a:off x="5807869" y="2309329"/>
            <a:ext cx="516359" cy="1071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recycle_ctrl</a:t>
            </a:r>
          </a:p>
        </p:txBody>
      </p:sp>
      <p:sp>
        <p:nvSpPr>
          <p:cNvPr id="33" name="Text 29">
            <a:extLst>
              <a:ext uri="{FF2B5EF4-FFF2-40B4-BE49-F238E27FC236}">
                <a16:creationId xmlns:a16="http://schemas.microsoft.com/office/drawing/2014/main" id="{EE49FDA6-BC87-4133-B79F-7109C4BDF557}"/>
              </a:ext>
            </a:extLst>
          </p:cNvPr>
          <p:cNvSpPr>
            <a:spLocks noGrp="1"/>
          </p:cNvSpPr>
          <p:nvPr/>
        </p:nvSpPr>
        <p:spPr>
          <a:xfrm>
            <a:off x="6609420" y="2172928"/>
            <a:ext cx="364220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Ctrl</a:t>
            </a:r>
          </a:p>
        </p:txBody>
      </p:sp>
      <p:sp>
        <p:nvSpPr>
          <p:cNvPr id="34" name="Text 30">
            <a:extLst>
              <a:ext uri="{FF2B5EF4-FFF2-40B4-BE49-F238E27FC236}">
                <a16:creationId xmlns:a16="http://schemas.microsoft.com/office/drawing/2014/main" id="{ED64F4FF-7258-42E9-9F63-F213507D2CAE}"/>
              </a:ext>
            </a:extLst>
          </p:cNvPr>
          <p:cNvSpPr>
            <a:spLocks noGrp="1"/>
          </p:cNvSpPr>
          <p:nvPr/>
        </p:nvSpPr>
        <p:spPr>
          <a:xfrm>
            <a:off x="6973639" y="2172928"/>
            <a:ext cx="1738164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Thin pass-through for returning cells to the free list</a:t>
            </a:r>
          </a:p>
        </p:txBody>
      </p:sp>
      <p:sp>
        <p:nvSpPr>
          <p:cNvPr id="35" name="Text 31">
            <a:extLst>
              <a:ext uri="{FF2B5EF4-FFF2-40B4-BE49-F238E27FC236}">
                <a16:creationId xmlns:a16="http://schemas.microsoft.com/office/drawing/2014/main" id="{D3B18993-6ED9-4909-92FE-CDCB7C7A1B7B}"/>
              </a:ext>
            </a:extLst>
          </p:cNvPr>
          <p:cNvSpPr>
            <a:spLocks noGrp="1"/>
          </p:cNvSpPr>
          <p:nvPr/>
        </p:nvSpPr>
        <p:spPr>
          <a:xfrm>
            <a:off x="5807869" y="2690738"/>
            <a:ext cx="712254" cy="1071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occupancy_mgr</a:t>
            </a:r>
          </a:p>
        </p:txBody>
      </p:sp>
      <p:sp>
        <p:nvSpPr>
          <p:cNvPr id="36" name="Text 32">
            <a:extLst>
              <a:ext uri="{FF2B5EF4-FFF2-40B4-BE49-F238E27FC236}">
                <a16:creationId xmlns:a16="http://schemas.microsoft.com/office/drawing/2014/main" id="{04FF63F6-2B59-4A24-8358-3FC47861EFC8}"/>
              </a:ext>
            </a:extLst>
          </p:cNvPr>
          <p:cNvSpPr>
            <a:spLocks noGrp="1"/>
          </p:cNvSpPr>
          <p:nvPr/>
        </p:nvSpPr>
        <p:spPr>
          <a:xfrm>
            <a:off x="6609420" y="2554337"/>
            <a:ext cx="364220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Cnt</a:t>
            </a:r>
          </a:p>
        </p:txBody>
      </p:sp>
      <p:sp>
        <p:nvSpPr>
          <p:cNvPr id="37" name="Text 33">
            <a:extLst>
              <a:ext uri="{FF2B5EF4-FFF2-40B4-BE49-F238E27FC236}">
                <a16:creationId xmlns:a16="http://schemas.microsoft.com/office/drawing/2014/main" id="{5D428C53-8176-42E8-80CD-C9CDFBB2314E}"/>
              </a:ext>
            </a:extLst>
          </p:cNvPr>
          <p:cNvSpPr>
            <a:spLocks noGrp="1"/>
          </p:cNvSpPr>
          <p:nvPr/>
        </p:nvSpPr>
        <p:spPr>
          <a:xfrm>
            <a:off x="6973639" y="2554337"/>
            <a:ext cx="1738164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Occupancy counters + dual-pool decision + PAUSE/PFC</a:t>
            </a:r>
          </a:p>
        </p:txBody>
      </p:sp>
      <p:sp>
        <p:nvSpPr>
          <p:cNvPr id="38" name="Text 34">
            <a:extLst>
              <a:ext uri="{FF2B5EF4-FFF2-40B4-BE49-F238E27FC236}">
                <a16:creationId xmlns:a16="http://schemas.microsoft.com/office/drawing/2014/main" id="{F2E2276C-E66C-4B2B-9A66-1BF1A7D83F00}"/>
              </a:ext>
            </a:extLst>
          </p:cNvPr>
          <p:cNvSpPr>
            <a:spLocks noGrp="1"/>
          </p:cNvSpPr>
          <p:nvPr/>
        </p:nvSpPr>
        <p:spPr>
          <a:xfrm>
            <a:off x="5807869" y="3072147"/>
            <a:ext cx="443805" cy="1071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aging_ctrl</a:t>
            </a:r>
          </a:p>
        </p:txBody>
      </p:sp>
      <p:sp>
        <p:nvSpPr>
          <p:cNvPr id="39" name="Text 35">
            <a:extLst>
              <a:ext uri="{FF2B5EF4-FFF2-40B4-BE49-F238E27FC236}">
                <a16:creationId xmlns:a16="http://schemas.microsoft.com/office/drawing/2014/main" id="{996486F1-1011-4A86-A1CA-CC01D7631E0B}"/>
              </a:ext>
            </a:extLst>
          </p:cNvPr>
          <p:cNvSpPr>
            <a:spLocks noGrp="1"/>
          </p:cNvSpPr>
          <p:nvPr/>
        </p:nvSpPr>
        <p:spPr>
          <a:xfrm>
            <a:off x="6609420" y="2935746"/>
            <a:ext cx="364220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Ctrl</a:t>
            </a:r>
          </a:p>
        </p:txBody>
      </p:sp>
      <p:sp>
        <p:nvSpPr>
          <p:cNvPr id="40" name="Text 36">
            <a:extLst>
              <a:ext uri="{FF2B5EF4-FFF2-40B4-BE49-F238E27FC236}">
                <a16:creationId xmlns:a16="http://schemas.microsoft.com/office/drawing/2014/main" id="{BFB39240-6E40-40BE-963C-0CE42564179D}"/>
              </a:ext>
            </a:extLst>
          </p:cNvPr>
          <p:cNvSpPr>
            <a:spLocks noGrp="1"/>
          </p:cNvSpPr>
          <p:nvPr/>
        </p:nvSpPr>
        <p:spPr>
          <a:xfrm>
            <a:off x="6973639" y="2935746"/>
            <a:ext cx="1738164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Queue aging flush to prevent zombie queues</a:t>
            </a:r>
          </a:p>
        </p:txBody>
      </p:sp>
      <p:sp>
        <p:nvSpPr>
          <p:cNvPr id="41" name="Text 37">
            <a:extLst>
              <a:ext uri="{FF2B5EF4-FFF2-40B4-BE49-F238E27FC236}">
                <a16:creationId xmlns:a16="http://schemas.microsoft.com/office/drawing/2014/main" id="{76DDADA8-EA9E-4E31-9EC9-110EE046C908}"/>
              </a:ext>
            </a:extLst>
          </p:cNvPr>
          <p:cNvSpPr>
            <a:spLocks noGrp="1"/>
          </p:cNvSpPr>
          <p:nvPr/>
        </p:nvSpPr>
        <p:spPr>
          <a:xfrm>
            <a:off x="5807869" y="3453557"/>
            <a:ext cx="598847" cy="107156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csr_stats_init</a:t>
            </a:r>
          </a:p>
        </p:txBody>
      </p:sp>
      <p:sp>
        <p:nvSpPr>
          <p:cNvPr id="42" name="Text 38">
            <a:extLst>
              <a:ext uri="{FF2B5EF4-FFF2-40B4-BE49-F238E27FC236}">
                <a16:creationId xmlns:a16="http://schemas.microsoft.com/office/drawing/2014/main" id="{5C3AF00C-062A-4DAE-B758-450E47AB8872}"/>
              </a:ext>
            </a:extLst>
          </p:cNvPr>
          <p:cNvSpPr>
            <a:spLocks noGrp="1"/>
          </p:cNvSpPr>
          <p:nvPr/>
        </p:nvSpPr>
        <p:spPr>
          <a:xfrm>
            <a:off x="6609420" y="3317156"/>
            <a:ext cx="364220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Cfg</a:t>
            </a:r>
          </a:p>
        </p:txBody>
      </p:sp>
      <p:sp>
        <p:nvSpPr>
          <p:cNvPr id="43" name="Text 39">
            <a:extLst>
              <a:ext uri="{FF2B5EF4-FFF2-40B4-BE49-F238E27FC236}">
                <a16:creationId xmlns:a16="http://schemas.microsoft.com/office/drawing/2014/main" id="{9EA4E2A9-68CB-47D8-A229-1D6D15C1C0E4}"/>
              </a:ext>
            </a:extLst>
          </p:cNvPr>
          <p:cNvSpPr>
            <a:spLocks noGrp="1"/>
          </p:cNvSpPr>
          <p:nvPr/>
        </p:nvSpPr>
        <p:spPr>
          <a:xfrm>
            <a:off x="6973639" y="3317156"/>
            <a:ext cx="1738164" cy="381409"/>
          </a:xfrm>
          <a:prstGeom prst="rect">
            <a:avLst/>
          </a:prstGeom>
          <a:noFill/>
        </p:spPr>
        <p:txBody>
          <a:bodyPr wrap="square" lIns="102108" tIns="68072" rIns="102108" bIns="68072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650">
                <a:solidFill>
                  <a:srgbClr val="2E2E38"/>
                </a:solidFill>
                <a:latin typeface="Arial"/>
                <a:ea typeface="Arial"/>
                <a:cs typeface="Arial"/>
              </a:rPr>
              <a:t>Configuration sampling + initialization FSM (free-list construction)</a:t>
            </a:r>
          </a:p>
        </p:txBody>
      </p:sp>
      <p:pic>
        <p:nvPicPr>
          <p:cNvPr id="96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5715000" y="3859299"/>
            <a:ext cx="100013" cy="100013"/>
          </a:xfrm>
          <a:prstGeom prst="rect">
            <a:avLst/>
          </a:prstGeom>
        </p:spPr>
      </p:pic>
      <p:sp>
        <p:nvSpPr>
          <p:cNvPr id="45" name="Text 40">
            <a:extLst>
              <a:ext uri="{FF2B5EF4-FFF2-40B4-BE49-F238E27FC236}">
                <a16:creationId xmlns:a16="http://schemas.microsoft.com/office/drawing/2014/main" id="{005F6E05-79D4-4381-BAE4-C1FEE9FC0148}"/>
              </a:ext>
            </a:extLst>
          </p:cNvPr>
          <p:cNvSpPr>
            <a:spLocks noGrp="1"/>
          </p:cNvSpPr>
          <p:nvPr/>
        </p:nvSpPr>
        <p:spPr>
          <a:xfrm>
            <a:off x="5815013" y="3855727"/>
            <a:ext cx="827894" cy="110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700" b="1" dirty="0">
                <a:solidFill>
                  <a:srgbClr val="3253DC"/>
                </a:solidFill>
                <a:latin typeface="Arial"/>
                <a:ea typeface="Arial"/>
                <a:cs typeface="Arial"/>
              </a:rPr>
              <a:t>Inter-Module Interface Conventions:</a:t>
            </a:r>
          </a:p>
        </p:txBody>
      </p:sp>
      <p:sp>
        <p:nvSpPr>
          <p:cNvPr id="46" name="Text 41">
            <a:extLst>
              <a:ext uri="{FF2B5EF4-FFF2-40B4-BE49-F238E27FC236}">
                <a16:creationId xmlns:a16="http://schemas.microsoft.com/office/drawing/2014/main" id="{D8368194-7504-4C6D-85E2-37258F45E375}"/>
              </a:ext>
            </a:extLst>
          </p:cNvPr>
          <p:cNvSpPr>
            <a:spLocks noGrp="1"/>
          </p:cNvSpPr>
          <p:nvPr/>
        </p:nvSpPr>
        <p:spPr>
          <a:xfrm>
            <a:off x="5857875" y="4052181"/>
            <a:ext cx="2857500" cy="1485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sz="650" dirty="0">
                <a:solidFill>
                  <a:srgbClr val="6E6E7A"/>
                </a:solidFill>
                <a:latin typeface="Arial"/>
                <a:ea typeface="Arial"/>
                <a:cs typeface="Arial"/>
              </a:rPr>
              <a:t>All control modules allocate and release addresses through the LLE</a:t>
            </a:r>
          </a:p>
        </p:txBody>
      </p:sp>
      <p:sp>
        <p:nvSpPr>
          <p:cNvPr id="47" name="Text 42">
            <a:extLst>
              <a:ext uri="{FF2B5EF4-FFF2-40B4-BE49-F238E27FC236}">
                <a16:creationId xmlns:a16="http://schemas.microsoft.com/office/drawing/2014/main" id="{16F0228C-33BB-41EE-9E05-3ED4C4BF56F3}"/>
              </a:ext>
            </a:extLst>
          </p:cNvPr>
          <p:cNvSpPr>
            <a:spLocks noGrp="1"/>
          </p:cNvSpPr>
          <p:nvPr/>
        </p:nvSpPr>
        <p:spPr>
          <a:xfrm>
            <a:off x="5857875" y="4200748"/>
            <a:ext cx="2857500" cy="1485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sz="650" dirty="0">
                <a:solidFill>
                  <a:srgbClr val="6E6E7A"/>
                </a:solidFill>
                <a:latin typeface="Arial"/>
                <a:ea typeface="Arial"/>
                <a:cs typeface="Arial"/>
              </a:rPr>
              <a:t>The Occupancy module provides real-time watermarks for enqueue gating</a:t>
            </a:r>
          </a:p>
        </p:txBody>
      </p:sp>
      <p:sp>
        <p:nvSpPr>
          <p:cNvPr id="48" name="Text 43">
            <a:extLst>
              <a:ext uri="{FF2B5EF4-FFF2-40B4-BE49-F238E27FC236}">
                <a16:creationId xmlns:a16="http://schemas.microsoft.com/office/drawing/2014/main" id="{2AA82B1D-6CDD-44E7-9B3A-E43301D2C854}"/>
              </a:ext>
            </a:extLst>
          </p:cNvPr>
          <p:cNvSpPr>
            <a:spLocks noGrp="1"/>
          </p:cNvSpPr>
          <p:nvPr/>
        </p:nvSpPr>
        <p:spPr>
          <a:xfrm>
            <a:off x="5857875" y="4349316"/>
            <a:ext cx="2857500" cy="14856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127000" indent="-127000" algn="l">
              <a:lnSpc>
                <a:spcPct val="128000"/>
              </a:lnSpc>
              <a:buSzPct val="100000"/>
              <a:buChar char="•"/>
            </a:pPr>
            <a:r>
              <a:rPr sz="650" dirty="0">
                <a:solidFill>
                  <a:srgbClr val="6E6E7A"/>
                </a:solidFill>
                <a:latin typeface="Arial"/>
                <a:ea typeface="Arial"/>
                <a:cs typeface="Arial"/>
              </a:rPr>
              <a:t>The Init FSM builds the linked list in Next-</a:t>
            </a:r>
            <a:r>
              <a:rPr sz="650" dirty="0" err="1">
                <a:solidFill>
                  <a:srgbClr val="6E6E7A"/>
                </a:solidFill>
                <a:latin typeface="Arial"/>
                <a:ea typeface="Arial"/>
                <a:cs typeface="Arial"/>
              </a:rPr>
              <a:t>Ptr</a:t>
            </a:r>
            <a:r>
              <a:rPr sz="650" dirty="0">
                <a:solidFill>
                  <a:srgbClr val="6E6E7A"/>
                </a:solidFill>
                <a:latin typeface="Arial"/>
                <a:ea typeface="Arial"/>
                <a:cs typeface="Arial"/>
              </a:rPr>
              <a:t> SRAM after power-up</a:t>
            </a:r>
          </a:p>
        </p:txBody>
      </p:sp>
      <p:sp>
        <p:nvSpPr>
          <p:cNvPr id="49" name="Text 44">
            <a:extLst>
              <a:ext uri="{FF2B5EF4-FFF2-40B4-BE49-F238E27FC236}">
                <a16:creationId xmlns:a16="http://schemas.microsoft.com/office/drawing/2014/main" id="{F182EE59-1854-445F-A1CC-2B3C5EB73E79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</p:spTree>
    <p:extLst>
      <p:ext uri="{BB962C8B-B14F-4D97-AF65-F5344CB8AC3E}">
        <p14:creationId xmlns:p14="http://schemas.microsoft.com/office/powerpoint/2010/main" val="1049974845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20431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B5639960-D7C9-49FA-8119-B1C3C19DDF8E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6D58888B-E7E6-424D-9B73-BD44B36F421D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3200958" cy="310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Parameterized Design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7C53CFB-C746-4981-9480-DA9E236B7B92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8286750" cy="31644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F8331AE0-56CA-49CB-BDC2-6F9BA5E74A0A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28575" cy="316446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C4E0453-83E4-46F0-9C52-2138B5F7D07D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8286750" cy="316446"/>
          </a:xfrm>
          <a:prstGeom prst="rect">
            <a:avLst/>
          </a:prstGeom>
          <a:noFill/>
        </p:spPr>
        <p:txBody>
          <a:bodyPr wrap="square" lIns="170053" tIns="127508" rIns="170053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950">
                <a:solidFill>
                  <a:srgbClr val="2E2E38"/>
                </a:solidFill>
                <a:latin typeface="Arial"/>
                <a:ea typeface="Arial"/>
                <a:cs typeface="Arial"/>
              </a:rPr>
              <a:t>All widths are derived consistently from CELL_NUM, PORT_NUM, and TC_NUM across all submodules, ensuring design consistency and scalability.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CFE73F35-DF95-4111-9F82-0F457930A23F}"/>
              </a:ext>
            </a:extLst>
          </p:cNvPr>
          <p:cNvSpPr>
            <a:spLocks noGrp="1"/>
          </p:cNvSpPr>
          <p:nvPr/>
        </p:nvSpPr>
        <p:spPr>
          <a:xfrm>
            <a:off x="387324" y="1388008"/>
            <a:ext cx="4036219" cy="2160984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B61DBC2D-8E43-4FA4-997E-F65A3CF5A285}"/>
              </a:ext>
            </a:extLst>
          </p:cNvPr>
          <p:cNvSpPr>
            <a:spLocks noGrp="1"/>
          </p:cNvSpPr>
          <p:nvPr/>
        </p:nvSpPr>
        <p:spPr>
          <a:xfrm>
            <a:off x="571500" y="1530883"/>
            <a:ext cx="3750469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Top-Level Parameters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5B5BC981-6132-4148-B289-368DBEC28288}"/>
              </a:ext>
            </a:extLst>
          </p:cNvPr>
          <p:cNvSpPr>
            <a:spLocks noGrp="1"/>
          </p:cNvSpPr>
          <p:nvPr/>
        </p:nvSpPr>
        <p:spPr>
          <a:xfrm>
            <a:off x="575072" y="1834493"/>
            <a:ext cx="1076920" cy="28217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800B03B-96F4-41BC-B1B1-15ACC5B950C2}"/>
              </a:ext>
            </a:extLst>
          </p:cNvPr>
          <p:cNvSpPr>
            <a:spLocks noGrp="1"/>
          </p:cNvSpPr>
          <p:nvPr/>
        </p:nvSpPr>
        <p:spPr>
          <a:xfrm>
            <a:off x="575072" y="1834493"/>
            <a:ext cx="1076920" cy="282178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Parameter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765AAAC1-00C5-4B61-A01D-801E081AA7D6}"/>
              </a:ext>
            </a:extLst>
          </p:cNvPr>
          <p:cNvSpPr>
            <a:spLocks noGrp="1"/>
          </p:cNvSpPr>
          <p:nvPr/>
        </p:nvSpPr>
        <p:spPr>
          <a:xfrm>
            <a:off x="1651992" y="1834493"/>
            <a:ext cx="757014" cy="28217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3124B12D-F015-4CFF-9E9F-510E92789703}"/>
              </a:ext>
            </a:extLst>
          </p:cNvPr>
          <p:cNvSpPr>
            <a:spLocks noGrp="1"/>
          </p:cNvSpPr>
          <p:nvPr/>
        </p:nvSpPr>
        <p:spPr>
          <a:xfrm>
            <a:off x="1651992" y="1834493"/>
            <a:ext cx="757014" cy="282178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Default</a:t>
            </a: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7A00179F-EB1D-4AB5-A1BA-E34B59093CFE}"/>
              </a:ext>
            </a:extLst>
          </p:cNvPr>
          <p:cNvSpPr>
            <a:spLocks noGrp="1"/>
          </p:cNvSpPr>
          <p:nvPr/>
        </p:nvSpPr>
        <p:spPr>
          <a:xfrm>
            <a:off x="2409006" y="1834493"/>
            <a:ext cx="1909390" cy="28217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44E158EE-EA47-4AEA-BBE7-FD318C337A3F}"/>
              </a:ext>
            </a:extLst>
          </p:cNvPr>
          <p:cNvSpPr>
            <a:spLocks noGrp="1"/>
          </p:cNvSpPr>
          <p:nvPr/>
        </p:nvSpPr>
        <p:spPr>
          <a:xfrm>
            <a:off x="2409006" y="1834493"/>
            <a:ext cx="1909390" cy="282178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Description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7E5AC1C3-FA05-4F20-8156-F6993FC2A841}"/>
              </a:ext>
            </a:extLst>
          </p:cNvPr>
          <p:cNvSpPr>
            <a:spLocks noGrp="1"/>
          </p:cNvSpPr>
          <p:nvPr/>
        </p:nvSpPr>
        <p:spPr>
          <a:xfrm>
            <a:off x="575072" y="2116671"/>
            <a:ext cx="107692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CELL_NUM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99E2371F-8B83-4CA1-86EF-8C39392020A5}"/>
              </a:ext>
            </a:extLst>
          </p:cNvPr>
          <p:cNvSpPr>
            <a:spLocks noGrp="1"/>
          </p:cNvSpPr>
          <p:nvPr/>
        </p:nvSpPr>
        <p:spPr>
          <a:xfrm>
            <a:off x="1651992" y="2116671"/>
            <a:ext cx="757014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8192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F62F8568-69D7-445A-A15B-213E3E03F09E}"/>
              </a:ext>
            </a:extLst>
          </p:cNvPr>
          <p:cNvSpPr>
            <a:spLocks noGrp="1"/>
          </p:cNvSpPr>
          <p:nvPr/>
        </p:nvSpPr>
        <p:spPr>
          <a:xfrm>
            <a:off x="2409006" y="2116671"/>
            <a:ext cx="1909390" cy="2857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Total cells (2 MB / 256 B)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AF38C6E-942D-47E4-A598-7416EAC717A4}"/>
              </a:ext>
            </a:extLst>
          </p:cNvPr>
          <p:cNvSpPr>
            <a:spLocks noGrp="1"/>
          </p:cNvSpPr>
          <p:nvPr/>
        </p:nvSpPr>
        <p:spPr>
          <a:xfrm>
            <a:off x="575072" y="2402421"/>
            <a:ext cx="107692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PORT_NUM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9771B6A7-5742-47F4-A8DA-6951296A69D8}"/>
              </a:ext>
            </a:extLst>
          </p:cNvPr>
          <p:cNvSpPr>
            <a:spLocks noGrp="1"/>
          </p:cNvSpPr>
          <p:nvPr/>
        </p:nvSpPr>
        <p:spPr>
          <a:xfrm>
            <a:off x="1651992" y="2402421"/>
            <a:ext cx="757014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4</a:t>
            </a: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8ACD3474-47E6-4752-B652-ECEA91D80CD2}"/>
              </a:ext>
            </a:extLst>
          </p:cNvPr>
          <p:cNvSpPr>
            <a:spLocks noGrp="1"/>
          </p:cNvSpPr>
          <p:nvPr/>
        </p:nvSpPr>
        <p:spPr>
          <a:xfrm>
            <a:off x="2409006" y="2402421"/>
            <a:ext cx="1909390" cy="2857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Number of physical egress ports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5B5CB825-13FB-4EA3-A690-7EB676682A18}"/>
              </a:ext>
            </a:extLst>
          </p:cNvPr>
          <p:cNvSpPr>
            <a:spLocks noGrp="1"/>
          </p:cNvSpPr>
          <p:nvPr/>
        </p:nvSpPr>
        <p:spPr>
          <a:xfrm>
            <a:off x="575072" y="2688171"/>
            <a:ext cx="107692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TC_NUM</a:t>
            </a: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4BC5B2EC-0994-488A-8DF9-1946103031C9}"/>
              </a:ext>
            </a:extLst>
          </p:cNvPr>
          <p:cNvSpPr>
            <a:spLocks noGrp="1"/>
          </p:cNvSpPr>
          <p:nvPr/>
        </p:nvSpPr>
        <p:spPr>
          <a:xfrm>
            <a:off x="1651992" y="2688171"/>
            <a:ext cx="757014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8</a:t>
            </a:r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EE7971F5-8E55-428C-86A5-4DB6996499F8}"/>
              </a:ext>
            </a:extLst>
          </p:cNvPr>
          <p:cNvSpPr>
            <a:spLocks noGrp="1"/>
          </p:cNvSpPr>
          <p:nvPr/>
        </p:nvSpPr>
        <p:spPr>
          <a:xfrm>
            <a:off x="2409006" y="2688171"/>
            <a:ext cx="1909390" cy="2857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Traffic classes per port</a:t>
            </a: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87F01C4D-6C08-4397-8A0D-425BFFA37406}"/>
              </a:ext>
            </a:extLst>
          </p:cNvPr>
          <p:cNvSpPr>
            <a:spLocks noGrp="1"/>
          </p:cNvSpPr>
          <p:nvPr/>
        </p:nvSpPr>
        <p:spPr>
          <a:xfrm>
            <a:off x="571500" y="2975706"/>
            <a:ext cx="107692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 dirty="0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STAT_W</a:t>
            </a: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E9864D71-281A-4B59-BCEF-F56937E2FB65}"/>
              </a:ext>
            </a:extLst>
          </p:cNvPr>
          <p:cNvSpPr>
            <a:spLocks noGrp="1"/>
          </p:cNvSpPr>
          <p:nvPr/>
        </p:nvSpPr>
        <p:spPr>
          <a:xfrm>
            <a:off x="1648420" y="2975706"/>
            <a:ext cx="757014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32</a:t>
            </a: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F43F1765-86F8-4060-AA14-1C29E0B04D67}"/>
              </a:ext>
            </a:extLst>
          </p:cNvPr>
          <p:cNvSpPr>
            <a:spLocks noGrp="1"/>
          </p:cNvSpPr>
          <p:nvPr/>
        </p:nvSpPr>
        <p:spPr>
          <a:xfrm>
            <a:off x="2405434" y="2975706"/>
            <a:ext cx="1909390" cy="2857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Statistics counter width</a:t>
            </a:r>
          </a:p>
        </p:txBody>
      </p:sp>
      <p:sp>
        <p:nvSpPr>
          <p:cNvPr id="31" name="Shape 28">
            <a:extLst>
              <a:ext uri="{FF2B5EF4-FFF2-40B4-BE49-F238E27FC236}">
                <a16:creationId xmlns:a16="http://schemas.microsoft.com/office/drawing/2014/main" id="{481624B8-359A-4C6C-9B42-9290608472E9}"/>
              </a:ext>
            </a:extLst>
          </p:cNvPr>
          <p:cNvSpPr>
            <a:spLocks noGrp="1"/>
          </p:cNvSpPr>
          <p:nvPr/>
        </p:nvSpPr>
        <p:spPr>
          <a:xfrm>
            <a:off x="4679156" y="1388008"/>
            <a:ext cx="4036219" cy="254819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dirty="0"/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EB351444-22BF-4877-931D-C552510616AC}"/>
              </a:ext>
            </a:extLst>
          </p:cNvPr>
          <p:cNvSpPr>
            <a:spLocks noGrp="1"/>
          </p:cNvSpPr>
          <p:nvPr/>
        </p:nvSpPr>
        <p:spPr>
          <a:xfrm>
            <a:off x="4822031" y="1530883"/>
            <a:ext cx="3750469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Derived Constants (Localparams)</a:t>
            </a:r>
          </a:p>
        </p:txBody>
      </p:sp>
      <p:sp>
        <p:nvSpPr>
          <p:cNvPr id="33" name="Shape 30">
            <a:extLst>
              <a:ext uri="{FF2B5EF4-FFF2-40B4-BE49-F238E27FC236}">
                <a16:creationId xmlns:a16="http://schemas.microsoft.com/office/drawing/2014/main" id="{13EA285A-6F81-43F3-8A73-E8D4BE750A70}"/>
              </a:ext>
            </a:extLst>
          </p:cNvPr>
          <p:cNvSpPr>
            <a:spLocks noGrp="1"/>
          </p:cNvSpPr>
          <p:nvPr/>
        </p:nvSpPr>
        <p:spPr>
          <a:xfrm>
            <a:off x="4825603" y="1834493"/>
            <a:ext cx="1234920" cy="28217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8293B6EC-125C-4E38-B7D5-A776858DEC3B}"/>
              </a:ext>
            </a:extLst>
          </p:cNvPr>
          <p:cNvSpPr>
            <a:spLocks noGrp="1"/>
          </p:cNvSpPr>
          <p:nvPr/>
        </p:nvSpPr>
        <p:spPr>
          <a:xfrm>
            <a:off x="4825603" y="1834493"/>
            <a:ext cx="1234920" cy="282178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Derived Value</a:t>
            </a:r>
          </a:p>
        </p:txBody>
      </p:sp>
      <p:sp>
        <p:nvSpPr>
          <p:cNvPr id="35" name="Shape 32">
            <a:extLst>
              <a:ext uri="{FF2B5EF4-FFF2-40B4-BE49-F238E27FC236}">
                <a16:creationId xmlns:a16="http://schemas.microsoft.com/office/drawing/2014/main" id="{12BF91B6-5845-42DA-8209-056F438AADCC}"/>
              </a:ext>
            </a:extLst>
          </p:cNvPr>
          <p:cNvSpPr>
            <a:spLocks noGrp="1"/>
          </p:cNvSpPr>
          <p:nvPr/>
        </p:nvSpPr>
        <p:spPr>
          <a:xfrm>
            <a:off x="6060523" y="1834493"/>
            <a:ext cx="1546733" cy="28217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3BC46E10-BF00-47CB-922C-9DA7E58F2441}"/>
              </a:ext>
            </a:extLst>
          </p:cNvPr>
          <p:cNvSpPr>
            <a:spLocks noGrp="1"/>
          </p:cNvSpPr>
          <p:nvPr/>
        </p:nvSpPr>
        <p:spPr>
          <a:xfrm>
            <a:off x="6060523" y="1834493"/>
            <a:ext cx="1546733" cy="282178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Expression</a:t>
            </a:r>
          </a:p>
        </p:txBody>
      </p:sp>
      <p:sp>
        <p:nvSpPr>
          <p:cNvPr id="37" name="Shape 34">
            <a:extLst>
              <a:ext uri="{FF2B5EF4-FFF2-40B4-BE49-F238E27FC236}">
                <a16:creationId xmlns:a16="http://schemas.microsoft.com/office/drawing/2014/main" id="{4FC6A65A-D0A9-4DFA-B3CE-D1A2A3F737FF}"/>
              </a:ext>
            </a:extLst>
          </p:cNvPr>
          <p:cNvSpPr>
            <a:spLocks noGrp="1"/>
          </p:cNvSpPr>
          <p:nvPr/>
        </p:nvSpPr>
        <p:spPr>
          <a:xfrm>
            <a:off x="7607257" y="1834493"/>
            <a:ext cx="961672" cy="28217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663D3868-68BD-43B5-82C4-A7C9C6F00761}"/>
              </a:ext>
            </a:extLst>
          </p:cNvPr>
          <p:cNvSpPr>
            <a:spLocks noGrp="1"/>
          </p:cNvSpPr>
          <p:nvPr/>
        </p:nvSpPr>
        <p:spPr>
          <a:xfrm>
            <a:off x="7607257" y="1834493"/>
            <a:ext cx="961672" cy="282178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Value (Default)</a:t>
            </a:r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283CEFBE-6E1D-48CC-AFDE-4E691FE17C30}"/>
              </a:ext>
            </a:extLst>
          </p:cNvPr>
          <p:cNvSpPr>
            <a:spLocks noGrp="1"/>
          </p:cNvSpPr>
          <p:nvPr/>
        </p:nvSpPr>
        <p:spPr>
          <a:xfrm>
            <a:off x="4825603" y="2116671"/>
            <a:ext cx="123492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QUEUE_NUM</a:t>
            </a:r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BD1A4D56-3A62-4198-8B00-7F6AA82C3B7C}"/>
              </a:ext>
            </a:extLst>
          </p:cNvPr>
          <p:cNvSpPr>
            <a:spLocks noGrp="1"/>
          </p:cNvSpPr>
          <p:nvPr/>
        </p:nvSpPr>
        <p:spPr>
          <a:xfrm>
            <a:off x="6060523" y="2116671"/>
            <a:ext cx="1546733" cy="2857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PORT*TC+1</a:t>
            </a:r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D175AA36-86C2-45B8-8779-9133D149FC31}"/>
              </a:ext>
            </a:extLst>
          </p:cNvPr>
          <p:cNvSpPr>
            <a:spLocks noGrp="1"/>
          </p:cNvSpPr>
          <p:nvPr/>
        </p:nvSpPr>
        <p:spPr>
          <a:xfrm>
            <a:off x="7607257" y="2116671"/>
            <a:ext cx="961672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33</a:t>
            </a:r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A0684510-DF70-45BB-91C2-02BD58D8C639}"/>
              </a:ext>
            </a:extLst>
          </p:cNvPr>
          <p:cNvSpPr>
            <a:spLocks noGrp="1"/>
          </p:cNvSpPr>
          <p:nvPr/>
        </p:nvSpPr>
        <p:spPr>
          <a:xfrm>
            <a:off x="4825603" y="2402421"/>
            <a:ext cx="123492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ADDR_W</a:t>
            </a:r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89B48506-84D8-4304-A1FF-B8BB8A742FD9}"/>
              </a:ext>
            </a:extLst>
          </p:cNvPr>
          <p:cNvSpPr>
            <a:spLocks noGrp="1"/>
          </p:cNvSpPr>
          <p:nvPr/>
        </p:nvSpPr>
        <p:spPr>
          <a:xfrm>
            <a:off x="6060523" y="2402421"/>
            <a:ext cx="1546733" cy="2857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$clog2(CELL)</a:t>
            </a:r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433BB157-1D9D-43BD-ABB3-E70AFB6BF6B9}"/>
              </a:ext>
            </a:extLst>
          </p:cNvPr>
          <p:cNvSpPr>
            <a:spLocks noGrp="1"/>
          </p:cNvSpPr>
          <p:nvPr/>
        </p:nvSpPr>
        <p:spPr>
          <a:xfrm>
            <a:off x="7607257" y="2402421"/>
            <a:ext cx="961672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13</a:t>
            </a:r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AB86C840-8194-46E3-A48E-317E1D1BC7F3}"/>
              </a:ext>
            </a:extLst>
          </p:cNvPr>
          <p:cNvSpPr>
            <a:spLocks noGrp="1"/>
          </p:cNvSpPr>
          <p:nvPr/>
        </p:nvSpPr>
        <p:spPr>
          <a:xfrm>
            <a:off x="4825603" y="2688171"/>
            <a:ext cx="123492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QID_W</a:t>
            </a:r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4D8849F0-4C95-4D13-BDAF-33899E294798}"/>
              </a:ext>
            </a:extLst>
          </p:cNvPr>
          <p:cNvSpPr>
            <a:spLocks noGrp="1"/>
          </p:cNvSpPr>
          <p:nvPr/>
        </p:nvSpPr>
        <p:spPr>
          <a:xfrm>
            <a:off x="6060523" y="2688171"/>
            <a:ext cx="1546733" cy="2857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$clog2(QN)</a:t>
            </a:r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2809E049-0B50-4614-BE7E-E0320B4A8A36}"/>
              </a:ext>
            </a:extLst>
          </p:cNvPr>
          <p:cNvSpPr>
            <a:spLocks noGrp="1"/>
          </p:cNvSpPr>
          <p:nvPr/>
        </p:nvSpPr>
        <p:spPr>
          <a:xfrm>
            <a:off x="7607257" y="2688171"/>
            <a:ext cx="961672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6</a:t>
            </a:r>
          </a:p>
        </p:txBody>
      </p:sp>
      <p:sp>
        <p:nvSpPr>
          <p:cNvPr id="48" name="Text 45">
            <a:extLst>
              <a:ext uri="{FF2B5EF4-FFF2-40B4-BE49-F238E27FC236}">
                <a16:creationId xmlns:a16="http://schemas.microsoft.com/office/drawing/2014/main" id="{80563678-8C95-4EDB-B799-A3CF3D0D9017}"/>
              </a:ext>
            </a:extLst>
          </p:cNvPr>
          <p:cNvSpPr>
            <a:spLocks noGrp="1"/>
          </p:cNvSpPr>
          <p:nvPr/>
        </p:nvSpPr>
        <p:spPr>
          <a:xfrm>
            <a:off x="4825603" y="2973921"/>
            <a:ext cx="123492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 dirty="0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PORT_W</a:t>
            </a:r>
          </a:p>
        </p:txBody>
      </p:sp>
      <p:sp>
        <p:nvSpPr>
          <p:cNvPr id="49" name="Text 46">
            <a:extLst>
              <a:ext uri="{FF2B5EF4-FFF2-40B4-BE49-F238E27FC236}">
                <a16:creationId xmlns:a16="http://schemas.microsoft.com/office/drawing/2014/main" id="{70D1D69B-56A1-45BA-9E32-8EA7A346BB6C}"/>
              </a:ext>
            </a:extLst>
          </p:cNvPr>
          <p:cNvSpPr>
            <a:spLocks noGrp="1"/>
          </p:cNvSpPr>
          <p:nvPr/>
        </p:nvSpPr>
        <p:spPr>
          <a:xfrm>
            <a:off x="6060523" y="2973921"/>
            <a:ext cx="1546733" cy="2857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$clog2(PN)</a:t>
            </a:r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B4B36BDD-2245-40AA-A717-EA62BC14B911}"/>
              </a:ext>
            </a:extLst>
          </p:cNvPr>
          <p:cNvSpPr>
            <a:spLocks noGrp="1"/>
          </p:cNvSpPr>
          <p:nvPr/>
        </p:nvSpPr>
        <p:spPr>
          <a:xfrm>
            <a:off x="7607257" y="2973921"/>
            <a:ext cx="961672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2</a:t>
            </a:r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B16E4C48-665A-4D55-B766-C4CC3479F859}"/>
              </a:ext>
            </a:extLst>
          </p:cNvPr>
          <p:cNvSpPr>
            <a:spLocks noGrp="1"/>
          </p:cNvSpPr>
          <p:nvPr/>
        </p:nvSpPr>
        <p:spPr>
          <a:xfrm>
            <a:off x="4825603" y="3259671"/>
            <a:ext cx="123492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 dirty="0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CNT_W</a:t>
            </a:r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35D5EF10-C1C0-423A-A03F-9296E685E0AB}"/>
              </a:ext>
            </a:extLst>
          </p:cNvPr>
          <p:cNvSpPr>
            <a:spLocks noGrp="1"/>
          </p:cNvSpPr>
          <p:nvPr/>
        </p:nvSpPr>
        <p:spPr>
          <a:xfrm>
            <a:off x="6060523" y="3259671"/>
            <a:ext cx="1546733" cy="2857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ADDR_W+1</a:t>
            </a:r>
          </a:p>
        </p:txBody>
      </p:sp>
      <p:sp>
        <p:nvSpPr>
          <p:cNvPr id="53" name="Text 50">
            <a:extLst>
              <a:ext uri="{FF2B5EF4-FFF2-40B4-BE49-F238E27FC236}">
                <a16:creationId xmlns:a16="http://schemas.microsoft.com/office/drawing/2014/main" id="{131B1D03-F4EA-4EDD-8026-C068E7898226}"/>
              </a:ext>
            </a:extLst>
          </p:cNvPr>
          <p:cNvSpPr>
            <a:spLocks noGrp="1"/>
          </p:cNvSpPr>
          <p:nvPr/>
        </p:nvSpPr>
        <p:spPr>
          <a:xfrm>
            <a:off x="7607257" y="3259671"/>
            <a:ext cx="961672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14</a:t>
            </a:r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BD400A82-A033-47F3-BBC1-4AC26BC3579F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3F64A19F-B43B-4CA9-AFA2-E6A832D3C8F1}"/>
              </a:ext>
            </a:extLst>
          </p:cNvPr>
          <p:cNvSpPr>
            <a:spLocks noGrp="1"/>
          </p:cNvSpPr>
          <p:nvPr/>
        </p:nvSpPr>
        <p:spPr>
          <a:xfrm>
            <a:off x="4818627" y="3545421"/>
            <a:ext cx="1076920" cy="285750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 dirty="0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REF_W</a:t>
            </a: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213EA05B-6CC3-41FB-868F-26A442174CFE}"/>
              </a:ext>
            </a:extLst>
          </p:cNvPr>
          <p:cNvSpPr>
            <a:spLocks noGrp="1"/>
          </p:cNvSpPr>
          <p:nvPr/>
        </p:nvSpPr>
        <p:spPr>
          <a:xfrm>
            <a:off x="6060522" y="3541784"/>
            <a:ext cx="583814" cy="287258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lang="en-US" altLang="zh-CN"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PORT_W</a:t>
            </a:r>
            <a:endParaRPr sz="750" dirty="0">
              <a:solidFill>
                <a:srgbClr val="2E2E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A288A061-FBB2-4504-A6FE-4BFB466DDB3E}"/>
              </a:ext>
            </a:extLst>
          </p:cNvPr>
          <p:cNvSpPr>
            <a:spLocks noGrp="1"/>
          </p:cNvSpPr>
          <p:nvPr/>
        </p:nvSpPr>
        <p:spPr>
          <a:xfrm>
            <a:off x="7607256" y="3541784"/>
            <a:ext cx="357912" cy="2857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lang="en-US" altLang="zh-CN"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2</a:t>
            </a:r>
            <a:endParaRPr sz="750" dirty="0">
              <a:solidFill>
                <a:srgbClr val="2E2E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" name="Text 22">
            <a:extLst>
              <a:ext uri="{FF2B5EF4-FFF2-40B4-BE49-F238E27FC236}">
                <a16:creationId xmlns:a16="http://schemas.microsoft.com/office/drawing/2014/main" id="{4354F599-D635-AD1D-C259-39863B574982}"/>
              </a:ext>
            </a:extLst>
          </p:cNvPr>
          <p:cNvSpPr>
            <a:spLocks noGrp="1"/>
          </p:cNvSpPr>
          <p:nvPr/>
        </p:nvSpPr>
        <p:spPr>
          <a:xfrm>
            <a:off x="577920" y="3262764"/>
            <a:ext cx="668773" cy="279564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lang="en-US" altLang="zh-CN" sz="700" b="1" dirty="0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PKT_CELL</a:t>
            </a:r>
            <a:r>
              <a:rPr sz="700" b="1" dirty="0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_W</a:t>
            </a:r>
          </a:p>
        </p:txBody>
      </p:sp>
      <p:sp>
        <p:nvSpPr>
          <p:cNvPr id="56" name="Text 23">
            <a:extLst>
              <a:ext uri="{FF2B5EF4-FFF2-40B4-BE49-F238E27FC236}">
                <a16:creationId xmlns:a16="http://schemas.microsoft.com/office/drawing/2014/main" id="{C6BD6E5C-CD75-A417-483B-8C2AF730946A}"/>
              </a:ext>
            </a:extLst>
          </p:cNvPr>
          <p:cNvSpPr>
            <a:spLocks noGrp="1"/>
          </p:cNvSpPr>
          <p:nvPr/>
        </p:nvSpPr>
        <p:spPr>
          <a:xfrm>
            <a:off x="1654840" y="3258917"/>
            <a:ext cx="224742" cy="287258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lang="en-US" altLang="zh-CN"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4</a:t>
            </a:r>
            <a:endParaRPr sz="750" dirty="0">
              <a:solidFill>
                <a:srgbClr val="2E2E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8" name="Text 24">
            <a:extLst>
              <a:ext uri="{FF2B5EF4-FFF2-40B4-BE49-F238E27FC236}">
                <a16:creationId xmlns:a16="http://schemas.microsoft.com/office/drawing/2014/main" id="{B9A93B70-A8B7-4502-82B3-1C851594FA9C}"/>
              </a:ext>
            </a:extLst>
          </p:cNvPr>
          <p:cNvSpPr>
            <a:spLocks noGrp="1"/>
          </p:cNvSpPr>
          <p:nvPr/>
        </p:nvSpPr>
        <p:spPr>
          <a:xfrm>
            <a:off x="2411854" y="3259671"/>
            <a:ext cx="1909390" cy="2857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lang="en-US" altLang="zh-CN"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Packet</a:t>
            </a:r>
            <a:r>
              <a:rPr lang="zh-CN" altLang="en-US"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cell</a:t>
            </a:r>
            <a:r>
              <a:rPr lang="zh-CN" altLang="en-US"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number</a:t>
            </a:r>
            <a:r>
              <a:rPr lang="zh-CN" altLang="en-US"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 </a:t>
            </a:r>
            <a:r>
              <a:rPr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width</a:t>
            </a:r>
          </a:p>
        </p:txBody>
      </p:sp>
    </p:spTree>
    <p:extLst>
      <p:ext uri="{BB962C8B-B14F-4D97-AF65-F5344CB8AC3E}">
        <p14:creationId xmlns:p14="http://schemas.microsoft.com/office/powerpoint/2010/main" val="769711435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6FFBDC8D-5B8B-4FA9-ACDF-CD89436308DC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0CE9AD71-66E7-4BE4-9BB4-D6E8F54CBC7B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2539826" cy="310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LLE Linked List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9AC9895F-7D5B-479F-BC36-F3DFDAE5178F}"/>
              </a:ext>
            </a:extLst>
          </p:cNvPr>
          <p:cNvSpPr>
            <a:spLocks noGrp="1"/>
          </p:cNvSpPr>
          <p:nvPr/>
        </p:nvSpPr>
        <p:spPr>
          <a:xfrm>
            <a:off x="428625" y="714375"/>
            <a:ext cx="4100513" cy="2259602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E4FE9A3-3FA5-4C82-87F7-EC17CA7B91D6}"/>
              </a:ext>
            </a:extLst>
          </p:cNvPr>
          <p:cNvSpPr>
            <a:spLocks noGrp="1"/>
          </p:cNvSpPr>
          <p:nvPr/>
        </p:nvSpPr>
        <p:spPr>
          <a:xfrm>
            <a:off x="428625" y="714375"/>
            <a:ext cx="28575" cy="2259602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51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571500" y="826889"/>
            <a:ext cx="178594" cy="157163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382E6354-5023-4F96-A32F-4140CDA9A031}"/>
              </a:ext>
            </a:extLst>
          </p:cNvPr>
          <p:cNvSpPr>
            <a:spLocks noGrp="1"/>
          </p:cNvSpPr>
          <p:nvPr/>
        </p:nvSpPr>
        <p:spPr>
          <a:xfrm>
            <a:off x="835819" y="800100"/>
            <a:ext cx="1903530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Physical Implementation: Next-Ptr SRAM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9D675339-AB31-40A4-BEAE-44460C77FEA0}"/>
              </a:ext>
            </a:extLst>
          </p:cNvPr>
          <p:cNvSpPr>
            <a:spLocks noGrp="1"/>
          </p:cNvSpPr>
          <p:nvPr/>
        </p:nvSpPr>
        <p:spPr>
          <a:xfrm>
            <a:off x="571500" y="1096566"/>
            <a:ext cx="3814763" cy="209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The linked list is stored in Next-Ptr SRAM, which records the successor pointer for every cell.</a:t>
            </a: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3FB70047-E2AF-4518-BA33-EE2FD14BC0A2}"/>
              </a:ext>
            </a:extLst>
          </p:cNvPr>
          <p:cNvSpPr>
            <a:spLocks noGrp="1"/>
          </p:cNvSpPr>
          <p:nvPr/>
        </p:nvSpPr>
        <p:spPr>
          <a:xfrm>
            <a:off x="575072" y="1363005"/>
            <a:ext cx="1153827" cy="253603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335FAFD6-8A67-46EE-998F-6D59343EEF8B}"/>
              </a:ext>
            </a:extLst>
          </p:cNvPr>
          <p:cNvSpPr>
            <a:spLocks noGrp="1"/>
          </p:cNvSpPr>
          <p:nvPr/>
        </p:nvSpPr>
        <p:spPr>
          <a:xfrm>
            <a:off x="575072" y="1363005"/>
            <a:ext cx="1153827" cy="253603"/>
          </a:xfrm>
          <a:prstGeom prst="rect">
            <a:avLst/>
          </a:prstGeom>
          <a:noFill/>
        </p:spPr>
        <p:txBody>
          <a:bodyPr wrap="none" lIns="68072" tIns="68072" rIns="68072" bIns="68072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Parameter</a:t>
            </a:r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FE7468E3-1D70-4B1D-A56A-37275525EF31}"/>
              </a:ext>
            </a:extLst>
          </p:cNvPr>
          <p:cNvSpPr>
            <a:spLocks noGrp="1"/>
          </p:cNvSpPr>
          <p:nvPr/>
        </p:nvSpPr>
        <p:spPr>
          <a:xfrm>
            <a:off x="1728899" y="1363005"/>
            <a:ext cx="2653792" cy="253603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3" name="Text 9">
            <a:extLst>
              <a:ext uri="{FF2B5EF4-FFF2-40B4-BE49-F238E27FC236}">
                <a16:creationId xmlns:a16="http://schemas.microsoft.com/office/drawing/2014/main" id="{3356368D-E335-43D4-900B-20DB35BD1575}"/>
              </a:ext>
            </a:extLst>
          </p:cNvPr>
          <p:cNvSpPr>
            <a:spLocks noGrp="1"/>
          </p:cNvSpPr>
          <p:nvPr/>
        </p:nvSpPr>
        <p:spPr>
          <a:xfrm>
            <a:off x="1728899" y="1363005"/>
            <a:ext cx="2653792" cy="253603"/>
          </a:xfrm>
          <a:prstGeom prst="rect">
            <a:avLst/>
          </a:prstGeom>
          <a:noFill/>
        </p:spPr>
        <p:txBody>
          <a:bodyPr wrap="square" lIns="68072" tIns="68072" rIns="68072" bIns="68072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Specification</a:t>
            </a:r>
          </a:p>
        </p:txBody>
      </p:sp>
      <p:sp>
        <p:nvSpPr>
          <p:cNvPr id="14" name="Text 10">
            <a:extLst>
              <a:ext uri="{FF2B5EF4-FFF2-40B4-BE49-F238E27FC236}">
                <a16:creationId xmlns:a16="http://schemas.microsoft.com/office/drawing/2014/main" id="{3076E005-D156-4876-84B2-3122E10C7B24}"/>
              </a:ext>
            </a:extLst>
          </p:cNvPr>
          <p:cNvSpPr>
            <a:spLocks noGrp="1"/>
          </p:cNvSpPr>
          <p:nvPr/>
        </p:nvSpPr>
        <p:spPr>
          <a:xfrm>
            <a:off x="575072" y="1616608"/>
            <a:ext cx="1153827" cy="257175"/>
          </a:xfrm>
          <a:prstGeom prst="rect">
            <a:avLst/>
          </a:prstGeom>
          <a:noFill/>
        </p:spPr>
        <p:txBody>
          <a:bodyPr wrap="none" lIns="68072" tIns="68072" rIns="68072" bIns="68072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Memory Depth</a:t>
            </a:r>
          </a:p>
        </p:txBody>
      </p:sp>
      <p:sp>
        <p:nvSpPr>
          <p:cNvPr id="15" name="Text 11">
            <a:extLst>
              <a:ext uri="{FF2B5EF4-FFF2-40B4-BE49-F238E27FC236}">
                <a16:creationId xmlns:a16="http://schemas.microsoft.com/office/drawing/2014/main" id="{55563692-5A3E-4847-813A-38183CAD8A65}"/>
              </a:ext>
            </a:extLst>
          </p:cNvPr>
          <p:cNvSpPr>
            <a:spLocks noGrp="1"/>
          </p:cNvSpPr>
          <p:nvPr/>
        </p:nvSpPr>
        <p:spPr>
          <a:xfrm>
            <a:off x="1728899" y="1616608"/>
            <a:ext cx="2653792" cy="257175"/>
          </a:xfrm>
          <a:prstGeom prst="rect">
            <a:avLst/>
          </a:prstGeom>
          <a:noFill/>
        </p:spPr>
        <p:txBody>
          <a:bodyPr wrap="square" lIns="68072" tIns="68072" rIns="68072" bIns="68072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8192 (CELL_NUM)</a:t>
            </a:r>
          </a:p>
        </p:txBody>
      </p:sp>
      <p:sp>
        <p:nvSpPr>
          <p:cNvPr id="16" name="Text 12">
            <a:extLst>
              <a:ext uri="{FF2B5EF4-FFF2-40B4-BE49-F238E27FC236}">
                <a16:creationId xmlns:a16="http://schemas.microsoft.com/office/drawing/2014/main" id="{C027AD9D-A546-460D-975F-BCF65596A97B}"/>
              </a:ext>
            </a:extLst>
          </p:cNvPr>
          <p:cNvSpPr>
            <a:spLocks noGrp="1"/>
          </p:cNvSpPr>
          <p:nvPr/>
        </p:nvSpPr>
        <p:spPr>
          <a:xfrm>
            <a:off x="575072" y="1873783"/>
            <a:ext cx="1153827" cy="257175"/>
          </a:xfrm>
          <a:prstGeom prst="rect">
            <a:avLst/>
          </a:prstGeom>
          <a:noFill/>
        </p:spPr>
        <p:txBody>
          <a:bodyPr wrap="none" lIns="68072" tIns="68072" rIns="68072" bIns="68072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Data Width</a:t>
            </a: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552AEE39-E5B2-4C98-BE0A-2896A2EB0E25}"/>
              </a:ext>
            </a:extLst>
          </p:cNvPr>
          <p:cNvSpPr>
            <a:spLocks noGrp="1"/>
          </p:cNvSpPr>
          <p:nvPr/>
        </p:nvSpPr>
        <p:spPr>
          <a:xfrm>
            <a:off x="1728899" y="1873783"/>
            <a:ext cx="2653792" cy="257175"/>
          </a:xfrm>
          <a:prstGeom prst="rect">
            <a:avLst/>
          </a:prstGeom>
          <a:noFill/>
        </p:spPr>
        <p:txBody>
          <a:bodyPr wrap="square" lIns="68072" tIns="68072" rIns="68072" bIns="68072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13 bit (ADDR_W)</a:t>
            </a: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9B5F35E2-BEFE-4137-8AE4-FA9CCB1691A9}"/>
              </a:ext>
            </a:extLst>
          </p:cNvPr>
          <p:cNvSpPr>
            <a:spLocks noGrp="1"/>
          </p:cNvSpPr>
          <p:nvPr/>
        </p:nvSpPr>
        <p:spPr>
          <a:xfrm>
            <a:off x="575072" y="2130958"/>
            <a:ext cx="1153827" cy="257175"/>
          </a:xfrm>
          <a:prstGeom prst="rect">
            <a:avLst/>
          </a:prstGeom>
          <a:noFill/>
        </p:spPr>
        <p:txBody>
          <a:bodyPr wrap="none" lIns="68072" tIns="68072" rIns="68072" bIns="68072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Interface Type</a:t>
            </a:r>
          </a:p>
        </p:txBody>
      </p:sp>
      <p:sp>
        <p:nvSpPr>
          <p:cNvPr id="19" name="Text 15">
            <a:extLst>
              <a:ext uri="{FF2B5EF4-FFF2-40B4-BE49-F238E27FC236}">
                <a16:creationId xmlns:a16="http://schemas.microsoft.com/office/drawing/2014/main" id="{488B3A77-7EEA-461D-8B54-8FAF0ACC060B}"/>
              </a:ext>
            </a:extLst>
          </p:cNvPr>
          <p:cNvSpPr>
            <a:spLocks noGrp="1"/>
          </p:cNvSpPr>
          <p:nvPr/>
        </p:nvSpPr>
        <p:spPr>
          <a:xfrm>
            <a:off x="1728899" y="2130958"/>
            <a:ext cx="2653792" cy="257175"/>
          </a:xfrm>
          <a:prstGeom prst="rect">
            <a:avLst/>
          </a:prstGeom>
          <a:noFill/>
        </p:spPr>
        <p:txBody>
          <a:bodyPr wrap="square" lIns="68072" tIns="68072" rIns="68072" bIns="68072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1R1W (independent read/write ports)</a:t>
            </a:r>
          </a:p>
        </p:txBody>
      </p:sp>
      <p:sp>
        <p:nvSpPr>
          <p:cNvPr id="20" name="Text 16">
            <a:extLst>
              <a:ext uri="{FF2B5EF4-FFF2-40B4-BE49-F238E27FC236}">
                <a16:creationId xmlns:a16="http://schemas.microsoft.com/office/drawing/2014/main" id="{2549B16E-2D95-4E1B-AB75-9B20F6EF57E3}"/>
              </a:ext>
            </a:extLst>
          </p:cNvPr>
          <p:cNvSpPr>
            <a:spLocks noGrp="1"/>
          </p:cNvSpPr>
          <p:nvPr/>
        </p:nvSpPr>
        <p:spPr>
          <a:xfrm>
            <a:off x="575072" y="2388133"/>
            <a:ext cx="1153827" cy="257175"/>
          </a:xfrm>
          <a:prstGeom prst="rect">
            <a:avLst/>
          </a:prstGeom>
          <a:noFill/>
        </p:spPr>
        <p:txBody>
          <a:bodyPr wrap="none" lIns="68072" tIns="68072" rIns="68072" bIns="68072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Read Latency</a:t>
            </a:r>
          </a:p>
        </p:txBody>
      </p:sp>
      <p:sp>
        <p:nvSpPr>
          <p:cNvPr id="21" name="Text 17">
            <a:extLst>
              <a:ext uri="{FF2B5EF4-FFF2-40B4-BE49-F238E27FC236}">
                <a16:creationId xmlns:a16="http://schemas.microsoft.com/office/drawing/2014/main" id="{837F4B5F-4F31-4EE6-A0A2-1091AAC8EEBA}"/>
              </a:ext>
            </a:extLst>
          </p:cNvPr>
          <p:cNvSpPr>
            <a:spLocks noGrp="1"/>
          </p:cNvSpPr>
          <p:nvPr/>
        </p:nvSpPr>
        <p:spPr>
          <a:xfrm>
            <a:off x="1728899" y="2388133"/>
            <a:ext cx="2653792" cy="257175"/>
          </a:xfrm>
          <a:prstGeom prst="rect">
            <a:avLst/>
          </a:prstGeom>
          <a:noFill/>
        </p:spPr>
        <p:txBody>
          <a:bodyPr wrap="square" lIns="68072" tIns="68072" rIns="68072" bIns="68072" anchor="ctr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1 cycle (absorbed by prefetch registers)</a:t>
            </a:r>
          </a:p>
        </p:txBody>
      </p:sp>
      <p:sp>
        <p:nvSpPr>
          <p:cNvPr id="22" name="Shape 18">
            <a:extLst>
              <a:ext uri="{FF2B5EF4-FFF2-40B4-BE49-F238E27FC236}">
                <a16:creationId xmlns:a16="http://schemas.microsoft.com/office/drawing/2014/main" id="{BE6E384D-FD3D-4396-B4B7-475E68EF3285}"/>
              </a:ext>
            </a:extLst>
          </p:cNvPr>
          <p:cNvSpPr>
            <a:spLocks noGrp="1"/>
          </p:cNvSpPr>
          <p:nvPr/>
        </p:nvSpPr>
        <p:spPr>
          <a:xfrm>
            <a:off x="4614863" y="714375"/>
            <a:ext cx="4100513" cy="2259602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3" name="Shape 19">
            <a:extLst>
              <a:ext uri="{FF2B5EF4-FFF2-40B4-BE49-F238E27FC236}">
                <a16:creationId xmlns:a16="http://schemas.microsoft.com/office/drawing/2014/main" id="{80ABAAE8-3092-47AD-9912-381196965AF8}"/>
              </a:ext>
            </a:extLst>
          </p:cNvPr>
          <p:cNvSpPr>
            <a:spLocks noGrp="1"/>
          </p:cNvSpPr>
          <p:nvPr/>
        </p:nvSpPr>
        <p:spPr>
          <a:xfrm>
            <a:off x="4614863" y="714375"/>
            <a:ext cx="28575" cy="2259602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68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757738" y="826889"/>
            <a:ext cx="178594" cy="157163"/>
          </a:xfrm>
          <a:prstGeom prst="rect">
            <a:avLst/>
          </a:prstGeom>
        </p:spPr>
      </p:pic>
      <p:sp>
        <p:nvSpPr>
          <p:cNvPr id="25" name="Text 20">
            <a:extLst>
              <a:ext uri="{FF2B5EF4-FFF2-40B4-BE49-F238E27FC236}">
                <a16:creationId xmlns:a16="http://schemas.microsoft.com/office/drawing/2014/main" id="{28E52919-2756-4E43-9C30-86BF8C7B1940}"/>
              </a:ext>
            </a:extLst>
          </p:cNvPr>
          <p:cNvSpPr>
            <a:spLocks noGrp="1"/>
          </p:cNvSpPr>
          <p:nvPr/>
        </p:nvSpPr>
        <p:spPr>
          <a:xfrm>
            <a:off x="5022056" y="800100"/>
            <a:ext cx="1100138" cy="210741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Head/Tail Pointer Registers</a:t>
            </a:r>
          </a:p>
        </p:txBody>
      </p:sp>
      <p:sp>
        <p:nvSpPr>
          <p:cNvPr id="26" name="Text 21">
            <a:extLst>
              <a:ext uri="{FF2B5EF4-FFF2-40B4-BE49-F238E27FC236}">
                <a16:creationId xmlns:a16="http://schemas.microsoft.com/office/drawing/2014/main" id="{7A55BBE0-DA39-49B8-B030-64CCA93C4441}"/>
              </a:ext>
            </a:extLst>
          </p:cNvPr>
          <p:cNvSpPr>
            <a:spLocks noGrp="1"/>
          </p:cNvSpPr>
          <p:nvPr/>
        </p:nvSpPr>
        <p:spPr>
          <a:xfrm>
            <a:off x="4757738" y="1096566"/>
            <a:ext cx="3814763" cy="209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b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q_head[33]: points to the first cell address of each queue.</a:t>
            </a:r>
          </a:p>
        </p:txBody>
      </p:sp>
      <p:sp>
        <p:nvSpPr>
          <p:cNvPr id="27" name="Text 22">
            <a:extLst>
              <a:ext uri="{FF2B5EF4-FFF2-40B4-BE49-F238E27FC236}">
                <a16:creationId xmlns:a16="http://schemas.microsoft.com/office/drawing/2014/main" id="{6BBF1B4E-8995-47D3-97A8-256CDC1E0A55}"/>
              </a:ext>
            </a:extLst>
          </p:cNvPr>
          <p:cNvSpPr>
            <a:spLocks noGrp="1"/>
          </p:cNvSpPr>
          <p:nvPr/>
        </p:nvSpPr>
        <p:spPr>
          <a:xfrm>
            <a:off x="4757738" y="1363005"/>
            <a:ext cx="3814763" cy="2092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b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q_tail[33]: points to the last cell address of each queue.</a:t>
            </a:r>
          </a:p>
        </p:txBody>
      </p:sp>
      <p:sp>
        <p:nvSpPr>
          <p:cNvPr id="28" name="Text 23">
            <a:extLst>
              <a:ext uri="{FF2B5EF4-FFF2-40B4-BE49-F238E27FC236}">
                <a16:creationId xmlns:a16="http://schemas.microsoft.com/office/drawing/2014/main" id="{F04CE2BF-E51F-434F-8482-A201E5E15D5B}"/>
              </a:ext>
            </a:extLst>
          </p:cNvPr>
          <p:cNvSpPr>
            <a:spLocks noGrp="1"/>
          </p:cNvSpPr>
          <p:nvPr/>
        </p:nvSpPr>
        <p:spPr>
          <a:xfrm>
            <a:off x="4757738" y="1629445"/>
            <a:ext cx="4095673" cy="51392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b="1" dirty="0" err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free_head</a:t>
            </a:r>
            <a:r>
              <a:rPr sz="800" b="1" dirty="0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/</a:t>
            </a:r>
            <a:r>
              <a:rPr lang="en-US" sz="800" b="1" dirty="0" err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f</a:t>
            </a:r>
            <a:r>
              <a:rPr sz="800" b="1" dirty="0" err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ree_tail</a:t>
            </a:r>
            <a:r>
              <a:rPr sz="800" b="1" dirty="0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: maintain the head and tail of the free-address pool.</a:t>
            </a:r>
            <a:endParaRPr lang="en-US" sz="800" b="1" dirty="0">
              <a:solidFill>
                <a:srgbClr val="3253DC"/>
              </a:solidFill>
              <a:latin typeface="Consolas"/>
              <a:ea typeface="Consolas"/>
              <a:cs typeface="Consolas"/>
            </a:endParaRPr>
          </a:p>
          <a:p>
            <a:pPr marL="0" indent="0" algn="l">
              <a:lnSpc>
                <a:spcPct val="144000"/>
              </a:lnSpc>
              <a:buNone/>
            </a:pPr>
            <a:endParaRPr lang="en-US" sz="800" b="1" dirty="0">
              <a:solidFill>
                <a:srgbClr val="3253DC"/>
              </a:solidFill>
              <a:latin typeface="Consolas"/>
              <a:ea typeface="Consolas"/>
              <a:cs typeface="Consolas"/>
            </a:endParaRPr>
          </a:p>
          <a:p>
            <a:pPr marL="0" indent="0" algn="l">
              <a:lnSpc>
                <a:spcPct val="144000"/>
              </a:lnSpc>
              <a:buNone/>
            </a:pPr>
            <a:r>
              <a:rPr lang="en-US" altLang="zh-CN" sz="800" b="1" dirty="0" err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q_cell_cnt</a:t>
            </a:r>
            <a:r>
              <a:rPr lang="en-US" altLang="zh-CN" sz="800" b="1" dirty="0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[33], </a:t>
            </a:r>
            <a:r>
              <a:rPr lang="en-US" altLang="zh-CN" sz="800" b="1" dirty="0" err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free_cell_cnt</a:t>
            </a:r>
            <a:r>
              <a:rPr lang="en-US" altLang="zh-CN" sz="800" b="1" dirty="0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: Counter of cell number.</a:t>
            </a:r>
            <a:endParaRPr sz="800" b="1" dirty="0">
              <a:solidFill>
                <a:srgbClr val="3253DC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29" name="Text 24">
            <a:extLst>
              <a:ext uri="{FF2B5EF4-FFF2-40B4-BE49-F238E27FC236}">
                <a16:creationId xmlns:a16="http://schemas.microsoft.com/office/drawing/2014/main" id="{2D5E8D53-B2EE-4A27-93ED-B59B0050E6B3}"/>
              </a:ext>
            </a:extLst>
          </p:cNvPr>
          <p:cNvSpPr>
            <a:spLocks noGrp="1"/>
          </p:cNvSpPr>
          <p:nvPr/>
        </p:nvSpPr>
        <p:spPr>
          <a:xfrm>
            <a:off x="4757738" y="2275888"/>
            <a:ext cx="3814763" cy="20571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All pointers are implemented as registers for single-cycle access and update.</a:t>
            </a:r>
          </a:p>
        </p:txBody>
      </p:sp>
      <p:sp>
        <p:nvSpPr>
          <p:cNvPr id="30" name="Shape 25">
            <a:extLst>
              <a:ext uri="{FF2B5EF4-FFF2-40B4-BE49-F238E27FC236}">
                <a16:creationId xmlns:a16="http://schemas.microsoft.com/office/drawing/2014/main" id="{E672F9E1-058C-486F-93C7-8F6C833810D9}"/>
              </a:ext>
            </a:extLst>
          </p:cNvPr>
          <p:cNvSpPr>
            <a:spLocks noGrp="1"/>
          </p:cNvSpPr>
          <p:nvPr/>
        </p:nvSpPr>
        <p:spPr>
          <a:xfrm>
            <a:off x="428625" y="3059702"/>
            <a:ext cx="8286750" cy="165517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31" name="Shape 26">
            <a:extLst>
              <a:ext uri="{FF2B5EF4-FFF2-40B4-BE49-F238E27FC236}">
                <a16:creationId xmlns:a16="http://schemas.microsoft.com/office/drawing/2014/main" id="{D31D0281-BE96-42E8-8602-A527DE14D3F9}"/>
              </a:ext>
            </a:extLst>
          </p:cNvPr>
          <p:cNvSpPr>
            <a:spLocks noGrp="1"/>
          </p:cNvSpPr>
          <p:nvPr/>
        </p:nvSpPr>
        <p:spPr>
          <a:xfrm>
            <a:off x="428625" y="3059702"/>
            <a:ext cx="28575" cy="1655173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76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571500" y="3172216"/>
            <a:ext cx="157163" cy="157163"/>
          </a:xfrm>
          <a:prstGeom prst="rect">
            <a:avLst/>
          </a:prstGeom>
        </p:spPr>
      </p:pic>
      <p:sp>
        <p:nvSpPr>
          <p:cNvPr id="33" name="Text 27">
            <a:extLst>
              <a:ext uri="{FF2B5EF4-FFF2-40B4-BE49-F238E27FC236}">
                <a16:creationId xmlns:a16="http://schemas.microsoft.com/office/drawing/2014/main" id="{2A357F37-DEDE-40EF-959F-DCDED42A53EE}"/>
              </a:ext>
            </a:extLst>
          </p:cNvPr>
          <p:cNvSpPr>
            <a:spLocks noGrp="1"/>
          </p:cNvSpPr>
          <p:nvPr/>
        </p:nvSpPr>
        <p:spPr>
          <a:xfrm>
            <a:off x="814388" y="3145427"/>
            <a:ext cx="1676605" cy="33528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Operations and Free-List Maintenance</a:t>
            </a:r>
          </a:p>
        </p:txBody>
      </p:sp>
      <p:sp>
        <p:nvSpPr>
          <p:cNvPr id="34" name="Text 28">
            <a:extLst>
              <a:ext uri="{FF2B5EF4-FFF2-40B4-BE49-F238E27FC236}">
                <a16:creationId xmlns:a16="http://schemas.microsoft.com/office/drawing/2014/main" id="{EDD55D6C-B7BA-4A04-AD40-6AB12563431C}"/>
              </a:ext>
            </a:extLst>
          </p:cNvPr>
          <p:cNvSpPr>
            <a:spLocks noGrp="1"/>
          </p:cNvSpPr>
          <p:nvPr/>
        </p:nvSpPr>
        <p:spPr>
          <a:xfrm>
            <a:off x="571500" y="3477611"/>
            <a:ext cx="819131" cy="175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Enqueue</a:t>
            </a:r>
          </a:p>
        </p:txBody>
      </p:sp>
      <p:sp>
        <p:nvSpPr>
          <p:cNvPr id="35" name="Text 29">
            <a:extLst>
              <a:ext uri="{FF2B5EF4-FFF2-40B4-BE49-F238E27FC236}">
                <a16:creationId xmlns:a16="http://schemas.microsoft.com/office/drawing/2014/main" id="{6C80456A-DEB9-4D3A-8C61-8AD1ED0D07C5}"/>
              </a:ext>
            </a:extLst>
          </p:cNvPr>
          <p:cNvSpPr>
            <a:spLocks noGrp="1"/>
          </p:cNvSpPr>
          <p:nvPr/>
        </p:nvSpPr>
        <p:spPr>
          <a:xfrm>
            <a:off x="571500" y="3704760"/>
            <a:ext cx="2571750" cy="5596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Pop an address from free_head, append it after the target queue's q_tail, and update that queue's tail pointer.</a:t>
            </a:r>
          </a:p>
        </p:txBody>
      </p:sp>
      <p:sp>
        <p:nvSpPr>
          <p:cNvPr id="36" name="Text 30">
            <a:extLst>
              <a:ext uri="{FF2B5EF4-FFF2-40B4-BE49-F238E27FC236}">
                <a16:creationId xmlns:a16="http://schemas.microsoft.com/office/drawing/2014/main" id="{90B4B3E5-D01B-498B-8F53-36B4873022D6}"/>
              </a:ext>
            </a:extLst>
          </p:cNvPr>
          <p:cNvSpPr>
            <a:spLocks noGrp="1"/>
          </p:cNvSpPr>
          <p:nvPr/>
        </p:nvSpPr>
        <p:spPr>
          <a:xfrm>
            <a:off x="3286125" y="3477611"/>
            <a:ext cx="819187" cy="175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Dequeue</a:t>
            </a:r>
          </a:p>
        </p:txBody>
      </p:sp>
      <p:sp>
        <p:nvSpPr>
          <p:cNvPr id="37" name="Text 31">
            <a:extLst>
              <a:ext uri="{FF2B5EF4-FFF2-40B4-BE49-F238E27FC236}">
                <a16:creationId xmlns:a16="http://schemas.microsoft.com/office/drawing/2014/main" id="{1C4B056B-68B2-4566-8726-8ADB468C96D8}"/>
              </a:ext>
            </a:extLst>
          </p:cNvPr>
          <p:cNvSpPr>
            <a:spLocks noGrp="1"/>
          </p:cNvSpPr>
          <p:nvPr/>
        </p:nvSpPr>
        <p:spPr>
          <a:xfrm>
            <a:off x="3286125" y="3704760"/>
            <a:ext cx="2571750" cy="5596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Pop the address at q_head and update the head with next_ptr read from SRAM. On reclamation, append the released address to free_tail.</a:t>
            </a:r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FA1ADC38-43D1-49DA-853F-206191624D13}"/>
              </a:ext>
            </a:extLst>
          </p:cNvPr>
          <p:cNvSpPr>
            <a:spLocks noGrp="1"/>
          </p:cNvSpPr>
          <p:nvPr/>
        </p:nvSpPr>
        <p:spPr>
          <a:xfrm>
            <a:off x="6000750" y="3477611"/>
            <a:ext cx="927181" cy="17556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Free List</a:t>
            </a:r>
          </a:p>
        </p:txBody>
      </p:sp>
      <p:sp>
        <p:nvSpPr>
          <p:cNvPr id="39" name="Text 33">
            <a:extLst>
              <a:ext uri="{FF2B5EF4-FFF2-40B4-BE49-F238E27FC236}">
                <a16:creationId xmlns:a16="http://schemas.microsoft.com/office/drawing/2014/main" id="{41B14CF7-5E60-4EBE-BCF9-7ACC942B91B1}"/>
              </a:ext>
            </a:extLst>
          </p:cNvPr>
          <p:cNvSpPr>
            <a:spLocks noGrp="1"/>
          </p:cNvSpPr>
          <p:nvPr/>
        </p:nvSpPr>
        <p:spPr>
          <a:xfrm>
            <a:off x="6000750" y="3704760"/>
            <a:ext cx="2571750" cy="411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At initialization, all 8,192 unused cells form one long singly linked list, enabling O(1) address allocation.</a:t>
            </a:r>
          </a:p>
        </p:txBody>
      </p:sp>
      <p:sp>
        <p:nvSpPr>
          <p:cNvPr id="40" name="Text 34">
            <a:extLst>
              <a:ext uri="{FF2B5EF4-FFF2-40B4-BE49-F238E27FC236}">
                <a16:creationId xmlns:a16="http://schemas.microsoft.com/office/drawing/2014/main" id="{5605FDB0-82F6-4EEC-A5F0-9447EE506254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</p:spTree>
    <p:extLst>
      <p:ext uri="{BB962C8B-B14F-4D97-AF65-F5344CB8AC3E}">
        <p14:creationId xmlns:p14="http://schemas.microsoft.com/office/powerpoint/2010/main" val="491408968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6312A6D5-F0D2-4675-8053-447CFAEA007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ACEC709-4F6F-412A-8217-1C17F8AF9936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4102298" cy="310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Dual-Pool Buffer Management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01D0FA51-1D66-4840-9856-F2B5D967C14E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3000375" cy="1618059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764D3FC-DB1A-457C-A2A6-7647C1375580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28575" cy="1618059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24483FD-75CD-4447-8FAF-FA71ECD835F4}"/>
              </a:ext>
            </a:extLst>
          </p:cNvPr>
          <p:cNvSpPr>
            <a:spLocks noGrp="1"/>
          </p:cNvSpPr>
          <p:nvPr/>
        </p:nvSpPr>
        <p:spPr>
          <a:xfrm>
            <a:off x="607219" y="1000125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Mechanism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DE96660C-DFA7-4C89-9619-430711467625}"/>
              </a:ext>
            </a:extLst>
          </p:cNvPr>
          <p:cNvSpPr>
            <a:spLocks noGrp="1"/>
          </p:cNvSpPr>
          <p:nvPr/>
        </p:nvSpPr>
        <p:spPr>
          <a:xfrm>
            <a:off x="607219" y="1303734"/>
            <a:ext cx="2643188" cy="5143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Reserved Pool: guarantees capacity for each queue so basic forwarding remains available under congestion and QoS starvation is prevented.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B8ADB87-6CE9-400E-A12E-A93B5A0918F1}"/>
              </a:ext>
            </a:extLst>
          </p:cNvPr>
          <p:cNvSpPr>
            <a:spLocks noGrp="1"/>
          </p:cNvSpPr>
          <p:nvPr/>
        </p:nvSpPr>
        <p:spPr>
          <a:xfrm>
            <a:off x="607219" y="1889522"/>
            <a:ext cx="2643188" cy="4389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Shared Pool: all active queues dynamically compete for the remaining buffer, greatly improving absorption of burst traffic.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CF5C2C5E-7F24-464D-B108-BC4E503E3C7E}"/>
              </a:ext>
            </a:extLst>
          </p:cNvPr>
          <p:cNvSpPr>
            <a:spLocks noGrp="1"/>
          </p:cNvSpPr>
          <p:nvPr/>
        </p:nvSpPr>
        <p:spPr>
          <a:xfrm>
            <a:off x="428625" y="2518172"/>
            <a:ext cx="3000375" cy="1487128"/>
          </a:xfrm>
          <a:prstGeom prst="rect">
            <a:avLst/>
          </a:prstGeom>
          <a:solidFill>
            <a:srgbClr val="2E2E38"/>
          </a:solidFill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3819A3CD-FCD1-4DD5-8982-A68C4C441E54}"/>
              </a:ext>
            </a:extLst>
          </p:cNvPr>
          <p:cNvSpPr>
            <a:spLocks noGrp="1"/>
          </p:cNvSpPr>
          <p:nvPr/>
        </p:nvSpPr>
        <p:spPr>
          <a:xfrm>
            <a:off x="607219" y="2661047"/>
            <a:ext cx="2643188" cy="1571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800" b="1">
                <a:solidFill>
                  <a:srgbClr val="00C2DE"/>
                </a:solidFill>
                <a:latin typeface="Arial"/>
                <a:ea typeface="Arial"/>
                <a:cs typeface="Arial"/>
              </a:rPr>
              <a:t>Allocation Decision Logic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4071104A-05DB-4BD3-9769-4F9255A20DDE}"/>
              </a:ext>
            </a:extLst>
          </p:cNvPr>
          <p:cNvSpPr>
            <a:spLocks noGrp="1"/>
          </p:cNvSpPr>
          <p:nvPr/>
        </p:nvSpPr>
        <p:spPr>
          <a:xfrm>
            <a:off x="607219" y="2925366"/>
            <a:ext cx="2643188" cy="10799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750">
                <a:solidFill>
                  <a:srgbClr val="F2F4F8"/>
                </a:solidFill>
                <a:latin typeface="Consolas"/>
                <a:ea typeface="Consolas"/>
                <a:cs typeface="Consolas"/>
              </a:rPr>
              <a:t>// Prefer reserved capacity
use_reserved = (q_usage &lt; q_min);
 // Request shared capacity after the reserve is exhausted
use_shared = (q_usage &gt;= q_min) &amp;&amp; 
(shared_usage &lt; shared_limit);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1D0B87A-01C2-4371-A72E-8D649F402653}"/>
              </a:ext>
            </a:extLst>
          </p:cNvPr>
          <p:cNvSpPr>
            <a:spLocks noGrp="1"/>
          </p:cNvSpPr>
          <p:nvPr/>
        </p:nvSpPr>
        <p:spPr>
          <a:xfrm>
            <a:off x="5443538" y="857250"/>
            <a:ext cx="154305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Dual-Pool Watermarks and Thresholds</a:t>
            </a: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FA42A8E1-2681-41DB-B652-0BF734129006}"/>
              </a:ext>
            </a:extLst>
          </p:cNvPr>
          <p:cNvSpPr>
            <a:spLocks noGrp="1"/>
          </p:cNvSpPr>
          <p:nvPr/>
        </p:nvSpPr>
        <p:spPr>
          <a:xfrm>
            <a:off x="3714750" y="1139428"/>
            <a:ext cx="5000625" cy="32861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3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1139428"/>
            <a:ext cx="5000625" cy="3286125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1A162BC0-4ACB-41D9-BBD6-B43B07367EBB}"/>
              </a:ext>
            </a:extLst>
          </p:cNvPr>
          <p:cNvSpPr>
            <a:spLocks noGrp="1"/>
          </p:cNvSpPr>
          <p:nvPr/>
        </p:nvSpPr>
        <p:spPr>
          <a:xfrm>
            <a:off x="4459151" y="4425553"/>
            <a:ext cx="3511823" cy="356108"/>
          </a:xfrm>
          <a:prstGeom prst="rect">
            <a:avLst/>
          </a:prstGeom>
          <a:noFill/>
        </p:spPr>
        <p:txBody>
          <a:bodyPr wrap="square" lIns="0" tIns="127508" rIns="0" bIns="0" anchor="t">
            <a:sp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6E6E7A"/>
                </a:solidFill>
                <a:latin typeface="Arial"/>
                <a:ea typeface="Arial"/>
                <a:cs typeface="Arial"/>
              </a:rPr>
              <a:t>Configurable q_min (guarantee) and shared_limit (shared cap) enable fine-grained buffer-resource scheduling.</a:t>
            </a: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C76FAAF1-278A-49EB-8105-D189BF92A7B9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</p:spTree>
    <p:extLst>
      <p:ext uri="{BB962C8B-B14F-4D97-AF65-F5344CB8AC3E}">
        <p14:creationId xmlns:p14="http://schemas.microsoft.com/office/powerpoint/2010/main" val="972818528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2DA49A4-6A6C-4DDB-A3EC-3E9009ED7A90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07DA78F-0D1A-4ADC-BD3A-FEFA7415592F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314972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 — </a:t>
            </a: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CSR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C24A473-3CBD-4AFD-B7B0-823245DD5A1E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3000375" cy="1143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261AEA1-F4A0-43EF-A7D3-BE0375998C9F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28575" cy="11430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DDEA74B7-7259-41B2-8F8A-A98F110B35FF}"/>
              </a:ext>
            </a:extLst>
          </p:cNvPr>
          <p:cNvSpPr>
            <a:spLocks noGrp="1"/>
          </p:cNvSpPr>
          <p:nvPr/>
        </p:nvSpPr>
        <p:spPr>
          <a:xfrm>
            <a:off x="607219" y="1000125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CSR Configuration Interface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2D80ACA-EF89-438E-827F-E1BC26540F48}"/>
              </a:ext>
            </a:extLst>
          </p:cNvPr>
          <p:cNvSpPr>
            <a:spLocks noGrp="1"/>
          </p:cNvSpPr>
          <p:nvPr/>
        </p:nvSpPr>
        <p:spPr>
          <a:xfrm>
            <a:off x="607219" y="1303734"/>
            <a:ext cx="2643188" cy="6632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The CPU can adjust core parameters in real time, including flow-control thresholds (XOFF/XON), dual-pool reserve ratios, and the aging-timer period, enabling dynamic performance tuning.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F559B80B-0EF0-4E49-ADE8-1FB6A226DFCE}"/>
              </a:ext>
            </a:extLst>
          </p:cNvPr>
          <p:cNvSpPr>
            <a:spLocks noGrp="1"/>
          </p:cNvSpPr>
          <p:nvPr/>
        </p:nvSpPr>
        <p:spPr>
          <a:xfrm>
            <a:off x="428625" y="2143125"/>
            <a:ext cx="3000375" cy="15716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8D86704-3B9E-42EB-AA64-061C4B9BC674}"/>
              </a:ext>
            </a:extLst>
          </p:cNvPr>
          <p:cNvSpPr>
            <a:spLocks noGrp="1"/>
          </p:cNvSpPr>
          <p:nvPr/>
        </p:nvSpPr>
        <p:spPr>
          <a:xfrm>
            <a:off x="428625" y="2143125"/>
            <a:ext cx="28575" cy="1571625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7C4E101A-68E8-4315-A4A4-E75F2F670DE8}"/>
              </a:ext>
            </a:extLst>
          </p:cNvPr>
          <p:cNvSpPr>
            <a:spLocks noGrp="1"/>
          </p:cNvSpPr>
          <p:nvPr/>
        </p:nvSpPr>
        <p:spPr>
          <a:xfrm>
            <a:off x="607219" y="2286000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 dirty="0">
                <a:solidFill>
                  <a:srgbClr val="3253DC"/>
                </a:solidFill>
                <a:latin typeface="Arial"/>
                <a:ea typeface="Arial"/>
                <a:cs typeface="Arial"/>
              </a:rPr>
              <a:t>Performance Monitoring and Statistics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7992737-7209-40D6-866A-C6061B035687}"/>
              </a:ext>
            </a:extLst>
          </p:cNvPr>
          <p:cNvSpPr>
            <a:spLocks noGrp="1"/>
          </p:cNvSpPr>
          <p:nvPr/>
        </p:nvSpPr>
        <p:spPr>
          <a:xfrm>
            <a:off x="607219" y="2589609"/>
            <a:ext cx="2643188" cy="116067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 Real-time counters: accurately track total enqueued/dequeued packets and dropped cells.
• Watermark tracking: sample peak queue and global buffer occupancy in real time.
• Exception reporting: interrupt system software on SRAM ECC errors, illegal address accesses, and other faults.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4498C2F-69AF-48E7-A870-DC4B2BE7B7C3}"/>
              </a:ext>
            </a:extLst>
          </p:cNvPr>
          <p:cNvSpPr>
            <a:spLocks noGrp="1"/>
          </p:cNvSpPr>
          <p:nvPr/>
        </p:nvSpPr>
        <p:spPr>
          <a:xfrm>
            <a:off x="5482772" y="857250"/>
            <a:ext cx="1464525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CSR and Statistics Module Architecture</a:t>
            </a: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C9B860F9-3435-4ED0-B137-32FA6403C091}"/>
              </a:ext>
            </a:extLst>
          </p:cNvPr>
          <p:cNvSpPr>
            <a:spLocks noGrp="1"/>
          </p:cNvSpPr>
          <p:nvPr/>
        </p:nvSpPr>
        <p:spPr>
          <a:xfrm>
            <a:off x="3714750" y="1139428"/>
            <a:ext cx="5000625" cy="32575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3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1139428"/>
            <a:ext cx="5000625" cy="3257550"/>
          </a:xfrm>
          <a:prstGeom prst="rect">
            <a:avLst/>
          </a:prstGeom>
        </p:spPr>
      </p:pic>
      <p:sp>
        <p:nvSpPr>
          <p:cNvPr id="16" name="Text 12">
            <a:extLst>
              <a:ext uri="{FF2B5EF4-FFF2-40B4-BE49-F238E27FC236}">
                <a16:creationId xmlns:a16="http://schemas.microsoft.com/office/drawing/2014/main" id="{C241A56A-F234-488B-B6E8-8FF996E7BF2B}"/>
              </a:ext>
            </a:extLst>
          </p:cNvPr>
          <p:cNvSpPr>
            <a:spLocks noGrp="1"/>
          </p:cNvSpPr>
          <p:nvPr/>
        </p:nvSpPr>
        <p:spPr>
          <a:xfrm>
            <a:off x="4714875" y="4396978"/>
            <a:ext cx="3000375" cy="356108"/>
          </a:xfrm>
          <a:prstGeom prst="rect">
            <a:avLst/>
          </a:prstGeom>
          <a:noFill/>
        </p:spPr>
        <p:txBody>
          <a:bodyPr wrap="square" lIns="0" tIns="127508" rIns="0" bIns="0" anchor="t">
            <a:sp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6E6E7A"/>
                </a:solidFill>
                <a:latin typeface="Arial"/>
                <a:ea typeface="Arial"/>
                <a:cs typeface="Arial"/>
              </a:rPr>
              <a:t>Strong observability provides solid data support for system debugging and performance tuning.</a:t>
            </a:r>
          </a:p>
        </p:txBody>
      </p:sp>
      <p:sp>
        <p:nvSpPr>
          <p:cNvPr id="17" name="Text 13">
            <a:extLst>
              <a:ext uri="{FF2B5EF4-FFF2-40B4-BE49-F238E27FC236}">
                <a16:creationId xmlns:a16="http://schemas.microsoft.com/office/drawing/2014/main" id="{58EBF527-3296-4B0C-B6E5-CCE0206B4F34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</p:spTree>
    <p:extLst>
      <p:ext uri="{BB962C8B-B14F-4D97-AF65-F5344CB8AC3E}">
        <p14:creationId xmlns:p14="http://schemas.microsoft.com/office/powerpoint/2010/main" val="1639706822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F0A71AED-C341-4017-AC34-48B93DBFECC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80626A8-A08D-4DC7-B640-C72DCD7A3944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3631927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 — Power-Up Init FSM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BD5BCC44-4109-4AE3-AB20-294F088A24FD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3000375" cy="12858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E3BDEEB-7583-4717-AD9B-D2F1DF96CAAF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28575" cy="1285875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86539F8-6105-4942-AB37-E97C56509491}"/>
              </a:ext>
            </a:extLst>
          </p:cNvPr>
          <p:cNvSpPr>
            <a:spLocks noGrp="1"/>
          </p:cNvSpPr>
          <p:nvPr/>
        </p:nvSpPr>
        <p:spPr>
          <a:xfrm>
            <a:off x="607219" y="928688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Init FSM State Transitions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11DBE4F4-3E29-4D1D-85C8-7066BE42AF25}"/>
              </a:ext>
            </a:extLst>
          </p:cNvPr>
          <p:cNvSpPr>
            <a:spLocks noGrp="1"/>
          </p:cNvSpPr>
          <p:nvPr/>
        </p:nvSpPr>
        <p:spPr>
          <a:xfrm>
            <a:off x="607219" y="123586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362EB21-BF66-40F7-B2C3-40953A01A89A}"/>
              </a:ext>
            </a:extLst>
          </p:cNvPr>
          <p:cNvSpPr>
            <a:spLocks noGrp="1"/>
          </p:cNvSpPr>
          <p:nvPr/>
        </p:nvSpPr>
        <p:spPr>
          <a:xfrm>
            <a:off x="674526" y="1235869"/>
            <a:ext cx="2067874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IS_IDLE: wait for reset release or init_start↑.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F713D327-7A7D-4733-BEFA-406247E29645}"/>
              </a:ext>
            </a:extLst>
          </p:cNvPr>
          <p:cNvSpPr>
            <a:spLocks noGrp="1"/>
          </p:cNvSpPr>
          <p:nvPr/>
        </p:nvSpPr>
        <p:spPr>
          <a:xfrm>
            <a:off x="607219" y="1496616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A44E7D5-15CD-4F78-B533-BFD57256219A}"/>
              </a:ext>
            </a:extLst>
          </p:cNvPr>
          <p:cNvSpPr>
            <a:spLocks noGrp="1"/>
          </p:cNvSpPr>
          <p:nvPr/>
        </p:nvSpPr>
        <p:spPr>
          <a:xfrm>
            <a:off x="674527" y="1506938"/>
            <a:ext cx="2611599" cy="50718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 b="1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IS_BUILD: LLE builds the free list, one link per cycle.</a:t>
            </a:r>
          </a:p>
          <a:p>
            <a:pPr marL="0" indent="0" algn="l">
              <a:lnSpc>
                <a:spcPct val="128000"/>
              </a:lnSpc>
              <a:buNone/>
            </a:pPr>
            <a:endParaRPr sz="800" b="1" dirty="0">
              <a:solidFill>
                <a:srgbClr val="2E2E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1387D1DC-19B6-4C8E-B3E2-49D814632175}"/>
              </a:ext>
            </a:extLst>
          </p:cNvPr>
          <p:cNvSpPr>
            <a:spLocks noGrp="1"/>
          </p:cNvSpPr>
          <p:nvPr/>
        </p:nvSpPr>
        <p:spPr>
          <a:xfrm>
            <a:off x="607219" y="175021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E89EE48-5AAB-4F40-95AC-1C89D42A7C6C}"/>
              </a:ext>
            </a:extLst>
          </p:cNvPr>
          <p:cNvSpPr>
            <a:spLocks noGrp="1"/>
          </p:cNvSpPr>
          <p:nvPr/>
        </p:nvSpPr>
        <p:spPr>
          <a:xfrm>
            <a:off x="674526" y="1750219"/>
            <a:ext cx="470483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IS_DONE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8F5FCC22-17F1-49B1-A581-CFE22284AE3C}"/>
              </a:ext>
            </a:extLst>
          </p:cNvPr>
          <p:cNvSpPr>
            <a:spLocks noGrp="1"/>
          </p:cNvSpPr>
          <p:nvPr/>
        </p:nvSpPr>
        <p:spPr>
          <a:xfrm>
            <a:off x="1145009" y="1750219"/>
            <a:ext cx="1782539" cy="3021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: assert </a:t>
            </a:r>
            <a:r>
              <a:rPr sz="800" dirty="0" err="1">
                <a:solidFill>
                  <a:srgbClr val="2E2E38"/>
                </a:solidFill>
                <a:latin typeface="Arial"/>
                <a:ea typeface="Arial"/>
                <a:cs typeface="Arial"/>
              </a:rPr>
              <a:t>init_done</a:t>
            </a:r>
            <a:r>
              <a:rPr sz="80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 and enter Ready.</a:t>
            </a:r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A4A1B5E9-BDE7-4A8E-8160-C8D254C36DFB}"/>
              </a:ext>
            </a:extLst>
          </p:cNvPr>
          <p:cNvSpPr>
            <a:spLocks noGrp="1"/>
          </p:cNvSpPr>
          <p:nvPr/>
        </p:nvSpPr>
        <p:spPr>
          <a:xfrm>
            <a:off x="422141" y="2222532"/>
            <a:ext cx="3000375" cy="1714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3DDFF1B5-2844-4B51-AA80-11AD79FA10D7}"/>
              </a:ext>
            </a:extLst>
          </p:cNvPr>
          <p:cNvSpPr>
            <a:spLocks noGrp="1"/>
          </p:cNvSpPr>
          <p:nvPr/>
        </p:nvSpPr>
        <p:spPr>
          <a:xfrm>
            <a:off x="428625" y="2214563"/>
            <a:ext cx="28575" cy="1714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34D36AA1-5EB0-4037-9AB4-6579B5165583}"/>
              </a:ext>
            </a:extLst>
          </p:cNvPr>
          <p:cNvSpPr>
            <a:spLocks noGrp="1"/>
          </p:cNvSpPr>
          <p:nvPr/>
        </p:nvSpPr>
        <p:spPr>
          <a:xfrm>
            <a:off x="607219" y="2357438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Automatic List Construction in the LLE</a:t>
            </a: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087C76E0-25B0-47AC-B5A2-E5A21631EA4C}"/>
              </a:ext>
            </a:extLst>
          </p:cNvPr>
          <p:cNvSpPr>
            <a:spLocks noGrp="1"/>
          </p:cNvSpPr>
          <p:nvPr/>
        </p:nvSpPr>
        <p:spPr>
          <a:xfrm>
            <a:off x="607219" y="266461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71324E4E-1700-4300-B3AA-B4050FF5338C}"/>
              </a:ext>
            </a:extLst>
          </p:cNvPr>
          <p:cNvSpPr>
            <a:spLocks noGrp="1"/>
          </p:cNvSpPr>
          <p:nvPr/>
        </p:nvSpPr>
        <p:spPr>
          <a:xfrm>
            <a:off x="674526" y="2664619"/>
            <a:ext cx="428625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Write</a:t>
            </a: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DFC85D06-CB70-4C77-9F80-E38C5B6E1C1E}"/>
              </a:ext>
            </a:extLst>
          </p:cNvPr>
          <p:cNvSpPr>
            <a:spLocks noGrp="1"/>
          </p:cNvSpPr>
          <p:nvPr/>
        </p:nvSpPr>
        <p:spPr>
          <a:xfrm>
            <a:off x="1103151" y="2664619"/>
            <a:ext cx="1691169" cy="3021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write SRAM[idx].next = idx + 1 each cycle.</a:t>
            </a: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A4644CE5-A6EB-4FDF-BEC8-9A7EFE98DFFC}"/>
              </a:ext>
            </a:extLst>
          </p:cNvPr>
          <p:cNvSpPr>
            <a:spLocks noGrp="1"/>
          </p:cNvSpPr>
          <p:nvPr/>
        </p:nvSpPr>
        <p:spPr>
          <a:xfrm>
            <a:off x="607219" y="300751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3B2CD0C3-BD34-4857-9C40-2AAE98AC94AD}"/>
              </a:ext>
            </a:extLst>
          </p:cNvPr>
          <p:cNvSpPr>
            <a:spLocks noGrp="1"/>
          </p:cNvSpPr>
          <p:nvPr/>
        </p:nvSpPr>
        <p:spPr>
          <a:xfrm>
            <a:off x="674526" y="3007519"/>
            <a:ext cx="428625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Self-Loop</a:t>
            </a:r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DBF6AE8A-5F48-41D5-B41B-04495CBDB568}"/>
              </a:ext>
            </a:extLst>
          </p:cNvPr>
          <p:cNvSpPr>
            <a:spLocks noGrp="1"/>
          </p:cNvSpPr>
          <p:nvPr/>
        </p:nvSpPr>
        <p:spPr>
          <a:xfrm>
            <a:off x="1103151" y="3007519"/>
            <a:ext cx="2333972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last cell.next points to itself, marking the list end.</a:t>
            </a:r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8D530719-2983-4497-9B0F-9A77A52730F7}"/>
              </a:ext>
            </a:extLst>
          </p:cNvPr>
          <p:cNvSpPr>
            <a:spLocks noGrp="1"/>
          </p:cNvSpPr>
          <p:nvPr/>
        </p:nvSpPr>
        <p:spPr>
          <a:xfrm>
            <a:off x="607219" y="335041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72E3A79F-B686-49C9-8160-3E8231977E5C}"/>
              </a:ext>
            </a:extLst>
          </p:cNvPr>
          <p:cNvSpPr>
            <a:spLocks noGrp="1"/>
          </p:cNvSpPr>
          <p:nvPr/>
        </p:nvSpPr>
        <p:spPr>
          <a:xfrm>
            <a:off x="674526" y="3350419"/>
            <a:ext cx="535781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Reg Sync</a:t>
            </a:r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77107B55-06C6-4941-AD34-5F19BB496D40}"/>
              </a:ext>
            </a:extLst>
          </p:cNvPr>
          <p:cNvSpPr>
            <a:spLocks noGrp="1"/>
          </p:cNvSpPr>
          <p:nvPr/>
        </p:nvSpPr>
        <p:spPr>
          <a:xfrm>
            <a:off x="1210308" y="3350419"/>
            <a:ext cx="2122376" cy="3023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init pointers and prefetch; allocate on cycle one.</a:t>
            </a:r>
          </a:p>
        </p:txBody>
      </p:sp>
      <p:sp>
        <p:nvSpPr>
          <p:cNvPr id="47" name="Text 44">
            <a:extLst>
              <a:ext uri="{FF2B5EF4-FFF2-40B4-BE49-F238E27FC236}">
                <a16:creationId xmlns:a16="http://schemas.microsoft.com/office/drawing/2014/main" id="{BDCBC7FD-E9F8-43B2-808F-A6A7C0C23BD8}"/>
              </a:ext>
            </a:extLst>
          </p:cNvPr>
          <p:cNvSpPr>
            <a:spLocks noGrp="1"/>
          </p:cNvSpPr>
          <p:nvPr/>
        </p:nvSpPr>
        <p:spPr>
          <a:xfrm>
            <a:off x="5289891" y="785813"/>
            <a:ext cx="1850343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Automatic Next-Ptr SRAM List Construction</a:t>
            </a:r>
          </a:p>
        </p:txBody>
      </p:sp>
      <p:sp>
        <p:nvSpPr>
          <p:cNvPr id="48" name="Shape 45">
            <a:extLst>
              <a:ext uri="{FF2B5EF4-FFF2-40B4-BE49-F238E27FC236}">
                <a16:creationId xmlns:a16="http://schemas.microsoft.com/office/drawing/2014/main" id="{A1243C23-0704-4924-A80E-52C9FEA10243}"/>
              </a:ext>
            </a:extLst>
          </p:cNvPr>
          <p:cNvSpPr>
            <a:spLocks noGrp="1"/>
          </p:cNvSpPr>
          <p:nvPr/>
        </p:nvSpPr>
        <p:spPr>
          <a:xfrm>
            <a:off x="3714750" y="1067991"/>
            <a:ext cx="5000625" cy="32861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82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1067991"/>
            <a:ext cx="5000625" cy="3286125"/>
          </a:xfrm>
          <a:prstGeom prst="rect">
            <a:avLst/>
          </a:prstGeom>
        </p:spPr>
      </p:pic>
      <p:sp>
        <p:nvSpPr>
          <p:cNvPr id="50" name="Text 46">
            <a:extLst>
              <a:ext uri="{FF2B5EF4-FFF2-40B4-BE49-F238E27FC236}">
                <a16:creationId xmlns:a16="http://schemas.microsoft.com/office/drawing/2014/main" id="{27F1B1B8-F263-4D8D-9F0D-8C1870D33DAF}"/>
              </a:ext>
            </a:extLst>
          </p:cNvPr>
          <p:cNvSpPr>
            <a:spLocks noGrp="1"/>
          </p:cNvSpPr>
          <p:nvPr/>
        </p:nvSpPr>
        <p:spPr>
          <a:xfrm>
            <a:off x="4761923" y="4354116"/>
            <a:ext cx="2906223" cy="356108"/>
          </a:xfrm>
          <a:prstGeom prst="rect">
            <a:avLst/>
          </a:prstGeom>
          <a:noFill/>
        </p:spPr>
        <p:txBody>
          <a:bodyPr wrap="square" lIns="0" tIns="127508" rIns="0" bIns="0" anchor="t">
            <a:sp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6E6E7A"/>
                </a:solidFill>
                <a:latin typeface="Arial"/>
                <a:ea typeface="Arial"/>
                <a:cs typeface="Arial"/>
              </a:rPr>
              <a:t>Hardware initialization makes the free list deterministic and brings the system to Ready quickly after power-up.</a:t>
            </a:r>
          </a:p>
        </p:txBody>
      </p:sp>
      <p:sp>
        <p:nvSpPr>
          <p:cNvPr id="51" name="Text 47">
            <a:extLst>
              <a:ext uri="{FF2B5EF4-FFF2-40B4-BE49-F238E27FC236}">
                <a16:creationId xmlns:a16="http://schemas.microsoft.com/office/drawing/2014/main" id="{7A05F1ED-5E9A-4D68-AFB1-99F97BA16AB7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</p:spTree>
    <p:extLst>
      <p:ext uri="{BB962C8B-B14F-4D97-AF65-F5344CB8AC3E}">
        <p14:creationId xmlns:p14="http://schemas.microsoft.com/office/powerpoint/2010/main" val="26827349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0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E750C73A-CC49-47B7-A278-B79A874995E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8B0C4905-CF5F-46BB-995E-ACF02F2CCE53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426727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 — Enqueue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9B8CA22-70A0-4398-80C6-8BE81BE72E22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3000375" cy="12858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73DAAE5-D7BD-4309-90E0-6F4C2C297FE3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28575" cy="1285875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C6F2E2C-24C2-47E2-98DE-193AEF84A617}"/>
              </a:ext>
            </a:extLst>
          </p:cNvPr>
          <p:cNvSpPr>
            <a:spLocks noGrp="1"/>
          </p:cNvSpPr>
          <p:nvPr/>
        </p:nvSpPr>
        <p:spPr>
          <a:xfrm>
            <a:off x="607219" y="928688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T0/T1 Timing and Handshake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E6A9D9A4-BA86-48FF-A5BD-5D016B1637B7}"/>
              </a:ext>
            </a:extLst>
          </p:cNvPr>
          <p:cNvSpPr>
            <a:spLocks noGrp="1"/>
          </p:cNvSpPr>
          <p:nvPr/>
        </p:nvSpPr>
        <p:spPr>
          <a:xfrm>
            <a:off x="607219" y="123586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0339D69-C03C-4767-B82A-AF368950B673}"/>
              </a:ext>
            </a:extLst>
          </p:cNvPr>
          <p:cNvSpPr>
            <a:spLocks noGrp="1"/>
          </p:cNvSpPr>
          <p:nvPr/>
        </p:nvSpPr>
        <p:spPr>
          <a:xfrm>
            <a:off x="674526" y="1235869"/>
            <a:ext cx="125071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T0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AA8E6EBC-88EF-4B82-A7FE-C31C03294AB1}"/>
              </a:ext>
            </a:extLst>
          </p:cNvPr>
          <p:cNvSpPr>
            <a:spLocks noGrp="1"/>
          </p:cNvSpPr>
          <p:nvPr/>
        </p:nvSpPr>
        <p:spPr>
          <a:xfrm>
            <a:off x="799598" y="1235869"/>
            <a:ext cx="2287486" cy="507187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: accept </a:t>
            </a:r>
            <a:r>
              <a:rPr sz="800" dirty="0" err="1">
                <a:solidFill>
                  <a:srgbClr val="2E2E38"/>
                </a:solidFill>
                <a:latin typeface="Arial"/>
                <a:ea typeface="Arial"/>
                <a:cs typeface="Arial"/>
              </a:rPr>
              <a:t>enq_req</a:t>
            </a:r>
            <a:r>
              <a:rPr sz="80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; Occupancy returns a same-cycle decision.</a:t>
            </a:r>
          </a:p>
          <a:p>
            <a:pPr marL="0" indent="0" algn="l">
              <a:lnSpc>
                <a:spcPct val="128000"/>
              </a:lnSpc>
              <a:buNone/>
            </a:pPr>
            <a:endParaRPr sz="800" dirty="0">
              <a:solidFill>
                <a:srgbClr val="2E2E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86B64396-B71F-40E2-A2BF-A9C2FE75EBDD}"/>
              </a:ext>
            </a:extLst>
          </p:cNvPr>
          <p:cNvSpPr>
            <a:spLocks noGrp="1"/>
          </p:cNvSpPr>
          <p:nvPr/>
        </p:nvSpPr>
        <p:spPr>
          <a:xfrm>
            <a:off x="607219" y="157876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C361489D-8C4A-4E19-8FCD-12649E7EFAF9}"/>
              </a:ext>
            </a:extLst>
          </p:cNvPr>
          <p:cNvSpPr>
            <a:spLocks noGrp="1"/>
          </p:cNvSpPr>
          <p:nvPr/>
        </p:nvSpPr>
        <p:spPr>
          <a:xfrm>
            <a:off x="674526" y="1578769"/>
            <a:ext cx="125071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T1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68D7D248-C113-4174-82F5-65C7C59718F6}"/>
              </a:ext>
            </a:extLst>
          </p:cNvPr>
          <p:cNvSpPr>
            <a:spLocks noGrp="1"/>
          </p:cNvSpPr>
          <p:nvPr/>
        </p:nvSpPr>
        <p:spPr>
          <a:xfrm>
            <a:off x="799598" y="1578769"/>
            <a:ext cx="2412520" cy="31211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register alloc_valid and alloc_cell_addr, providing an exact</a:t>
            </a:r>
          </a:p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   one-cycle command response.</a:t>
            </a: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813FF5C2-6C08-4E93-A028-CEAF2B8C37D8}"/>
              </a:ext>
            </a:extLst>
          </p:cNvPr>
          <p:cNvSpPr>
            <a:spLocks noGrp="1"/>
          </p:cNvSpPr>
          <p:nvPr/>
        </p:nvSpPr>
        <p:spPr>
          <a:xfrm>
            <a:off x="428625" y="2214563"/>
            <a:ext cx="3000375" cy="1714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5" name="Shape 22">
            <a:extLst>
              <a:ext uri="{FF2B5EF4-FFF2-40B4-BE49-F238E27FC236}">
                <a16:creationId xmlns:a16="http://schemas.microsoft.com/office/drawing/2014/main" id="{800FF092-CF5B-46D1-9194-A8DF9A173A92}"/>
              </a:ext>
            </a:extLst>
          </p:cNvPr>
          <p:cNvSpPr>
            <a:spLocks noGrp="1"/>
          </p:cNvSpPr>
          <p:nvPr/>
        </p:nvSpPr>
        <p:spPr>
          <a:xfrm>
            <a:off x="428625" y="2214563"/>
            <a:ext cx="28575" cy="1714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75876CEF-06E7-4F6E-8B0C-E2ED241D9673}"/>
              </a:ext>
            </a:extLst>
          </p:cNvPr>
          <p:cNvSpPr>
            <a:spLocks noGrp="1"/>
          </p:cNvSpPr>
          <p:nvPr/>
        </p:nvSpPr>
        <p:spPr>
          <a:xfrm>
            <a:off x="607219" y="2357438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Tail-in-Register Linking</a:t>
            </a: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29C45A09-3C97-42F9-9F73-9595F84749F2}"/>
              </a:ext>
            </a:extLst>
          </p:cNvPr>
          <p:cNvSpPr>
            <a:spLocks noGrp="1"/>
          </p:cNvSpPr>
          <p:nvPr/>
        </p:nvSpPr>
        <p:spPr>
          <a:xfrm>
            <a:off x="607219" y="266461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AF53C4A0-B95D-4969-93D7-33D69BAD34ED}"/>
              </a:ext>
            </a:extLst>
          </p:cNvPr>
          <p:cNvSpPr>
            <a:spLocks noGrp="1"/>
          </p:cNvSpPr>
          <p:nvPr/>
        </p:nvSpPr>
        <p:spPr>
          <a:xfrm>
            <a:off x="674526" y="2664619"/>
            <a:ext cx="565696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Relink Delay</a:t>
            </a: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658DD71D-3C32-4D4A-AE72-4C4B2F69A909}"/>
              </a:ext>
            </a:extLst>
          </p:cNvPr>
          <p:cNvSpPr>
            <a:spLocks noGrp="1"/>
          </p:cNvSpPr>
          <p:nvPr/>
        </p:nvSpPr>
        <p:spPr>
          <a:xfrm>
            <a:off x="1240222" y="2664619"/>
            <a:ext cx="1930016" cy="46817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keep q_tail_q in a register; defer</a:t>
            </a:r>
          </a:p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SRAM[old_tail].next = new_cell until</a:t>
            </a:r>
          </a:p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the next enqueue.</a:t>
            </a:r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95877928-2CBA-47B0-803F-32454C30CC77}"/>
              </a:ext>
            </a:extLst>
          </p:cNvPr>
          <p:cNvSpPr>
            <a:spLocks noGrp="1"/>
          </p:cNvSpPr>
          <p:nvPr/>
        </p:nvSpPr>
        <p:spPr>
          <a:xfrm>
            <a:off x="607219" y="317896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BE838506-EA6C-474A-AD7C-4C6B37BD1A82}"/>
              </a:ext>
            </a:extLst>
          </p:cNvPr>
          <p:cNvSpPr>
            <a:spLocks noGrp="1"/>
          </p:cNvSpPr>
          <p:nvPr/>
        </p:nvSpPr>
        <p:spPr>
          <a:xfrm>
            <a:off x="674526" y="3178969"/>
            <a:ext cx="428625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Benefits</a:t>
            </a:r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C11EB553-1746-4354-B076-591F74CE6584}"/>
              </a:ext>
            </a:extLst>
          </p:cNvPr>
          <p:cNvSpPr>
            <a:spLocks noGrp="1"/>
          </p:cNvSpPr>
          <p:nvPr/>
        </p:nvSpPr>
        <p:spPr>
          <a:xfrm>
            <a:off x="1103151" y="3178969"/>
            <a:ext cx="2279470" cy="77579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no write for empty links; ≤1 write/cycle; tail in reg.</a:t>
            </a:r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CC1F8649-D7F7-4280-8170-9590984D0152}"/>
              </a:ext>
            </a:extLst>
          </p:cNvPr>
          <p:cNvSpPr>
            <a:spLocks noGrp="1"/>
          </p:cNvSpPr>
          <p:nvPr/>
        </p:nvSpPr>
        <p:spPr>
          <a:xfrm>
            <a:off x="4872038" y="785813"/>
            <a:ext cx="26859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Enqueue Linking (A→B→C): Register and SRAM Evolution</a:t>
            </a:r>
          </a:p>
        </p:txBody>
      </p:sp>
      <p:sp>
        <p:nvSpPr>
          <p:cNvPr id="43" name="Shape 40">
            <a:extLst>
              <a:ext uri="{FF2B5EF4-FFF2-40B4-BE49-F238E27FC236}">
                <a16:creationId xmlns:a16="http://schemas.microsoft.com/office/drawing/2014/main" id="{8CFE1D34-2868-41B4-B278-50585942DD2D}"/>
              </a:ext>
            </a:extLst>
          </p:cNvPr>
          <p:cNvSpPr>
            <a:spLocks noGrp="1"/>
          </p:cNvSpPr>
          <p:nvPr/>
        </p:nvSpPr>
        <p:spPr>
          <a:xfrm>
            <a:off x="3714750" y="1067991"/>
            <a:ext cx="5000625" cy="32861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45" name="Text 41">
            <a:extLst>
              <a:ext uri="{FF2B5EF4-FFF2-40B4-BE49-F238E27FC236}">
                <a16:creationId xmlns:a16="http://schemas.microsoft.com/office/drawing/2014/main" id="{0CE74227-B49D-40F5-A933-610368365D34}"/>
              </a:ext>
            </a:extLst>
          </p:cNvPr>
          <p:cNvSpPr>
            <a:spLocks noGrp="1"/>
          </p:cNvSpPr>
          <p:nvPr/>
        </p:nvSpPr>
        <p:spPr>
          <a:xfrm>
            <a:off x="4589804" y="4354116"/>
            <a:ext cx="3250518" cy="356108"/>
          </a:xfrm>
          <a:prstGeom prst="rect">
            <a:avLst/>
          </a:prstGeom>
          <a:noFill/>
        </p:spPr>
        <p:txBody>
          <a:bodyPr wrap="square" lIns="0" tIns="127508" rIns="0" bIns="0" anchor="t">
            <a:sp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6E6E7A"/>
                </a:solidFill>
                <a:latin typeface="Arial"/>
                <a:ea typeface="Arial"/>
                <a:cs typeface="Arial"/>
              </a:rPr>
              <a:t>Caching the tail in a register enables efficient list appends and deterministic SRAM access timing.</a:t>
            </a:r>
          </a:p>
        </p:txBody>
      </p:sp>
      <p:sp>
        <p:nvSpPr>
          <p:cNvPr id="46" name="Text 42">
            <a:extLst>
              <a:ext uri="{FF2B5EF4-FFF2-40B4-BE49-F238E27FC236}">
                <a16:creationId xmlns:a16="http://schemas.microsoft.com/office/drawing/2014/main" id="{E818D73E-0FA7-42EC-BB57-C02F11DF815F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pic>
        <p:nvPicPr>
          <p:cNvPr id="76" name="图片 4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04760" y="1287660"/>
            <a:ext cx="4987403" cy="280392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92951874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588F010-F9C0-4A68-A59F-17B06DD838C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A7CA7EE-9594-4D43-A50C-8A983E2AF140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367032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 — Whole-Frame Drop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3684810-24BC-4726-90FD-BE0E992996AD}"/>
              </a:ext>
            </a:extLst>
          </p:cNvPr>
          <p:cNvSpPr>
            <a:spLocks noGrp="1"/>
          </p:cNvSpPr>
          <p:nvPr/>
        </p:nvSpPr>
        <p:spPr>
          <a:xfrm>
            <a:off x="428625" y="1000125"/>
            <a:ext cx="2619356" cy="37147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87F342E-59FA-48AF-910A-930D2765C5C8}"/>
              </a:ext>
            </a:extLst>
          </p:cNvPr>
          <p:cNvSpPr>
            <a:spLocks noGrp="1"/>
          </p:cNvSpPr>
          <p:nvPr/>
        </p:nvSpPr>
        <p:spPr>
          <a:xfrm>
            <a:off x="428625" y="1000125"/>
            <a:ext cx="28575" cy="371475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9DB47B92-EECD-411F-8CC3-78BA3C85B24F}"/>
              </a:ext>
            </a:extLst>
          </p:cNvPr>
          <p:cNvSpPr>
            <a:spLocks noGrp="1"/>
          </p:cNvSpPr>
          <p:nvPr/>
        </p:nvSpPr>
        <p:spPr>
          <a:xfrm>
            <a:off x="607219" y="1214438"/>
            <a:ext cx="2243138" cy="210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1. Predictive Watermark Logic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40184C26-DFE4-4487-A800-1485CE5BA596}"/>
              </a:ext>
            </a:extLst>
          </p:cNvPr>
          <p:cNvSpPr>
            <a:spLocks noGrp="1"/>
          </p:cNvSpPr>
          <p:nvPr/>
        </p:nvSpPr>
        <p:spPr>
          <a:xfrm>
            <a:off x="607219" y="1603772"/>
            <a:ext cx="2243138" cy="5596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When the first cell (SOF) of a packet arrives, the system predicts occupancy from packet length instead of deciding cell by cell.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DC773E77-5187-4049-888F-E481ABE681EA}"/>
              </a:ext>
            </a:extLst>
          </p:cNvPr>
          <p:cNvSpPr>
            <a:spLocks noGrp="1"/>
          </p:cNvSpPr>
          <p:nvPr/>
        </p:nvSpPr>
        <p:spPr>
          <a:xfrm>
            <a:off x="607219" y="2158082"/>
            <a:ext cx="2243138" cy="500063"/>
          </a:xfrm>
          <a:prstGeom prst="rect">
            <a:avLst/>
          </a:prstGeom>
          <a:solidFill>
            <a:srgbClr val="F2F4F8"/>
          </a:solidFill>
          <a:ln w="9144">
            <a:solidFill>
              <a:srgbClr val="6CA0F6"/>
            </a:solidFill>
            <a:prstDash val="dash"/>
          </a:ln>
        </p:spPr>
        <p:txBody>
          <a:bodyPr/>
          <a:lstStyle/>
          <a:p>
            <a:endParaRPr/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1B8579F9-F6C0-4446-9D42-5A86FFB75066}"/>
              </a:ext>
            </a:extLst>
          </p:cNvPr>
          <p:cNvSpPr>
            <a:spLocks noGrp="1"/>
          </p:cNvSpPr>
          <p:nvPr/>
        </p:nvSpPr>
        <p:spPr>
          <a:xfrm>
            <a:off x="607219" y="2158082"/>
            <a:ext cx="2243138" cy="500063"/>
          </a:xfrm>
          <a:prstGeom prst="rect">
            <a:avLst/>
          </a:prstGeom>
          <a:noFill/>
        </p:spPr>
        <p:txBody>
          <a:bodyPr wrap="square" lIns="127508" tIns="127508" rIns="127508" bIns="127508" anchor="t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predict_occ = current_occ + pkt_cell_num;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AF81D9D-4721-4B51-913E-8836E00440ED}"/>
              </a:ext>
            </a:extLst>
          </p:cNvPr>
          <p:cNvSpPr>
            <a:spLocks noGrp="1"/>
          </p:cNvSpPr>
          <p:nvPr/>
        </p:nvSpPr>
        <p:spPr>
          <a:xfrm>
            <a:off x="607219" y="2643857"/>
            <a:ext cx="2243138" cy="729666"/>
          </a:xfrm>
          <a:prstGeom prst="rect">
            <a:avLst/>
          </a:prstGeom>
          <a:noFill/>
        </p:spPr>
        <p:txBody>
          <a:bodyPr wrap="square" lIns="0" tIns="170053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This up-front prediction prevents packet truncation caused by buffer exhaustion mid-frame.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381A7AC4-C100-46C2-81F2-DE7701F54ECD}"/>
              </a:ext>
            </a:extLst>
          </p:cNvPr>
          <p:cNvSpPr>
            <a:spLocks noGrp="1"/>
          </p:cNvSpPr>
          <p:nvPr/>
        </p:nvSpPr>
        <p:spPr>
          <a:xfrm>
            <a:off x="3243263" y="1000125"/>
            <a:ext cx="2628900" cy="37147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3" name="Shape 10">
            <a:extLst>
              <a:ext uri="{FF2B5EF4-FFF2-40B4-BE49-F238E27FC236}">
                <a16:creationId xmlns:a16="http://schemas.microsoft.com/office/drawing/2014/main" id="{E5F56E42-3825-402D-9EA5-D78B227EC846}"/>
              </a:ext>
            </a:extLst>
          </p:cNvPr>
          <p:cNvSpPr>
            <a:spLocks noGrp="1"/>
          </p:cNvSpPr>
          <p:nvPr/>
        </p:nvSpPr>
        <p:spPr>
          <a:xfrm>
            <a:off x="3243263" y="1000125"/>
            <a:ext cx="28575" cy="371475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E3FF9A0D-A354-4A6A-9E3F-BCBA8E8E0466}"/>
              </a:ext>
            </a:extLst>
          </p:cNvPr>
          <p:cNvSpPr>
            <a:spLocks noGrp="1"/>
          </p:cNvSpPr>
          <p:nvPr/>
        </p:nvSpPr>
        <p:spPr>
          <a:xfrm>
            <a:off x="3431400" y="1214438"/>
            <a:ext cx="2252681" cy="210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2. Whole-Frame Drop Policy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8056F3D7-CA93-47AD-8DF5-AB46E971C2C3}"/>
              </a:ext>
            </a:extLst>
          </p:cNvPr>
          <p:cNvSpPr>
            <a:spLocks noGrp="1"/>
          </p:cNvSpPr>
          <p:nvPr/>
        </p:nvSpPr>
        <p:spPr>
          <a:xfrm>
            <a:off x="3431400" y="1603772"/>
            <a:ext cx="2252681" cy="411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If predicted occupancy exceeds the configured threshold, Early Drop is triggered: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E36A677D-F5A1-4834-A252-D8D88C4589E1}"/>
              </a:ext>
            </a:extLst>
          </p:cNvPr>
          <p:cNvSpPr>
            <a:spLocks noGrp="1"/>
          </p:cNvSpPr>
          <p:nvPr/>
        </p:nvSpPr>
        <p:spPr>
          <a:xfrm>
            <a:off x="3431400" y="2158082"/>
            <a:ext cx="2252681" cy="9326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 Accept all or drop all: all cells of a packet receive the same disposition.
• Resource protection: prevents fragmented packets from consuming valuable SRAM capacity.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B19037DC-2FE4-44AA-8B03-EAFA63F33419}"/>
              </a:ext>
            </a:extLst>
          </p:cNvPr>
          <p:cNvSpPr>
            <a:spLocks noGrp="1"/>
          </p:cNvSpPr>
          <p:nvPr/>
        </p:nvSpPr>
        <p:spPr>
          <a:xfrm>
            <a:off x="6076987" y="1000125"/>
            <a:ext cx="2638444" cy="37147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ED6F37D6-7977-4137-9258-E6C0D6B22BDD}"/>
              </a:ext>
            </a:extLst>
          </p:cNvPr>
          <p:cNvSpPr>
            <a:spLocks noGrp="1"/>
          </p:cNvSpPr>
          <p:nvPr/>
        </p:nvSpPr>
        <p:spPr>
          <a:xfrm>
            <a:off x="6076987" y="1000125"/>
            <a:ext cx="28575" cy="371475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32018A0-174C-492A-AAC0-9C454CA8506E}"/>
              </a:ext>
            </a:extLst>
          </p:cNvPr>
          <p:cNvSpPr>
            <a:spLocks noGrp="1"/>
          </p:cNvSpPr>
          <p:nvPr/>
        </p:nvSpPr>
        <p:spPr>
          <a:xfrm>
            <a:off x="6274557" y="1214438"/>
            <a:ext cx="2262169" cy="210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1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3. FSM State Control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D6B730E-47FF-48A5-A453-9C7050484F62}"/>
              </a:ext>
            </a:extLst>
          </p:cNvPr>
          <p:cNvSpPr>
            <a:spLocks noGrp="1"/>
          </p:cNvSpPr>
          <p:nvPr/>
        </p:nvSpPr>
        <p:spPr>
          <a:xfrm>
            <a:off x="6274557" y="1639491"/>
            <a:ext cx="660908" cy="12858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enqueue_ctrl</a:t>
            </a: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2CA3DC35-BFE9-47C1-80CE-79458AFCC495}"/>
              </a:ext>
            </a:extLst>
          </p:cNvPr>
          <p:cNvSpPr>
            <a:spLocks noGrp="1"/>
          </p:cNvSpPr>
          <p:nvPr/>
        </p:nvSpPr>
        <p:spPr>
          <a:xfrm>
            <a:off x="6935465" y="1639491"/>
            <a:ext cx="1174756" cy="18653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maintains the enqueue state machine: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DC5DBCE1-084F-4801-B9AE-1FCEF50976C0}"/>
              </a:ext>
            </a:extLst>
          </p:cNvPr>
          <p:cNvSpPr>
            <a:spLocks noGrp="1"/>
          </p:cNvSpPr>
          <p:nvPr/>
        </p:nvSpPr>
        <p:spPr>
          <a:xfrm>
            <a:off x="6274557" y="1952365"/>
            <a:ext cx="2262169" cy="10285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 IDLE: wait for an SOF request.
• DROP: prediction fails; discard subsequent cells through EOF.
• ACCEPT: prediction passes; accept subsequent cells through EOF.</a:t>
            </a: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BCE43475-8460-42F5-8430-561B676980B4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</p:spTree>
    <p:extLst>
      <p:ext uri="{BB962C8B-B14F-4D97-AF65-F5344CB8AC3E}">
        <p14:creationId xmlns:p14="http://schemas.microsoft.com/office/powerpoint/2010/main" val="1268131237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594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DB9394A4-086F-4EC6-B441-A89EF3DC5D76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6B50EBF-7838-4127-99E3-0BF898A1BD80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2946462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 — Dequeue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C57D3106-224B-4BC9-8B3D-A73572EF017C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3000375" cy="12858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8DCA4EA-FE7B-4853-89CD-5E2C9E30DFFE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28575" cy="1285875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30A6DC4-75EC-4B9A-8EF9-9D16536817D0}"/>
              </a:ext>
            </a:extLst>
          </p:cNvPr>
          <p:cNvSpPr>
            <a:spLocks noGrp="1"/>
          </p:cNvSpPr>
          <p:nvPr/>
        </p:nvSpPr>
        <p:spPr>
          <a:xfrm>
            <a:off x="607219" y="928688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Dequeue Logic and Handshake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01BAA5F-1A15-48DD-93E6-2452A5EB922F}"/>
              </a:ext>
            </a:extLst>
          </p:cNvPr>
          <p:cNvSpPr>
            <a:spLocks noGrp="1"/>
          </p:cNvSpPr>
          <p:nvPr/>
        </p:nvSpPr>
        <p:spPr>
          <a:xfrm>
            <a:off x="607219" y="123586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3F554297-7DCD-4B8D-8FDD-3863F8C44A91}"/>
              </a:ext>
            </a:extLst>
          </p:cNvPr>
          <p:cNvSpPr>
            <a:spLocks noGrp="1"/>
          </p:cNvSpPr>
          <p:nvPr/>
        </p:nvSpPr>
        <p:spPr>
          <a:xfrm>
            <a:off x="674526" y="1235869"/>
            <a:ext cx="125071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T0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7E6A6937-482C-4B56-9DFD-891262AC88A1}"/>
              </a:ext>
            </a:extLst>
          </p:cNvPr>
          <p:cNvSpPr>
            <a:spLocks noGrp="1"/>
          </p:cNvSpPr>
          <p:nvPr/>
        </p:nvSpPr>
        <p:spPr>
          <a:xfrm>
            <a:off x="799598" y="1235869"/>
            <a:ext cx="2226572" cy="460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deq_req; check BP/non-empty; address = lle_qhead.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517FBA89-616F-4501-A774-9B32AE6AF5A0}"/>
              </a:ext>
            </a:extLst>
          </p:cNvPr>
          <p:cNvSpPr>
            <a:spLocks noGrp="1"/>
          </p:cNvSpPr>
          <p:nvPr/>
        </p:nvSpPr>
        <p:spPr>
          <a:xfrm>
            <a:off x="607219" y="157876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0CC208DD-9603-45D4-9FD3-4BA83EA1234B}"/>
              </a:ext>
            </a:extLst>
          </p:cNvPr>
          <p:cNvSpPr>
            <a:spLocks noGrp="1"/>
          </p:cNvSpPr>
          <p:nvPr/>
        </p:nvSpPr>
        <p:spPr>
          <a:xfrm>
            <a:off x="674526" y="1578769"/>
            <a:ext cx="125071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T1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E7CBFE6D-15CD-4A7B-9941-D31C08BEA9A4}"/>
              </a:ext>
            </a:extLst>
          </p:cNvPr>
          <p:cNvSpPr>
            <a:spLocks noGrp="1"/>
          </p:cNvSpPr>
          <p:nvPr/>
        </p:nvSpPr>
        <p:spPr>
          <a:xfrm>
            <a:off x="799598" y="1578769"/>
            <a:ext cx="2341988" cy="10910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output deq_cell_valid/deq_cell_addr after exactly one cycle.</a:t>
            </a:r>
          </a:p>
        </p:txBody>
      </p:sp>
      <p:sp>
        <p:nvSpPr>
          <p:cNvPr id="27" name="Shape 24">
            <a:extLst>
              <a:ext uri="{FF2B5EF4-FFF2-40B4-BE49-F238E27FC236}">
                <a16:creationId xmlns:a16="http://schemas.microsoft.com/office/drawing/2014/main" id="{1A308BF5-BA01-4149-801C-345027134D6D}"/>
              </a:ext>
            </a:extLst>
          </p:cNvPr>
          <p:cNvSpPr>
            <a:spLocks noGrp="1"/>
          </p:cNvSpPr>
          <p:nvPr/>
        </p:nvSpPr>
        <p:spPr>
          <a:xfrm>
            <a:off x="428625" y="2214563"/>
            <a:ext cx="3000375" cy="1714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B576EAFB-B51F-47D5-84FB-3D4BFA97868B}"/>
              </a:ext>
            </a:extLst>
          </p:cNvPr>
          <p:cNvSpPr>
            <a:spLocks noGrp="1"/>
          </p:cNvSpPr>
          <p:nvPr/>
        </p:nvSpPr>
        <p:spPr>
          <a:xfrm>
            <a:off x="428625" y="2214563"/>
            <a:ext cx="28575" cy="1714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1C4CDBD4-C4B9-4C36-8492-2745812DF670}"/>
              </a:ext>
            </a:extLst>
          </p:cNvPr>
          <p:cNvSpPr>
            <a:spLocks noGrp="1"/>
          </p:cNvSpPr>
          <p:nvPr/>
        </p:nvSpPr>
        <p:spPr>
          <a:xfrm>
            <a:off x="607219" y="2357438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Three-Stage Prefetch Register Scheme</a:t>
            </a: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B69326E3-3B9F-47BA-BF08-1FCBB1C56BE0}"/>
              </a:ext>
            </a:extLst>
          </p:cNvPr>
          <p:cNvSpPr>
            <a:spLocks noGrp="1"/>
          </p:cNvSpPr>
          <p:nvPr/>
        </p:nvSpPr>
        <p:spPr>
          <a:xfrm>
            <a:off x="607219" y="266461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94F739BD-E601-412A-B576-C718A28D88E5}"/>
              </a:ext>
            </a:extLst>
          </p:cNvPr>
          <p:cNvSpPr>
            <a:spLocks noGrp="1"/>
          </p:cNvSpPr>
          <p:nvPr/>
        </p:nvSpPr>
        <p:spPr>
          <a:xfrm>
            <a:off x="674526" y="2664619"/>
            <a:ext cx="428625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Window</a:t>
            </a: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3E7D4166-08D4-4895-A0A8-1FB5EAFBD22B}"/>
              </a:ext>
            </a:extLst>
          </p:cNvPr>
          <p:cNvSpPr>
            <a:spLocks noGrp="1"/>
          </p:cNvSpPr>
          <p:nvPr/>
        </p:nvSpPr>
        <p:spPr>
          <a:xfrm>
            <a:off x="1103151" y="2664619"/>
            <a:ext cx="2173672" cy="30213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head/next/next2 slide forward on each dequeue.</a:t>
            </a:r>
          </a:p>
        </p:txBody>
      </p:sp>
      <p:sp>
        <p:nvSpPr>
          <p:cNvPr id="44" name="Text 41">
            <a:extLst>
              <a:ext uri="{FF2B5EF4-FFF2-40B4-BE49-F238E27FC236}">
                <a16:creationId xmlns:a16="http://schemas.microsoft.com/office/drawing/2014/main" id="{87CBCA9C-947D-4E0C-A2E4-D969C931D36F}"/>
              </a:ext>
            </a:extLst>
          </p:cNvPr>
          <p:cNvSpPr>
            <a:spLocks noGrp="1"/>
          </p:cNvSpPr>
          <p:nvPr/>
        </p:nvSpPr>
        <p:spPr>
          <a:xfrm>
            <a:off x="607219" y="300751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5" name="Text 42">
            <a:extLst>
              <a:ext uri="{FF2B5EF4-FFF2-40B4-BE49-F238E27FC236}">
                <a16:creationId xmlns:a16="http://schemas.microsoft.com/office/drawing/2014/main" id="{463AB968-455D-42FD-8C2B-ECAECFB035EF}"/>
              </a:ext>
            </a:extLst>
          </p:cNvPr>
          <p:cNvSpPr>
            <a:spLocks noGrp="1"/>
          </p:cNvSpPr>
          <p:nvPr/>
        </p:nvSpPr>
        <p:spPr>
          <a:xfrm>
            <a:off x="674526" y="3007519"/>
            <a:ext cx="428625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Refill</a:t>
            </a:r>
          </a:p>
        </p:txBody>
      </p:sp>
      <p:sp>
        <p:nvSpPr>
          <p:cNvPr id="46" name="Text 43">
            <a:extLst>
              <a:ext uri="{FF2B5EF4-FFF2-40B4-BE49-F238E27FC236}">
                <a16:creationId xmlns:a16="http://schemas.microsoft.com/office/drawing/2014/main" id="{852076C8-12CC-4317-8DBC-A9A86B1D847B}"/>
              </a:ext>
            </a:extLst>
          </p:cNvPr>
          <p:cNvSpPr>
            <a:spLocks noGrp="1"/>
          </p:cNvSpPr>
          <p:nvPr/>
        </p:nvSpPr>
        <p:spPr>
          <a:xfrm>
            <a:off x="1103151" y="3007519"/>
            <a:ext cx="2146421" cy="460575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if len≥3, background-read next2.</a:t>
            </a:r>
          </a:p>
        </p:txBody>
      </p:sp>
      <p:sp>
        <p:nvSpPr>
          <p:cNvPr id="50" name="Text 47">
            <a:extLst>
              <a:ext uri="{FF2B5EF4-FFF2-40B4-BE49-F238E27FC236}">
                <a16:creationId xmlns:a16="http://schemas.microsoft.com/office/drawing/2014/main" id="{FA280BAA-D760-4B5C-A49F-8AA5D4D76DE6}"/>
              </a:ext>
            </a:extLst>
          </p:cNvPr>
          <p:cNvSpPr>
            <a:spLocks noGrp="1"/>
          </p:cNvSpPr>
          <p:nvPr/>
        </p:nvSpPr>
        <p:spPr>
          <a:xfrm>
            <a:off x="607219" y="335041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51" name="Text 48">
            <a:extLst>
              <a:ext uri="{FF2B5EF4-FFF2-40B4-BE49-F238E27FC236}">
                <a16:creationId xmlns:a16="http://schemas.microsoft.com/office/drawing/2014/main" id="{5C2D8DB8-CFC0-498D-8BA4-CB89EE488A6C}"/>
              </a:ext>
            </a:extLst>
          </p:cNvPr>
          <p:cNvSpPr>
            <a:spLocks noGrp="1"/>
          </p:cNvSpPr>
          <p:nvPr/>
        </p:nvSpPr>
        <p:spPr>
          <a:xfrm>
            <a:off x="674526" y="3350419"/>
            <a:ext cx="214313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Gain</a:t>
            </a:r>
          </a:p>
        </p:txBody>
      </p:sp>
      <p:sp>
        <p:nvSpPr>
          <p:cNvPr id="52" name="Text 49">
            <a:extLst>
              <a:ext uri="{FF2B5EF4-FFF2-40B4-BE49-F238E27FC236}">
                <a16:creationId xmlns:a16="http://schemas.microsoft.com/office/drawing/2014/main" id="{F190E0B4-1E0A-4633-8668-7234663254D0}"/>
              </a:ext>
            </a:extLst>
          </p:cNvPr>
          <p:cNvSpPr>
            <a:spLocks noGrp="1"/>
          </p:cNvSpPr>
          <p:nvPr/>
        </p:nvSpPr>
        <p:spPr>
          <a:xfrm>
            <a:off x="888839" y="3350419"/>
            <a:ext cx="2236190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absorbs SRAM latency; line-rate back-to-back dequeue.</a:t>
            </a:r>
          </a:p>
        </p:txBody>
      </p:sp>
      <p:sp>
        <p:nvSpPr>
          <p:cNvPr id="54" name="Text 51">
            <a:extLst>
              <a:ext uri="{FF2B5EF4-FFF2-40B4-BE49-F238E27FC236}">
                <a16:creationId xmlns:a16="http://schemas.microsoft.com/office/drawing/2014/main" id="{BC8FE4DB-5BDD-45FA-85EC-BC467F505935}"/>
              </a:ext>
            </a:extLst>
          </p:cNvPr>
          <p:cNvSpPr>
            <a:spLocks noGrp="1"/>
          </p:cNvSpPr>
          <p:nvPr/>
        </p:nvSpPr>
        <p:spPr>
          <a:xfrm>
            <a:off x="5443538" y="785813"/>
            <a:ext cx="154305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Queue-Head Sliding Window</a:t>
            </a:r>
          </a:p>
        </p:txBody>
      </p:sp>
      <p:sp>
        <p:nvSpPr>
          <p:cNvPr id="55" name="Shape 52">
            <a:extLst>
              <a:ext uri="{FF2B5EF4-FFF2-40B4-BE49-F238E27FC236}">
                <a16:creationId xmlns:a16="http://schemas.microsoft.com/office/drawing/2014/main" id="{A3A9197A-F2F4-4DC5-9AB6-4859529723FD}"/>
              </a:ext>
            </a:extLst>
          </p:cNvPr>
          <p:cNvSpPr>
            <a:spLocks noGrp="1"/>
          </p:cNvSpPr>
          <p:nvPr/>
        </p:nvSpPr>
        <p:spPr>
          <a:xfrm>
            <a:off x="3714750" y="1067991"/>
            <a:ext cx="5000625" cy="32861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8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1067991"/>
            <a:ext cx="5000625" cy="3286125"/>
          </a:xfrm>
          <a:prstGeom prst="rect">
            <a:avLst/>
          </a:prstGeom>
        </p:spPr>
      </p:pic>
      <p:sp>
        <p:nvSpPr>
          <p:cNvPr id="57" name="Text 53">
            <a:extLst>
              <a:ext uri="{FF2B5EF4-FFF2-40B4-BE49-F238E27FC236}">
                <a16:creationId xmlns:a16="http://schemas.microsoft.com/office/drawing/2014/main" id="{D3F8F964-AB5A-44B5-AB21-300300F8D212}"/>
              </a:ext>
            </a:extLst>
          </p:cNvPr>
          <p:cNvSpPr>
            <a:spLocks noGrp="1"/>
          </p:cNvSpPr>
          <p:nvPr/>
        </p:nvSpPr>
        <p:spPr>
          <a:xfrm>
            <a:off x="4592594" y="4354116"/>
            <a:ext cx="3244937" cy="356108"/>
          </a:xfrm>
          <a:prstGeom prst="rect">
            <a:avLst/>
          </a:prstGeom>
          <a:noFill/>
        </p:spPr>
        <p:txBody>
          <a:bodyPr wrap="square" lIns="0" tIns="127508" rIns="0" bIns="0" anchor="t">
            <a:sp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6E6E7A"/>
                </a:solidFill>
                <a:latin typeface="Arial"/>
                <a:ea typeface="Arial"/>
                <a:cs typeface="Arial"/>
              </a:rPr>
              <a:t>The head address is always visible in a register, so the dequeue address is available immediately without waiting for an SRAM read response.</a:t>
            </a:r>
          </a:p>
        </p:txBody>
      </p:sp>
      <p:sp>
        <p:nvSpPr>
          <p:cNvPr id="58" name="Text 54">
            <a:extLst>
              <a:ext uri="{FF2B5EF4-FFF2-40B4-BE49-F238E27FC236}">
                <a16:creationId xmlns:a16="http://schemas.microsoft.com/office/drawing/2014/main" id="{A6A0A7EB-F8E8-4540-8897-DDF6521CE038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</p:spTree>
    <p:extLst>
      <p:ext uri="{BB962C8B-B14F-4D97-AF65-F5344CB8AC3E}">
        <p14:creationId xmlns:p14="http://schemas.microsoft.com/office/powerpoint/2010/main" val="506171269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81D594D2-B736-4233-A562-44909296460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8FDE921-243B-4542-B24F-E3C080B6F65A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4229323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altLang="zh-C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 — </a:t>
            </a: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Two-Stage Prefetch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AA119E3F-FA3D-4CAC-BE03-86244B263EF2}"/>
              </a:ext>
            </a:extLst>
          </p:cNvPr>
          <p:cNvSpPr>
            <a:spLocks noGrp="1"/>
          </p:cNvSpPr>
          <p:nvPr/>
        </p:nvSpPr>
        <p:spPr>
          <a:xfrm>
            <a:off x="428625" y="735806"/>
            <a:ext cx="3000375" cy="12858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22F0B5D-70A5-480B-B86C-2DC3A9B09F55}"/>
              </a:ext>
            </a:extLst>
          </p:cNvPr>
          <p:cNvSpPr>
            <a:spLocks noGrp="1"/>
          </p:cNvSpPr>
          <p:nvPr/>
        </p:nvSpPr>
        <p:spPr>
          <a:xfrm>
            <a:off x="428625" y="735806"/>
            <a:ext cx="28575" cy="1285875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CD42453C-0DF1-47D0-ACCA-E23878D41904}"/>
              </a:ext>
            </a:extLst>
          </p:cNvPr>
          <p:cNvSpPr>
            <a:spLocks noGrp="1"/>
          </p:cNvSpPr>
          <p:nvPr/>
        </p:nvSpPr>
        <p:spPr>
          <a:xfrm>
            <a:off x="607219" y="878681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Design Challenge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CE30B267-4CC3-4488-A517-50DD91EC1081}"/>
              </a:ext>
            </a:extLst>
          </p:cNvPr>
          <p:cNvSpPr>
            <a:spLocks noGrp="1"/>
          </p:cNvSpPr>
          <p:nvPr/>
        </p:nvSpPr>
        <p:spPr>
          <a:xfrm>
            <a:off x="607219" y="1182291"/>
            <a:ext cx="2643188" cy="548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Next-Ptr SRAM has a one-cycle read latency. During continuous dequeue, waiting for the next pointer would create pipeline bubbles and prevent full throughput.</a:t>
            </a:r>
          </a:p>
        </p:txBody>
      </p:sp>
      <p:sp>
        <p:nvSpPr>
          <p:cNvPr id="9" name="Shape 6">
            <a:extLst>
              <a:ext uri="{FF2B5EF4-FFF2-40B4-BE49-F238E27FC236}">
                <a16:creationId xmlns:a16="http://schemas.microsoft.com/office/drawing/2014/main" id="{AD902934-CE72-432E-B43D-AAC40DC856A6}"/>
              </a:ext>
            </a:extLst>
          </p:cNvPr>
          <p:cNvSpPr>
            <a:spLocks noGrp="1"/>
          </p:cNvSpPr>
          <p:nvPr/>
        </p:nvSpPr>
        <p:spPr>
          <a:xfrm>
            <a:off x="428625" y="2235994"/>
            <a:ext cx="3000375" cy="1714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114CEA9A-98A4-4796-9BC5-F52F009106B6}"/>
              </a:ext>
            </a:extLst>
          </p:cNvPr>
          <p:cNvSpPr>
            <a:spLocks noGrp="1"/>
          </p:cNvSpPr>
          <p:nvPr/>
        </p:nvSpPr>
        <p:spPr>
          <a:xfrm>
            <a:off x="428625" y="2235994"/>
            <a:ext cx="28575" cy="1714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5955AED-A4CC-407D-8E87-AF58C5614154}"/>
              </a:ext>
            </a:extLst>
          </p:cNvPr>
          <p:cNvSpPr>
            <a:spLocks noGrp="1"/>
          </p:cNvSpPr>
          <p:nvPr/>
        </p:nvSpPr>
        <p:spPr>
          <a:xfrm>
            <a:off x="607219" y="2378869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Solution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EAEC73F7-C89E-44F5-84AB-6AEF5B928936}"/>
              </a:ext>
            </a:extLst>
          </p:cNvPr>
          <p:cNvSpPr>
            <a:spLocks noGrp="1"/>
          </p:cNvSpPr>
          <p:nvPr/>
        </p:nvSpPr>
        <p:spPr>
          <a:xfrm>
            <a:off x="607219" y="2682478"/>
            <a:ext cx="2643188" cy="36567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Prefetch Reg 0 and Prefetch Reg 1 form a two-stage prefetch pipeline: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C35DF898-B09F-4677-8ABC-EEDE8E0D740D}"/>
              </a:ext>
            </a:extLst>
          </p:cNvPr>
          <p:cNvSpPr>
            <a:spLocks noGrp="1"/>
          </p:cNvSpPr>
          <p:nvPr/>
        </p:nvSpPr>
        <p:spPr>
          <a:xfrm>
            <a:off x="607219" y="3048149"/>
            <a:ext cx="2643188" cy="914146"/>
          </a:xfrm>
          <a:prstGeom prst="rect">
            <a:avLst/>
          </a:prstGeom>
          <a:noFill/>
        </p:spPr>
        <p:txBody>
          <a:bodyPr wrap="square" lIns="0" tIns="8509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 Issue read requests for subsequent cell addresses in advance.
• Cache returned pointers in registers to absorb SRAM latency completely.
• Sustain back-to-back dequeue performance.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6F73ADF6-D6F1-4B2E-9CB6-9BF8E6197CFA}"/>
              </a:ext>
            </a:extLst>
          </p:cNvPr>
          <p:cNvSpPr>
            <a:spLocks noGrp="1"/>
          </p:cNvSpPr>
          <p:nvPr/>
        </p:nvSpPr>
        <p:spPr>
          <a:xfrm>
            <a:off x="5497116" y="735806"/>
            <a:ext cx="1435894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LLE Prefetch Pipeline Architecture</a:t>
            </a: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B4E0AA1A-CA58-47B2-B757-20E2C5C58B67}"/>
              </a:ext>
            </a:extLst>
          </p:cNvPr>
          <p:cNvSpPr>
            <a:spLocks noGrp="1"/>
          </p:cNvSpPr>
          <p:nvPr/>
        </p:nvSpPr>
        <p:spPr>
          <a:xfrm>
            <a:off x="3714750" y="1017984"/>
            <a:ext cx="5000625" cy="3429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36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1017984"/>
            <a:ext cx="5000625" cy="3429000"/>
          </a:xfrm>
          <a:prstGeom prst="rect">
            <a:avLst/>
          </a:prstGeom>
        </p:spPr>
      </p:pic>
      <p:sp>
        <p:nvSpPr>
          <p:cNvPr id="17" name="Text 13">
            <a:extLst>
              <a:ext uri="{FF2B5EF4-FFF2-40B4-BE49-F238E27FC236}">
                <a16:creationId xmlns:a16="http://schemas.microsoft.com/office/drawing/2014/main" id="{DA90E551-225E-44E1-B653-A94FD264B699}"/>
              </a:ext>
            </a:extLst>
          </p:cNvPr>
          <p:cNvSpPr>
            <a:spLocks noGrp="1"/>
          </p:cNvSpPr>
          <p:nvPr/>
        </p:nvSpPr>
        <p:spPr>
          <a:xfrm>
            <a:off x="4714819" y="4446984"/>
            <a:ext cx="3000487" cy="356108"/>
          </a:xfrm>
          <a:prstGeom prst="rect">
            <a:avLst/>
          </a:prstGeom>
          <a:noFill/>
        </p:spPr>
        <p:txBody>
          <a:bodyPr wrap="square" lIns="0" tIns="127508" rIns="0" bIns="0" anchor="t">
            <a:sp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6E6E7A"/>
                </a:solidFill>
                <a:latin typeface="Arial"/>
                <a:ea typeface="Arial"/>
                <a:cs typeface="Arial"/>
              </a:rPr>
              <a:t>The two registers ensure that the LLE always has the next valid address available.</a:t>
            </a: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F75F629D-B64E-4496-8346-8C5962186534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</p:spTree>
    <p:extLst>
      <p:ext uri="{BB962C8B-B14F-4D97-AF65-F5344CB8AC3E}">
        <p14:creationId xmlns:p14="http://schemas.microsoft.com/office/powerpoint/2010/main" val="1957651777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4CC02B0E-1A6F-461F-8B97-68CA3B3D031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B36AACCB-01C9-41EB-A388-F482F35E1225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342888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 — 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Recycle</a:t>
            </a:r>
            <a:endParaRPr sz="1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1EC75F1-D839-48C0-8A98-FBBAA85C4896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3000375" cy="1453753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677C4F0-D391-42D4-AF7F-F6091749163C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28575" cy="1453753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A7FE34D4-001D-496F-A4DD-4BA738E7501E}"/>
              </a:ext>
            </a:extLst>
          </p:cNvPr>
          <p:cNvSpPr>
            <a:spLocks noGrp="1"/>
          </p:cNvSpPr>
          <p:nvPr/>
        </p:nvSpPr>
        <p:spPr>
          <a:xfrm>
            <a:off x="607219" y="928688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Reclamation Paths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22039D78-5644-4EFA-9B65-FA8477F39832}"/>
              </a:ext>
            </a:extLst>
          </p:cNvPr>
          <p:cNvSpPr>
            <a:spLocks noGrp="1"/>
          </p:cNvSpPr>
          <p:nvPr/>
        </p:nvSpPr>
        <p:spPr>
          <a:xfrm>
            <a:off x="607219" y="123586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59A2A522-BE50-401F-B89C-1BC9E8641813}"/>
              </a:ext>
            </a:extLst>
          </p:cNvPr>
          <p:cNvSpPr>
            <a:spLocks noGrp="1"/>
          </p:cNvSpPr>
          <p:nvPr/>
        </p:nvSpPr>
        <p:spPr>
          <a:xfrm>
            <a:off x="674526" y="1235869"/>
            <a:ext cx="428625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Unicast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E334E8A-2075-408B-B7F9-84E920CAEE0D}"/>
              </a:ext>
            </a:extLst>
          </p:cNvPr>
          <p:cNvSpPr>
            <a:spLocks noGrp="1"/>
          </p:cNvSpPr>
          <p:nvPr/>
        </p:nvSpPr>
        <p:spPr>
          <a:xfrm>
            <a:off x="1103151" y="1235869"/>
            <a:ext cx="1964810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push directly to the free list and decrement the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A808E06F-F4EB-4D37-B786-D3E4ED02F607}"/>
              </a:ext>
            </a:extLst>
          </p:cNvPr>
          <p:cNvSpPr>
            <a:spLocks noGrp="1"/>
          </p:cNvSpPr>
          <p:nvPr/>
        </p:nvSpPr>
        <p:spPr>
          <a:xfrm>
            <a:off x="607219" y="1407319"/>
            <a:ext cx="214313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queue count.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E9B4B18-4A48-412A-A192-8E5AEEAF6881}"/>
              </a:ext>
            </a:extLst>
          </p:cNvPr>
          <p:cNvSpPr>
            <a:spLocks noGrp="1"/>
          </p:cNvSpPr>
          <p:nvPr/>
        </p:nvSpPr>
        <p:spPr>
          <a:xfrm>
            <a:off x="607219" y="157876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0D2AA1A-5FA5-4B2C-9838-C8164D6BF6D9}"/>
              </a:ext>
            </a:extLst>
          </p:cNvPr>
          <p:cNvSpPr>
            <a:spLocks noGrp="1"/>
          </p:cNvSpPr>
          <p:nvPr/>
        </p:nvSpPr>
        <p:spPr>
          <a:xfrm>
            <a:off x="674526" y="1578769"/>
            <a:ext cx="428625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Multicast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C63181D-5C00-4E23-81E3-0BB37D6433FD}"/>
              </a:ext>
            </a:extLst>
          </p:cNvPr>
          <p:cNvSpPr>
            <a:spLocks noGrp="1"/>
          </p:cNvSpPr>
          <p:nvPr/>
        </p:nvSpPr>
        <p:spPr>
          <a:xfrm>
            <a:off x="1103151" y="1578769"/>
            <a:ext cx="2071967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decrement the reference count on each return;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4EE07771-2B43-4840-BDB3-93F4143B6FE2}"/>
              </a:ext>
            </a:extLst>
          </p:cNvPr>
          <p:cNvSpPr>
            <a:spLocks noGrp="1"/>
          </p:cNvSpPr>
          <p:nvPr/>
        </p:nvSpPr>
        <p:spPr>
          <a:xfrm>
            <a:off x="607219" y="1750219"/>
            <a:ext cx="1881485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push only when the count reaches zero.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28358DF3-BEE0-41E1-9F71-5CC41DFADC69}"/>
              </a:ext>
            </a:extLst>
          </p:cNvPr>
          <p:cNvSpPr>
            <a:spLocks noGrp="1"/>
          </p:cNvSpPr>
          <p:nvPr/>
        </p:nvSpPr>
        <p:spPr>
          <a:xfrm>
            <a:off x="607219" y="1921669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FAF3FCB5-98EE-4A30-88D4-C5119E861F8E}"/>
              </a:ext>
            </a:extLst>
          </p:cNvPr>
          <p:cNvSpPr>
            <a:spLocks noGrp="1"/>
          </p:cNvSpPr>
          <p:nvPr/>
        </p:nvSpPr>
        <p:spPr>
          <a:xfrm>
            <a:off x="674526" y="1921669"/>
            <a:ext cx="535781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Thin Path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8DE3D20F-ACC4-431F-893D-E034AE24A399}"/>
              </a:ext>
            </a:extLst>
          </p:cNvPr>
          <p:cNvSpPr>
            <a:spLocks noGrp="1"/>
          </p:cNvSpPr>
          <p:nvPr/>
        </p:nvSpPr>
        <p:spPr>
          <a:xfrm>
            <a:off x="1210308" y="1921669"/>
            <a:ext cx="107156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975217A-F2A1-4BF1-962D-F33E671BD7FC}"/>
              </a:ext>
            </a:extLst>
          </p:cNvPr>
          <p:cNvSpPr>
            <a:spLocks noGrp="1"/>
          </p:cNvSpPr>
          <p:nvPr/>
        </p:nvSpPr>
        <p:spPr>
          <a:xfrm>
            <a:off x="1317464" y="1921669"/>
            <a:ext cx="541865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recycle_ctrl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0B3AD08D-3D9A-4E3F-B9C2-3192ADD8BCD4}"/>
              </a:ext>
            </a:extLst>
          </p:cNvPr>
          <p:cNvSpPr>
            <a:spLocks noGrp="1"/>
          </p:cNvSpPr>
          <p:nvPr/>
        </p:nvSpPr>
        <p:spPr>
          <a:xfrm>
            <a:off x="1859328" y="1921669"/>
            <a:ext cx="1315678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is a type-independent interface;</a:t>
            </a: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A29E15E1-3E87-4C56-8AF3-CB3EB6FAE8F7}"/>
              </a:ext>
            </a:extLst>
          </p:cNvPr>
          <p:cNvSpPr>
            <a:spLocks noGrp="1"/>
          </p:cNvSpPr>
          <p:nvPr/>
        </p:nvSpPr>
        <p:spPr>
          <a:xfrm>
            <a:off x="607219" y="2093119"/>
            <a:ext cx="970545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the LLE handles the difference internally.</a:t>
            </a:r>
          </a:p>
        </p:txBody>
      </p:sp>
      <p:sp>
        <p:nvSpPr>
          <p:cNvPr id="22" name="Shape 19">
            <a:extLst>
              <a:ext uri="{FF2B5EF4-FFF2-40B4-BE49-F238E27FC236}">
                <a16:creationId xmlns:a16="http://schemas.microsoft.com/office/drawing/2014/main" id="{9784B72C-3D9C-4EF9-8D62-D8B116A5A8B7}"/>
              </a:ext>
            </a:extLst>
          </p:cNvPr>
          <p:cNvSpPr>
            <a:spLocks noGrp="1"/>
          </p:cNvSpPr>
          <p:nvPr/>
        </p:nvSpPr>
        <p:spPr>
          <a:xfrm>
            <a:off x="428625" y="2382441"/>
            <a:ext cx="3000375" cy="17145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7BF3B1AC-A3C4-4BE1-B87B-C1CFF25FFD84}"/>
              </a:ext>
            </a:extLst>
          </p:cNvPr>
          <p:cNvSpPr>
            <a:spLocks noGrp="1"/>
          </p:cNvSpPr>
          <p:nvPr/>
        </p:nvSpPr>
        <p:spPr>
          <a:xfrm>
            <a:off x="428625" y="2382441"/>
            <a:ext cx="28575" cy="17145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24" name="Text 21">
            <a:extLst>
              <a:ext uri="{FF2B5EF4-FFF2-40B4-BE49-F238E27FC236}">
                <a16:creationId xmlns:a16="http://schemas.microsoft.com/office/drawing/2014/main" id="{F5B47166-F4FE-4729-8527-84949E0F8E0A}"/>
              </a:ext>
            </a:extLst>
          </p:cNvPr>
          <p:cNvSpPr>
            <a:spLocks noGrp="1"/>
          </p:cNvSpPr>
          <p:nvPr/>
        </p:nvSpPr>
        <p:spPr>
          <a:xfrm>
            <a:off x="607219" y="2525316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Two-Stage Symmetric Reclamation</a:t>
            </a:r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05D46B35-F611-40B2-9D34-6C6A385D3F7F}"/>
              </a:ext>
            </a:extLst>
          </p:cNvPr>
          <p:cNvSpPr>
            <a:spLocks noGrp="1"/>
          </p:cNvSpPr>
          <p:nvPr/>
        </p:nvSpPr>
        <p:spPr>
          <a:xfrm>
            <a:off x="607219" y="2832497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23AA0742-F784-465D-9B38-8D5CF50375AC}"/>
              </a:ext>
            </a:extLst>
          </p:cNvPr>
          <p:cNvSpPr>
            <a:spLocks noGrp="1"/>
          </p:cNvSpPr>
          <p:nvPr/>
        </p:nvSpPr>
        <p:spPr>
          <a:xfrm>
            <a:off x="674526" y="2832497"/>
            <a:ext cx="303721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Stage 1</a:t>
            </a: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DC248539-2393-41F6-BE85-E4AABAB47FA4}"/>
              </a:ext>
            </a:extLst>
          </p:cNvPr>
          <p:cNvSpPr>
            <a:spLocks noGrp="1"/>
          </p:cNvSpPr>
          <p:nvPr/>
        </p:nvSpPr>
        <p:spPr>
          <a:xfrm>
            <a:off x="978247" y="2832497"/>
            <a:ext cx="1131057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address → FIFO;</a:t>
            </a:r>
          </a:p>
        </p:txBody>
      </p:sp>
      <p:sp>
        <p:nvSpPr>
          <p:cNvPr id="28" name="Text 25">
            <a:extLst>
              <a:ext uri="{FF2B5EF4-FFF2-40B4-BE49-F238E27FC236}">
                <a16:creationId xmlns:a16="http://schemas.microsoft.com/office/drawing/2014/main" id="{6F35262C-F0FC-4353-8D2B-27A3621EE803}"/>
              </a:ext>
            </a:extLst>
          </p:cNvPr>
          <p:cNvSpPr>
            <a:spLocks noGrp="1"/>
          </p:cNvSpPr>
          <p:nvPr/>
        </p:nvSpPr>
        <p:spPr>
          <a:xfrm>
            <a:off x="2109304" y="2832497"/>
            <a:ext cx="387214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free_cnt</a:t>
            </a:r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98ACB057-985B-48B5-8E8F-18B3EA7A536F}"/>
              </a:ext>
            </a:extLst>
          </p:cNvPr>
          <p:cNvSpPr>
            <a:spLocks noGrp="1"/>
          </p:cNvSpPr>
          <p:nvPr/>
        </p:nvSpPr>
        <p:spPr>
          <a:xfrm>
            <a:off x="2496517" y="2832497"/>
            <a:ext cx="672740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++ now</a:t>
            </a:r>
          </a:p>
        </p:txBody>
      </p:sp>
      <p:sp>
        <p:nvSpPr>
          <p:cNvPr id="30" name="Text 27">
            <a:extLst>
              <a:ext uri="{FF2B5EF4-FFF2-40B4-BE49-F238E27FC236}">
                <a16:creationId xmlns:a16="http://schemas.microsoft.com/office/drawing/2014/main" id="{EBCD15C0-F3B3-4AC3-B9D4-830CF29ADECF}"/>
              </a:ext>
            </a:extLst>
          </p:cNvPr>
          <p:cNvSpPr>
            <a:spLocks noGrp="1"/>
          </p:cNvSpPr>
          <p:nvPr/>
        </p:nvSpPr>
        <p:spPr>
          <a:xfrm>
            <a:off x="607219" y="3003947"/>
            <a:ext cx="642938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(logically free).</a:t>
            </a:r>
          </a:p>
        </p:txBody>
      </p:sp>
      <p:sp>
        <p:nvSpPr>
          <p:cNvPr id="31" name="Text 28">
            <a:extLst>
              <a:ext uri="{FF2B5EF4-FFF2-40B4-BE49-F238E27FC236}">
                <a16:creationId xmlns:a16="http://schemas.microsoft.com/office/drawing/2014/main" id="{6B5B78DB-0487-408E-ABF7-7DA4B670B0B2}"/>
              </a:ext>
            </a:extLst>
          </p:cNvPr>
          <p:cNvSpPr>
            <a:spLocks noGrp="1"/>
          </p:cNvSpPr>
          <p:nvPr/>
        </p:nvSpPr>
        <p:spPr>
          <a:xfrm>
            <a:off x="607219" y="3175397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32" name="Text 29">
            <a:extLst>
              <a:ext uri="{FF2B5EF4-FFF2-40B4-BE49-F238E27FC236}">
                <a16:creationId xmlns:a16="http://schemas.microsoft.com/office/drawing/2014/main" id="{5EDFC784-3D88-468A-B90A-EC122C47749F}"/>
              </a:ext>
            </a:extLst>
          </p:cNvPr>
          <p:cNvSpPr>
            <a:spLocks noGrp="1"/>
          </p:cNvSpPr>
          <p:nvPr/>
        </p:nvSpPr>
        <p:spPr>
          <a:xfrm>
            <a:off x="674526" y="3175397"/>
            <a:ext cx="303721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Stage 2</a:t>
            </a: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5699C98F-E55D-4D05-ABC9-1453BE26CC87}"/>
              </a:ext>
            </a:extLst>
          </p:cNvPr>
          <p:cNvSpPr>
            <a:spLocks noGrp="1"/>
          </p:cNvSpPr>
          <p:nvPr/>
        </p:nvSpPr>
        <p:spPr>
          <a:xfrm>
            <a:off x="978247" y="3175397"/>
            <a:ext cx="940798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on FIFO pop, write</a:t>
            </a:r>
          </a:p>
        </p:txBody>
      </p:sp>
      <p:sp>
        <p:nvSpPr>
          <p:cNvPr id="34" name="Text 31">
            <a:extLst>
              <a:ext uri="{FF2B5EF4-FFF2-40B4-BE49-F238E27FC236}">
                <a16:creationId xmlns:a16="http://schemas.microsoft.com/office/drawing/2014/main" id="{19B74B01-F059-4B86-9635-FD89118D37E7}"/>
              </a:ext>
            </a:extLst>
          </p:cNvPr>
          <p:cNvSpPr>
            <a:spLocks noGrp="1"/>
          </p:cNvSpPr>
          <p:nvPr/>
        </p:nvSpPr>
        <p:spPr>
          <a:xfrm>
            <a:off x="1919046" y="3175397"/>
            <a:ext cx="1039192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SRAM[old_tail].next = X</a:t>
            </a:r>
          </a:p>
        </p:txBody>
      </p:sp>
      <p:sp>
        <p:nvSpPr>
          <p:cNvPr id="35" name="Text 32">
            <a:extLst>
              <a:ext uri="{FF2B5EF4-FFF2-40B4-BE49-F238E27FC236}">
                <a16:creationId xmlns:a16="http://schemas.microsoft.com/office/drawing/2014/main" id="{7E768BAA-8D00-47B1-AAA1-4256A709E4AB}"/>
              </a:ext>
            </a:extLst>
          </p:cNvPr>
          <p:cNvSpPr>
            <a:spLocks noGrp="1"/>
          </p:cNvSpPr>
          <p:nvPr/>
        </p:nvSpPr>
        <p:spPr>
          <a:xfrm>
            <a:off x="2958238" y="3175397"/>
            <a:ext cx="244115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→</a:t>
            </a:r>
          </a:p>
        </p:txBody>
      </p:sp>
      <p:sp>
        <p:nvSpPr>
          <p:cNvPr id="36" name="Text 33">
            <a:extLst>
              <a:ext uri="{FF2B5EF4-FFF2-40B4-BE49-F238E27FC236}">
                <a16:creationId xmlns:a16="http://schemas.microsoft.com/office/drawing/2014/main" id="{F6DD0DBB-FDC0-408C-96CA-F7DEDEBB6DD9}"/>
              </a:ext>
            </a:extLst>
          </p:cNvPr>
          <p:cNvSpPr>
            <a:spLocks noGrp="1"/>
          </p:cNvSpPr>
          <p:nvPr/>
        </p:nvSpPr>
        <p:spPr>
          <a:xfrm>
            <a:off x="607219" y="3346847"/>
            <a:ext cx="136959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endParaRPr/>
          </a:p>
        </p:txBody>
      </p:sp>
      <p:sp>
        <p:nvSpPr>
          <p:cNvPr id="37" name="Text 34">
            <a:extLst>
              <a:ext uri="{FF2B5EF4-FFF2-40B4-BE49-F238E27FC236}">
                <a16:creationId xmlns:a16="http://schemas.microsoft.com/office/drawing/2014/main" id="{80CB3CC7-5240-48F2-84E0-A08098BEA924}"/>
              </a:ext>
            </a:extLst>
          </p:cNvPr>
          <p:cNvSpPr>
            <a:spLocks noGrp="1"/>
          </p:cNvSpPr>
          <p:nvPr/>
        </p:nvSpPr>
        <p:spPr>
          <a:xfrm>
            <a:off x="744178" y="3346847"/>
            <a:ext cx="500453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free_tail_q</a:t>
            </a:r>
          </a:p>
        </p:txBody>
      </p:sp>
      <p:sp>
        <p:nvSpPr>
          <p:cNvPr id="38" name="Text 35">
            <a:extLst>
              <a:ext uri="{FF2B5EF4-FFF2-40B4-BE49-F238E27FC236}">
                <a16:creationId xmlns:a16="http://schemas.microsoft.com/office/drawing/2014/main" id="{9FFB8B28-1667-4721-87EE-DC692699BE1C}"/>
              </a:ext>
            </a:extLst>
          </p:cNvPr>
          <p:cNvSpPr>
            <a:spLocks noGrp="1"/>
          </p:cNvSpPr>
          <p:nvPr/>
        </p:nvSpPr>
        <p:spPr>
          <a:xfrm>
            <a:off x="1244631" y="3346847"/>
            <a:ext cx="107156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.</a:t>
            </a:r>
          </a:p>
        </p:txBody>
      </p:sp>
      <p:sp>
        <p:nvSpPr>
          <p:cNvPr id="39" name="Text 36">
            <a:extLst>
              <a:ext uri="{FF2B5EF4-FFF2-40B4-BE49-F238E27FC236}">
                <a16:creationId xmlns:a16="http://schemas.microsoft.com/office/drawing/2014/main" id="{83C37F0A-160A-4712-B295-BDC41FD743A9}"/>
              </a:ext>
            </a:extLst>
          </p:cNvPr>
          <p:cNvSpPr>
            <a:spLocks noGrp="1"/>
          </p:cNvSpPr>
          <p:nvPr/>
        </p:nvSpPr>
        <p:spPr>
          <a:xfrm>
            <a:off x="607219" y="3518297"/>
            <a:ext cx="67308" cy="11787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</a:t>
            </a:r>
          </a:p>
        </p:txBody>
      </p:sp>
      <p:sp>
        <p:nvSpPr>
          <p:cNvPr id="40" name="Text 37">
            <a:extLst>
              <a:ext uri="{FF2B5EF4-FFF2-40B4-BE49-F238E27FC236}">
                <a16:creationId xmlns:a16="http://schemas.microsoft.com/office/drawing/2014/main" id="{7F234485-F8BB-43BB-ADA1-176563143979}"/>
              </a:ext>
            </a:extLst>
          </p:cNvPr>
          <p:cNvSpPr>
            <a:spLocks noGrp="1"/>
          </p:cNvSpPr>
          <p:nvPr/>
        </p:nvSpPr>
        <p:spPr>
          <a:xfrm>
            <a:off x="674526" y="3518297"/>
            <a:ext cx="321469" cy="14630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Sym.</a:t>
            </a:r>
          </a:p>
        </p:txBody>
      </p:sp>
      <p:sp>
        <p:nvSpPr>
          <p:cNvPr id="41" name="Text 38">
            <a:extLst>
              <a:ext uri="{FF2B5EF4-FFF2-40B4-BE49-F238E27FC236}">
                <a16:creationId xmlns:a16="http://schemas.microsoft.com/office/drawing/2014/main" id="{DB665E59-D9AD-4429-82C6-72ED4B25EFAA}"/>
              </a:ext>
            </a:extLst>
          </p:cNvPr>
          <p:cNvSpPr>
            <a:spLocks noGrp="1"/>
          </p:cNvSpPr>
          <p:nvPr/>
        </p:nvSpPr>
        <p:spPr>
          <a:xfrm>
            <a:off x="995995" y="3518297"/>
            <a:ext cx="2071855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: same Tail-in-Register method as enqueue;</a:t>
            </a:r>
          </a:p>
        </p:txBody>
      </p:sp>
      <p:sp>
        <p:nvSpPr>
          <p:cNvPr id="42" name="Text 39">
            <a:extLst>
              <a:ext uri="{FF2B5EF4-FFF2-40B4-BE49-F238E27FC236}">
                <a16:creationId xmlns:a16="http://schemas.microsoft.com/office/drawing/2014/main" id="{A465D89D-9D0E-4DD9-B212-80D806BB34D4}"/>
              </a:ext>
            </a:extLst>
          </p:cNvPr>
          <p:cNvSpPr>
            <a:spLocks noGrp="1"/>
          </p:cNvSpPr>
          <p:nvPr/>
        </p:nvSpPr>
        <p:spPr>
          <a:xfrm>
            <a:off x="607219" y="3689747"/>
            <a:ext cx="2083687" cy="15605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2E2E38"/>
                </a:solidFill>
                <a:latin typeface="Arial"/>
                <a:ea typeface="Arial"/>
                <a:cs typeface="Arial"/>
              </a:rPr>
              <a:t>keeps SRAM writes ordered.</a:t>
            </a:r>
          </a:p>
        </p:txBody>
      </p:sp>
      <p:sp>
        <p:nvSpPr>
          <p:cNvPr id="43" name="Text 40">
            <a:extLst>
              <a:ext uri="{FF2B5EF4-FFF2-40B4-BE49-F238E27FC236}">
                <a16:creationId xmlns:a16="http://schemas.microsoft.com/office/drawing/2014/main" id="{A0E77846-AE8E-49AA-B89C-A4DA7879DD6A}"/>
              </a:ext>
            </a:extLst>
          </p:cNvPr>
          <p:cNvSpPr>
            <a:spLocks noGrp="1"/>
          </p:cNvSpPr>
          <p:nvPr/>
        </p:nvSpPr>
        <p:spPr>
          <a:xfrm>
            <a:off x="5443538" y="785813"/>
            <a:ext cx="1543050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Two-Stage Address Reclamation</a:t>
            </a:r>
          </a:p>
        </p:txBody>
      </p:sp>
      <p:sp>
        <p:nvSpPr>
          <p:cNvPr id="44" name="Shape 41">
            <a:extLst>
              <a:ext uri="{FF2B5EF4-FFF2-40B4-BE49-F238E27FC236}">
                <a16:creationId xmlns:a16="http://schemas.microsoft.com/office/drawing/2014/main" id="{D683C0A9-AC13-4F28-A1D5-B2320114ED95}"/>
              </a:ext>
            </a:extLst>
          </p:cNvPr>
          <p:cNvSpPr>
            <a:spLocks noGrp="1"/>
          </p:cNvSpPr>
          <p:nvPr/>
        </p:nvSpPr>
        <p:spPr>
          <a:xfrm>
            <a:off x="3714750" y="1067991"/>
            <a:ext cx="5000625" cy="32861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9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1067991"/>
            <a:ext cx="5000625" cy="3286125"/>
          </a:xfrm>
          <a:prstGeom prst="rect">
            <a:avLst/>
          </a:prstGeom>
        </p:spPr>
      </p:pic>
      <p:sp>
        <p:nvSpPr>
          <p:cNvPr id="46" name="Text 42">
            <a:extLst>
              <a:ext uri="{FF2B5EF4-FFF2-40B4-BE49-F238E27FC236}">
                <a16:creationId xmlns:a16="http://schemas.microsoft.com/office/drawing/2014/main" id="{C4A37DBE-6755-412C-AAF9-AE4E54A3F004}"/>
              </a:ext>
            </a:extLst>
          </p:cNvPr>
          <p:cNvSpPr>
            <a:spLocks noGrp="1"/>
          </p:cNvSpPr>
          <p:nvPr/>
        </p:nvSpPr>
        <p:spPr>
          <a:xfrm>
            <a:off x="4542588" y="4354116"/>
            <a:ext cx="3344949" cy="356108"/>
          </a:xfrm>
          <a:prstGeom prst="rect">
            <a:avLst/>
          </a:prstGeom>
          <a:noFill/>
        </p:spPr>
        <p:txBody>
          <a:bodyPr wrap="square" lIns="0" tIns="127508" rIns="0" bIns="0" anchor="t">
            <a:sp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6E6E7A"/>
                </a:solidFill>
                <a:latin typeface="Arial"/>
                <a:ea typeface="Arial"/>
                <a:cs typeface="Arial"/>
              </a:rPr>
              <a:t>Reclamation and enqueue share the same tail-register handling, greatly simplifying SRAM access arbitration.</a:t>
            </a:r>
          </a:p>
        </p:txBody>
      </p:sp>
      <p:sp>
        <p:nvSpPr>
          <p:cNvPr id="47" name="Text 43">
            <a:extLst>
              <a:ext uri="{FF2B5EF4-FFF2-40B4-BE49-F238E27FC236}">
                <a16:creationId xmlns:a16="http://schemas.microsoft.com/office/drawing/2014/main" id="{AA474BD9-3965-4AA1-B530-13BA2C945D3F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</p:spTree>
    <p:extLst>
      <p:ext uri="{BB962C8B-B14F-4D97-AF65-F5344CB8AC3E}">
        <p14:creationId xmlns:p14="http://schemas.microsoft.com/office/powerpoint/2010/main" val="834088118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8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3F673B53-EABD-49DC-80A9-030218D45D7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B08E860-9131-49EE-90CE-50E1FF228996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4394188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Process — </a:t>
            </a: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LLE Arbitration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39717A99-7A5A-405B-B8B3-B99DD0856479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8286750" cy="312874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529D9679-2B1F-44B0-8B37-8B631273B0FC}"/>
              </a:ext>
            </a:extLst>
          </p:cNvPr>
          <p:cNvSpPr>
            <a:spLocks noGrp="1"/>
          </p:cNvSpPr>
          <p:nvPr/>
        </p:nvSpPr>
        <p:spPr>
          <a:xfrm>
            <a:off x="428625" y="785813"/>
            <a:ext cx="28575" cy="312874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8CEE005F-97C8-4AA3-96D9-C3235A5CBD94}"/>
              </a:ext>
            </a:extLst>
          </p:cNvPr>
          <p:cNvSpPr>
            <a:spLocks noGrp="1"/>
          </p:cNvSpPr>
          <p:nvPr/>
        </p:nvSpPr>
        <p:spPr>
          <a:xfrm>
            <a:off x="571500" y="892969"/>
            <a:ext cx="8001000" cy="20571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900" b="1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As the sole module accessing Next-</a:t>
            </a:r>
            <a:r>
              <a:rPr sz="900" b="1" dirty="0" err="1">
                <a:solidFill>
                  <a:srgbClr val="2E2E38"/>
                </a:solidFill>
                <a:latin typeface="Arial"/>
                <a:ea typeface="Arial"/>
                <a:cs typeface="Arial"/>
              </a:rPr>
              <a:t>Ptr</a:t>
            </a:r>
            <a:r>
              <a:rPr sz="900" b="1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 SRAM, the LLE (Link-List Engine) coordinates requests from multiple control planes through efficient arbitration.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4276D5F1-2416-4A73-9FBA-42027AF294B0}"/>
              </a:ext>
            </a:extLst>
          </p:cNvPr>
          <p:cNvSpPr>
            <a:spLocks noGrp="1"/>
          </p:cNvSpPr>
          <p:nvPr/>
        </p:nvSpPr>
        <p:spPr>
          <a:xfrm>
            <a:off x="428625" y="1688046"/>
            <a:ext cx="4036219" cy="195381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 dirty="0"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B3121FD-558E-46D4-AC13-0360D6451999}"/>
              </a:ext>
            </a:extLst>
          </p:cNvPr>
          <p:cNvSpPr>
            <a:spLocks noGrp="1"/>
          </p:cNvSpPr>
          <p:nvPr/>
        </p:nvSpPr>
        <p:spPr>
          <a:xfrm>
            <a:off x="571500" y="1830921"/>
            <a:ext cx="3750469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Arbitration Priority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EACABA4A-E835-4961-9602-CB0AD7C39B14}"/>
              </a:ext>
            </a:extLst>
          </p:cNvPr>
          <p:cNvSpPr>
            <a:spLocks noGrp="1"/>
          </p:cNvSpPr>
          <p:nvPr/>
        </p:nvSpPr>
        <p:spPr>
          <a:xfrm>
            <a:off x="575072" y="2134531"/>
            <a:ext cx="512731" cy="28217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E176AC75-AD0B-4EF7-BB84-9B7E8D722A62}"/>
              </a:ext>
            </a:extLst>
          </p:cNvPr>
          <p:cNvSpPr>
            <a:spLocks noGrp="1"/>
          </p:cNvSpPr>
          <p:nvPr/>
        </p:nvSpPr>
        <p:spPr>
          <a:xfrm>
            <a:off x="575072" y="2134531"/>
            <a:ext cx="512731" cy="282178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Priority</a:t>
            </a:r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2160E4DC-C864-4432-8A24-6946B707D452}"/>
              </a:ext>
            </a:extLst>
          </p:cNvPr>
          <p:cNvSpPr>
            <a:spLocks noGrp="1"/>
          </p:cNvSpPr>
          <p:nvPr/>
        </p:nvSpPr>
        <p:spPr>
          <a:xfrm>
            <a:off x="1087803" y="2134531"/>
            <a:ext cx="902568" cy="28217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FF3FF72-14A0-43DF-91D6-986CCC5F6E01}"/>
              </a:ext>
            </a:extLst>
          </p:cNvPr>
          <p:cNvSpPr>
            <a:spLocks noGrp="1"/>
          </p:cNvSpPr>
          <p:nvPr/>
        </p:nvSpPr>
        <p:spPr>
          <a:xfrm>
            <a:off x="1087803" y="2134531"/>
            <a:ext cx="902568" cy="282178"/>
          </a:xfrm>
          <a:prstGeom prst="rect">
            <a:avLst/>
          </a:prstGeom>
          <a:noFill/>
        </p:spPr>
        <p:txBody>
          <a:bodyPr wrap="non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Operation</a:t>
            </a: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030DAF58-6CE1-4620-9F95-1BAF5362D905}"/>
              </a:ext>
            </a:extLst>
          </p:cNvPr>
          <p:cNvSpPr>
            <a:spLocks noGrp="1"/>
          </p:cNvSpPr>
          <p:nvPr/>
        </p:nvSpPr>
        <p:spPr>
          <a:xfrm>
            <a:off x="1990372" y="2134531"/>
            <a:ext cx="2328025" cy="282178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A4CF7C3A-54DA-4C2F-8C62-A88218BD2BEF}"/>
              </a:ext>
            </a:extLst>
          </p:cNvPr>
          <p:cNvSpPr>
            <a:spLocks noGrp="1"/>
          </p:cNvSpPr>
          <p:nvPr/>
        </p:nvSpPr>
        <p:spPr>
          <a:xfrm>
            <a:off x="1990372" y="2134531"/>
            <a:ext cx="2328025" cy="282178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Rationale</a:t>
            </a:r>
          </a:p>
        </p:txBody>
      </p:sp>
      <p:sp>
        <p:nvSpPr>
          <p:cNvPr id="16" name="Shape 13">
            <a:extLst>
              <a:ext uri="{FF2B5EF4-FFF2-40B4-BE49-F238E27FC236}">
                <a16:creationId xmlns:a16="http://schemas.microsoft.com/office/drawing/2014/main" id="{D55A5C86-B1E7-443A-B281-0DF1972D9338}"/>
              </a:ext>
            </a:extLst>
          </p:cNvPr>
          <p:cNvSpPr>
            <a:spLocks noGrp="1"/>
          </p:cNvSpPr>
          <p:nvPr/>
        </p:nvSpPr>
        <p:spPr>
          <a:xfrm>
            <a:off x="650081" y="2477431"/>
            <a:ext cx="223800" cy="264319"/>
          </a:xfrm>
          <a:prstGeom prst="rect">
            <a:avLst/>
          </a:prstGeom>
          <a:solidFill>
            <a:srgbClr val="E4002B"/>
          </a:solidFill>
        </p:spPr>
        <p:txBody>
          <a:bodyPr/>
          <a:lstStyle/>
          <a:p>
            <a:endParaRPr/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207AE8D4-E73F-4B37-9A32-D4242643FD2A}"/>
              </a:ext>
            </a:extLst>
          </p:cNvPr>
          <p:cNvSpPr>
            <a:spLocks noGrp="1"/>
          </p:cNvSpPr>
          <p:nvPr/>
        </p:nvSpPr>
        <p:spPr>
          <a:xfrm>
            <a:off x="650081" y="2477431"/>
            <a:ext cx="223800" cy="264319"/>
          </a:xfrm>
          <a:prstGeom prst="rect">
            <a:avLst/>
          </a:prstGeom>
          <a:noFill/>
        </p:spPr>
        <p:txBody>
          <a:bodyPr wrap="none" lIns="68072" tIns="17018" rIns="68072" bIns="17018" anchor="t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H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195C1F2F-9346-49C5-B8DD-7EC1E9EA074E}"/>
              </a:ext>
            </a:extLst>
          </p:cNvPr>
          <p:cNvSpPr>
            <a:spLocks noGrp="1"/>
          </p:cNvSpPr>
          <p:nvPr/>
        </p:nvSpPr>
        <p:spPr>
          <a:xfrm>
            <a:off x="1162813" y="2559584"/>
            <a:ext cx="716831" cy="110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Dequeue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71420416-669B-4760-AB55-2512B4954FCA}"/>
              </a:ext>
            </a:extLst>
          </p:cNvPr>
          <p:cNvSpPr>
            <a:spLocks noGrp="1"/>
          </p:cNvSpPr>
          <p:nvPr/>
        </p:nvSpPr>
        <p:spPr>
          <a:xfrm>
            <a:off x="1990372" y="2416709"/>
            <a:ext cx="2328025" cy="4000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Prevents address-read stalls at the transmitter and preserves line-rate forwarding.</a:t>
            </a:r>
          </a:p>
        </p:txBody>
      </p:sp>
      <p:sp>
        <p:nvSpPr>
          <p:cNvPr id="20" name="Shape 17">
            <a:extLst>
              <a:ext uri="{FF2B5EF4-FFF2-40B4-BE49-F238E27FC236}">
                <a16:creationId xmlns:a16="http://schemas.microsoft.com/office/drawing/2014/main" id="{62F981EC-2CF7-4853-AE23-2378569AA20A}"/>
              </a:ext>
            </a:extLst>
          </p:cNvPr>
          <p:cNvSpPr>
            <a:spLocks noGrp="1"/>
          </p:cNvSpPr>
          <p:nvPr/>
        </p:nvSpPr>
        <p:spPr>
          <a:xfrm>
            <a:off x="650081" y="2877481"/>
            <a:ext cx="223800" cy="264319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3741B16D-5E60-44AD-A583-C4A4E6651319}"/>
              </a:ext>
            </a:extLst>
          </p:cNvPr>
          <p:cNvSpPr>
            <a:spLocks noGrp="1"/>
          </p:cNvSpPr>
          <p:nvPr/>
        </p:nvSpPr>
        <p:spPr>
          <a:xfrm>
            <a:off x="650081" y="2877481"/>
            <a:ext cx="223800" cy="264319"/>
          </a:xfrm>
          <a:prstGeom prst="rect">
            <a:avLst/>
          </a:prstGeom>
          <a:noFill/>
        </p:spPr>
        <p:txBody>
          <a:bodyPr wrap="none" lIns="68072" tIns="17018" rIns="68072" bIns="17018" anchor="t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M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4C522F8B-7ABC-4660-8BE8-3FF3886BC21E}"/>
              </a:ext>
            </a:extLst>
          </p:cNvPr>
          <p:cNvSpPr>
            <a:spLocks noGrp="1"/>
          </p:cNvSpPr>
          <p:nvPr/>
        </p:nvSpPr>
        <p:spPr>
          <a:xfrm>
            <a:off x="1162813" y="2954436"/>
            <a:ext cx="376706" cy="1077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r>
              <a:rPr lang="en-US" altLang="zh-CN" sz="700" b="1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Enqueue</a:t>
            </a:r>
          </a:p>
        </p:txBody>
      </p:sp>
      <p:sp>
        <p:nvSpPr>
          <p:cNvPr id="23" name="Text 20">
            <a:extLst>
              <a:ext uri="{FF2B5EF4-FFF2-40B4-BE49-F238E27FC236}">
                <a16:creationId xmlns:a16="http://schemas.microsoft.com/office/drawing/2014/main" id="{7B01CB57-A11B-41D0-8EA0-7B47EA321961}"/>
              </a:ext>
            </a:extLst>
          </p:cNvPr>
          <p:cNvSpPr>
            <a:spLocks noGrp="1"/>
          </p:cNvSpPr>
          <p:nvPr/>
        </p:nvSpPr>
        <p:spPr>
          <a:xfrm>
            <a:off x="1990372" y="2816759"/>
            <a:ext cx="2328025" cy="400050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r>
              <a:rPr lang="en-US" altLang="zh-CN"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Uses idle slots for writes; packet-level enqueue locking preserves atomicity.</a:t>
            </a:r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BA0639E5-A24E-4ACC-8999-BC2941B22C5C}"/>
              </a:ext>
            </a:extLst>
          </p:cNvPr>
          <p:cNvSpPr>
            <a:spLocks noGrp="1"/>
          </p:cNvSpPr>
          <p:nvPr/>
        </p:nvSpPr>
        <p:spPr>
          <a:xfrm>
            <a:off x="650081" y="3288246"/>
            <a:ext cx="223800" cy="264319"/>
          </a:xfrm>
          <a:prstGeom prst="rect">
            <a:avLst/>
          </a:prstGeom>
          <a:solidFill>
            <a:srgbClr val="3DBB6B"/>
          </a:solidFill>
        </p:spPr>
        <p:txBody>
          <a:bodyPr/>
          <a:lstStyle/>
          <a:p>
            <a:endParaRPr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00682519-8D4E-4BE0-8821-6E77B1ACBC12}"/>
              </a:ext>
            </a:extLst>
          </p:cNvPr>
          <p:cNvSpPr>
            <a:spLocks noGrp="1"/>
          </p:cNvSpPr>
          <p:nvPr/>
        </p:nvSpPr>
        <p:spPr>
          <a:xfrm>
            <a:off x="650081" y="3288246"/>
            <a:ext cx="223800" cy="264319"/>
          </a:xfrm>
          <a:prstGeom prst="rect">
            <a:avLst/>
          </a:prstGeom>
          <a:noFill/>
        </p:spPr>
        <p:txBody>
          <a:bodyPr wrap="none" lIns="68072" tIns="17018" rIns="68072" bIns="17018" anchor="t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L</a:t>
            </a: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F4BF3780-4A43-4325-B0BF-A11EFA8ACC16}"/>
              </a:ext>
            </a:extLst>
          </p:cNvPr>
          <p:cNvSpPr>
            <a:spLocks noGrp="1"/>
          </p:cNvSpPr>
          <p:nvPr/>
        </p:nvSpPr>
        <p:spPr>
          <a:xfrm>
            <a:off x="1162813" y="3370400"/>
            <a:ext cx="338234" cy="10772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en-US" altLang="zh-CN" sz="700" b="1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Recycle</a:t>
            </a:r>
            <a:endParaRPr sz="700" b="1" dirty="0">
              <a:solidFill>
                <a:srgbClr val="2E2E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7" name="Text 24">
            <a:extLst>
              <a:ext uri="{FF2B5EF4-FFF2-40B4-BE49-F238E27FC236}">
                <a16:creationId xmlns:a16="http://schemas.microsoft.com/office/drawing/2014/main" id="{ED97E2EC-3DB7-4C2D-8E88-E47EB922BC03}"/>
              </a:ext>
            </a:extLst>
          </p:cNvPr>
          <p:cNvSpPr>
            <a:spLocks noGrp="1"/>
          </p:cNvSpPr>
          <p:nvPr/>
        </p:nvSpPr>
        <p:spPr>
          <a:xfrm>
            <a:off x="1990372" y="3283920"/>
            <a:ext cx="2328025" cy="287258"/>
          </a:xfrm>
          <a:prstGeom prst="rect">
            <a:avLst/>
          </a:prstGeom>
          <a:noFill/>
        </p:spPr>
        <p:txBody>
          <a:bodyPr wrap="square" lIns="85090" tIns="85090" rIns="85090" bIns="85090" anchor="ctr">
            <a:spAutoFit/>
          </a:bodyPr>
          <a:lstStyle/>
          <a:p>
            <a:pPr marL="0" indent="0" algn="l">
              <a:buNone/>
            </a:pPr>
            <a:r>
              <a:rPr lang="en-US" altLang="zh-CN"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FIFO</a:t>
            </a:r>
            <a:endParaRPr sz="750" dirty="0">
              <a:solidFill>
                <a:srgbClr val="2E2E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8" name="Shape 25">
            <a:extLst>
              <a:ext uri="{FF2B5EF4-FFF2-40B4-BE49-F238E27FC236}">
                <a16:creationId xmlns:a16="http://schemas.microsoft.com/office/drawing/2014/main" id="{F556CEBA-D4DB-4FCE-A22E-1C033376CDD2}"/>
              </a:ext>
            </a:extLst>
          </p:cNvPr>
          <p:cNvSpPr>
            <a:spLocks noGrp="1"/>
          </p:cNvSpPr>
          <p:nvPr/>
        </p:nvSpPr>
        <p:spPr>
          <a:xfrm>
            <a:off x="4679156" y="1688046"/>
            <a:ext cx="4036219" cy="195381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9" name="Text 26">
            <a:extLst>
              <a:ext uri="{FF2B5EF4-FFF2-40B4-BE49-F238E27FC236}">
                <a16:creationId xmlns:a16="http://schemas.microsoft.com/office/drawing/2014/main" id="{6D2D28E1-E060-4F0C-901B-39F9DC8E8C98}"/>
              </a:ext>
            </a:extLst>
          </p:cNvPr>
          <p:cNvSpPr>
            <a:spLocks noGrp="1"/>
          </p:cNvSpPr>
          <p:nvPr/>
        </p:nvSpPr>
        <p:spPr>
          <a:xfrm>
            <a:off x="4822031" y="1830921"/>
            <a:ext cx="3750469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SRAM Time-Division Multiplexing</a:t>
            </a:r>
          </a:p>
        </p:txBody>
      </p:sp>
      <p:pic>
        <p:nvPicPr>
          <p:cNvPr id="76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822031" y="2170250"/>
            <a:ext cx="107156" cy="107156"/>
          </a:xfrm>
          <a:prstGeom prst="rect">
            <a:avLst/>
          </a:prstGeom>
        </p:spPr>
      </p:pic>
      <p:sp>
        <p:nvSpPr>
          <p:cNvPr id="31" name="Text 27">
            <a:extLst>
              <a:ext uri="{FF2B5EF4-FFF2-40B4-BE49-F238E27FC236}">
                <a16:creationId xmlns:a16="http://schemas.microsoft.com/office/drawing/2014/main" id="{168F9BF2-8103-4F5E-8379-8BD3C8CECA2A}"/>
              </a:ext>
            </a:extLst>
          </p:cNvPr>
          <p:cNvSpPr>
            <a:spLocks noGrp="1"/>
          </p:cNvSpPr>
          <p:nvPr/>
        </p:nvSpPr>
        <p:spPr>
          <a:xfrm>
            <a:off x="5000625" y="2170250"/>
            <a:ext cx="910828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Single-Port SRAM</a:t>
            </a:r>
          </a:p>
        </p:txBody>
      </p:sp>
      <p:sp>
        <p:nvSpPr>
          <p:cNvPr id="32" name="Text 28">
            <a:extLst>
              <a:ext uri="{FF2B5EF4-FFF2-40B4-BE49-F238E27FC236}">
                <a16:creationId xmlns:a16="http://schemas.microsoft.com/office/drawing/2014/main" id="{E5C6633C-D063-4D34-983E-5F07138B1038}"/>
              </a:ext>
            </a:extLst>
          </p:cNvPr>
          <p:cNvSpPr>
            <a:spLocks noGrp="1"/>
          </p:cNvSpPr>
          <p:nvPr/>
        </p:nvSpPr>
        <p:spPr>
          <a:xfrm>
            <a:off x="5841020" y="2163897"/>
            <a:ext cx="3673004" cy="33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: TDM arbitration makes a single-port SRAM appear to </a:t>
            </a:r>
            <a:endParaRPr lang="en-US" sz="800" dirty="0">
              <a:solidFill>
                <a:srgbClr val="2E2E38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44000"/>
              </a:lnSpc>
              <a:buNone/>
            </a:pPr>
            <a:r>
              <a:rPr sz="80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support multiple concurrent requesters.</a:t>
            </a:r>
          </a:p>
        </p:txBody>
      </p:sp>
      <p:pic>
        <p:nvPicPr>
          <p:cNvPr id="79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22031" y="2627450"/>
            <a:ext cx="107156" cy="107156"/>
          </a:xfrm>
          <a:prstGeom prst="rect">
            <a:avLst/>
          </a:prstGeom>
        </p:spPr>
      </p:pic>
      <p:sp>
        <p:nvSpPr>
          <p:cNvPr id="34" name="Text 29">
            <a:extLst>
              <a:ext uri="{FF2B5EF4-FFF2-40B4-BE49-F238E27FC236}">
                <a16:creationId xmlns:a16="http://schemas.microsoft.com/office/drawing/2014/main" id="{564C2F1C-9504-47B7-AAAF-E6D36379C25D}"/>
              </a:ext>
            </a:extLst>
          </p:cNvPr>
          <p:cNvSpPr>
            <a:spLocks noGrp="1"/>
          </p:cNvSpPr>
          <p:nvPr/>
        </p:nvSpPr>
        <p:spPr>
          <a:xfrm>
            <a:off x="5000625" y="2627450"/>
            <a:ext cx="428625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Conflict</a:t>
            </a:r>
          </a:p>
        </p:txBody>
      </p:sp>
      <p:sp>
        <p:nvSpPr>
          <p:cNvPr id="35" name="Text 30">
            <a:extLst>
              <a:ext uri="{FF2B5EF4-FFF2-40B4-BE49-F238E27FC236}">
                <a16:creationId xmlns:a16="http://schemas.microsoft.com/office/drawing/2014/main" id="{06DA3D4B-3EAD-44CE-8FDA-DFA23AF90331}"/>
              </a:ext>
            </a:extLst>
          </p:cNvPr>
          <p:cNvSpPr>
            <a:spLocks noGrp="1"/>
          </p:cNvSpPr>
          <p:nvPr/>
        </p:nvSpPr>
        <p:spPr>
          <a:xfrm>
            <a:off x="5397316" y="2620700"/>
            <a:ext cx="3714750" cy="33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: simultaneous requests are resolved by priority, and losing requests </a:t>
            </a:r>
            <a:endParaRPr lang="en-US" sz="800" dirty="0">
              <a:solidFill>
                <a:srgbClr val="2E2E38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44000"/>
              </a:lnSpc>
              <a:buNone/>
            </a:pPr>
            <a:r>
              <a:rPr sz="80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retry in the next cycle.</a:t>
            </a:r>
          </a:p>
        </p:txBody>
      </p:sp>
      <p:pic>
        <p:nvPicPr>
          <p:cNvPr id="82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4822031" y="3084650"/>
            <a:ext cx="107156" cy="107156"/>
          </a:xfrm>
          <a:prstGeom prst="rect">
            <a:avLst/>
          </a:prstGeom>
        </p:spPr>
      </p:pic>
      <p:sp>
        <p:nvSpPr>
          <p:cNvPr id="37" name="Text 31">
            <a:extLst>
              <a:ext uri="{FF2B5EF4-FFF2-40B4-BE49-F238E27FC236}">
                <a16:creationId xmlns:a16="http://schemas.microsoft.com/office/drawing/2014/main" id="{49357DA6-9E89-4527-B644-3A4318152E06}"/>
              </a:ext>
            </a:extLst>
          </p:cNvPr>
          <p:cNvSpPr>
            <a:spLocks noGrp="1"/>
          </p:cNvSpPr>
          <p:nvPr/>
        </p:nvSpPr>
        <p:spPr>
          <a:xfrm>
            <a:off x="5000625" y="3084650"/>
            <a:ext cx="535781" cy="164592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75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Pipeline</a:t>
            </a:r>
          </a:p>
        </p:txBody>
      </p:sp>
      <p:sp>
        <p:nvSpPr>
          <p:cNvPr id="38" name="Text 32">
            <a:extLst>
              <a:ext uri="{FF2B5EF4-FFF2-40B4-BE49-F238E27FC236}">
                <a16:creationId xmlns:a16="http://schemas.microsoft.com/office/drawing/2014/main" id="{90F95377-76C1-477F-9582-DFB0565EE1B6}"/>
              </a:ext>
            </a:extLst>
          </p:cNvPr>
          <p:cNvSpPr>
            <a:spLocks noGrp="1"/>
          </p:cNvSpPr>
          <p:nvPr/>
        </p:nvSpPr>
        <p:spPr>
          <a:xfrm>
            <a:off x="5488688" y="3075414"/>
            <a:ext cx="3655312" cy="333617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: the arbitration result directly drives the SRAM address lines; </a:t>
            </a:r>
            <a:endParaRPr lang="en-US" sz="800" dirty="0">
              <a:solidFill>
                <a:srgbClr val="2E2E38"/>
              </a:solidFill>
              <a:latin typeface="Arial"/>
              <a:ea typeface="Arial"/>
              <a:cs typeface="Arial"/>
            </a:endParaRPr>
          </a:p>
          <a:p>
            <a:pPr marL="0" indent="0" algn="l">
              <a:lnSpc>
                <a:spcPct val="144000"/>
              </a:lnSpc>
              <a:buNone/>
            </a:pPr>
            <a:r>
              <a:rPr lang="en-US" sz="80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prefetch registers enable seamless switching.</a:t>
            </a:r>
          </a:p>
        </p:txBody>
      </p:sp>
      <p:sp>
        <p:nvSpPr>
          <p:cNvPr id="41" name="Text 34">
            <a:extLst>
              <a:ext uri="{FF2B5EF4-FFF2-40B4-BE49-F238E27FC236}">
                <a16:creationId xmlns:a16="http://schemas.microsoft.com/office/drawing/2014/main" id="{6CDB9724-E9E5-4979-B6CF-7C149B57FE55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</p:spTree>
    <p:extLst>
      <p:ext uri="{BB962C8B-B14F-4D97-AF65-F5344CB8AC3E}">
        <p14:creationId xmlns:p14="http://schemas.microsoft.com/office/powerpoint/2010/main" val="192879563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57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0828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03277501-6EC1-45B2-8069-CDBA8B26714A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9A1BA0B3-2731-4087-8894-150DD2BEF246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344172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Flow Control —</a:t>
            </a: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Drop</a:t>
            </a:r>
            <a:endParaRPr sz="1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8FC11B2-966C-4967-A8D6-3D5E7B59C189}"/>
              </a:ext>
            </a:extLst>
          </p:cNvPr>
          <p:cNvSpPr>
            <a:spLocks noGrp="1"/>
          </p:cNvSpPr>
          <p:nvPr/>
        </p:nvSpPr>
        <p:spPr>
          <a:xfrm>
            <a:off x="1993408" y="1030261"/>
            <a:ext cx="4500563" cy="7143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1EAB5D76-42F8-4131-B94D-EB024E32D61E}"/>
              </a:ext>
            </a:extLst>
          </p:cNvPr>
          <p:cNvSpPr>
            <a:spLocks noGrp="1"/>
          </p:cNvSpPr>
          <p:nvPr/>
        </p:nvSpPr>
        <p:spPr>
          <a:xfrm>
            <a:off x="1993408" y="1030261"/>
            <a:ext cx="28575" cy="714375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3B8DCFE-0655-48F6-9BD0-D52F9F521422}"/>
              </a:ext>
            </a:extLst>
          </p:cNvPr>
          <p:cNvSpPr>
            <a:spLocks noGrp="1"/>
          </p:cNvSpPr>
          <p:nvPr/>
        </p:nvSpPr>
        <p:spPr>
          <a:xfrm>
            <a:off x="2107708" y="1115986"/>
            <a:ext cx="4271963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1. Queue-Level Feedback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01A6AFD6-8551-467B-B906-490AA056A759}"/>
              </a:ext>
            </a:extLst>
          </p:cNvPr>
          <p:cNvSpPr>
            <a:spLocks noGrp="1"/>
          </p:cNvSpPr>
          <p:nvPr/>
        </p:nvSpPr>
        <p:spPr>
          <a:xfrm>
            <a:off x="2107708" y="1366017"/>
            <a:ext cx="884095" cy="110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q_max_reached[33]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948E502-6713-4991-9E79-029E82D632DE}"/>
              </a:ext>
            </a:extLst>
          </p:cNvPr>
          <p:cNvSpPr>
            <a:spLocks noGrp="1"/>
          </p:cNvSpPr>
          <p:nvPr/>
        </p:nvSpPr>
        <p:spPr>
          <a:xfrm>
            <a:off x="2991803" y="1366017"/>
            <a:ext cx="3250406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: high queue level; QM applies WRED or gating.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68245DEB-CA96-4EB5-8D0C-D6BBF64EF5C6}"/>
              </a:ext>
            </a:extLst>
          </p:cNvPr>
          <p:cNvSpPr>
            <a:spLocks noGrp="1"/>
          </p:cNvSpPr>
          <p:nvPr/>
        </p:nvSpPr>
        <p:spPr>
          <a:xfrm>
            <a:off x="2107708" y="1516036"/>
            <a:ext cx="1700213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Prevents queue monopolization.</a:t>
            </a:r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6990F491-E769-437E-AB27-60F1B13CD9DB}"/>
              </a:ext>
            </a:extLst>
          </p:cNvPr>
          <p:cNvSpPr>
            <a:spLocks noGrp="1"/>
          </p:cNvSpPr>
          <p:nvPr/>
        </p:nvSpPr>
        <p:spPr>
          <a:xfrm>
            <a:off x="1993408" y="1830361"/>
            <a:ext cx="4500563" cy="7143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2" name="Shape 9">
            <a:extLst>
              <a:ext uri="{FF2B5EF4-FFF2-40B4-BE49-F238E27FC236}">
                <a16:creationId xmlns:a16="http://schemas.microsoft.com/office/drawing/2014/main" id="{CBDCDE09-0610-4A11-9045-1D43C1076C6E}"/>
              </a:ext>
            </a:extLst>
          </p:cNvPr>
          <p:cNvSpPr>
            <a:spLocks noGrp="1"/>
          </p:cNvSpPr>
          <p:nvPr/>
        </p:nvSpPr>
        <p:spPr>
          <a:xfrm>
            <a:off x="1993408" y="1830361"/>
            <a:ext cx="28575" cy="714375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5A4BF7DA-FB74-415D-BD5C-38E92A85AEEE}"/>
              </a:ext>
            </a:extLst>
          </p:cNvPr>
          <p:cNvSpPr>
            <a:spLocks noGrp="1"/>
          </p:cNvSpPr>
          <p:nvPr/>
        </p:nvSpPr>
        <p:spPr>
          <a:xfrm>
            <a:off x="2107708" y="1916086"/>
            <a:ext cx="4271963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2. Port-Level Feedback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AB3A83D0-54C0-4B86-AF6C-E6B6B3DEDFFB}"/>
              </a:ext>
            </a:extLst>
          </p:cNvPr>
          <p:cNvSpPr>
            <a:spLocks noGrp="1"/>
          </p:cNvSpPr>
          <p:nvPr/>
        </p:nvSpPr>
        <p:spPr>
          <a:xfrm>
            <a:off x="2107708" y="2166117"/>
            <a:ext cx="945152" cy="110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port_max_reached[4]</a:t>
            </a: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B4C3CE73-135F-4AA4-A118-6162EF0B4BC0}"/>
              </a:ext>
            </a:extLst>
          </p:cNvPr>
          <p:cNvSpPr>
            <a:spLocks noGrp="1"/>
          </p:cNvSpPr>
          <p:nvPr/>
        </p:nvSpPr>
        <p:spPr>
          <a:xfrm>
            <a:off x="3052860" y="2166117"/>
            <a:ext cx="3287576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: aggregate port level; triggers port PAUSE.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D6DE9B63-C83E-4AAE-99EA-736DAFCC6527}"/>
              </a:ext>
            </a:extLst>
          </p:cNvPr>
          <p:cNvSpPr>
            <a:spLocks noGrp="1"/>
          </p:cNvSpPr>
          <p:nvPr/>
        </p:nvSpPr>
        <p:spPr>
          <a:xfrm>
            <a:off x="2107708" y="2316136"/>
            <a:ext cx="700088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Backpressures peer.</a:t>
            </a:r>
          </a:p>
        </p:txBody>
      </p:sp>
      <p:sp>
        <p:nvSpPr>
          <p:cNvPr id="17" name="Shape 14">
            <a:extLst>
              <a:ext uri="{FF2B5EF4-FFF2-40B4-BE49-F238E27FC236}">
                <a16:creationId xmlns:a16="http://schemas.microsoft.com/office/drawing/2014/main" id="{A3BAEC7A-0ABF-4F2D-9C15-E815191AAA80}"/>
              </a:ext>
            </a:extLst>
          </p:cNvPr>
          <p:cNvSpPr>
            <a:spLocks noGrp="1"/>
          </p:cNvSpPr>
          <p:nvPr/>
        </p:nvSpPr>
        <p:spPr>
          <a:xfrm>
            <a:off x="1993408" y="2630461"/>
            <a:ext cx="4500563" cy="7143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50B80C18-E83D-4B0F-BB15-326FA1A9530D}"/>
              </a:ext>
            </a:extLst>
          </p:cNvPr>
          <p:cNvSpPr>
            <a:spLocks noGrp="1"/>
          </p:cNvSpPr>
          <p:nvPr/>
        </p:nvSpPr>
        <p:spPr>
          <a:xfrm>
            <a:off x="1993408" y="2630461"/>
            <a:ext cx="28575" cy="714375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A5A96213-E171-4AE3-9701-4536AD369D71}"/>
              </a:ext>
            </a:extLst>
          </p:cNvPr>
          <p:cNvSpPr>
            <a:spLocks noGrp="1"/>
          </p:cNvSpPr>
          <p:nvPr/>
        </p:nvSpPr>
        <p:spPr>
          <a:xfrm>
            <a:off x="2107708" y="2716186"/>
            <a:ext cx="4271963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3. Global-Level Feedback</a:t>
            </a:r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534260F5-00C7-4863-8874-E3C14F27E038}"/>
              </a:ext>
            </a:extLst>
          </p:cNvPr>
          <p:cNvSpPr>
            <a:spLocks noGrp="1"/>
          </p:cNvSpPr>
          <p:nvPr/>
        </p:nvSpPr>
        <p:spPr>
          <a:xfrm>
            <a:off x="2107708" y="2966217"/>
            <a:ext cx="928576" cy="110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global_max_reached</a:t>
            </a: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4E9C9610-950A-4A76-A905-81DA607E7970}"/>
              </a:ext>
            </a:extLst>
          </p:cNvPr>
          <p:cNvSpPr>
            <a:spLocks noGrp="1"/>
          </p:cNvSpPr>
          <p:nvPr/>
        </p:nvSpPr>
        <p:spPr>
          <a:xfrm>
            <a:off x="3036284" y="2966217"/>
            <a:ext cx="3204307" cy="137160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: critical SRAM level; global PAUSE prevents overflow.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3DD7CB71-F722-4326-94AD-BE5E843D7841}"/>
              </a:ext>
            </a:extLst>
          </p:cNvPr>
          <p:cNvSpPr>
            <a:spLocks noGrp="1"/>
          </p:cNvSpPr>
          <p:nvPr/>
        </p:nvSpPr>
        <p:spPr>
          <a:xfrm>
            <a:off x="2107708" y="3116236"/>
            <a:ext cx="200025" cy="110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endParaRPr/>
          </a:p>
        </p:txBody>
      </p:sp>
      <p:sp>
        <p:nvSpPr>
          <p:cNvPr id="23" name="Shape 20">
            <a:extLst>
              <a:ext uri="{FF2B5EF4-FFF2-40B4-BE49-F238E27FC236}">
                <a16:creationId xmlns:a16="http://schemas.microsoft.com/office/drawing/2014/main" id="{565CA13B-C222-4DD9-88CC-4FAA4EB8EB3A}"/>
              </a:ext>
            </a:extLst>
          </p:cNvPr>
          <p:cNvSpPr>
            <a:spLocks noGrp="1"/>
          </p:cNvSpPr>
          <p:nvPr/>
        </p:nvSpPr>
        <p:spPr>
          <a:xfrm>
            <a:off x="1993408" y="3430561"/>
            <a:ext cx="4500563" cy="714375"/>
          </a:xfrm>
          <a:prstGeom prst="rect">
            <a:avLst/>
          </a:prstGeom>
          <a:solidFill>
            <a:srgbClr val="E6F7FF"/>
          </a:solidFill>
        </p:spPr>
        <p:txBody>
          <a:bodyPr/>
          <a:lstStyle/>
          <a:p>
            <a:endParaRPr/>
          </a:p>
        </p:txBody>
      </p:sp>
      <p:sp>
        <p:nvSpPr>
          <p:cNvPr id="24" name="Shape 21">
            <a:extLst>
              <a:ext uri="{FF2B5EF4-FFF2-40B4-BE49-F238E27FC236}">
                <a16:creationId xmlns:a16="http://schemas.microsoft.com/office/drawing/2014/main" id="{91F1EBB7-94FF-4064-A88A-D2B926CE8604}"/>
              </a:ext>
            </a:extLst>
          </p:cNvPr>
          <p:cNvSpPr>
            <a:spLocks noGrp="1"/>
          </p:cNvSpPr>
          <p:nvPr/>
        </p:nvSpPr>
        <p:spPr>
          <a:xfrm>
            <a:off x="1993408" y="3430561"/>
            <a:ext cx="28575" cy="714375"/>
          </a:xfrm>
          <a:prstGeom prst="rect">
            <a:avLst/>
          </a:prstGeom>
          <a:solidFill>
            <a:srgbClr val="00C2DE"/>
          </a:solidFill>
        </p:spPr>
        <p:txBody>
          <a:bodyPr/>
          <a:lstStyle/>
          <a:p>
            <a:endParaRPr/>
          </a:p>
        </p:txBody>
      </p:sp>
      <p:sp>
        <p:nvSpPr>
          <p:cNvPr id="25" name="Text 22">
            <a:extLst>
              <a:ext uri="{FF2B5EF4-FFF2-40B4-BE49-F238E27FC236}">
                <a16:creationId xmlns:a16="http://schemas.microsoft.com/office/drawing/2014/main" id="{1403FA6F-AD1E-45CE-8EEB-A4B37CA91580}"/>
              </a:ext>
            </a:extLst>
          </p:cNvPr>
          <p:cNvSpPr>
            <a:spLocks noGrp="1"/>
          </p:cNvSpPr>
          <p:nvPr/>
        </p:nvSpPr>
        <p:spPr>
          <a:xfrm>
            <a:off x="2107708" y="3516286"/>
            <a:ext cx="4271963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 dirty="0">
                <a:solidFill>
                  <a:srgbClr val="3253DC"/>
                </a:solidFill>
                <a:latin typeface="Arial"/>
                <a:ea typeface="Arial"/>
                <a:cs typeface="Arial"/>
              </a:rPr>
              <a:t>Low-Latency Feedback Path</a:t>
            </a:r>
          </a:p>
        </p:txBody>
      </p:sp>
      <p:sp>
        <p:nvSpPr>
          <p:cNvPr id="26" name="Text 23">
            <a:extLst>
              <a:ext uri="{FF2B5EF4-FFF2-40B4-BE49-F238E27FC236}">
                <a16:creationId xmlns:a16="http://schemas.microsoft.com/office/drawing/2014/main" id="{63971B14-98D2-487C-8965-4280497B2BED}"/>
              </a:ext>
            </a:extLst>
          </p:cNvPr>
          <p:cNvSpPr>
            <a:spLocks noGrp="1"/>
          </p:cNvSpPr>
          <p:nvPr/>
        </p:nvSpPr>
        <p:spPr>
          <a:xfrm>
            <a:off x="2107708" y="3748457"/>
            <a:ext cx="4271963" cy="30003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0000"/>
              </a:lnSpc>
              <a:buNone/>
            </a:pPr>
            <a:r>
              <a:rPr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The Occupancy module drives decisions directly to QM, bypassing complex bus arbitration so flow control takes effect within 1–2 cycles and minimizes packet loss.</a:t>
            </a:r>
          </a:p>
        </p:txBody>
      </p:sp>
      <p:sp>
        <p:nvSpPr>
          <p:cNvPr id="53" name="Text 49">
            <a:extLst>
              <a:ext uri="{FF2B5EF4-FFF2-40B4-BE49-F238E27FC236}">
                <a16:creationId xmlns:a16="http://schemas.microsoft.com/office/drawing/2014/main" id="{C68A1B4D-468B-4CE5-B54B-A6B4F872A499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</p:spTree>
    <p:extLst>
      <p:ext uri="{BB962C8B-B14F-4D97-AF65-F5344CB8AC3E}">
        <p14:creationId xmlns:p14="http://schemas.microsoft.com/office/powerpoint/2010/main" val="79783225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C9544AA9-2104-4DDB-BAE6-C09612EE8C94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7744673-F9FE-4274-9F4E-EBB5DEE009D1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440289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Flow Control — PAUSE/PFC Hysteresis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44B4618F-E068-40C4-8B90-26BA86FDEA56}"/>
              </a:ext>
            </a:extLst>
          </p:cNvPr>
          <p:cNvSpPr>
            <a:spLocks noGrp="1"/>
          </p:cNvSpPr>
          <p:nvPr/>
        </p:nvSpPr>
        <p:spPr>
          <a:xfrm>
            <a:off x="428625" y="735806"/>
            <a:ext cx="3000375" cy="1686371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6B32CDF6-C61F-410E-AEA3-8B546AA4F7A2}"/>
              </a:ext>
            </a:extLst>
          </p:cNvPr>
          <p:cNvSpPr>
            <a:spLocks noGrp="1"/>
          </p:cNvSpPr>
          <p:nvPr/>
        </p:nvSpPr>
        <p:spPr>
          <a:xfrm>
            <a:off x="428625" y="735806"/>
            <a:ext cx="28575" cy="1686371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221D4127-7344-4DAF-956C-AED211757FE6}"/>
              </a:ext>
            </a:extLst>
          </p:cNvPr>
          <p:cNvSpPr>
            <a:spLocks noGrp="1"/>
          </p:cNvSpPr>
          <p:nvPr/>
        </p:nvSpPr>
        <p:spPr>
          <a:xfrm>
            <a:off x="607219" y="878681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Decision Logic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B52AC61F-7100-4169-8403-30B09DD564F4}"/>
              </a:ext>
            </a:extLst>
          </p:cNvPr>
          <p:cNvSpPr>
            <a:spLocks noGrp="1"/>
          </p:cNvSpPr>
          <p:nvPr/>
        </p:nvSpPr>
        <p:spPr>
          <a:xfrm>
            <a:off x="607219" y="1182291"/>
            <a:ext cx="2643188" cy="548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XOFF (Stop): assert PAUSE when buffer occupancy rises above the high threshold, instructing the peer to stop transmitting.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428EE37-3793-4163-93D0-56A255AA1B27}"/>
              </a:ext>
            </a:extLst>
          </p:cNvPr>
          <p:cNvSpPr>
            <a:spLocks noGrp="1"/>
          </p:cNvSpPr>
          <p:nvPr/>
        </p:nvSpPr>
        <p:spPr>
          <a:xfrm>
            <a:off x="607219" y="1802234"/>
            <a:ext cx="2643188" cy="548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XON (Resume): deassert PAUSE only after occupancy falls below the low threshold, allowing the peer to resume.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416A5783-B06F-424E-8944-31470761C96F}"/>
              </a:ext>
            </a:extLst>
          </p:cNvPr>
          <p:cNvSpPr>
            <a:spLocks noGrp="1"/>
          </p:cNvSpPr>
          <p:nvPr/>
        </p:nvSpPr>
        <p:spPr>
          <a:xfrm>
            <a:off x="428625" y="2522190"/>
            <a:ext cx="3000375" cy="12858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9A36A450-4145-43EB-8072-2462DC14431A}"/>
              </a:ext>
            </a:extLst>
          </p:cNvPr>
          <p:cNvSpPr>
            <a:spLocks noGrp="1"/>
          </p:cNvSpPr>
          <p:nvPr/>
        </p:nvSpPr>
        <p:spPr>
          <a:xfrm>
            <a:off x="428625" y="2522190"/>
            <a:ext cx="28575" cy="1285875"/>
          </a:xfrm>
          <a:prstGeom prst="rect">
            <a:avLst/>
          </a:prstGeom>
          <a:solidFill>
            <a:srgbClr val="3DBB6B"/>
          </a:solidFill>
        </p:spPr>
        <p:txBody>
          <a:bodyPr/>
          <a:lstStyle/>
          <a:p>
            <a:endParaRPr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7894C7B8-6DA9-4CFC-A8F4-525D703A73A5}"/>
              </a:ext>
            </a:extLst>
          </p:cNvPr>
          <p:cNvSpPr>
            <a:spLocks noGrp="1"/>
          </p:cNvSpPr>
          <p:nvPr/>
        </p:nvSpPr>
        <p:spPr>
          <a:xfrm>
            <a:off x="607219" y="2665065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3DBB6B"/>
                </a:solidFill>
                <a:latin typeface="Arial"/>
                <a:ea typeface="Arial"/>
                <a:cs typeface="Arial"/>
              </a:rPr>
              <a:t>Benefits of Hysteresis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45D495A-C5BE-4990-992D-67AC280FA5D7}"/>
              </a:ext>
            </a:extLst>
          </p:cNvPr>
          <p:cNvSpPr>
            <a:spLocks noGrp="1"/>
          </p:cNvSpPr>
          <p:nvPr/>
        </p:nvSpPr>
        <p:spPr>
          <a:xfrm>
            <a:off x="607219" y="2968675"/>
            <a:ext cx="2643188" cy="7313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Setting XOFF &gt; XON creates a hysteresis band between the thresholds. This prevents frequent oscillation near the threshold and stabilizes the control plane.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86E09B58-7E18-41C5-B1D0-F6808DE6DBC5}"/>
              </a:ext>
            </a:extLst>
          </p:cNvPr>
          <p:cNvSpPr>
            <a:spLocks noGrp="1"/>
          </p:cNvSpPr>
          <p:nvPr/>
        </p:nvSpPr>
        <p:spPr>
          <a:xfrm>
            <a:off x="5255344" y="735806"/>
            <a:ext cx="1919436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PAUSE/PFC Hysteresis Control</a:t>
            </a: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BF9D6BC6-DF6F-460F-AEC7-C90C0E7EE45C}"/>
              </a:ext>
            </a:extLst>
          </p:cNvPr>
          <p:cNvSpPr>
            <a:spLocks noGrp="1"/>
          </p:cNvSpPr>
          <p:nvPr/>
        </p:nvSpPr>
        <p:spPr>
          <a:xfrm>
            <a:off x="3714750" y="1017984"/>
            <a:ext cx="5000625" cy="3429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36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1017984"/>
            <a:ext cx="5000625" cy="3429000"/>
          </a:xfrm>
          <a:prstGeom prst="rect">
            <a:avLst/>
          </a:prstGeom>
        </p:spPr>
      </p:pic>
      <p:sp>
        <p:nvSpPr>
          <p:cNvPr id="17" name="Text 13">
            <a:extLst>
              <a:ext uri="{FF2B5EF4-FFF2-40B4-BE49-F238E27FC236}">
                <a16:creationId xmlns:a16="http://schemas.microsoft.com/office/drawing/2014/main" id="{10D54BFB-44C7-403B-8DCF-A149E1D8A36F}"/>
              </a:ext>
            </a:extLst>
          </p:cNvPr>
          <p:cNvSpPr>
            <a:spLocks noGrp="1"/>
          </p:cNvSpPr>
          <p:nvPr/>
        </p:nvSpPr>
        <p:spPr>
          <a:xfrm>
            <a:off x="4614863" y="4446984"/>
            <a:ext cx="3200400" cy="356108"/>
          </a:xfrm>
          <a:prstGeom prst="rect">
            <a:avLst/>
          </a:prstGeom>
          <a:noFill/>
        </p:spPr>
        <p:txBody>
          <a:bodyPr wrap="square" lIns="0" tIns="127508" rIns="0" bIns="0" anchor="t">
            <a:sp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6E6E7A"/>
                </a:solidFill>
                <a:latin typeface="Arial"/>
                <a:ea typeface="Arial"/>
                <a:cs typeface="Arial"/>
              </a:rPr>
              <a:t>The hysteresis band absorbs traffic fluctuations, reduces control-frame frequency, and improves link efficiency.</a:t>
            </a: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D9B72BA7-9B55-41C8-BC31-80BFAE2D1B4A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</p:spTree>
    <p:extLst>
      <p:ext uri="{BB962C8B-B14F-4D97-AF65-F5344CB8AC3E}">
        <p14:creationId xmlns:p14="http://schemas.microsoft.com/office/powerpoint/2010/main" val="319729781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9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50FC4B87-3AE6-476A-A8DC-C202756607B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53B3F636-C27B-4C42-A03C-95C69DE9E0A0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363237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Multicast — Overview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A8D9F36A-2E89-4529-BF51-D2697AA3D9DC}"/>
              </a:ext>
            </a:extLst>
          </p:cNvPr>
          <p:cNvSpPr>
            <a:spLocks noGrp="1"/>
          </p:cNvSpPr>
          <p:nvPr/>
        </p:nvSpPr>
        <p:spPr>
          <a:xfrm>
            <a:off x="428625" y="1000125"/>
            <a:ext cx="2619356" cy="37147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713783BB-8830-4FC4-BE39-329B2D563E4B}"/>
              </a:ext>
            </a:extLst>
          </p:cNvPr>
          <p:cNvSpPr>
            <a:spLocks noGrp="1"/>
          </p:cNvSpPr>
          <p:nvPr/>
        </p:nvSpPr>
        <p:spPr>
          <a:xfrm>
            <a:off x="428625" y="1000125"/>
            <a:ext cx="28575" cy="371475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34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07219" y="1225153"/>
            <a:ext cx="342900" cy="3429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C1D8F450-57D9-409D-B429-194E03FF2577}"/>
              </a:ext>
            </a:extLst>
          </p:cNvPr>
          <p:cNvSpPr>
            <a:spLocks noGrp="1"/>
          </p:cNvSpPr>
          <p:nvPr/>
        </p:nvSpPr>
        <p:spPr>
          <a:xfrm>
            <a:off x="607219" y="1785938"/>
            <a:ext cx="2243138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Single-Slot Model</a:t>
            </a: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DE35FFA8-E87F-44F5-9A04-AA0EDBC6A2B8}"/>
              </a:ext>
            </a:extLst>
          </p:cNvPr>
          <p:cNvSpPr>
            <a:spLocks noGrp="1"/>
          </p:cNvSpPr>
          <p:nvPr/>
        </p:nvSpPr>
        <p:spPr>
          <a:xfrm>
            <a:off x="607219" y="2157413"/>
            <a:ext cx="2243138" cy="411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To simplify hardware implementation, SMMU uses a single-slot processing model.</a:t>
            </a:r>
          </a:p>
        </p:txBody>
      </p:sp>
      <p:sp>
        <p:nvSpPr>
          <p:cNvPr id="10" name="Text 6">
            <a:extLst>
              <a:ext uri="{FF2B5EF4-FFF2-40B4-BE49-F238E27FC236}">
                <a16:creationId xmlns:a16="http://schemas.microsoft.com/office/drawing/2014/main" id="{8D0FECCC-6BAD-4C76-BCC6-40AF7FE64CAC}"/>
              </a:ext>
            </a:extLst>
          </p:cNvPr>
          <p:cNvSpPr>
            <a:spLocks noGrp="1"/>
          </p:cNvSpPr>
          <p:nvPr/>
        </p:nvSpPr>
        <p:spPr>
          <a:xfrm>
            <a:off x="607219" y="2676004"/>
            <a:ext cx="2243138" cy="617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Only one multicast frame is stitched at a time, keeping state-machine transitions deterministic and efficient.</a:t>
            </a:r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485C9967-AEC2-45E6-9B7C-BB9E47E2A21A}"/>
              </a:ext>
            </a:extLst>
          </p:cNvPr>
          <p:cNvSpPr>
            <a:spLocks noGrp="1"/>
          </p:cNvSpPr>
          <p:nvPr/>
        </p:nvSpPr>
        <p:spPr>
          <a:xfrm>
            <a:off x="3243263" y="1000125"/>
            <a:ext cx="2628900" cy="37147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2" name="Shape 8">
            <a:extLst>
              <a:ext uri="{FF2B5EF4-FFF2-40B4-BE49-F238E27FC236}">
                <a16:creationId xmlns:a16="http://schemas.microsoft.com/office/drawing/2014/main" id="{E8CA6DE1-C6FC-4FAE-81EB-7D1F8641C719}"/>
              </a:ext>
            </a:extLst>
          </p:cNvPr>
          <p:cNvSpPr>
            <a:spLocks noGrp="1"/>
          </p:cNvSpPr>
          <p:nvPr/>
        </p:nvSpPr>
        <p:spPr>
          <a:xfrm>
            <a:off x="3243263" y="1000125"/>
            <a:ext cx="28575" cy="371475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40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431400" y="1225153"/>
            <a:ext cx="342900" cy="342900"/>
          </a:xfrm>
          <a:prstGeom prst="rect">
            <a:avLst/>
          </a:prstGeom>
        </p:spPr>
      </p:pic>
      <p:sp>
        <p:nvSpPr>
          <p:cNvPr id="14" name="Text 9">
            <a:extLst>
              <a:ext uri="{FF2B5EF4-FFF2-40B4-BE49-F238E27FC236}">
                <a16:creationId xmlns:a16="http://schemas.microsoft.com/office/drawing/2014/main" id="{3142C2D6-057C-436E-A195-998AA54B50DC}"/>
              </a:ext>
            </a:extLst>
          </p:cNvPr>
          <p:cNvSpPr>
            <a:spLocks noGrp="1"/>
          </p:cNvSpPr>
          <p:nvPr/>
        </p:nvSpPr>
        <p:spPr>
          <a:xfrm>
            <a:off x="3431400" y="1785938"/>
            <a:ext cx="2252681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Zero Copy</a:t>
            </a:r>
          </a:p>
        </p:txBody>
      </p:sp>
      <p:sp>
        <p:nvSpPr>
          <p:cNvPr id="15" name="Text 10">
            <a:extLst>
              <a:ext uri="{FF2B5EF4-FFF2-40B4-BE49-F238E27FC236}">
                <a16:creationId xmlns:a16="http://schemas.microsoft.com/office/drawing/2014/main" id="{BC893C17-AAEF-46D8-A8E9-64CF2D647391}"/>
              </a:ext>
            </a:extLst>
          </p:cNvPr>
          <p:cNvSpPr>
            <a:spLocks noGrp="1"/>
          </p:cNvSpPr>
          <p:nvPr/>
        </p:nvSpPr>
        <p:spPr>
          <a:xfrm>
            <a:off x="3431400" y="2157413"/>
            <a:ext cx="2252681" cy="20571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>
                <a:solidFill>
                  <a:srgbClr val="2E2E38"/>
                </a:solidFill>
                <a:latin typeface="Arial"/>
                <a:ea typeface="Arial"/>
                <a:cs typeface="Arial"/>
              </a:rPr>
              <a:t>The primary goal is storage conservation.</a:t>
            </a:r>
          </a:p>
        </p:txBody>
      </p:sp>
      <p:sp>
        <p:nvSpPr>
          <p:cNvPr id="16" name="Text 11">
            <a:extLst>
              <a:ext uri="{FF2B5EF4-FFF2-40B4-BE49-F238E27FC236}">
                <a16:creationId xmlns:a16="http://schemas.microsoft.com/office/drawing/2014/main" id="{573E35A2-C05A-4DBF-9E80-58D5BBE783B9}"/>
              </a:ext>
            </a:extLst>
          </p:cNvPr>
          <p:cNvSpPr>
            <a:spLocks noGrp="1"/>
          </p:cNvSpPr>
          <p:nvPr/>
        </p:nvSpPr>
        <p:spPr>
          <a:xfrm>
            <a:off x="3431400" y="2470286"/>
            <a:ext cx="2252681" cy="746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A multicast frame has only one physical copy in Next-</a:t>
            </a:r>
            <a:r>
              <a:rPr sz="850" dirty="0" err="1">
                <a:solidFill>
                  <a:srgbClr val="2E2E38"/>
                </a:solidFill>
                <a:latin typeface="Arial"/>
                <a:ea typeface="Arial"/>
                <a:cs typeface="Arial"/>
              </a:rPr>
              <a:t>Ptr</a:t>
            </a:r>
            <a:r>
              <a:rPr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 SRAM. Multiple logical pointers read that copy concurrently, substantially reducing buffer consumption.</a:t>
            </a:r>
          </a:p>
        </p:txBody>
      </p:sp>
      <p:sp>
        <p:nvSpPr>
          <p:cNvPr id="17" name="Shape 12">
            <a:extLst>
              <a:ext uri="{FF2B5EF4-FFF2-40B4-BE49-F238E27FC236}">
                <a16:creationId xmlns:a16="http://schemas.microsoft.com/office/drawing/2014/main" id="{325C97AD-FC84-42C3-94C5-2407B56FBD93}"/>
              </a:ext>
            </a:extLst>
          </p:cNvPr>
          <p:cNvSpPr>
            <a:spLocks noGrp="1"/>
          </p:cNvSpPr>
          <p:nvPr/>
        </p:nvSpPr>
        <p:spPr>
          <a:xfrm>
            <a:off x="6076987" y="1000125"/>
            <a:ext cx="2638444" cy="371475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8" name="Shape 13">
            <a:extLst>
              <a:ext uri="{FF2B5EF4-FFF2-40B4-BE49-F238E27FC236}">
                <a16:creationId xmlns:a16="http://schemas.microsoft.com/office/drawing/2014/main" id="{881123C0-9D7E-466D-A7CB-0079D290F4FD}"/>
              </a:ext>
            </a:extLst>
          </p:cNvPr>
          <p:cNvSpPr>
            <a:spLocks noGrp="1"/>
          </p:cNvSpPr>
          <p:nvPr/>
        </p:nvSpPr>
        <p:spPr>
          <a:xfrm>
            <a:off x="6076987" y="1000125"/>
            <a:ext cx="28575" cy="371475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46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274557" y="1225153"/>
            <a:ext cx="342900" cy="342900"/>
          </a:xfrm>
          <a:prstGeom prst="rect">
            <a:avLst/>
          </a:prstGeom>
        </p:spPr>
      </p:pic>
      <p:sp>
        <p:nvSpPr>
          <p:cNvPr id="20" name="Text 14">
            <a:extLst>
              <a:ext uri="{FF2B5EF4-FFF2-40B4-BE49-F238E27FC236}">
                <a16:creationId xmlns:a16="http://schemas.microsoft.com/office/drawing/2014/main" id="{4CD0864B-F107-4C51-A127-2B3070A50AFA}"/>
              </a:ext>
            </a:extLst>
          </p:cNvPr>
          <p:cNvSpPr>
            <a:spLocks noGrp="1"/>
          </p:cNvSpPr>
          <p:nvPr/>
        </p:nvSpPr>
        <p:spPr>
          <a:xfrm>
            <a:off x="6274557" y="1785938"/>
            <a:ext cx="2262169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 dirty="0">
                <a:solidFill>
                  <a:srgbClr val="3253DC"/>
                </a:solidFill>
                <a:latin typeface="Arial"/>
                <a:ea typeface="Arial"/>
                <a:cs typeface="Arial"/>
              </a:rPr>
              <a:t>Logical Stitching</a:t>
            </a:r>
          </a:p>
        </p:txBody>
      </p:sp>
      <p:sp>
        <p:nvSpPr>
          <p:cNvPr id="21" name="Text 15">
            <a:extLst>
              <a:ext uri="{FF2B5EF4-FFF2-40B4-BE49-F238E27FC236}">
                <a16:creationId xmlns:a16="http://schemas.microsoft.com/office/drawing/2014/main" id="{8A0C5105-DD85-4BF3-8A8A-20D105ABFC3B}"/>
              </a:ext>
            </a:extLst>
          </p:cNvPr>
          <p:cNvSpPr>
            <a:spLocks noGrp="1"/>
          </p:cNvSpPr>
          <p:nvPr/>
        </p:nvSpPr>
        <p:spPr>
          <a:xfrm>
            <a:off x="6274557" y="2157413"/>
            <a:ext cx="2262169" cy="41143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Multicast data does not form a separate linked list; it is logically stitched into the unicast flow.</a:t>
            </a:r>
          </a:p>
        </p:txBody>
      </p:sp>
      <p:sp>
        <p:nvSpPr>
          <p:cNvPr id="22" name="Text 16">
            <a:extLst>
              <a:ext uri="{FF2B5EF4-FFF2-40B4-BE49-F238E27FC236}">
                <a16:creationId xmlns:a16="http://schemas.microsoft.com/office/drawing/2014/main" id="{E4AA06BC-8D83-42B2-B672-ADE7C3D8EC2C}"/>
              </a:ext>
            </a:extLst>
          </p:cNvPr>
          <p:cNvSpPr>
            <a:spLocks noGrp="1"/>
          </p:cNvSpPr>
          <p:nvPr/>
        </p:nvSpPr>
        <p:spPr>
          <a:xfrm>
            <a:off x="6274557" y="2676004"/>
            <a:ext cx="2262169" cy="74615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From QM's perspective, multicast frames transparently interleave with the unicast queue, enabling seamless integration with existing service logic.</a:t>
            </a:r>
          </a:p>
        </p:txBody>
      </p:sp>
      <p:sp>
        <p:nvSpPr>
          <p:cNvPr id="23" name="Text 17">
            <a:extLst>
              <a:ext uri="{FF2B5EF4-FFF2-40B4-BE49-F238E27FC236}">
                <a16:creationId xmlns:a16="http://schemas.microsoft.com/office/drawing/2014/main" id="{18AE800A-FD72-4EA0-A448-7C48462CCB38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</p:spTree>
    <p:extLst>
      <p:ext uri="{BB962C8B-B14F-4D97-AF65-F5344CB8AC3E}">
        <p14:creationId xmlns:p14="http://schemas.microsoft.com/office/powerpoint/2010/main" val="888372294"/>
      </p:ext>
    </p:extLst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1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D7FF4A44-FBED-4BA7-9DB3-6D24592FDF85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4AFB7AA5-84B5-45F2-8AAE-2EC7813DF130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363237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Multicast —</a:t>
            </a:r>
            <a:r>
              <a:rPr lang="en-US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 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Enqueue</a:t>
            </a:r>
            <a:endParaRPr sz="1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1EF93748-77BE-4F5F-84D2-8C17BA39D8EA}"/>
              </a:ext>
            </a:extLst>
          </p:cNvPr>
          <p:cNvSpPr>
            <a:spLocks noGrp="1"/>
          </p:cNvSpPr>
          <p:nvPr/>
        </p:nvSpPr>
        <p:spPr>
          <a:xfrm>
            <a:off x="2235994" y="895648"/>
            <a:ext cx="4286250" cy="3429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926DED61-5FE3-4F50-ADD5-B79BBE2B56DF}"/>
              </a:ext>
            </a:extLst>
          </p:cNvPr>
          <p:cNvSpPr>
            <a:spLocks noGrp="1"/>
          </p:cNvSpPr>
          <p:nvPr/>
        </p:nvSpPr>
        <p:spPr>
          <a:xfrm>
            <a:off x="2235994" y="895648"/>
            <a:ext cx="28575" cy="3429000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EF7703A0-7F21-4BEF-9F9B-8D291607C623}"/>
              </a:ext>
            </a:extLst>
          </p:cNvPr>
          <p:cNvSpPr>
            <a:spLocks noGrp="1"/>
          </p:cNvSpPr>
          <p:nvPr/>
        </p:nvSpPr>
        <p:spPr>
          <a:xfrm>
            <a:off x="2414588" y="1074242"/>
            <a:ext cx="3929063" cy="21074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100" b="1" dirty="0">
                <a:solidFill>
                  <a:srgbClr val="3253DC"/>
                </a:solidFill>
                <a:latin typeface="Arial"/>
                <a:ea typeface="Arial"/>
                <a:cs typeface="Arial"/>
              </a:rPr>
              <a:t>Key State Registers</a:t>
            </a:r>
          </a:p>
        </p:txBody>
      </p:sp>
      <p:sp>
        <p:nvSpPr>
          <p:cNvPr id="8" name="Shape 5">
            <a:extLst>
              <a:ext uri="{FF2B5EF4-FFF2-40B4-BE49-F238E27FC236}">
                <a16:creationId xmlns:a16="http://schemas.microsoft.com/office/drawing/2014/main" id="{6342CB9E-35F4-4759-AB20-A743FD520047}"/>
              </a:ext>
            </a:extLst>
          </p:cNvPr>
          <p:cNvSpPr>
            <a:spLocks noGrp="1"/>
          </p:cNvSpPr>
          <p:nvPr/>
        </p:nvSpPr>
        <p:spPr>
          <a:xfrm>
            <a:off x="2414588" y="1427857"/>
            <a:ext cx="1285875" cy="307181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FC6432A-6C3A-4456-8F72-10EB4A0EB636}"/>
              </a:ext>
            </a:extLst>
          </p:cNvPr>
          <p:cNvSpPr>
            <a:spLocks noGrp="1"/>
          </p:cNvSpPr>
          <p:nvPr/>
        </p:nvSpPr>
        <p:spPr>
          <a:xfrm>
            <a:off x="2414588" y="1427857"/>
            <a:ext cx="1285875" cy="310896"/>
          </a:xfrm>
          <a:prstGeom prst="rect">
            <a:avLst/>
          </a:prstGeom>
          <a:noFill/>
        </p:spPr>
        <p:txBody>
          <a:bodyPr wrap="none" lIns="102108" tIns="102108" rIns="102108" bIns="102108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Register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C88EF5F8-C8A3-465F-9B74-43AE24C6CCEE}"/>
              </a:ext>
            </a:extLst>
          </p:cNvPr>
          <p:cNvSpPr>
            <a:spLocks noGrp="1"/>
          </p:cNvSpPr>
          <p:nvPr/>
        </p:nvSpPr>
        <p:spPr>
          <a:xfrm>
            <a:off x="3700463" y="1427857"/>
            <a:ext cx="2643188" cy="307181"/>
          </a:xfrm>
          <a:prstGeom prst="rect">
            <a:avLst/>
          </a:prstGeom>
          <a:solidFill>
            <a:srgbClr val="6E6E7A"/>
          </a:solidFill>
        </p:spPr>
        <p:txBody>
          <a:bodyPr/>
          <a:lstStyle/>
          <a:p>
            <a:endParaRPr/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9792BC41-9ED4-420E-89B8-3E29E3D00AA1}"/>
              </a:ext>
            </a:extLst>
          </p:cNvPr>
          <p:cNvSpPr>
            <a:spLocks noGrp="1"/>
          </p:cNvSpPr>
          <p:nvPr/>
        </p:nvSpPr>
        <p:spPr>
          <a:xfrm>
            <a:off x="3700463" y="1427857"/>
            <a:ext cx="2643188" cy="310896"/>
          </a:xfrm>
          <a:prstGeom prst="rect">
            <a:avLst/>
          </a:prstGeom>
          <a:noFill/>
        </p:spPr>
        <p:txBody>
          <a:bodyPr wrap="square" lIns="102108" tIns="102108" rIns="102108" bIns="102108" anchor="ctr">
            <a:spAutoFit/>
          </a:bodyPr>
          <a:lstStyle/>
          <a:p>
            <a:pPr marL="0" indent="0" algn="l">
              <a:buNone/>
            </a:pPr>
            <a:r>
              <a:rPr sz="7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Function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1B345C97-A197-4B9E-8210-75D41DED40CC}"/>
              </a:ext>
            </a:extLst>
          </p:cNvPr>
          <p:cNvSpPr>
            <a:spLocks noGrp="1"/>
          </p:cNvSpPr>
          <p:nvPr/>
        </p:nvSpPr>
        <p:spPr>
          <a:xfrm>
            <a:off x="2414588" y="1742270"/>
            <a:ext cx="1285875" cy="440505"/>
          </a:xfrm>
          <a:prstGeom prst="rect">
            <a:avLst/>
          </a:prstGeom>
          <a:noFill/>
        </p:spPr>
        <p:txBody>
          <a:bodyPr wrap="square" lIns="102108" tIns="102108" rIns="102108" bIns="102108" anchor="ctr">
            <a:spAutoFit/>
          </a:bodyPr>
          <a:lstStyle/>
          <a:p>
            <a:pPr>
              <a:lnSpc>
                <a:spcPct val="112000"/>
              </a:lnSpc>
            </a:pPr>
            <a:r>
              <a:rPr lang="en-US" sz="700" b="1" dirty="0" err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mc_dst_bitmap_q</a:t>
            </a:r>
            <a:endParaRPr lang="en-US" sz="700" b="1" dirty="0">
              <a:solidFill>
                <a:srgbClr val="3253DC"/>
              </a:solidFill>
              <a:latin typeface="Consolas"/>
              <a:ea typeface="Consolas"/>
              <a:cs typeface="Consolas"/>
            </a:endParaRPr>
          </a:p>
          <a:p>
            <a:pPr>
              <a:lnSpc>
                <a:spcPct val="112000"/>
              </a:lnSpc>
            </a:pPr>
            <a:r>
              <a:rPr lang="en-US" altLang="zh-CN" sz="700" b="1" dirty="0" err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mc_alloc_mcast_tc</a:t>
            </a:r>
            <a:endParaRPr lang="en-US" sz="700" b="1" dirty="0">
              <a:solidFill>
                <a:srgbClr val="3253DC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DA423A7E-56F1-4B62-9774-B325E9A6E5D6}"/>
              </a:ext>
            </a:extLst>
          </p:cNvPr>
          <p:cNvSpPr>
            <a:spLocks noGrp="1"/>
          </p:cNvSpPr>
          <p:nvPr/>
        </p:nvSpPr>
        <p:spPr>
          <a:xfrm>
            <a:off x="3700463" y="1737985"/>
            <a:ext cx="2643188" cy="454355"/>
          </a:xfrm>
          <a:prstGeom prst="rect">
            <a:avLst/>
          </a:prstGeom>
          <a:noFill/>
        </p:spPr>
        <p:txBody>
          <a:bodyPr wrap="square" lIns="102108" tIns="102108" rIns="102108" bIns="102108" anchor="ctr">
            <a:spAutoFit/>
          </a:bodyPr>
          <a:lstStyle/>
          <a:p>
            <a:pPr>
              <a:lnSpc>
                <a:spcPct val="112000"/>
              </a:lnSpc>
            </a:pPr>
            <a:r>
              <a:rPr lang="en-US"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Destination-port bitmap recording every physical port targeted by the multicast frame.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3F3876F6-9070-4B13-90AF-0DBC8515818D}"/>
              </a:ext>
            </a:extLst>
          </p:cNvPr>
          <p:cNvSpPr>
            <a:spLocks noGrp="1"/>
          </p:cNvSpPr>
          <p:nvPr/>
        </p:nvSpPr>
        <p:spPr>
          <a:xfrm>
            <a:off x="2414588" y="2259360"/>
            <a:ext cx="1285875" cy="319831"/>
          </a:xfrm>
          <a:prstGeom prst="rect">
            <a:avLst/>
          </a:prstGeom>
          <a:noFill/>
        </p:spPr>
        <p:txBody>
          <a:bodyPr wrap="square" lIns="102108" tIns="102108" rIns="102108" bIns="102108" anchor="ctr">
            <a:spAutoFit/>
          </a:bodyPr>
          <a:lstStyle/>
          <a:p>
            <a:pPr>
              <a:lnSpc>
                <a:spcPct val="112000"/>
              </a:lnSpc>
            </a:pPr>
            <a:r>
              <a:rPr lang="en-US" sz="700" b="1" dirty="0" err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mc_valid_q</a:t>
            </a:r>
            <a:endParaRPr lang="en-US" sz="700" b="1" dirty="0">
              <a:solidFill>
                <a:srgbClr val="3253DC"/>
              </a:solidFill>
              <a:latin typeface="Consolas"/>
              <a:ea typeface="Consolas"/>
              <a:cs typeface="Consolas"/>
            </a:endParaRPr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643B6F17-2CBF-4F98-8939-459623F66262}"/>
              </a:ext>
            </a:extLst>
          </p:cNvPr>
          <p:cNvSpPr>
            <a:spLocks noGrp="1"/>
          </p:cNvSpPr>
          <p:nvPr/>
        </p:nvSpPr>
        <p:spPr>
          <a:xfrm>
            <a:off x="3700463" y="2190006"/>
            <a:ext cx="2643188" cy="460248"/>
          </a:xfrm>
          <a:prstGeom prst="rect">
            <a:avLst/>
          </a:prstGeom>
          <a:noFill/>
        </p:spPr>
        <p:txBody>
          <a:bodyPr wrap="square" lIns="102108" tIns="102108" rIns="102108" bIns="102108" anchor="ctr">
            <a:spAutoFit/>
          </a:bodyPr>
          <a:lstStyle/>
          <a:p>
            <a:pPr>
              <a:lnSpc>
                <a:spcPct val="112000"/>
              </a:lnSpc>
            </a:pPr>
            <a:r>
              <a:rPr lang="en-US"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Multicast-slot valid flag; indicates whether the current B2 slot contains a multicast frame.</a:t>
            </a:r>
            <a:endParaRPr sz="750" dirty="0">
              <a:solidFill>
                <a:srgbClr val="2E2E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AE5D9DD8-2CB6-4111-AD8F-7CC05D1326BD}"/>
              </a:ext>
            </a:extLst>
          </p:cNvPr>
          <p:cNvSpPr>
            <a:spLocks noGrp="1"/>
          </p:cNvSpPr>
          <p:nvPr/>
        </p:nvSpPr>
        <p:spPr>
          <a:xfrm>
            <a:off x="2414588" y="2648546"/>
            <a:ext cx="1285875" cy="458539"/>
          </a:xfrm>
          <a:prstGeom prst="rect">
            <a:avLst/>
          </a:prstGeom>
          <a:noFill/>
        </p:spPr>
        <p:txBody>
          <a:bodyPr wrap="square" lIns="102108" tIns="102108" rIns="102108" bIns="102108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700" b="1" dirty="0" err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mc_cells_q</a:t>
            </a:r>
            <a:r>
              <a:rPr sz="700" b="1" dirty="0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[16]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1B8ABEA6-3184-44D4-9D43-8237BD0CCE81}"/>
              </a:ext>
            </a:extLst>
          </p:cNvPr>
          <p:cNvSpPr>
            <a:spLocks noGrp="1"/>
          </p:cNvSpPr>
          <p:nvPr/>
        </p:nvSpPr>
        <p:spPr>
          <a:xfrm>
            <a:off x="3700463" y="2648546"/>
            <a:ext cx="2643188" cy="460248"/>
          </a:xfrm>
          <a:prstGeom prst="rect">
            <a:avLst/>
          </a:prstGeom>
          <a:noFill/>
        </p:spPr>
        <p:txBody>
          <a:bodyPr wrap="square" lIns="102108" tIns="102108" rIns="102108" bIns="102108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7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Mirror of the frame's cell-address list, allowing each port to read the complete multicast frame.</a:t>
            </a:r>
          </a:p>
        </p:txBody>
      </p:sp>
      <p:sp>
        <p:nvSpPr>
          <p:cNvPr id="18" name="Text 15">
            <a:extLst>
              <a:ext uri="{FF2B5EF4-FFF2-40B4-BE49-F238E27FC236}">
                <a16:creationId xmlns:a16="http://schemas.microsoft.com/office/drawing/2014/main" id="{4755BC0A-D17D-4FE2-8643-0A2DA2AEC616}"/>
              </a:ext>
            </a:extLst>
          </p:cNvPr>
          <p:cNvSpPr>
            <a:spLocks noGrp="1"/>
          </p:cNvSpPr>
          <p:nvPr/>
        </p:nvSpPr>
        <p:spPr>
          <a:xfrm>
            <a:off x="2414588" y="3107085"/>
            <a:ext cx="1285875" cy="458539"/>
          </a:xfrm>
          <a:prstGeom prst="rect">
            <a:avLst/>
          </a:prstGeom>
          <a:noFill/>
        </p:spPr>
        <p:txBody>
          <a:bodyPr wrap="square" lIns="102108" tIns="102108" rIns="102108" bIns="102108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700" b="1" dirty="0" err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mc_rd_idx_q</a:t>
            </a:r>
            <a:r>
              <a:rPr sz="700" b="1" dirty="0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[4]</a:t>
            </a:r>
          </a:p>
        </p:txBody>
      </p:sp>
      <p:sp>
        <p:nvSpPr>
          <p:cNvPr id="19" name="Text 16">
            <a:extLst>
              <a:ext uri="{FF2B5EF4-FFF2-40B4-BE49-F238E27FC236}">
                <a16:creationId xmlns:a16="http://schemas.microsoft.com/office/drawing/2014/main" id="{ED90A0F3-C001-48C4-9233-46EA0BA93429}"/>
              </a:ext>
            </a:extLst>
          </p:cNvPr>
          <p:cNvSpPr>
            <a:spLocks noGrp="1"/>
          </p:cNvSpPr>
          <p:nvPr/>
        </p:nvSpPr>
        <p:spPr>
          <a:xfrm>
            <a:off x="1978819" y="3172271"/>
            <a:ext cx="800100" cy="110728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endParaRPr/>
          </a:p>
        </p:txBody>
      </p:sp>
      <p:sp>
        <p:nvSpPr>
          <p:cNvPr id="20" name="Text 17">
            <a:extLst>
              <a:ext uri="{FF2B5EF4-FFF2-40B4-BE49-F238E27FC236}">
                <a16:creationId xmlns:a16="http://schemas.microsoft.com/office/drawing/2014/main" id="{44CA489A-3390-468A-8916-B2795E71F758}"/>
              </a:ext>
            </a:extLst>
          </p:cNvPr>
          <p:cNvSpPr>
            <a:spLocks noGrp="1"/>
          </p:cNvSpPr>
          <p:nvPr/>
        </p:nvSpPr>
        <p:spPr>
          <a:xfrm>
            <a:off x="3786188" y="3210669"/>
            <a:ext cx="2400300" cy="25070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Per-port private read pointers advance independently.</a:t>
            </a:r>
          </a:p>
        </p:txBody>
      </p:sp>
      <p:sp>
        <p:nvSpPr>
          <p:cNvPr id="21" name="Text 18">
            <a:extLst>
              <a:ext uri="{FF2B5EF4-FFF2-40B4-BE49-F238E27FC236}">
                <a16:creationId xmlns:a16="http://schemas.microsoft.com/office/drawing/2014/main" id="{1BC487DF-300B-4A17-A402-EA9483BCA7A6}"/>
              </a:ext>
            </a:extLst>
          </p:cNvPr>
          <p:cNvSpPr>
            <a:spLocks noGrp="1"/>
          </p:cNvSpPr>
          <p:nvPr/>
        </p:nvSpPr>
        <p:spPr>
          <a:xfrm>
            <a:off x="2414588" y="3565625"/>
            <a:ext cx="1285875" cy="458539"/>
          </a:xfrm>
          <a:prstGeom prst="rect">
            <a:avLst/>
          </a:prstGeom>
          <a:noFill/>
        </p:spPr>
        <p:txBody>
          <a:bodyPr wrap="square" lIns="102108" tIns="102108" rIns="102108" bIns="102108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700" b="1">
                <a:solidFill>
                  <a:srgbClr val="3253DC"/>
                </a:solidFill>
                <a:latin typeface="Consolas"/>
                <a:ea typeface="Consolas"/>
                <a:cs typeface="Consolas"/>
              </a:rPr>
              <a:t>mc_pend_uni_q[4]</a:t>
            </a:r>
          </a:p>
        </p:txBody>
      </p:sp>
      <p:sp>
        <p:nvSpPr>
          <p:cNvPr id="22" name="Text 19">
            <a:extLst>
              <a:ext uri="{FF2B5EF4-FFF2-40B4-BE49-F238E27FC236}">
                <a16:creationId xmlns:a16="http://schemas.microsoft.com/office/drawing/2014/main" id="{43C04763-3819-4CF9-B6DA-2C2C1C2EE8FF}"/>
              </a:ext>
            </a:extLst>
          </p:cNvPr>
          <p:cNvSpPr>
            <a:spLocks noGrp="1"/>
          </p:cNvSpPr>
          <p:nvPr/>
        </p:nvSpPr>
        <p:spPr>
          <a:xfrm>
            <a:off x="3700463" y="3565625"/>
            <a:ext cx="2643188" cy="460248"/>
          </a:xfrm>
          <a:prstGeom prst="rect">
            <a:avLst/>
          </a:prstGeom>
          <a:noFill/>
        </p:spPr>
        <p:txBody>
          <a:bodyPr wrap="square" lIns="102108" tIns="102108" rIns="102108" bIns="102108" anchor="ctr">
            <a:spAutoFit/>
          </a:bodyPr>
          <a:lstStyle/>
          <a:p>
            <a:pPr marL="0" indent="0" algn="l">
              <a:lnSpc>
                <a:spcPct val="112000"/>
              </a:lnSpc>
              <a:buNone/>
            </a:pPr>
            <a:r>
              <a:rPr sz="750">
                <a:solidFill>
                  <a:srgbClr val="2E2E38"/>
                </a:solidFill>
                <a:latin typeface="Arial"/>
                <a:ea typeface="Arial"/>
                <a:cs typeface="Arial"/>
              </a:rPr>
              <a:t>Per-port pending-unicast flag indicating that the port is still processing a preceding unicast frame.</a:t>
            </a:r>
          </a:p>
        </p:txBody>
      </p:sp>
      <p:sp>
        <p:nvSpPr>
          <p:cNvPr id="27" name="Text 23">
            <a:extLst>
              <a:ext uri="{FF2B5EF4-FFF2-40B4-BE49-F238E27FC236}">
                <a16:creationId xmlns:a16="http://schemas.microsoft.com/office/drawing/2014/main" id="{D8B37F4D-C982-4DAC-B3F2-A96E81622BBF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</p:spTree>
    <p:extLst>
      <p:ext uri="{BB962C8B-B14F-4D97-AF65-F5344CB8AC3E}">
        <p14:creationId xmlns:p14="http://schemas.microsoft.com/office/powerpoint/2010/main" val="249312381"/>
      </p:ext>
    </p:extLst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88C8E8BA-350F-451A-B745-EFB7C261A947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FD488467-C46E-43B9-8037-D64C82B694E9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386097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Multicast — Private Pointers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77FE57AC-251A-4B3D-87D7-B9E72395833C}"/>
              </a:ext>
            </a:extLst>
          </p:cNvPr>
          <p:cNvSpPr>
            <a:spLocks noGrp="1"/>
          </p:cNvSpPr>
          <p:nvPr/>
        </p:nvSpPr>
        <p:spPr>
          <a:xfrm>
            <a:off x="428625" y="728663"/>
            <a:ext cx="3000375" cy="157162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2C1AE46B-4160-41CF-BA1E-825FE379CF9C}"/>
              </a:ext>
            </a:extLst>
          </p:cNvPr>
          <p:cNvSpPr>
            <a:spLocks noGrp="1"/>
          </p:cNvSpPr>
          <p:nvPr/>
        </p:nvSpPr>
        <p:spPr>
          <a:xfrm>
            <a:off x="428625" y="728663"/>
            <a:ext cx="28575" cy="1571625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F2C2CFC7-9BAC-4B81-BD47-1750F00C0952}"/>
              </a:ext>
            </a:extLst>
          </p:cNvPr>
          <p:cNvSpPr>
            <a:spLocks noGrp="1"/>
          </p:cNvSpPr>
          <p:nvPr/>
        </p:nvSpPr>
        <p:spPr>
          <a:xfrm>
            <a:off x="607219" y="871538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 dirty="0">
                <a:solidFill>
                  <a:srgbClr val="3253DC"/>
                </a:solidFill>
                <a:latin typeface="Arial"/>
                <a:ea typeface="Arial"/>
                <a:cs typeface="Arial"/>
              </a:rPr>
              <a:t>Mechanism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4D20F01-8F18-4878-A46A-D9E5D8EB4B13}"/>
              </a:ext>
            </a:extLst>
          </p:cNvPr>
          <p:cNvSpPr>
            <a:spLocks noGrp="1"/>
          </p:cNvSpPr>
          <p:nvPr/>
        </p:nvSpPr>
        <p:spPr>
          <a:xfrm>
            <a:off x="607219" y="1175147"/>
            <a:ext cx="2643188" cy="31784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lang="en-US" altLang="zh-CN"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Each </a:t>
            </a:r>
            <a:r>
              <a:rPr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destination port has an independent </a:t>
            </a:r>
            <a:r>
              <a:rPr sz="850" dirty="0" err="1">
                <a:solidFill>
                  <a:srgbClr val="2E2E38"/>
                </a:solidFill>
                <a:latin typeface="Arial"/>
                <a:ea typeface="Arial"/>
                <a:cs typeface="Arial"/>
              </a:rPr>
              <a:t>mc_rd_idx_q</a:t>
            </a:r>
            <a:r>
              <a:rPr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[p] register.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47B8A51A-14CF-4212-AF77-D719C104AA0C}"/>
              </a:ext>
            </a:extLst>
          </p:cNvPr>
          <p:cNvSpPr>
            <a:spLocks noGrp="1"/>
          </p:cNvSpPr>
          <p:nvPr/>
        </p:nvSpPr>
        <p:spPr>
          <a:xfrm>
            <a:off x="607219" y="1612255"/>
            <a:ext cx="2643188" cy="5485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Port A may be reading cell 2 while </a:t>
            </a:r>
            <a:r>
              <a:rPr sz="850" dirty="0" err="1">
                <a:solidFill>
                  <a:srgbClr val="2E2E38"/>
                </a:solidFill>
                <a:latin typeface="Arial"/>
                <a:ea typeface="Arial"/>
                <a:cs typeface="Arial"/>
              </a:rPr>
              <a:t>backpressured</a:t>
            </a:r>
            <a:r>
              <a:rPr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 port B is still on cell 1. This decoupling preserves per-port independence.</a:t>
            </a:r>
          </a:p>
        </p:txBody>
      </p:sp>
      <p:sp>
        <p:nvSpPr>
          <p:cNvPr id="10" name="Shape 7">
            <a:extLst>
              <a:ext uri="{FF2B5EF4-FFF2-40B4-BE49-F238E27FC236}">
                <a16:creationId xmlns:a16="http://schemas.microsoft.com/office/drawing/2014/main" id="{63FFAE62-C80C-43DE-84E0-CA23DC9A4A70}"/>
              </a:ext>
            </a:extLst>
          </p:cNvPr>
          <p:cNvSpPr>
            <a:spLocks noGrp="1"/>
          </p:cNvSpPr>
          <p:nvPr/>
        </p:nvSpPr>
        <p:spPr>
          <a:xfrm>
            <a:off x="428625" y="2514600"/>
            <a:ext cx="3000375" cy="154349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1" name="Shape 8">
            <a:extLst>
              <a:ext uri="{FF2B5EF4-FFF2-40B4-BE49-F238E27FC236}">
                <a16:creationId xmlns:a16="http://schemas.microsoft.com/office/drawing/2014/main" id="{0A8BA11C-2E58-4CC7-A9CF-9C9C6A806FA9}"/>
              </a:ext>
            </a:extLst>
          </p:cNvPr>
          <p:cNvSpPr>
            <a:spLocks noGrp="1"/>
          </p:cNvSpPr>
          <p:nvPr/>
        </p:nvSpPr>
        <p:spPr>
          <a:xfrm>
            <a:off x="428625" y="2514600"/>
            <a:ext cx="28575" cy="1543496"/>
          </a:xfrm>
          <a:prstGeom prst="rect">
            <a:avLst/>
          </a:prstGeom>
          <a:solidFill>
            <a:srgbClr val="00C2DE"/>
          </a:solidFill>
        </p:spPr>
        <p:txBody>
          <a:bodyPr/>
          <a:lstStyle/>
          <a:p>
            <a:endParaRPr/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D8101320-29EB-4020-A99F-7D03FFE80C20}"/>
              </a:ext>
            </a:extLst>
          </p:cNvPr>
          <p:cNvSpPr>
            <a:spLocks noGrp="1"/>
          </p:cNvSpPr>
          <p:nvPr/>
        </p:nvSpPr>
        <p:spPr>
          <a:xfrm>
            <a:off x="607219" y="2657475"/>
            <a:ext cx="2643188" cy="1964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000" b="1">
                <a:solidFill>
                  <a:srgbClr val="00C2DE"/>
                </a:solidFill>
                <a:latin typeface="Arial"/>
                <a:ea typeface="Arial"/>
                <a:cs typeface="Arial"/>
              </a:rPr>
              <a:t>Key Benefits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771CD005-3216-4E55-BB6F-454BFE3BBB05}"/>
              </a:ext>
            </a:extLst>
          </p:cNvPr>
          <p:cNvSpPr>
            <a:spLocks noGrp="1"/>
          </p:cNvSpPr>
          <p:nvPr/>
        </p:nvSpPr>
        <p:spPr>
          <a:xfrm>
            <a:off x="607219" y="2961084"/>
            <a:ext cx="2643188" cy="109701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• One copy, multiple readers: SRAM stores only one packet copy.
• Zero-copy forwarding: no per-destination duplication, saving internal bandwidth and storage.
• Independent pacing: a slow port does not block a fast port's read progress.</a:t>
            </a:r>
          </a:p>
        </p:txBody>
      </p:sp>
      <p:sp>
        <p:nvSpPr>
          <p:cNvPr id="14" name="Text 11">
            <a:extLst>
              <a:ext uri="{FF2B5EF4-FFF2-40B4-BE49-F238E27FC236}">
                <a16:creationId xmlns:a16="http://schemas.microsoft.com/office/drawing/2014/main" id="{5F8399C7-1F5C-4FCF-88A5-F7E2FCEC33B7}"/>
              </a:ext>
            </a:extLst>
          </p:cNvPr>
          <p:cNvSpPr>
            <a:spLocks noGrp="1"/>
          </p:cNvSpPr>
          <p:nvPr/>
        </p:nvSpPr>
        <p:spPr>
          <a:xfrm>
            <a:off x="5343469" y="728663"/>
            <a:ext cx="1743187" cy="27432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B2 Multicast Private-Read-Pointer Model</a:t>
            </a:r>
          </a:p>
        </p:txBody>
      </p:sp>
      <p:sp>
        <p:nvSpPr>
          <p:cNvPr id="15" name="Shape 12">
            <a:extLst>
              <a:ext uri="{FF2B5EF4-FFF2-40B4-BE49-F238E27FC236}">
                <a16:creationId xmlns:a16="http://schemas.microsoft.com/office/drawing/2014/main" id="{CD709451-5700-4A84-BB3A-43DE13097FD5}"/>
              </a:ext>
            </a:extLst>
          </p:cNvPr>
          <p:cNvSpPr>
            <a:spLocks noGrp="1"/>
          </p:cNvSpPr>
          <p:nvPr/>
        </p:nvSpPr>
        <p:spPr>
          <a:xfrm>
            <a:off x="3714750" y="1010841"/>
            <a:ext cx="5000625" cy="3429000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36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3714750" y="1010841"/>
            <a:ext cx="5000625" cy="3429000"/>
          </a:xfrm>
          <a:prstGeom prst="rect">
            <a:avLst/>
          </a:prstGeom>
        </p:spPr>
      </p:pic>
      <p:sp>
        <p:nvSpPr>
          <p:cNvPr id="17" name="Text 13">
            <a:extLst>
              <a:ext uri="{FF2B5EF4-FFF2-40B4-BE49-F238E27FC236}">
                <a16:creationId xmlns:a16="http://schemas.microsoft.com/office/drawing/2014/main" id="{0342BDAF-C97F-4A65-BEA6-8BB668586142}"/>
              </a:ext>
            </a:extLst>
          </p:cNvPr>
          <p:cNvSpPr>
            <a:spLocks noGrp="1"/>
          </p:cNvSpPr>
          <p:nvPr/>
        </p:nvSpPr>
        <p:spPr>
          <a:xfrm>
            <a:off x="4514850" y="4439841"/>
            <a:ext cx="3400425" cy="356108"/>
          </a:xfrm>
          <a:prstGeom prst="rect">
            <a:avLst/>
          </a:prstGeom>
          <a:noFill/>
        </p:spPr>
        <p:txBody>
          <a:bodyPr wrap="square" lIns="0" tIns="127508" rIns="0" bIns="0" anchor="t">
            <a:spAutoFit/>
          </a:bodyPr>
          <a:lstStyle/>
          <a:p>
            <a:pPr marL="0" indent="0" algn="ctr">
              <a:buNone/>
            </a:pPr>
            <a:r>
              <a:rPr sz="750">
                <a:solidFill>
                  <a:srgbClr val="6E6E7A"/>
                </a:solidFill>
                <a:latin typeface="Arial"/>
                <a:ea typeface="Arial"/>
                <a:cs typeface="Arial"/>
              </a:rPr>
              <a:t>Per-port private read pointers provide logically concurrent access to a single physical copy.</a:t>
            </a:r>
          </a:p>
        </p:txBody>
      </p:sp>
      <p:sp>
        <p:nvSpPr>
          <p:cNvPr id="18" name="Text 14">
            <a:extLst>
              <a:ext uri="{FF2B5EF4-FFF2-40B4-BE49-F238E27FC236}">
                <a16:creationId xmlns:a16="http://schemas.microsoft.com/office/drawing/2014/main" id="{201A02FF-5E09-45AF-ACEC-6132919F7811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</p:spTree>
    <p:extLst>
      <p:ext uri="{BB962C8B-B14F-4D97-AF65-F5344CB8AC3E}">
        <p14:creationId xmlns:p14="http://schemas.microsoft.com/office/powerpoint/2010/main" val="1638592438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4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3F055182-D3C5-4C4A-8C98-F25F18B3C758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22898D89-3F16-4297-816D-A6879A5A4696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408957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Multicast — Dequeue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FE0F6754-CE68-4B8B-89C4-FC838D0E4D42}"/>
              </a:ext>
            </a:extLst>
          </p:cNvPr>
          <p:cNvSpPr>
            <a:spLocks noGrp="1"/>
          </p:cNvSpPr>
          <p:nvPr/>
        </p:nvSpPr>
        <p:spPr>
          <a:xfrm>
            <a:off x="428625" y="928688"/>
            <a:ext cx="4014788" cy="3786188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D830A08C-D905-4577-B760-57B295249138}"/>
              </a:ext>
            </a:extLst>
          </p:cNvPr>
          <p:cNvSpPr>
            <a:spLocks noGrp="1"/>
          </p:cNvSpPr>
          <p:nvPr/>
        </p:nvSpPr>
        <p:spPr>
          <a:xfrm>
            <a:off x="428625" y="928688"/>
            <a:ext cx="28575" cy="3786188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sp>
        <p:nvSpPr>
          <p:cNvPr id="7" name="Text 4">
            <a:extLst>
              <a:ext uri="{FF2B5EF4-FFF2-40B4-BE49-F238E27FC236}">
                <a16:creationId xmlns:a16="http://schemas.microsoft.com/office/drawing/2014/main" id="{01CFD219-1855-4F89-88EE-9280D7AD32BD}"/>
              </a:ext>
            </a:extLst>
          </p:cNvPr>
          <p:cNvSpPr>
            <a:spLocks noGrp="1"/>
          </p:cNvSpPr>
          <p:nvPr/>
        </p:nvSpPr>
        <p:spPr>
          <a:xfrm>
            <a:off x="642938" y="1143000"/>
            <a:ext cx="3571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3253DC"/>
                </a:solidFill>
                <a:latin typeface="Arial"/>
                <a:ea typeface="Arial"/>
                <a:cs typeface="Arial"/>
              </a:rPr>
              <a:t>Stitching Trigger Conditions</a:t>
            </a:r>
          </a:p>
        </p:txBody>
      </p:sp>
      <p:sp>
        <p:nvSpPr>
          <p:cNvPr id="8" name="Text 5">
            <a:extLst>
              <a:ext uri="{FF2B5EF4-FFF2-40B4-BE49-F238E27FC236}">
                <a16:creationId xmlns:a16="http://schemas.microsoft.com/office/drawing/2014/main" id="{80494DE3-23F9-4D7F-9560-11A01161E5A4}"/>
              </a:ext>
            </a:extLst>
          </p:cNvPr>
          <p:cNvSpPr>
            <a:spLocks noGrp="1"/>
          </p:cNvSpPr>
          <p:nvPr/>
        </p:nvSpPr>
        <p:spPr>
          <a:xfrm>
            <a:off x="642938" y="1550194"/>
            <a:ext cx="3571875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1. Unicast Frame Dequeue Completes</a:t>
            </a: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7FC3ADB2-5C5F-4FCC-B8C2-048E744DA9B1}"/>
              </a:ext>
            </a:extLst>
          </p:cNvPr>
          <p:cNvSpPr>
            <a:spLocks noGrp="1"/>
          </p:cNvSpPr>
          <p:nvPr/>
        </p:nvSpPr>
        <p:spPr>
          <a:xfrm>
            <a:off x="642938" y="1796653"/>
            <a:ext cx="3571875" cy="357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 dirty="0">
                <a:solidFill>
                  <a:srgbClr val="6E6E7A"/>
                </a:solidFill>
                <a:latin typeface="Arial"/>
                <a:ea typeface="Arial"/>
                <a:cs typeface="Arial"/>
              </a:rPr>
              <a:t>When the port's preceding unicast frame is fully transmitted (</a:t>
            </a:r>
            <a:r>
              <a:rPr sz="800" dirty="0" err="1">
                <a:solidFill>
                  <a:srgbClr val="6E6E7A"/>
                </a:solidFill>
                <a:latin typeface="Arial"/>
                <a:ea typeface="Arial"/>
                <a:cs typeface="Arial"/>
              </a:rPr>
              <a:t>mc_pend_uni_q</a:t>
            </a:r>
            <a:r>
              <a:rPr sz="800" dirty="0">
                <a:solidFill>
                  <a:srgbClr val="6E6E7A"/>
                </a:solidFill>
                <a:latin typeface="Arial"/>
                <a:ea typeface="Arial"/>
                <a:cs typeface="Arial"/>
              </a:rPr>
              <a:t>[p] == 0), the stitching check is triggered.</a:t>
            </a:r>
          </a:p>
        </p:txBody>
      </p:sp>
      <p:sp>
        <p:nvSpPr>
          <p:cNvPr id="10" name="Text 7">
            <a:extLst>
              <a:ext uri="{FF2B5EF4-FFF2-40B4-BE49-F238E27FC236}">
                <a16:creationId xmlns:a16="http://schemas.microsoft.com/office/drawing/2014/main" id="{5AC151EF-67C6-475F-83BD-D156A749E3EE}"/>
              </a:ext>
            </a:extLst>
          </p:cNvPr>
          <p:cNvSpPr>
            <a:spLocks noGrp="1"/>
          </p:cNvSpPr>
          <p:nvPr/>
        </p:nvSpPr>
        <p:spPr>
          <a:xfrm>
            <a:off x="642938" y="2332434"/>
            <a:ext cx="3571875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2. Multicast Slot Is Ready</a:t>
            </a:r>
          </a:p>
        </p:txBody>
      </p:sp>
      <p:sp>
        <p:nvSpPr>
          <p:cNvPr id="11" name="Text 8">
            <a:extLst>
              <a:ext uri="{FF2B5EF4-FFF2-40B4-BE49-F238E27FC236}">
                <a16:creationId xmlns:a16="http://schemas.microsoft.com/office/drawing/2014/main" id="{83C1468B-C81C-4D6A-9861-F7D834FB1204}"/>
              </a:ext>
            </a:extLst>
          </p:cNvPr>
          <p:cNvSpPr>
            <a:spLocks noGrp="1"/>
          </p:cNvSpPr>
          <p:nvPr/>
        </p:nvSpPr>
        <p:spPr>
          <a:xfrm>
            <a:off x="642938" y="2578894"/>
            <a:ext cx="3571875" cy="357188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6E6E7A"/>
                </a:solidFill>
                <a:latin typeface="Arial"/>
                <a:ea typeface="Arial"/>
                <a:cs typeface="Arial"/>
              </a:rPr>
              <a:t>The multicast slot is valid (mc_valid_q == 1) and the port is set in the destination bitmap (mc_dst_bitmap_q[p] == 1).</a:t>
            </a:r>
          </a:p>
        </p:txBody>
      </p:sp>
      <p:sp>
        <p:nvSpPr>
          <p:cNvPr id="12" name="Text 9">
            <a:extLst>
              <a:ext uri="{FF2B5EF4-FFF2-40B4-BE49-F238E27FC236}">
                <a16:creationId xmlns:a16="http://schemas.microsoft.com/office/drawing/2014/main" id="{C62A1BD3-004D-46C2-B686-24E3BD96CFA4}"/>
              </a:ext>
            </a:extLst>
          </p:cNvPr>
          <p:cNvSpPr>
            <a:spLocks noGrp="1"/>
          </p:cNvSpPr>
          <p:nvPr/>
        </p:nvSpPr>
        <p:spPr>
          <a:xfrm>
            <a:off x="642938" y="3114675"/>
            <a:ext cx="3571875" cy="175022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900" b="1">
                <a:solidFill>
                  <a:srgbClr val="2E2E38"/>
                </a:solidFill>
                <a:latin typeface="Arial"/>
                <a:ea typeface="Arial"/>
                <a:cs typeface="Arial"/>
              </a:rPr>
              <a:t>3. Read Pointer Is In Range</a:t>
            </a:r>
          </a:p>
        </p:txBody>
      </p:sp>
      <p:sp>
        <p:nvSpPr>
          <p:cNvPr id="13" name="Text 10">
            <a:extLst>
              <a:ext uri="{FF2B5EF4-FFF2-40B4-BE49-F238E27FC236}">
                <a16:creationId xmlns:a16="http://schemas.microsoft.com/office/drawing/2014/main" id="{28F7ACDE-C8CB-4DEB-A84A-A47F678B8419}"/>
              </a:ext>
            </a:extLst>
          </p:cNvPr>
          <p:cNvSpPr>
            <a:spLocks noGrp="1"/>
          </p:cNvSpPr>
          <p:nvPr/>
        </p:nvSpPr>
        <p:spPr>
          <a:xfrm>
            <a:off x="642938" y="3361134"/>
            <a:ext cx="3571875" cy="1785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lnSpc>
                <a:spcPct val="128000"/>
              </a:lnSpc>
              <a:buNone/>
            </a:pPr>
            <a:r>
              <a:rPr sz="800">
                <a:solidFill>
                  <a:srgbClr val="6E6E7A"/>
                </a:solidFill>
                <a:latin typeface="Arial"/>
                <a:ea typeface="Arial"/>
                <a:cs typeface="Arial"/>
              </a:rPr>
              <a:t>mc_rd_idx_q[p] is below the frame's cell count.</a:t>
            </a:r>
          </a:p>
        </p:txBody>
      </p:sp>
      <p:sp>
        <p:nvSpPr>
          <p:cNvPr id="14" name="Shape 11">
            <a:extLst>
              <a:ext uri="{FF2B5EF4-FFF2-40B4-BE49-F238E27FC236}">
                <a16:creationId xmlns:a16="http://schemas.microsoft.com/office/drawing/2014/main" id="{229CD8F1-03E4-4FEF-844D-1159550F0EFF}"/>
              </a:ext>
            </a:extLst>
          </p:cNvPr>
          <p:cNvSpPr>
            <a:spLocks noGrp="1"/>
          </p:cNvSpPr>
          <p:nvPr/>
        </p:nvSpPr>
        <p:spPr>
          <a:xfrm>
            <a:off x="4714875" y="928688"/>
            <a:ext cx="4000500" cy="3786188"/>
          </a:xfrm>
          <a:prstGeom prst="rect">
            <a:avLst/>
          </a:prstGeom>
          <a:solidFill>
            <a:srgbClr val="2E2E38"/>
          </a:solidFill>
        </p:spPr>
        <p:txBody>
          <a:bodyPr/>
          <a:lstStyle/>
          <a:p>
            <a:endParaRPr/>
          </a:p>
        </p:txBody>
      </p:sp>
      <p:sp>
        <p:nvSpPr>
          <p:cNvPr id="15" name="Text 12">
            <a:extLst>
              <a:ext uri="{FF2B5EF4-FFF2-40B4-BE49-F238E27FC236}">
                <a16:creationId xmlns:a16="http://schemas.microsoft.com/office/drawing/2014/main" id="{FEE9D26E-77E9-49EC-9C96-949C22933C1B}"/>
              </a:ext>
            </a:extLst>
          </p:cNvPr>
          <p:cNvSpPr>
            <a:spLocks noGrp="1"/>
          </p:cNvSpPr>
          <p:nvPr/>
        </p:nvSpPr>
        <p:spPr>
          <a:xfrm>
            <a:off x="4929188" y="1143000"/>
            <a:ext cx="3571875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200" b="1">
                <a:solidFill>
                  <a:srgbClr val="00C2DE"/>
                </a:solidFill>
                <a:latin typeface="Arial"/>
                <a:ea typeface="Arial"/>
                <a:cs typeface="Arial"/>
              </a:rPr>
              <a:t>QM Perspective and Transparent Processing</a:t>
            </a:r>
          </a:p>
        </p:txBody>
      </p:sp>
      <p:sp>
        <p:nvSpPr>
          <p:cNvPr id="16" name="Text 13">
            <a:extLst>
              <a:ext uri="{FF2B5EF4-FFF2-40B4-BE49-F238E27FC236}">
                <a16:creationId xmlns:a16="http://schemas.microsoft.com/office/drawing/2014/main" id="{125344A7-F8BB-4297-88B1-842A2914B54B}"/>
              </a:ext>
            </a:extLst>
          </p:cNvPr>
          <p:cNvSpPr>
            <a:spLocks noGrp="1"/>
          </p:cNvSpPr>
          <p:nvPr/>
        </p:nvSpPr>
        <p:spPr>
          <a:xfrm>
            <a:off x="4929188" y="1550194"/>
            <a:ext cx="3571875" cy="6171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Transparency: QM always sees an ordinary unicast queue. Internally, SMMU inserts multicast cells between unicast frames through logical selection.</a:t>
            </a:r>
          </a:p>
        </p:txBody>
      </p:sp>
      <p:sp>
        <p:nvSpPr>
          <p:cNvPr id="17" name="Text 14">
            <a:extLst>
              <a:ext uri="{FF2B5EF4-FFF2-40B4-BE49-F238E27FC236}">
                <a16:creationId xmlns:a16="http://schemas.microsoft.com/office/drawing/2014/main" id="{6ECC4469-8C58-4389-AEE0-BF207A04A2F9}"/>
              </a:ext>
            </a:extLst>
          </p:cNvPr>
          <p:cNvSpPr>
            <a:spLocks noGrp="1"/>
          </p:cNvSpPr>
          <p:nvPr/>
        </p:nvSpPr>
        <p:spPr>
          <a:xfrm>
            <a:off x="4929188" y="2310222"/>
            <a:ext cx="3571875" cy="52669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lnSpc>
                <a:spcPct val="144000"/>
              </a:lnSpc>
              <a:buNone/>
            </a:pPr>
            <a:r>
              <a:rPr sz="8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Seamless switching: once stitching conditions are met, the LLE switches from the SRAM linked list to the multicast mirror registers mc_cells_q with zero added latency.</a:t>
            </a:r>
          </a:p>
        </p:txBody>
      </p:sp>
      <p:sp>
        <p:nvSpPr>
          <p:cNvPr id="18" name="Shape 15">
            <a:extLst>
              <a:ext uri="{FF2B5EF4-FFF2-40B4-BE49-F238E27FC236}">
                <a16:creationId xmlns:a16="http://schemas.microsoft.com/office/drawing/2014/main" id="{3259B934-D26B-4529-AB21-779CCE56253F}"/>
              </a:ext>
            </a:extLst>
          </p:cNvPr>
          <p:cNvSpPr>
            <a:spLocks noGrp="1"/>
          </p:cNvSpPr>
          <p:nvPr/>
        </p:nvSpPr>
        <p:spPr>
          <a:xfrm>
            <a:off x="4929188" y="2868104"/>
            <a:ext cx="3571875" cy="1285875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pic>
        <p:nvPicPr>
          <p:cNvPr id="41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929188" y="2868104"/>
            <a:ext cx="3571875" cy="1285875"/>
          </a:xfrm>
          <a:prstGeom prst="rect">
            <a:avLst/>
          </a:prstGeom>
        </p:spPr>
      </p:pic>
      <p:sp>
        <p:nvSpPr>
          <p:cNvPr id="20" name="Text 16">
            <a:extLst>
              <a:ext uri="{FF2B5EF4-FFF2-40B4-BE49-F238E27FC236}">
                <a16:creationId xmlns:a16="http://schemas.microsoft.com/office/drawing/2014/main" id="{6423FC01-C26A-4A4D-B1AC-53902B5279F2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</p:spTree>
    <p:extLst>
      <p:ext uri="{BB962C8B-B14F-4D97-AF65-F5344CB8AC3E}">
        <p14:creationId xmlns:p14="http://schemas.microsoft.com/office/powerpoint/2010/main" val="1588855906"/>
      </p:ext>
    </p:extLst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6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236414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0B90D387-6293-41B4-9CEC-207BE142D69D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719A0284-9AA9-4A13-B667-5C779E55C689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4089574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Multicast — Ref-Count Rec</a:t>
            </a:r>
            <a:r>
              <a:rPr lang="en-US" altLang="zh-CN"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ycle</a:t>
            </a:r>
            <a:endParaRPr sz="1600" b="1" dirty="0">
              <a:solidFill>
                <a:srgbClr val="FFFFFF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33" name="Text 30">
            <a:extLst>
              <a:ext uri="{FF2B5EF4-FFF2-40B4-BE49-F238E27FC236}">
                <a16:creationId xmlns:a16="http://schemas.microsoft.com/office/drawing/2014/main" id="{76B5B218-EEBE-448A-B606-FBDC0CED2970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  <p:pic>
        <p:nvPicPr>
          <p:cNvPr id="42" name="图片 41">
            <a:extLst>
              <a:ext uri="{FF2B5EF4-FFF2-40B4-BE49-F238E27FC236}">
                <a16:creationId xmlns:a16="http://schemas.microsoft.com/office/drawing/2014/main" id="{16B97AFD-ACF0-1A82-A408-A8C501DDC0E8}"/>
              </a:ext>
            </a:extLst>
          </p:cNvPr>
          <p:cNvPicPr>
            <a:picLocks noChangeAspect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2563" y="596923"/>
            <a:ext cx="7616952" cy="428225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91058500"/>
      </p:ext>
    </p:extLst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3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654A30A3-1892-4348-BE5D-79642FF8B04F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E6DCBBFC-EEA1-4788-9AE9-2DB145980EB0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3213125" cy="246221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Aging — Zombie Cleanup</a:t>
            </a:r>
          </a:p>
        </p:txBody>
      </p:sp>
      <p:pic>
        <p:nvPicPr>
          <p:cNvPr id="5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6362" y="253483"/>
            <a:ext cx="7131275" cy="4890017"/>
          </a:xfrm>
          <a:prstGeom prst="rect">
            <a:avLst/>
          </a:prstGeom>
        </p:spPr>
      </p:pic>
      <p:sp>
        <p:nvSpPr>
          <p:cNvPr id="29" name="Text 25">
            <a:extLst>
              <a:ext uri="{FF2B5EF4-FFF2-40B4-BE49-F238E27FC236}">
                <a16:creationId xmlns:a16="http://schemas.microsoft.com/office/drawing/2014/main" id="{7E11121D-F69A-47B9-9E16-D07B1A48802D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</p:spTree>
    <p:extLst>
      <p:ext uri="{BB962C8B-B14F-4D97-AF65-F5344CB8AC3E}">
        <p14:creationId xmlns:p14="http://schemas.microsoft.com/office/powerpoint/2010/main" val="2080264559"/>
      </p:ext>
    </p:extLst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2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Shape 0">
            <a:extLst>
              <a:ext uri="{FF2B5EF4-FFF2-40B4-BE49-F238E27FC236}">
                <a16:creationId xmlns:a16="http://schemas.microsoft.com/office/drawing/2014/main" id="{07AD89D0-F679-414C-B872-20D0D5FECC79}"/>
              </a:ext>
            </a:extLst>
          </p:cNvPr>
          <p:cNvSpPr>
            <a:spLocks noGrp="1"/>
          </p:cNvSpPr>
          <p:nvPr/>
        </p:nvSpPr>
        <p:spPr>
          <a:xfrm>
            <a:off x="0" y="0"/>
            <a:ext cx="9144000" cy="571500"/>
          </a:xfrm>
          <a:prstGeom prst="rect">
            <a:avLst/>
          </a:prstGeom>
          <a:solidFill>
            <a:srgbClr val="3253DC"/>
          </a:solidFill>
        </p:spPr>
        <p:txBody>
          <a:bodyPr/>
          <a:lstStyle/>
          <a:p>
            <a:endParaRPr/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16A41821-6D3F-477C-A180-FF999CA855E4}"/>
              </a:ext>
            </a:extLst>
          </p:cNvPr>
          <p:cNvSpPr>
            <a:spLocks noGrp="1"/>
          </p:cNvSpPr>
          <p:nvPr/>
        </p:nvSpPr>
        <p:spPr>
          <a:xfrm>
            <a:off x="428625" y="130373"/>
            <a:ext cx="3530464" cy="31075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600" b="1">
                <a:solidFill>
                  <a:srgbClr val="FFFFFF"/>
                </a:solidFill>
                <a:latin typeface="Arial"/>
                <a:ea typeface="Arial"/>
                <a:cs typeface="Arial"/>
              </a:rPr>
              <a:t>Design Highlights</a:t>
            </a:r>
          </a:p>
        </p:txBody>
      </p:sp>
      <p:sp>
        <p:nvSpPr>
          <p:cNvPr id="5" name="Shape 2">
            <a:extLst>
              <a:ext uri="{FF2B5EF4-FFF2-40B4-BE49-F238E27FC236}">
                <a16:creationId xmlns:a16="http://schemas.microsoft.com/office/drawing/2014/main" id="{692083E0-7853-4F9F-AF93-7DB4BC390312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4036219" cy="182165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6" name="Shape 3">
            <a:extLst>
              <a:ext uri="{FF2B5EF4-FFF2-40B4-BE49-F238E27FC236}">
                <a16:creationId xmlns:a16="http://schemas.microsoft.com/office/drawing/2014/main" id="{C6B4632F-6C04-4C8D-A0CB-47108E654D4F}"/>
              </a:ext>
            </a:extLst>
          </p:cNvPr>
          <p:cNvSpPr>
            <a:spLocks noGrp="1"/>
          </p:cNvSpPr>
          <p:nvPr/>
        </p:nvSpPr>
        <p:spPr>
          <a:xfrm>
            <a:off x="428625" y="857250"/>
            <a:ext cx="28575" cy="1821656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37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642938" y="1035844"/>
            <a:ext cx="171450" cy="228600"/>
          </a:xfrm>
          <a:prstGeom prst="rect">
            <a:avLst/>
          </a:prstGeom>
        </p:spPr>
      </p:pic>
      <p:sp>
        <p:nvSpPr>
          <p:cNvPr id="8" name="Text 4">
            <a:extLst>
              <a:ext uri="{FF2B5EF4-FFF2-40B4-BE49-F238E27FC236}">
                <a16:creationId xmlns:a16="http://schemas.microsoft.com/office/drawing/2014/main" id="{417C1D21-E407-481D-8DD6-05B655016232}"/>
              </a:ext>
            </a:extLst>
          </p:cNvPr>
          <p:cNvSpPr>
            <a:spLocks noGrp="1"/>
          </p:cNvSpPr>
          <p:nvPr/>
        </p:nvSpPr>
        <p:spPr>
          <a:xfrm>
            <a:off x="957263" y="1035844"/>
            <a:ext cx="2152948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53DC"/>
                </a:solidFill>
                <a:latin typeface="Arial"/>
                <a:ea typeface="Arial"/>
                <a:cs typeface="Arial"/>
              </a:rPr>
              <a:t>High-Throughput Pipeline</a:t>
            </a:r>
            <a:endParaRPr sz="1200" b="1" dirty="0">
              <a:solidFill>
                <a:srgbClr val="3253D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9" name="Text 5">
            <a:extLst>
              <a:ext uri="{FF2B5EF4-FFF2-40B4-BE49-F238E27FC236}">
                <a16:creationId xmlns:a16="http://schemas.microsoft.com/office/drawing/2014/main" id="{87D42380-DC69-444B-AE1E-19F588F249EC}"/>
              </a:ext>
            </a:extLst>
          </p:cNvPr>
          <p:cNvSpPr>
            <a:spLocks noGrp="1"/>
          </p:cNvSpPr>
          <p:nvPr/>
        </p:nvSpPr>
        <p:spPr>
          <a:xfrm>
            <a:off x="642938" y="1407319"/>
            <a:ext cx="3607594" cy="55961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44000"/>
              </a:lnSpc>
              <a:buFontTx/>
              <a:buChar char="-"/>
            </a:pPr>
            <a:r>
              <a:rPr lang="en-US"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Strict 1-cycle enqueue/dequeue (T0 request → T1 result)</a:t>
            </a:r>
          </a:p>
          <a:p>
            <a:pPr marL="171450" indent="-171450" algn="l">
              <a:lnSpc>
                <a:spcPct val="144000"/>
              </a:lnSpc>
              <a:buFontTx/>
              <a:buChar char="-"/>
            </a:pPr>
            <a:r>
              <a:rPr lang="en-US"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Back-to-back operation: one cell per clock, no stalls</a:t>
            </a:r>
          </a:p>
          <a:p>
            <a:pPr marL="171450" indent="-171450" algn="l">
              <a:lnSpc>
                <a:spcPct val="144000"/>
              </a:lnSpc>
              <a:buFontTx/>
              <a:buChar char="-"/>
            </a:pPr>
            <a:r>
              <a:rPr lang="en-US"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Two-level prefetch fully absorbs the Next-</a:t>
            </a:r>
            <a:r>
              <a:rPr lang="en-US" sz="850" dirty="0" err="1">
                <a:solidFill>
                  <a:srgbClr val="2E2E38"/>
                </a:solidFill>
                <a:latin typeface="Arial"/>
                <a:ea typeface="Arial"/>
                <a:cs typeface="Arial"/>
              </a:rPr>
              <a:t>Ptr</a:t>
            </a:r>
            <a:r>
              <a:rPr lang="en-US"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 SRAM read latency</a:t>
            </a:r>
            <a:endParaRPr sz="850" dirty="0">
              <a:solidFill>
                <a:srgbClr val="2E2E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0" name="Shape 6">
            <a:extLst>
              <a:ext uri="{FF2B5EF4-FFF2-40B4-BE49-F238E27FC236}">
                <a16:creationId xmlns:a16="http://schemas.microsoft.com/office/drawing/2014/main" id="{071A6C61-BBF4-4664-B129-58F8C9E7B69D}"/>
              </a:ext>
            </a:extLst>
          </p:cNvPr>
          <p:cNvSpPr>
            <a:spLocks noGrp="1"/>
          </p:cNvSpPr>
          <p:nvPr/>
        </p:nvSpPr>
        <p:spPr>
          <a:xfrm>
            <a:off x="4679156" y="857250"/>
            <a:ext cx="4036219" cy="182165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1" name="Shape 7">
            <a:extLst>
              <a:ext uri="{FF2B5EF4-FFF2-40B4-BE49-F238E27FC236}">
                <a16:creationId xmlns:a16="http://schemas.microsoft.com/office/drawing/2014/main" id="{3F0FDE66-972C-4A77-80D7-FCE471083D0D}"/>
              </a:ext>
            </a:extLst>
          </p:cNvPr>
          <p:cNvSpPr>
            <a:spLocks noGrp="1"/>
          </p:cNvSpPr>
          <p:nvPr/>
        </p:nvSpPr>
        <p:spPr>
          <a:xfrm>
            <a:off x="4679156" y="857250"/>
            <a:ext cx="28575" cy="1821656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42" name="Image 2"/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4893469" y="1035844"/>
            <a:ext cx="228600" cy="228600"/>
          </a:xfrm>
          <a:prstGeom prst="rect">
            <a:avLst/>
          </a:prstGeom>
        </p:spPr>
      </p:pic>
      <p:sp>
        <p:nvSpPr>
          <p:cNvPr id="13" name="Text 8">
            <a:extLst>
              <a:ext uri="{FF2B5EF4-FFF2-40B4-BE49-F238E27FC236}">
                <a16:creationId xmlns:a16="http://schemas.microsoft.com/office/drawing/2014/main" id="{E278A92E-1B9D-4249-B8DC-385689887644}"/>
              </a:ext>
            </a:extLst>
          </p:cNvPr>
          <p:cNvSpPr>
            <a:spLocks noGrp="1"/>
          </p:cNvSpPr>
          <p:nvPr/>
        </p:nvSpPr>
        <p:spPr>
          <a:xfrm>
            <a:off x="5264943" y="1035844"/>
            <a:ext cx="2921793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53DC"/>
                </a:solidFill>
                <a:latin typeface="Arial"/>
                <a:ea typeface="Arial"/>
                <a:cs typeface="Arial"/>
              </a:rPr>
              <a:t>Dual-Pool Buffering &amp; Flow Control</a:t>
            </a:r>
            <a:endParaRPr sz="1200" b="1" dirty="0">
              <a:solidFill>
                <a:srgbClr val="3253D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4" name="Text 9">
            <a:extLst>
              <a:ext uri="{FF2B5EF4-FFF2-40B4-BE49-F238E27FC236}">
                <a16:creationId xmlns:a16="http://schemas.microsoft.com/office/drawing/2014/main" id="{76D2806C-36E4-4886-BE3E-EB11D64A295A}"/>
              </a:ext>
            </a:extLst>
          </p:cNvPr>
          <p:cNvSpPr>
            <a:spLocks noGrp="1"/>
          </p:cNvSpPr>
          <p:nvPr/>
        </p:nvSpPr>
        <p:spPr>
          <a:xfrm>
            <a:off x="4893469" y="1407319"/>
            <a:ext cx="3607594" cy="1296445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44000"/>
              </a:lnSpc>
              <a:buFontTx/>
              <a:buChar char="-"/>
            </a:pPr>
            <a:r>
              <a:rPr lang="en-US"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Static reserved pool (guaranteed) + dynamic shared pool (high utilization) — fair yet efficient</a:t>
            </a:r>
          </a:p>
          <a:p>
            <a:pPr marL="171450" indent="-171450" algn="l">
              <a:lnSpc>
                <a:spcPct val="144000"/>
              </a:lnSpc>
              <a:buFontTx/>
              <a:buChar char="-"/>
            </a:pPr>
            <a:r>
              <a:rPr lang="en-US"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Admission drop decision at enqueue (queue / port / global / shared-pool limits)</a:t>
            </a:r>
          </a:p>
          <a:p>
            <a:pPr marL="171450" indent="-171450" algn="l">
              <a:lnSpc>
                <a:spcPct val="144000"/>
              </a:lnSpc>
              <a:buFontTx/>
              <a:buChar char="-"/>
            </a:pPr>
            <a:r>
              <a:rPr lang="en-US"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Whole-frame pre-check and whole-frame drop (no half-linked packets)</a:t>
            </a:r>
          </a:p>
          <a:p>
            <a:pPr marL="171450" indent="-171450" algn="l">
              <a:lnSpc>
                <a:spcPct val="144000"/>
              </a:lnSpc>
              <a:buFontTx/>
              <a:buChar char="-"/>
            </a:pPr>
            <a:r>
              <a:rPr lang="en-US"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IEEE 802.3x PAUSE &amp; 802.1Qbb PFC with XOFF/XON dual-threshold hysteresis</a:t>
            </a:r>
            <a:endParaRPr sz="850" dirty="0">
              <a:solidFill>
                <a:srgbClr val="2E2E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5" name="Shape 10">
            <a:extLst>
              <a:ext uri="{FF2B5EF4-FFF2-40B4-BE49-F238E27FC236}">
                <a16:creationId xmlns:a16="http://schemas.microsoft.com/office/drawing/2014/main" id="{490AED7F-4D78-43AB-8DD0-D99669D4187C}"/>
              </a:ext>
            </a:extLst>
          </p:cNvPr>
          <p:cNvSpPr>
            <a:spLocks noGrp="1"/>
          </p:cNvSpPr>
          <p:nvPr/>
        </p:nvSpPr>
        <p:spPr>
          <a:xfrm>
            <a:off x="428625" y="2893219"/>
            <a:ext cx="4036219" cy="182165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16" name="Shape 11">
            <a:extLst>
              <a:ext uri="{FF2B5EF4-FFF2-40B4-BE49-F238E27FC236}">
                <a16:creationId xmlns:a16="http://schemas.microsoft.com/office/drawing/2014/main" id="{205AB160-DC95-4B28-B548-6F6E459CBC55}"/>
              </a:ext>
            </a:extLst>
          </p:cNvPr>
          <p:cNvSpPr>
            <a:spLocks noGrp="1"/>
          </p:cNvSpPr>
          <p:nvPr/>
        </p:nvSpPr>
        <p:spPr>
          <a:xfrm>
            <a:off x="428625" y="2893219"/>
            <a:ext cx="28575" cy="1821656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47" name="Image 3"/>
          <p:cNvPicPr>
            <a:picLocks noChangeAspect="1"/>
          </p:cNvPicPr>
          <p:nvPr/>
        </p:nvPicPr>
        <p:blipFill>
          <a:blip r:embed="rId6"/>
          <a:stretch>
            <a:fillRect/>
          </a:stretch>
        </p:blipFill>
        <p:spPr>
          <a:xfrm>
            <a:off x="642938" y="3071813"/>
            <a:ext cx="285750" cy="228600"/>
          </a:xfrm>
          <a:prstGeom prst="rect">
            <a:avLst/>
          </a:prstGeom>
        </p:spPr>
      </p:pic>
      <p:sp>
        <p:nvSpPr>
          <p:cNvPr id="18" name="Text 12">
            <a:extLst>
              <a:ext uri="{FF2B5EF4-FFF2-40B4-BE49-F238E27FC236}">
                <a16:creationId xmlns:a16="http://schemas.microsoft.com/office/drawing/2014/main" id="{9E179DE6-C127-42DC-8056-F41DB480000C}"/>
              </a:ext>
            </a:extLst>
          </p:cNvPr>
          <p:cNvSpPr>
            <a:spLocks noGrp="1"/>
          </p:cNvSpPr>
          <p:nvPr/>
        </p:nvSpPr>
        <p:spPr>
          <a:xfrm>
            <a:off x="1071563" y="3071813"/>
            <a:ext cx="1466980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53DC"/>
                </a:solidFill>
                <a:latin typeface="Arial"/>
                <a:ea typeface="Arial"/>
                <a:cs typeface="Arial"/>
              </a:rPr>
              <a:t>Zero-Copy Multicast</a:t>
            </a:r>
            <a:endParaRPr sz="1200" b="1" dirty="0">
              <a:solidFill>
                <a:srgbClr val="3253D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19" name="Text 13">
            <a:extLst>
              <a:ext uri="{FF2B5EF4-FFF2-40B4-BE49-F238E27FC236}">
                <a16:creationId xmlns:a16="http://schemas.microsoft.com/office/drawing/2014/main" id="{45ECE5AB-6FE4-4927-8277-DA44FF383DA8}"/>
              </a:ext>
            </a:extLst>
          </p:cNvPr>
          <p:cNvSpPr>
            <a:spLocks noGrp="1"/>
          </p:cNvSpPr>
          <p:nvPr/>
        </p:nvSpPr>
        <p:spPr>
          <a:xfrm>
            <a:off x="642938" y="3443288"/>
            <a:ext cx="3607594" cy="110806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44000"/>
              </a:lnSpc>
              <a:buFontTx/>
              <a:buChar char="-"/>
            </a:pPr>
            <a:r>
              <a:rPr lang="en-US"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Single slot: one multicast frame in flight at a time</a:t>
            </a:r>
          </a:p>
          <a:p>
            <a:pPr marL="171450" indent="-171450" algn="l">
              <a:lnSpc>
                <a:spcPct val="144000"/>
              </a:lnSpc>
              <a:buFontTx/>
              <a:buChar char="-"/>
            </a:pPr>
            <a:r>
              <a:rPr lang="en-US"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Zero copy: one shared linked list in SRAM, no per-port duplication</a:t>
            </a:r>
          </a:p>
          <a:p>
            <a:pPr marL="171450" indent="-171450" algn="l">
              <a:lnSpc>
                <a:spcPct val="144000"/>
              </a:lnSpc>
              <a:buFontTx/>
              <a:buChar char="-"/>
            </a:pPr>
            <a:r>
              <a:rPr lang="en-US"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Per-port private read pointers: independent pacing, no head-of-line blocking</a:t>
            </a:r>
          </a:p>
          <a:p>
            <a:pPr marL="171450" indent="-171450" algn="l">
              <a:lnSpc>
                <a:spcPct val="144000"/>
              </a:lnSpc>
              <a:buFontTx/>
              <a:buChar char="-"/>
            </a:pPr>
            <a:r>
              <a:rPr lang="en-US"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Reference-count recycle: cell freed only after every destination port has sent it</a:t>
            </a:r>
            <a:endParaRPr sz="850" dirty="0">
              <a:solidFill>
                <a:srgbClr val="2E2E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0" name="Shape 14">
            <a:extLst>
              <a:ext uri="{FF2B5EF4-FFF2-40B4-BE49-F238E27FC236}">
                <a16:creationId xmlns:a16="http://schemas.microsoft.com/office/drawing/2014/main" id="{692BF7AF-D9FA-46E0-AB06-702623FD0A6A}"/>
              </a:ext>
            </a:extLst>
          </p:cNvPr>
          <p:cNvSpPr>
            <a:spLocks noGrp="1"/>
          </p:cNvSpPr>
          <p:nvPr/>
        </p:nvSpPr>
        <p:spPr>
          <a:xfrm>
            <a:off x="4679156" y="2893219"/>
            <a:ext cx="4036219" cy="1821656"/>
          </a:xfrm>
          <a:prstGeom prst="rect">
            <a:avLst/>
          </a:prstGeom>
          <a:solidFill>
            <a:srgbClr val="FFFFFF"/>
          </a:solidFill>
        </p:spPr>
        <p:txBody>
          <a:bodyPr/>
          <a:lstStyle/>
          <a:p>
            <a:endParaRPr/>
          </a:p>
        </p:txBody>
      </p:sp>
      <p:sp>
        <p:nvSpPr>
          <p:cNvPr id="21" name="Shape 15">
            <a:extLst>
              <a:ext uri="{FF2B5EF4-FFF2-40B4-BE49-F238E27FC236}">
                <a16:creationId xmlns:a16="http://schemas.microsoft.com/office/drawing/2014/main" id="{D07699F3-BA67-46F3-906C-A8352E6BAFBF}"/>
              </a:ext>
            </a:extLst>
          </p:cNvPr>
          <p:cNvSpPr>
            <a:spLocks noGrp="1"/>
          </p:cNvSpPr>
          <p:nvPr/>
        </p:nvSpPr>
        <p:spPr>
          <a:xfrm>
            <a:off x="4679156" y="2893219"/>
            <a:ext cx="28575" cy="1821656"/>
          </a:xfrm>
          <a:prstGeom prst="rect">
            <a:avLst/>
          </a:prstGeom>
          <a:solidFill>
            <a:srgbClr val="6CA0F6"/>
          </a:solidFill>
        </p:spPr>
        <p:txBody>
          <a:bodyPr/>
          <a:lstStyle/>
          <a:p>
            <a:endParaRPr/>
          </a:p>
        </p:txBody>
      </p:sp>
      <p:pic>
        <p:nvPicPr>
          <p:cNvPr id="52" name="Image 4"/>
          <p:cNvPicPr>
            <a:picLocks noChangeAspect="1"/>
          </p:cNvPicPr>
          <p:nvPr/>
        </p:nvPicPr>
        <p:blipFill>
          <a:blip r:embed="rId7"/>
          <a:stretch>
            <a:fillRect/>
          </a:stretch>
        </p:blipFill>
        <p:spPr>
          <a:xfrm>
            <a:off x="4893469" y="3071813"/>
            <a:ext cx="228600" cy="228600"/>
          </a:xfrm>
          <a:prstGeom prst="rect">
            <a:avLst/>
          </a:prstGeom>
        </p:spPr>
      </p:pic>
      <p:sp>
        <p:nvSpPr>
          <p:cNvPr id="23" name="Text 16">
            <a:extLst>
              <a:ext uri="{FF2B5EF4-FFF2-40B4-BE49-F238E27FC236}">
                <a16:creationId xmlns:a16="http://schemas.microsoft.com/office/drawing/2014/main" id="{8B4E4572-49AD-4340-92F4-CD31B6B7F1CF}"/>
              </a:ext>
            </a:extLst>
          </p:cNvPr>
          <p:cNvSpPr>
            <a:spLocks noGrp="1"/>
          </p:cNvSpPr>
          <p:nvPr/>
        </p:nvSpPr>
        <p:spPr>
          <a:xfrm>
            <a:off x="5264944" y="3071813"/>
            <a:ext cx="1657406" cy="18466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lang="en-US" sz="1200" b="1" dirty="0">
                <a:solidFill>
                  <a:srgbClr val="3253DC"/>
                </a:solidFill>
                <a:latin typeface="Arial"/>
                <a:ea typeface="Arial"/>
                <a:cs typeface="Arial"/>
              </a:rPr>
              <a:t>Autonomous Aging</a:t>
            </a:r>
            <a:endParaRPr sz="1200" b="1" dirty="0">
              <a:solidFill>
                <a:srgbClr val="3253DC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4" name="Text 17">
            <a:extLst>
              <a:ext uri="{FF2B5EF4-FFF2-40B4-BE49-F238E27FC236}">
                <a16:creationId xmlns:a16="http://schemas.microsoft.com/office/drawing/2014/main" id="{9223A2C9-3BE7-4988-91F2-104A7EF322CA}"/>
              </a:ext>
            </a:extLst>
          </p:cNvPr>
          <p:cNvSpPr>
            <a:spLocks noGrp="1"/>
          </p:cNvSpPr>
          <p:nvPr/>
        </p:nvSpPr>
        <p:spPr>
          <a:xfrm>
            <a:off x="4893469" y="3443288"/>
            <a:ext cx="3607594" cy="542906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171450" indent="-171450" algn="l">
              <a:lnSpc>
                <a:spcPct val="144000"/>
              </a:lnSpc>
              <a:buFontTx/>
              <a:buChar char="-"/>
            </a:pPr>
            <a:r>
              <a:rPr lang="en-US"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MMU self-detects zombie queues (occupied but long unserved)</a:t>
            </a:r>
          </a:p>
          <a:p>
            <a:pPr marL="171450" indent="-171450" algn="l">
              <a:lnSpc>
                <a:spcPct val="144000"/>
              </a:lnSpc>
              <a:buFontTx/>
              <a:buChar char="-"/>
            </a:pPr>
            <a:r>
              <a:rPr lang="en-US"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Round-robin scanner flushes one queue at a time, fairly</a:t>
            </a:r>
          </a:p>
          <a:p>
            <a:pPr marL="171450" indent="-171450" algn="l">
              <a:lnSpc>
                <a:spcPct val="144000"/>
              </a:lnSpc>
              <a:buFontTx/>
              <a:buChar char="-"/>
            </a:pPr>
            <a:r>
              <a:rPr lang="en-US" sz="850" dirty="0">
                <a:solidFill>
                  <a:srgbClr val="2E2E38"/>
                </a:solidFill>
                <a:latin typeface="Arial"/>
                <a:ea typeface="Arial"/>
                <a:cs typeface="Arial"/>
              </a:rPr>
              <a:t>Cells auto-recycled to the free list; QM notified to sync its bookkeeping</a:t>
            </a:r>
            <a:endParaRPr sz="850" dirty="0">
              <a:solidFill>
                <a:srgbClr val="2E2E38"/>
              </a:solidFill>
              <a:latin typeface="Arial"/>
              <a:ea typeface="Arial"/>
              <a:cs typeface="Arial"/>
            </a:endParaRPr>
          </a:p>
        </p:txBody>
      </p:sp>
      <p:sp>
        <p:nvSpPr>
          <p:cNvPr id="25" name="Text 18">
            <a:extLst>
              <a:ext uri="{FF2B5EF4-FFF2-40B4-BE49-F238E27FC236}">
                <a16:creationId xmlns:a16="http://schemas.microsoft.com/office/drawing/2014/main" id="{237B4031-354E-4154-B393-AE27296BC5E8}"/>
              </a:ext>
            </a:extLst>
          </p:cNvPr>
          <p:cNvSpPr>
            <a:spLocks noGrp="1"/>
          </p:cNvSpPr>
          <p:nvPr/>
        </p:nvSpPr>
        <p:spPr>
          <a:xfrm>
            <a:off x="428625" y="4879181"/>
            <a:ext cx="857473" cy="100013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600">
                <a:solidFill>
                  <a:srgbClr val="6E6E7A"/>
                </a:solidFill>
                <a:latin typeface="Arial"/>
                <a:ea typeface="Arial"/>
                <a:cs typeface="Arial"/>
              </a:rPr>
              <a:t>SMMU Design Review</a:t>
            </a:r>
          </a:p>
        </p:txBody>
      </p:sp>
    </p:spTree>
    <p:extLst>
      <p:ext uri="{BB962C8B-B14F-4D97-AF65-F5344CB8AC3E}">
        <p14:creationId xmlns:p14="http://schemas.microsoft.com/office/powerpoint/2010/main" val="1342804820"/>
      </p:ext>
    </p:extLst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5" name="Image 0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0" y="0"/>
            <a:ext cx="9144000" cy="5143500"/>
          </a:xfrm>
          <a:prstGeom prst="rect">
            <a:avLst/>
          </a:prstGeom>
        </p:spPr>
      </p:pic>
      <p:sp>
        <p:nvSpPr>
          <p:cNvPr id="3" name="Text 0">
            <a:extLst>
              <a:ext uri="{FF2B5EF4-FFF2-40B4-BE49-F238E27FC236}">
                <a16:creationId xmlns:a16="http://schemas.microsoft.com/office/drawing/2014/main" id="{150EBABB-DAF8-49EF-8E43-F4B3FFEDB6F7}"/>
              </a:ext>
            </a:extLst>
          </p:cNvPr>
          <p:cNvSpPr>
            <a:spLocks noGrp="1"/>
          </p:cNvSpPr>
          <p:nvPr/>
        </p:nvSpPr>
        <p:spPr>
          <a:xfrm>
            <a:off x="2311561" y="173236"/>
            <a:ext cx="4520878" cy="617934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33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Conclusion</a:t>
            </a:r>
          </a:p>
        </p:txBody>
      </p:sp>
      <p:sp>
        <p:nvSpPr>
          <p:cNvPr id="4" name="Text 1">
            <a:extLst>
              <a:ext uri="{FF2B5EF4-FFF2-40B4-BE49-F238E27FC236}">
                <a16:creationId xmlns:a16="http://schemas.microsoft.com/office/drawing/2014/main" id="{C3DEEEAB-F092-48F4-BADD-154BDD2238BD}"/>
              </a:ext>
            </a:extLst>
          </p:cNvPr>
          <p:cNvSpPr>
            <a:spLocks noGrp="1"/>
          </p:cNvSpPr>
          <p:nvPr/>
        </p:nvSpPr>
        <p:spPr>
          <a:xfrm>
            <a:off x="3671888" y="934045"/>
            <a:ext cx="1800225" cy="271463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400" b="1" dirty="0">
                <a:solidFill>
                  <a:srgbClr val="00C2DE"/>
                </a:solidFill>
                <a:latin typeface="Arial"/>
                <a:ea typeface="Arial"/>
                <a:cs typeface="Arial"/>
              </a:rPr>
              <a:t>Thank You</a:t>
            </a:r>
          </a:p>
        </p:txBody>
      </p:sp>
      <p:pic>
        <p:nvPicPr>
          <p:cNvPr id="18" name="Image 1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4214813" y="1659136"/>
            <a:ext cx="714375" cy="571500"/>
          </a:xfrm>
          <a:prstGeom prst="rect">
            <a:avLst/>
          </a:prstGeom>
        </p:spPr>
      </p:pic>
      <p:sp>
        <p:nvSpPr>
          <p:cNvPr id="6" name="Text 2">
            <a:extLst>
              <a:ext uri="{FF2B5EF4-FFF2-40B4-BE49-F238E27FC236}">
                <a16:creationId xmlns:a16="http://schemas.microsoft.com/office/drawing/2014/main" id="{4476AC2B-866B-4244-BF80-614F01AFCA9E}"/>
              </a:ext>
            </a:extLst>
          </p:cNvPr>
          <p:cNvSpPr>
            <a:spLocks noGrp="1"/>
          </p:cNvSpPr>
          <p:nvPr/>
        </p:nvSpPr>
        <p:spPr>
          <a:xfrm>
            <a:off x="4219556" y="2434233"/>
            <a:ext cx="704887" cy="292894"/>
          </a:xfrm>
          <a:prstGeom prst="rect">
            <a:avLst/>
          </a:prstGeom>
          <a:noFill/>
        </p:spPr>
        <p:txBody>
          <a:bodyPr wrap="none" lIns="0" tIns="0" rIns="0" bIns="0" anchor="t">
            <a:spAutoFit/>
          </a:bodyPr>
          <a:lstStyle/>
          <a:p>
            <a:pPr marL="0" indent="0" algn="l">
              <a:buNone/>
            </a:pPr>
            <a:r>
              <a:rPr sz="1800" b="1" dirty="0">
                <a:solidFill>
                  <a:srgbClr val="FFFFFF"/>
                </a:solidFill>
                <a:latin typeface="Arial"/>
                <a:ea typeface="Arial"/>
                <a:cs typeface="Arial"/>
              </a:rPr>
              <a:t>Q &amp; A</a:t>
            </a:r>
          </a:p>
        </p:txBody>
      </p:sp>
      <p:sp>
        <p:nvSpPr>
          <p:cNvPr id="11" name="Text 6">
            <a:extLst>
              <a:ext uri="{FF2B5EF4-FFF2-40B4-BE49-F238E27FC236}">
                <a16:creationId xmlns:a16="http://schemas.microsoft.com/office/drawing/2014/main" id="{66DDF57F-87FC-4278-8BAD-70E84EBC16E6}"/>
              </a:ext>
            </a:extLst>
          </p:cNvPr>
          <p:cNvSpPr>
            <a:spLocks noGrp="1"/>
          </p:cNvSpPr>
          <p:nvPr/>
        </p:nvSpPr>
        <p:spPr>
          <a:xfrm>
            <a:off x="3639350" y="4722019"/>
            <a:ext cx="1865244" cy="228600"/>
          </a:xfrm>
          <a:prstGeom prst="rect">
            <a:avLst/>
          </a:prstGeom>
          <a:noFill/>
        </p:spPr>
        <p:txBody>
          <a:bodyPr wrap="square" lIns="0" tIns="0" rIns="0" bIns="0" anchor="t">
            <a:spAutoFit/>
          </a:bodyPr>
          <a:lstStyle/>
          <a:p>
            <a:pPr marL="0" indent="0" algn="l">
              <a:buNone/>
            </a:pPr>
            <a:r>
              <a:rPr sz="750">
                <a:solidFill>
                  <a:srgbClr val="FFFFFF">
                    <a:alpha val="60000"/>
                  </a:srgbClr>
                </a:solidFill>
                <a:latin typeface="Arial"/>
                <a:ea typeface="Arial"/>
                <a:cs typeface="Arial"/>
              </a:rPr>
              <a:t>Smart MMU (SMMU) Design Module Overview | 2026</a:t>
            </a:r>
          </a:p>
        </p:txBody>
      </p:sp>
    </p:spTree>
    <p:extLst>
      <p:ext uri="{BB962C8B-B14F-4D97-AF65-F5344CB8AC3E}">
        <p14:creationId xmlns:p14="http://schemas.microsoft.com/office/powerpoint/2010/main" val="753593761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6350">
          <a:solidFill>
            <a:schemeClr val="phClr"/>
          </a:solidFill>
          <a:prstDash val="solid"/>
        </a:ln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</a:theme>
</file>

<file path=docMetadata/LabelInfo.xml><?xml version="1.0" encoding="utf-8"?>
<clbl:labelList xmlns:clbl="http://schemas.microsoft.com/office/2020/mipLabelMetadata">
  <clbl:label id="{08f6f869-1ed0-46b3-a227-1d3e52347e28}" enabled="1" method="Standard" siteId="{98e9ba89-e1a1-4e38-9007-8bdabc25de1d}" removed="0"/>
</clbl:labelList>
</file>

<file path=docProps/app.xml><?xml version="1.0" encoding="utf-8"?>
<Properties xmlns="http://schemas.openxmlformats.org/officeDocument/2006/extended-properties" xmlns:vt="http://schemas.openxmlformats.org/officeDocument/2006/docPropsVTypes">
  <TotalTime>2585</TotalTime>
  <Words>3122</Words>
  <Application>Microsoft Office PowerPoint</Application>
  <DocSecurity>0</DocSecurity>
  <PresentationFormat>On-screen Show (16:9)</PresentationFormat>
  <Paragraphs>453</Paragraphs>
  <Slides>27</Slides>
  <Notes>27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27</vt:i4>
      </vt:variant>
    </vt:vector>
  </HeadingPairs>
  <TitlesOfParts>
    <vt:vector size="31" baseType="lpstr">
      <vt:lpstr>Arial</vt:lpstr>
      <vt:lpstr>Calibri</vt:lpstr>
      <vt:lpstr>Consolas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Presentation</dc:title>
  <dc:creator>Walnut Exporter</dc:creator>
  <cp:lastModifiedBy>Jinyin Yan</cp:lastModifiedBy>
  <cp:revision>8</cp:revision>
  <dcterms:created xsi:type="dcterms:W3CDTF">2026-07-19T08:15:46Z</dcterms:created>
  <dcterms:modified xsi:type="dcterms:W3CDTF">2026-07-26T05:59:19Z</dcterms:modified>
</cp:coreProperties>
</file>