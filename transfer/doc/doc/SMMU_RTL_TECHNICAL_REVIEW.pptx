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本次汇报展示依据系统需求完成的 SMMU 架构设计与 RTL 实现，重点说明模块划分、链表数据路径、关键时序和验证边界。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按“需求—方案—交付”汇报；一拍接口依赖队头和两级前瞻寄存器隐藏同步 SRAM 读延迟。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默认参数来自 smmu.sv 与 lle.sv。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控制器负责命令与结果流水；LLE 集中维护链表权威状态并独占 Next-Ptr SRAM 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配置值在顶层广播到所有队列、端口和 TC。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 cell 位于共享数据 SRAM，链表关系位于 Next-Ptr SRAM；分配和回收改变 cell 的链表归属，不搬运 payload。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左右两侧使用相同的横向容量条视觉语言；固定分区不能借用空闲容量，共享池可按需伸缩。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当前队尾属性保存在寄存器；成为旧队尾时才随地址写 SRAM。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初始化核心约需 8192 个 SRAM 写周期，外加状态机收尾。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 RTL 没有独立共享区总上限。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新队尾的链表项在未来成为旧队尾时才写。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分配结果有效并不等于一定成功；丢弃时地址字段无意义。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 T1 返回不等待 SRAM；SRAM 读在后台维持前瞻。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当前实现存在下一包尾前瞻；源码端口名只在答疑时说明。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释放计数在 FIFO 压入时更新，空闲链尾在 FIFO 弹出时更新。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多播必须等 EOF 锁定整帧 cell 数后才可见，是 store-and-forward。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引用计数只按地址和次数递减，不识别归还来源端口。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长链出队与回收落链被当前 RTL 保守禁止同拍。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双池是计数抽象，当前 RTL 未设置独立共享区总上限。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置位采用 OR，清除采用 AND；PFC 按端口×TC 独立判断。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活动多播的端口服务不能直接喂狗多播物理队列。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地址生命周期验证必须包含 QM/EPS 外部持有集合。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区分系统协议保证与 RTL 自身防护；协议保证应转化为 assertion。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不要只用链表引擎空闲数量加所有队列链长做全局守恒。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本页不展示 RTL 标识符。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文件路径相对 project/cores/smmu/design。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本表可直接转成 directed test 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MU_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6556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MMU RTL Implementation Review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73152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MMU RTL 设计实现汇报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CF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基于系统需求的共享 SRAM 地址管理架构与 RTL 实现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60120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45336" y="3081528"/>
            <a:ext cx="49377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75688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75688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60904" y="3081528"/>
            <a:ext cx="49377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91256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91256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76472" y="3081528"/>
            <a:ext cx="49377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06824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6824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49377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22392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22392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877056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" y="3913632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统一空闲池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3877056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99232" y="3913632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条单播链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85232" y="3877056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58384" y="3913632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条多播链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32520" y="960120"/>
            <a:ext cx="2560320" cy="3977640"/>
          </a:xfrm>
          <a:prstGeom prst="roundRect">
            <a:avLst>
              <a:gd name="adj" fmla="val 2143"/>
            </a:avLst>
          </a:prstGeom>
          <a:solidFill>
            <a:srgbClr val="1D4262"/>
          </a:solidFill>
          <a:ln w="13970">
            <a:solidFill>
              <a:srgbClr val="3C6381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05256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8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1901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Ports × TCs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8192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3017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B Cells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3520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1R1W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后继指针 SRAM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89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 · RTL Implementation · Timing · Verification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设计目标与 RTL 交付结果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1115568"/>
            <a:ext cx="2926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159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61288" y="132588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34440" y="13624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需求输入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1847088"/>
            <a:ext cx="22402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cell 分配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队列组织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出队取址与回收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30168" y="2084832"/>
            <a:ext cx="4206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160520" y="1115568"/>
            <a:ext cx="2926080" cy="1965960"/>
          </a:xfrm>
          <a:prstGeom prst="roundRect">
            <a:avLst>
              <a:gd name="adj" fmla="val 2791"/>
            </a:avLst>
          </a:prstGeom>
          <a:solidFill>
            <a:srgbClr val="EAF1F7"/>
          </a:solidFill>
          <a:ln w="21590">
            <a:solidFill>
              <a:srgbClr val="16324F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32588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36592" y="13624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架构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07992" y="1847088"/>
            <a:ext cx="22402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共享 cell 池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链表队列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集中式链表引擎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32320" y="2084832"/>
            <a:ext cx="6035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845552" y="1115568"/>
            <a:ext cx="2926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159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48472" y="132588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21624" y="13624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交付能力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93024" y="1847088"/>
            <a:ext cx="22402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一拍分配/队头返回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占用流控与老化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零复制多播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" y="36576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694176"/>
            <a:ext cx="2368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资源效率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条队列动态共享 8192 cells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447288" y="36576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20440" y="3694176"/>
            <a:ext cx="2368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性能目标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常见路径支持 1 cell/cycle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36208" y="36576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3694176"/>
            <a:ext cx="2368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多播效率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一份数据，多端口独立读取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025128" y="36576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98280" y="3694176"/>
            <a:ext cx="2368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生命周期闭环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分配→挂链→取址→回收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默认规模与派生参数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6583680" cy="443484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32461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默认值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设计含义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总数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8192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MiB / 256 B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地址宽度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bit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覆盖全部物理 cell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端口 × TC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× 8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条常规调度队列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业务队列总数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单播 + 1 多播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后继指针链表项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bit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bit 地址 + 包头/包尾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 FIFO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接收与落链解耦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多播单槽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帧 / 8 cells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地址镜像，不复制 payload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35240" y="1024128"/>
            <a:ext cx="3886200" cy="4416552"/>
          </a:xfrm>
          <a:prstGeom prst="roundRect">
            <a:avLst>
              <a:gd name="adj" fmla="val 1412"/>
            </a:avLst>
          </a:prstGeom>
          <a:solidFill>
            <a:srgbClr val="EDF4F8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973568" y="131673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派生关系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001000" y="1874520"/>
            <a:ext cx="3154680" cy="484632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74152" y="1911096"/>
            <a:ext cx="3008376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业务队列 = 端口 × TC + 1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01000" y="2569464"/>
            <a:ext cx="3154680" cy="484632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74152" y="2606040"/>
            <a:ext cx="3008376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单播队列号 = 端口 × TC数 + TC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01000" y="3264408"/>
            <a:ext cx="3154680" cy="484632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74152" y="3300984"/>
            <a:ext cx="3008376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占用计数宽度 = 地址宽度 + 1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01000" y="3959352"/>
            <a:ext cx="3154680" cy="484632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74152" y="3995928"/>
            <a:ext cx="3008376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引用计数宽度 = ⌈log₂(端口数+1)⌉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275320" y="4828032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48472" y="486460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32+1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281160" y="4828032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354312" y="486460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1R1W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287000" y="4828032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360152" y="486460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1/cycle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模块架构：LLE 是唯一 SRAM 访问者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pic>
        <p:nvPicPr>
          <p:cNvPr id="6" name="Image 0" descr="/home/verdvana/Project/IC/project/cores/smmu/design/doc/assets/smmu_modul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822960"/>
            <a:ext cx="9592056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顶层接口全景：六类接口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960120"/>
          <a:ext cx="10972800" cy="489204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3657600"/>
                <a:gridCol w="4114800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接口组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专业语义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关键时序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CSR → MMU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初始化触发 / 完成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空闲链建成后开放业务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QM ↔ MMU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分配请求 / 分配结果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T0 请求，T1 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QM ↔ MMU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出队请求 / 队头返回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T0 请求，T1 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QM ↔ MMU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回收请求 / 接收确认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确认不等于落链完成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CSR / MAC / CPU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/ PAUSE / PFC / 统计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同一时钟域采样一拍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调度反馈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MMU → QM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判空 / 完整包判空 / 最大占用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服务不同调度语义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链表与共享池结构：逻辑队列如何映射到 SRAM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00" dirty="0"/>
          </a:p>
        </p:txBody>
      </p:sp>
      <p:pic>
        <p:nvPicPr>
          <p:cNvPr id="6" name="Image 0" descr="/home/verdvana/Project/IC/project/cores/smmu/design/doc/assets/sram_linked_list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822960"/>
            <a:ext cx="9592056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为什么选择链表 + 共享池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" y="1051560"/>
            <a:ext cx="5074920" cy="4389120"/>
          </a:xfrm>
          <a:prstGeom prst="roundRect">
            <a:avLst>
              <a:gd name="adj" fmla="val 1250"/>
            </a:avLst>
          </a:prstGeom>
          <a:solidFill>
            <a:srgbClr val="FDEBEC"/>
          </a:solidFill>
          <a:ln w="13970">
            <a:solidFill>
              <a:srgbClr val="F5A6A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325880"/>
            <a:ext cx="4526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固定分区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1975104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234440" y="1965960"/>
            <a:ext cx="397764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34440" y="1965960"/>
            <a:ext cx="3659429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96512" y="19751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92%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724912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234440" y="2715768"/>
            <a:ext cx="397764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34440" y="2715768"/>
            <a:ext cx="715975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27249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18%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" y="3474720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234440" y="3465576"/>
            <a:ext cx="397764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34440" y="3465576"/>
            <a:ext cx="1073963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34747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53712" y="248716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EF4444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26864" y="252374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434840"/>
            <a:ext cx="4343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热点队列溢出，其他分区仍大量空闲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92240" y="1051560"/>
            <a:ext cx="5074920" cy="4389120"/>
          </a:xfrm>
          <a:prstGeom prst="roundRect">
            <a:avLst>
              <a:gd name="adj" fmla="val 1250"/>
            </a:avLst>
          </a:prstGeom>
          <a:solidFill>
            <a:srgbClr val="E8F8ED"/>
          </a:solidFill>
          <a:ln w="13970">
            <a:solidFill>
              <a:srgbClr val="8DD9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766560" y="1325880"/>
            <a:ext cx="4526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 + 统一共享池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6702552" y="1975104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Q0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132320" y="1965960"/>
            <a:ext cx="3977640" cy="438912"/>
          </a:xfrm>
          <a:prstGeom prst="rect">
            <a:avLst>
              <a:gd name="adj" fmla="val 12500"/>
            </a:avLst>
          </a:prstGeom>
          <a:solidFill>
            <a:srgbClr val="EDF2F7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2320" y="1965960"/>
            <a:ext cx="3659429" cy="43891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994392" y="19751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702552" y="2724912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132320" y="2715768"/>
            <a:ext cx="3977640" cy="438912"/>
          </a:xfrm>
          <a:prstGeom prst="rect">
            <a:avLst>
              <a:gd name="adj" fmla="val 12500"/>
            </a:avLst>
          </a:prstGeom>
          <a:solidFill>
            <a:srgbClr val="EDF2F7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2320" y="2715768"/>
            <a:ext cx="715975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424160" y="27249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702552" y="3474720"/>
            <a:ext cx="347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132320" y="3465576"/>
            <a:ext cx="3977640" cy="438912"/>
          </a:xfrm>
          <a:prstGeom prst="rect">
            <a:avLst>
              <a:gd name="adj" fmla="val 12500"/>
            </a:avLst>
          </a:prstGeom>
          <a:solidFill>
            <a:srgbClr val="EDF2F7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32320" y="3465576"/>
            <a:ext cx="1073963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424160" y="34747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27%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132320" y="4160520"/>
            <a:ext cx="3977640" cy="384048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205472" y="4197096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 Free Space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903720" y="4709160"/>
            <a:ext cx="42519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热点队列借用共享余量，突发被池化吸收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链表权威状态与后继指针项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960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bit 后继指针链表项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5669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417320"/>
            <a:ext cx="4892040" cy="749808"/>
          </a:xfrm>
          <a:prstGeom prst="rect">
            <a:avLst/>
          </a:prstGeom>
          <a:solidFill>
            <a:srgbClr val="E2F6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41732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后继地址 [12:0]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577840" y="1417320"/>
            <a:ext cx="388620" cy="749808"/>
          </a:xfrm>
          <a:prstGeom prst="rect">
            <a:avLst/>
          </a:prstGeom>
          <a:solidFill>
            <a:srgbClr val="FFF3D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66460" y="1417320"/>
            <a:ext cx="388620" cy="749808"/>
          </a:xfrm>
          <a:prstGeom prst="rect">
            <a:avLst/>
          </a:prstGeom>
          <a:solidFill>
            <a:srgbClr val="F0EA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77840" y="1417320"/>
            <a:ext cx="3886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966460" y="1417320"/>
            <a:ext cx="3886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业务链两级前瞻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68680" y="3273552"/>
            <a:ext cx="530352" cy="53035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3273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399032" y="3538728"/>
            <a:ext cx="7680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203704" y="3273552"/>
            <a:ext cx="530352" cy="53035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03704" y="3273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734056" y="3538728"/>
            <a:ext cx="7680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538728" y="3273552"/>
            <a:ext cx="530352" cy="53035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38728" y="3273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069080" y="3538728"/>
            <a:ext cx="7680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873752" y="3273552"/>
            <a:ext cx="530352" cy="53035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73752" y="3273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" y="38953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当前队头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956816" y="38953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一级后继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291840" y="38953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二级后继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626864" y="38953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当前队尾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949440" y="1051560"/>
            <a:ext cx="4434840" cy="4251960"/>
          </a:xfrm>
          <a:prstGeom prst="roundRect">
            <a:avLst>
              <a:gd name="adj" fmla="val 1290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7315200" y="1344168"/>
            <a:ext cx="3703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每条业务链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7360920" y="1874520"/>
            <a:ext cx="35661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队头 / 队尾 / cell 数量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一级后继 / 二级后继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队头与队尾的包边界属性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0" y="3246120"/>
            <a:ext cx="3703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空闲链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7360920" y="3703320"/>
            <a:ext cx="35661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空闲链头 + 两级前瞻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空闲链尾 + 空闲数量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分配从头取，回收向尾追加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上电初始化：把所有 cell 串成空闲链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1335024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159105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等待初始化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12801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044952" y="1335024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连续建链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044952" y="159105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每周期写一项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128016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96712" y="133502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完成返回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696712" y="159105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完成脉冲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286000" y="1609344"/>
            <a:ext cx="621792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846320" y="1609344"/>
            <a:ext cx="7132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315200" y="1609344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267712" y="10881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收到初始化请求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55280" y="1051560"/>
            <a:ext cx="3337560" cy="1143000"/>
          </a:xfrm>
          <a:prstGeom prst="roundRect">
            <a:avLst>
              <a:gd name="adj" fmla="val 4800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28432" y="1088136"/>
            <a:ext cx="319125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初始化未完成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分配与出队关闭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2743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完成后的空闲链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6012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490472" y="3694176"/>
            <a:ext cx="530352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05740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05740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587752" y="3694176"/>
            <a:ext cx="530352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315468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15468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685032" y="3694176"/>
            <a:ext cx="530352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425196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25196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782312" y="3694176"/>
            <a:ext cx="530352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534924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34924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8191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035040" y="3685032"/>
            <a:ext cx="320040" cy="0"/>
          </a:xfrm>
          <a:prstGeom prst="line">
            <a:avLst/>
          </a:prstGeom>
          <a:noFill/>
          <a:ln w="2032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355080" y="3685032"/>
            <a:ext cx="0" cy="630936"/>
          </a:xfrm>
          <a:prstGeom prst="line">
            <a:avLst/>
          </a:prstGeom>
          <a:noFill/>
          <a:ln w="15240">
            <a:solidFill>
              <a:srgbClr val="22C5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55080" y="4315968"/>
            <a:ext cx="-5440680" cy="0"/>
          </a:xfrm>
          <a:prstGeom prst="line">
            <a:avLst/>
          </a:prstGeom>
          <a:noFill/>
          <a:ln w="15240">
            <a:solidFill>
              <a:srgbClr val="22C55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14400" y="4315968"/>
            <a:ext cx="0" cy="-310896"/>
          </a:xfrm>
          <a:prstGeom prst="line">
            <a:avLst/>
          </a:prstGeom>
          <a:noFill/>
          <a:ln w="1524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315200" y="283464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E8F8ED"/>
          </a:solidFill>
          <a:ln w="13970">
            <a:solidFill>
              <a:srgbClr val="8DD9A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26680" y="3154680"/>
            <a:ext cx="30632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空闲链头 = 0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一级前瞻 = 1，二级前瞻 = 2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空闲链尾 = 8191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空闲数量 = 8192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所有业务队列占用 = 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入队判决：先保证整包可落地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初始化与引擎就绪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77440" y="1371600"/>
            <a:ext cx="2743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74320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1635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物理空闲量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371600"/>
            <a:ext cx="2743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89204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6519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静态保障区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1371600"/>
            <a:ext cx="2743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04088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1403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最大占用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823960" y="1371600"/>
            <a:ext cx="2743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18972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6287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多播单槽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1920240"/>
            <a:ext cx="1280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任一失败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40680" y="1709928"/>
            <a:ext cx="0" cy="576072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160520" y="2331720"/>
            <a:ext cx="2560320" cy="621792"/>
          </a:xfrm>
          <a:prstGeom prst="roundRect">
            <a:avLst>
              <a:gd name="adj" fmla="val 8824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33672" y="2368296"/>
            <a:ext cx="2414016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丢弃指示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整帧丢弃状态机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22960" y="3730752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96112" y="378561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正常接收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96112" y="4041648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cell 判决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114800" y="3730752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187952" y="378561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整帧丢弃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187952" y="4041648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持续到 EOF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788920" y="4005072"/>
            <a:ext cx="1261872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2834640" y="3621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cell 丢弃且未到帧尾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114800" y="4315968"/>
            <a:ext cx="-132588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2971800" y="4389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 EOF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15200" y="3246120"/>
            <a:ext cx="3886200" cy="1965960"/>
          </a:xfrm>
          <a:prstGeom prst="roundRect">
            <a:avLst>
              <a:gd name="adj" fmla="val 2791"/>
            </a:avLst>
          </a:prstGeom>
          <a:solidFill>
            <a:srgbClr val="FFF8E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635240" y="3529584"/>
            <a:ext cx="32461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 整包容量预测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7772400" y="3977640"/>
            <a:ext cx="29260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检查整包 cell 数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同时检查空闲 / 队列 / 端口 / 全局容量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避免形成半包残链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挂链：空队列与非空队列只差一次旧队尾写入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00584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E2F6F5"/>
          </a:solidFill>
          <a:ln w="1397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1261872"/>
            <a:ext cx="46177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空队列：第一次挂链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0" y="1764792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19072" y="1801368"/>
            <a:ext cx="99669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队列5：空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54680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11880" y="1993392"/>
            <a:ext cx="310896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959352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16552" y="1993392"/>
            <a:ext cx="310896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764024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64024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880360" y="2514600"/>
            <a:ext cx="0" cy="41148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91440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操作后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645920" y="2999232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719072" y="3035808"/>
            <a:ext cx="99669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队列5：A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154680" y="299923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15468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611880" y="3227832"/>
            <a:ext cx="310896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959352" y="299923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5935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无需写旧队尾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291072" y="100584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3D6"/>
          </a:solidFill>
          <a:ln w="1397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583680" y="1261872"/>
            <a:ext cx="46177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非空队列：尾插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565392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360920" y="176479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609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818120" y="1993392"/>
            <a:ext cx="3108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165592" y="176479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16559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464040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9921240" y="1993392"/>
            <a:ext cx="310896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10268712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26871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613648" y="251460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6565392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操作后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360920" y="299923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36092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7818120" y="3227832"/>
            <a:ext cx="3108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8165592" y="299923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16559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8622792" y="3227832"/>
            <a:ext cx="3108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8970264" y="299923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97026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10287000" y="299923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2870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6995160" y="3977640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068312" y="4014216"/>
            <a:ext cx="3694176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写旧队尾 Y：后继 =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队尾前进到 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 T0/T1 与连续分配旁路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932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示意时序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167128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050792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934456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818120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9701784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11585448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58368" y="13441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分配请求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167128" y="176479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50792" y="139903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50792" y="1399032"/>
            <a:ext cx="0" cy="36576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34456" y="139903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18120" y="176479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18120" y="1399032"/>
            <a:ext cx="0" cy="36576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701784" y="176479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18562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分配就绪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167128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50792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34456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18120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01784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236829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实际分配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167128" y="278892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50792" y="242316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050792" y="2423160"/>
            <a:ext cx="0" cy="36576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34456" y="242316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18120" y="278892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18120" y="2423160"/>
            <a:ext cx="0" cy="36576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01784" y="278892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8368" y="28803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空闲链头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185416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258568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069080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142232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952744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025896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836408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909560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720072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793224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658368" y="339242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SRAM前瞻返回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2185416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258568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069080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142232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952744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025896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7836408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909560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9720072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793224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58368" y="39044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分配结果有效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2167128" y="432511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050792" y="432511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934456" y="395935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934456" y="3959352"/>
            <a:ext cx="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818120" y="395935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701784" y="432511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701784" y="3959352"/>
            <a:ext cx="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58368" y="4416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分配地址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2185416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2258568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4069080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4142232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5952744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6025896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7836408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7909560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9720072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9793224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2185416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2258568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T0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4069080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42232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5952744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025896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7836408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7909560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9720072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9793224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1100" dirty="0"/>
          </a:p>
        </p:txBody>
      </p:sp>
      <p:sp>
        <p:nvSpPr>
          <p:cNvPr id="86" name="Shape 83"/>
          <p:cNvSpPr/>
          <p:nvPr/>
        </p:nvSpPr>
        <p:spPr>
          <a:xfrm>
            <a:off x="822960" y="513892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896112" y="517550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出队：两级预取和同队列旁路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932688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FFF3D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969264"/>
            <a:ext cx="309981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实际出队 = 请求有效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初始化完成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队列非空 AND 无背压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51960" y="932688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25112" y="969264"/>
            <a:ext cx="191109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队长=1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出队后为空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不读 SRAM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932688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56832" y="969264"/>
            <a:ext cx="191109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队长=2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一级后继已预取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不读 SRAM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15400" y="932688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88552" y="969264"/>
            <a:ext cx="191109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队长≥3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读取后继项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补充二级前瞻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6712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373684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530656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87628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844600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1001572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1158544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658368" y="235000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出队请求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167128" y="267004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36848" y="240487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36848" y="240487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06568" y="240487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76288" y="240487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46008" y="267004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46008" y="240487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015728" y="267004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8368" y="276148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实际出队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167128" y="30815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736848" y="28163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36848" y="281635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306568" y="28163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76288" y="28163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446008" y="30815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446008" y="281635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015728" y="30815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" y="317296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当前队头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18541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25856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75513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82828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32485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39800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89457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96772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46429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53744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1003401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010716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58368" y="358444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SRAM读使能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2167128" y="3904488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736848" y="3639312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736848" y="3639312"/>
            <a:ext cx="0" cy="26517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306568" y="3639312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876288" y="3639312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446008" y="3904488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446008" y="3639312"/>
            <a:ext cx="0" cy="26517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015728" y="3904488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58368" y="399592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SRAM前瞻返回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218541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225856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75513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82828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532485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39800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689457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96772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C4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846429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53744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C5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1003401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10716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58368" y="440740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同队连续旁路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2167128" y="4727448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736848" y="4727448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306568" y="4462272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306568" y="4462272"/>
            <a:ext cx="0" cy="265176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876288" y="4462272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446008" y="4727448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8446008" y="4462272"/>
            <a:ext cx="0" cy="265176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015728" y="4727448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658368" y="481888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队头返回有效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2167128" y="51389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736848" y="51389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306568" y="48737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306568" y="487375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876288" y="48737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8446008" y="48737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0015728" y="51389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015728" y="487375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658368" y="523036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队头地址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218541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25856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375513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82828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532485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39800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689457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96772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846429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853744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1003401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1010716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 出队元数据：当前边界与下一包尾前瞻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051560"/>
            <a:ext cx="4617720" cy="4251960"/>
          </a:xfrm>
          <a:prstGeom prst="roundRect">
            <a:avLst>
              <a:gd name="adj" fmla="val 1290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51560" y="138988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 返回内容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3000" y="1965960"/>
            <a:ext cx="36576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队头返回有效
</a:t>
            </a:r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队头 cell 地址
</a:t>
            </a:r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 cell 是否为包头
</a:t>
            </a:r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 cell 是否为包尾
</a:t>
            </a:r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下一连续 cell 是否为包尾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234440"/>
            <a:ext cx="47548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连续出队示例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629400" y="2212848"/>
            <a:ext cx="960120" cy="96012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22128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9372600" y="2212848"/>
            <a:ext cx="960120" cy="96012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72600" y="22128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589520" y="2697480"/>
            <a:ext cx="1691640" cy="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19088" y="342900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34655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当前包尾：否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49640" y="342900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22792" y="346557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下一包尾前瞻：是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72200" y="416052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45352" y="4197096"/>
            <a:ext cx="4379976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当前已是包尾时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下一包尾前瞻强制无效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还链：接收确认与空闲链尾写入是两阶段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960120"/>
            <a:ext cx="5074920" cy="1143000"/>
          </a:xfrm>
          <a:prstGeom prst="roundRect">
            <a:avLst>
              <a:gd name="adj" fmla="val 4800"/>
            </a:avLst>
          </a:prstGeom>
          <a:solidFill>
            <a:srgbClr val="E8F8ED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" y="996696"/>
            <a:ext cx="492861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1｜接收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回收请求 → 地址/引用判定 → 压入回收 FIFO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0" y="960120"/>
            <a:ext cx="50749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996696"/>
            <a:ext cx="492861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2｜落链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 队头 → 写旧空闲链尾 → 空闲链尾前进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760720" y="1536192"/>
            <a:ext cx="566928" cy="0"/>
          </a:xfrm>
          <a:prstGeom prst="line">
            <a:avLst/>
          </a:prstGeom>
          <a:noFill/>
          <a:ln w="3048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167128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4050792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934456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7818120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9701784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11585448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5836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回收请求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167128" y="27980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50792" y="256032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50792" y="2560320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34456" y="27980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34456" y="2560320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18120" y="27980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701784" y="27980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28895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接收确认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167128" y="3182112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50792" y="294436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50792" y="2944368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34456" y="3182112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34456" y="2944368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18120" y="3182112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01784" y="3182112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8368" y="32735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FIFO压入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167128" y="35661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050792" y="3328416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050792" y="3328416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34456" y="35661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934456" y="3328416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818120" y="35661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01784" y="35661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8368" y="3657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空闲数量增加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167128" y="395020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050792" y="395020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34456" y="37124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934456" y="3712464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818120" y="395020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818120" y="3712464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701784" y="395020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58368" y="4041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FIFO非空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167128" y="4334256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050792" y="4334256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934456" y="409651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934456" y="4096512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818120" y="4334256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818120" y="4096512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701784" y="4334256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58368" y="44256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FIFO弹出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2167128" y="471830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050792" y="471830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934456" y="44805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934456" y="4480560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818120" y="471830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818120" y="4480560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701784" y="471830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58368" y="48097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SRAM写使能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2167128" y="510235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050792" y="510235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934456" y="4864608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934456" y="4864608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818120" y="510235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818120" y="4864608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9701784" y="510235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58368" y="51937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空闲链尾</a:t>
            </a: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2185416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2258568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4069080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142232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5952744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025896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7836408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909560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回收地址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9720072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9793224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回收地址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多播：单槽、零复制、每端口私有读索引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932688"/>
            <a:ext cx="47548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cell 地址镜像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794760" y="2148840"/>
            <a:ext cx="713232" cy="71323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94760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07992" y="2505456"/>
            <a:ext cx="987552" cy="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532120" y="2148840"/>
            <a:ext cx="713232" cy="71323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32120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45352" y="2505456"/>
            <a:ext cx="987552" cy="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269480" y="2148840"/>
            <a:ext cx="713232" cy="71323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69480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40680" y="141732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13832" y="145389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71032" y="1737360"/>
            <a:ext cx="0" cy="36576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703320" y="315468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76472" y="319125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233672" y="3154680"/>
            <a:ext cx="0" cy="-32004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315200" y="315468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88352" y="319125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845552" y="3154680"/>
            <a:ext cx="0" cy="-32004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94360" y="1143000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F0EAFE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1444752"/>
            <a:ext cx="18745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零复制语义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96112" y="2011680"/>
            <a:ext cx="192024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payload 只存一份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地址镜像只作读加速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不推进多播物理队头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不占后继指针 SRAM 读口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9006840" y="1143000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26880" y="1444752"/>
            <a:ext cx="18745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引用余量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9308592" y="2148840"/>
            <a:ext cx="438912" cy="43891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08592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893808" y="2157984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 1 次归还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308592" y="2898648"/>
            <a:ext cx="438912" cy="43891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308592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893808" y="2907792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 2 次归还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308592" y="3648456"/>
            <a:ext cx="438912" cy="43891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308592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893808" y="3657600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 1 次归还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9281160" y="461772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54312" y="4654296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单槽上限：8 cells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多播完整事务：两端口、三 cell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多播分配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03120" y="1307592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9842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端口0读取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03120" y="2148840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8254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端口1读取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03120" y="2990088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366674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103120" y="3831336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45079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 FIFO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103120" y="4672584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23160" y="1078992"/>
            <a:ext cx="457200" cy="45720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231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20440" y="1078992"/>
            <a:ext cx="457200" cy="45720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204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17720" y="1078992"/>
            <a:ext cx="457200" cy="45720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1772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177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15000" y="1920240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715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12280" y="1920240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122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2761488"/>
            <a:ext cx="457200" cy="45720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122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909560" y="2761488"/>
            <a:ext cx="457200" cy="45720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095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006840" y="2761488"/>
            <a:ext cx="457200" cy="45720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068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647688" y="363931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20840" y="367588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2→1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842248" y="363931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915400" y="367588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1→0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939528" y="363931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012680" y="367588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 →0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915400" y="4480560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988552" y="451713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10012680" y="4480560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085832" y="451713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78440" y="5349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仲裁与并发：不是简单的全串行优先级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" y="960120"/>
            <a:ext cx="3840480" cy="4526280"/>
          </a:xfrm>
          <a:prstGeom prst="roundRect">
            <a:avLst>
              <a:gd name="adj" fmla="val 1429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授权语义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1874520"/>
            <a:ext cx="324612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出队：无包级入队锁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分配：出队不需要 SRAM 读口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回收落链：FIFO 非空且写口空闲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老化读取：正常业务不占读口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0120" y="4251960"/>
            <a:ext cx="3108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33272" y="4288536"/>
            <a:ext cx="296265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1R1W：读口与写口可并行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同一端口内仍需仲裁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60120"/>
          <a:ext cx="6839712" cy="4663440"/>
        </p:xfrm>
        <a:graphic>
          <a:graphicData uri="http://schemas.openxmlformats.org/drawingml/2006/table">
            <a:tbl>
              <a:tblPr/>
              <a:tblGrid>
                <a:gridCol w="2926080"/>
                <a:gridCol w="777240"/>
                <a:gridCol w="3136392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同拍组合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长链出队 + 分配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竞争唯一读口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短链出队 + 分配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短链不读 SRAM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多播读取 + 分配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多播走寄存器镜像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长链出队 + 回收落链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 RTL 保守禁止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短链/多播 + 回收落链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回收只用写口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 + 回收落链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分配优先占写口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回收落链 + 老化读取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分别占写/读口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占用管理：同一份计数驱动丢弃与流控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" y="1005840"/>
            <a:ext cx="2560320" cy="4526280"/>
          </a:xfrm>
          <a:prstGeom prst="roundRect">
            <a:avLst>
              <a:gd name="adj" fmla="val 2143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307592"/>
            <a:ext cx="19202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计数源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32688" y="1965960"/>
            <a:ext cx="187452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队列占用
</a:t>
            </a:r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静态保障占用
</a:t>
            </a:r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端口占用
</a:t>
            </a:r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全局占用
</a:t>
            </a:r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空闲数量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703320" y="105156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023360" y="1353312"/>
            <a:ext cx="26974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A｜是否接收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023360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先使用静态保障区
</a:t>
            </a:r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超出后检查队列/端口/全局最大占用
</a:t>
            </a:r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SOF 做整包容量预测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703320" y="3401568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E2F6F5"/>
          </a:solidFill>
          <a:ln w="1397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023360" y="3703320"/>
            <a:ext cx="26974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B｜是否反压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023360" y="4160520"/>
            <a:ext cx="2651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PAUSE：端口 + 全局水位
</a:t>
            </a:r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PFC：端口 × TC 水位
</a:t>
            </a:r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XOFF 置位、XON 清除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80960" y="1051560"/>
            <a:ext cx="3429000" cy="4270248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001000" y="1353312"/>
            <a:ext cx="27889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队列水位模型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8549640" y="1847088"/>
            <a:ext cx="1783080" cy="2834640"/>
          </a:xfrm>
          <a:prstGeom prst="rect">
            <a:avLst/>
          </a:prstGeom>
          <a:solidFill>
            <a:srgbClr val="E9F1F7"/>
          </a:solidFill>
          <a:ln w="19050">
            <a:solidFill>
              <a:srgbClr val="254B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49640" y="3337560"/>
            <a:ext cx="1783080" cy="1344168"/>
          </a:xfrm>
          <a:prstGeom prst="rect">
            <a:avLst/>
          </a:prstGeom>
          <a:solidFill>
            <a:srgbClr val="E2F6F5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66760" y="2148840"/>
            <a:ext cx="219456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588752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最大占用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366760" y="3337560"/>
            <a:ext cx="219456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88752" y="3182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保障额度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705088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动态共享区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05088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静态保障区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/ PFC 迟滞与统计告警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" y="914400"/>
            <a:ext cx="3794760" cy="4663440"/>
          </a:xfrm>
          <a:prstGeom prst="roundRect">
            <a:avLst>
              <a:gd name="adj" fmla="val 1446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234440"/>
            <a:ext cx="3154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端口级 PAUSE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1874520"/>
            <a:ext cx="31089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置位：端口达到 XOFF 或全局达到 XOFF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清除：端口低于 XON 且全局低于 XON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中间区域保持原状态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657600"/>
            <a:ext cx="3154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逐端口逐 TC PFC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224528"/>
            <a:ext cx="30632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TC 独立使用 XOFF / XON 双阈值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46320" y="914400"/>
            <a:ext cx="667512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193792" y="1170432"/>
            <a:ext cx="59893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水位与 PAUSE 请求示意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349240" y="3886200"/>
            <a:ext cx="52578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349240" y="3886200"/>
            <a:ext cx="0" cy="-196596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349240" y="2377440"/>
            <a:ext cx="5257800" cy="0"/>
          </a:xfrm>
          <a:prstGeom prst="line">
            <a:avLst/>
          </a:prstGeom>
          <a:noFill/>
          <a:ln w="17780">
            <a:solidFill>
              <a:srgbClr val="EF4444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5349240" y="3200400"/>
            <a:ext cx="5257800" cy="0"/>
          </a:xfrm>
          <a:prstGeom prst="line">
            <a:avLst/>
          </a:prstGeom>
          <a:noFill/>
          <a:ln w="17780">
            <a:solidFill>
              <a:srgbClr val="22C55E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1065276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XOFF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5276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49240" y="3566160"/>
            <a:ext cx="685800" cy="-27432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35040" y="3291840"/>
            <a:ext cx="594360" cy="-36576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29400" y="2926080"/>
            <a:ext cx="640080" cy="-68580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69480" y="2240280"/>
            <a:ext cx="640080" cy="32004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09560" y="2560320"/>
            <a:ext cx="640080" cy="27432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49640" y="2834640"/>
            <a:ext cx="640080" cy="54864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89720" y="3383280"/>
            <a:ext cx="822960" cy="-32004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49240" y="4224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请求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242048" y="4507992"/>
            <a:ext cx="1883664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25712" y="4507992"/>
            <a:ext cx="0" cy="32004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125712" y="4828032"/>
            <a:ext cx="11612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4828032"/>
            <a:ext cx="8412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242048" y="4828032"/>
            <a:ext cx="0" cy="-32004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老化：计时、轮询选择与逐 cell 冲刷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914400"/>
            <a:ext cx="4800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老化轮询控制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77240" y="157276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0392" y="16276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等待触发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697480" y="157276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770632" y="16276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发起冲刷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57276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90872" y="16276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等待完成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103120" y="1810512"/>
            <a:ext cx="530352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23360" y="1810512"/>
            <a:ext cx="530352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257800" y="2066544"/>
            <a:ext cx="-3794760" cy="5394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868680" y="2852928"/>
            <a:ext cx="48920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触发条件：连续未被服务达到超时，或软件强制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914400"/>
            <a:ext cx="51663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链表引擎逐 cell 冲刷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91072" y="1572768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364224" y="162763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370064" y="181051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616952" y="1572768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690104" y="162763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读取后继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695944" y="181051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942832" y="1572768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9015984" y="162763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压入回收 FIFO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0021824" y="181051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0268712" y="1572768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10341864" y="162763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464040" y="2121408"/>
            <a:ext cx="-1984248" cy="62179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8156448" y="2487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 cell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77240" y="370332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0392" y="3739896"/>
            <a:ext cx="492861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计时清零条件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未使能 / 未初始化 / 队列空 / 本队列被服务 / 正在冲刷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91072" y="3703320"/>
            <a:ext cx="4800600" cy="1234440"/>
          </a:xfrm>
          <a:prstGeom prst="roundRect">
            <a:avLst>
              <a:gd name="adj" fmla="val 4444"/>
            </a:avLst>
          </a:prstGeom>
          <a:solidFill>
            <a:srgbClr val="FFF3D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64224" y="3739896"/>
            <a:ext cx="4654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冲刷等待来源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正常分配、长链出队、回收 FIFO 满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3337560" y="52578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410712" y="5294376"/>
            <a:ext cx="534009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风险：多播物理队列可能在仍被服务时超时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cell 单播：把完整生命周期串起来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377440" y="1307592"/>
            <a:ext cx="36576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3464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0779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已入队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09160" y="1307592"/>
            <a:ext cx="36576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16636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3951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已出队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40880" y="1307592"/>
            <a:ext cx="36576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49808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7123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外部持有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372600" y="1307592"/>
            <a:ext cx="36576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82980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90295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回收/重新空闲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148840"/>
            <a:ext cx="4572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05840" y="210312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508760" y="235915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337560" y="2103120"/>
            <a:ext cx="502920" cy="50292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375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840480" y="235915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669280" y="2103120"/>
            <a:ext cx="502920" cy="50292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692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235915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010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503920" y="235915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10332720" y="210312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332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017520"/>
            <a:ext cx="4572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005840" y="297180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058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508760" y="322783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3337560" y="2971800"/>
            <a:ext cx="502920" cy="50292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3375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840480" y="322783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5669280" y="2971800"/>
            <a:ext cx="502920" cy="50292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692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172200" y="322783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001000" y="2971800"/>
            <a:ext cx="502920" cy="50292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0010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8503920" y="322783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10332720" y="297180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03327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02920" y="3886200"/>
            <a:ext cx="4572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005840" y="384048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058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1508760" y="409651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3337560" y="3840480"/>
            <a:ext cx="502920" cy="50292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3375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3840480" y="409651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5669280" y="3840480"/>
            <a:ext cx="502920" cy="50292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6692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172200" y="409651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8001000" y="3840480"/>
            <a:ext cx="502920" cy="50292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0010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8503920" y="409651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10332720" y="384048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3327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914400" y="493776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E2F6F5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987552" y="4974336"/>
            <a:ext cx="29626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 A/B/C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A → B → C 业务链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4526280" y="493776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FFF3D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599432" y="4974336"/>
            <a:ext cx="29626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cell 出队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仅从业务链视图摘除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8138160" y="493776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E8F8ED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11312" y="4974336"/>
            <a:ext cx="29626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 A/B/C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依次追加到空闲链尾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实现约束与高风险边界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60120"/>
          <a:ext cx="10972800" cy="452628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5029200"/>
              </a:tblGrid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风险条件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可能后果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老化冲刷与同队列正常业务无硬互斥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多个时序分支更新同一队列状态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多播物理队列没有端口服务喂狗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活动多播被误冲刷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多播引用只计次数，不识别来源端口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重复归还可提前释放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多播后续 cell 的目的位图必须一致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 cell 引用初值不一致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空闲池从 0 恢复时未显式重建前瞻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空池边界链表风险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入队包永远不来 EOF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包级入队锁不释放，出队暂停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051560" y="56235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24712" y="566013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协议保证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983480" y="56235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56632" y="566013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防护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915400" y="56235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988552" y="566013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验证覆盖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验证计划：用不变量证明地址不会丢、不会重用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" y="9601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" y="996696"/>
            <a:ext cx="213969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880360" y="1289304"/>
            <a:ext cx="36576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83280" y="9601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6432" y="996696"/>
            <a:ext cx="213969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已入队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0" y="1289304"/>
            <a:ext cx="36576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172200" y="9601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45352" y="996696"/>
            <a:ext cx="213969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已出队/外部持有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1289304"/>
            <a:ext cx="36576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961120" y="9601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34272" y="996696"/>
            <a:ext cx="213969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已回收/重新空闲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94360" y="2057400"/>
            <a:ext cx="52578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60120" y="2331720"/>
            <a:ext cx="4526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关键断言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14400" y="2880360"/>
            <a:ext cx="457200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空闲数量 + 全局占用 = cell 总数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已分配地址在回收前不得再次分配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连续同队列出队必须匹配后继链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整帧丢弃期间不得实际分配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初始化完成前不得分配或出队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多播引用归零前不得进入空闲链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309360" y="2057400"/>
            <a:ext cx="52578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675120" y="2331720"/>
            <a:ext cx="4526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关键覆盖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629400" y="2880360"/>
            <a:ext cx="457200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队长 1 / 2 / 3 / 4 连续出队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短链出队与分配同拍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长链出队资源竞争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空闲剩余 0 / 1 / 2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多播目的端口数 1 / 2 / 4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老化被持续阻塞后最终完成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58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544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8192 个 cell 由空闲链和 33 条业务链动态组织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566928" cy="566928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146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队头与两级前瞻把同步 SRAM 读延迟藏在后台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566928" cy="566928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4747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多播使用一份物理链、私有读索引和逐 cell 引用计数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4348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占用管理、仲裁与老化共同决定吞吐和安全边界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83880" y="4800600"/>
            <a:ext cx="530352" cy="530352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14232" y="5065776"/>
            <a:ext cx="466344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17152" y="4800600"/>
            <a:ext cx="530352" cy="530352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17152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747504" y="5065776"/>
            <a:ext cx="466344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50424" y="4800600"/>
            <a:ext cx="530352" cy="530352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0424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780776" y="5065776"/>
            <a:ext cx="466344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1283696" y="4800600"/>
            <a:ext cx="530352" cy="530352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283696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16002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A｜专业术语语义速查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32688"/>
          <a:ext cx="10927080" cy="4892040"/>
        </p:xfrm>
        <a:graphic>
          <a:graphicData uri="http://schemas.openxmlformats.org/drawingml/2006/table">
            <a:tbl>
              <a:tblPr/>
              <a:tblGrid>
                <a:gridCol w="2743200"/>
                <a:gridCol w="818388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专业术语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精确定义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分配结果有效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上一周期有被接收的分配请求；结果可能成功，也可能丢弃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实际分配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请求真正取得 cell 地址并完成挂链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队头返回有效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上一周期发生真实出队，当前返回内容可用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下一包尾前瞻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下一连续 cell 是否为包尾；当前已是包尾时无效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回收接收确认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请求已进入回收路径，不代表已写入空闲链尾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回收落链完成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 FIFO 队头已经追加到空闲链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级非空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业务链含 cell，或存在尚未读完的多播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完整包级非空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至少存在一个已经接收完 EOF 的完整包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整包丢弃预测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根据整包 cell 数、占用阈值和多播槽状态进行组合预测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B｜源码索引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27080" cy="48006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55321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主题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实现文件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核心职责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顶层参数与互连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rtl/smmu.sv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接口分组、参数派生、子模块连接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分配控制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rtl/enqueue_ctrl.sv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整帧丢弃、分配 T1 返回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出队控制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rtl/dequeue_ctrl.sv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背压、队头与包边界 T1 返回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回收控制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rtl/recycle_ctrl.sv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统一回收接口薄适配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链表引擎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rtl/lle.sv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仲裁、SRAM、预取、多播、老化冲刷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占用管理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rtl/occupancy_pool_mgr.sv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双池、最大占用、PAUSE/PFC、统计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老化控制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rtl/aging_ctrl.sv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逐队列计时与轮询选择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配置与初始化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rtl/csr_stats_init.sv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配置采样、统计寄存、初始化状态机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C｜更完整的并发与边界测试表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10927080" cy="5074920"/>
        </p:xfrm>
        <a:graphic>
          <a:graphicData uri="http://schemas.openxmlformats.org/drawingml/2006/table">
            <a:tbl>
              <a:tblPr/>
              <a:tblGrid>
                <a:gridCol w="3840480"/>
                <a:gridCol w="708660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主要观察点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队长 1/2/3/4 连续出队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队长≥3 的读口切换、包边界属性对齐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同队列与不同队列连续出队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同队连续旁路只在队列号一致时生效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短链出队 + 分配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同拍允许且占用计数正确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长链出队 + 分配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出队占读口，分配侧出现反压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短链/多播出队 + 回收落链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SRAM 读口与写口并行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空闲剩余 0/1/2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空池恢复、链头与两级前瞻一致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多播目的端口数 1/2/4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引用初值、交错读取、交错回收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新多播遇到单槽占用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 SOF 到 EOF 整帧丢弃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老化 + 回收 FIFO 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压入等待、最终完成、计数同步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软件强制老化保持多周期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是否重复触发冲刷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MMU RTL 设计实现汇报</dc:title>
  <dc:subject>Smart MMU RTL design implementation review</dc:subject>
  <dc:creator>Codex</dc:creator>
  <cp:lastModifiedBy>Codex</cp:lastModifiedBy>
  <cp:revision>1</cp:revision>
  <dcterms:created xsi:type="dcterms:W3CDTF">2026-07-16T08:59:04Z</dcterms:created>
  <dcterms:modified xsi:type="dcterms:W3CDTF">2026-07-16T08:59:04Z</dcterms:modified>
</cp:coreProperties>
</file>