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86" r:id="rId11"/>
    <p:sldId id="287" r:id="rId12"/>
    <p:sldId id="268" r:id="rId13"/>
    <p:sldId id="288" r:id="rId14"/>
    <p:sldId id="269" r:id="rId15"/>
    <p:sldId id="289"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0CF085-45CA-4C62-9581-D6CF57C24E22}" v="65" dt="2026-07-19T05:40:48.2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213" d="100"/>
          <a:sy n="213" d="100"/>
        </p:scale>
        <p:origin x="300" y="1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nyin Yan" userId="7d7b1cac-fbbc-4678-8cfc-23ca66a374ce" providerId="ADAL" clId="{F4B2358E-BEBC-4C30-A24B-D5654E2AC392}"/>
    <pc:docChg chg="undo redo custSel modSld">
      <pc:chgData name="Jinyin Yan" userId="7d7b1cac-fbbc-4678-8cfc-23ca66a374ce" providerId="ADAL" clId="{F4B2358E-BEBC-4C30-A24B-D5654E2AC392}" dt="2026-07-19T05:43:00.709" v="376" actId="20577"/>
      <pc:docMkLst>
        <pc:docMk/>
      </pc:docMkLst>
      <pc:sldChg chg="modSp mod">
        <pc:chgData name="Jinyin Yan" userId="7d7b1cac-fbbc-4678-8cfc-23ca66a374ce" providerId="ADAL" clId="{F4B2358E-BEBC-4C30-A24B-D5654E2AC392}" dt="2026-07-19T03:12:28.830" v="1" actId="20577"/>
        <pc:sldMkLst>
          <pc:docMk/>
          <pc:sldMk cId="0" sldId="257"/>
        </pc:sldMkLst>
        <pc:spChg chg="mod">
          <ac:chgData name="Jinyin Yan" userId="7d7b1cac-fbbc-4678-8cfc-23ca66a374ce" providerId="ADAL" clId="{F4B2358E-BEBC-4C30-A24B-D5654E2AC392}" dt="2026-07-19T03:12:28.830" v="1" actId="20577"/>
          <ac:spMkLst>
            <pc:docMk/>
            <pc:sldMk cId="0" sldId="257"/>
            <ac:spMk id="28" creationId="{00000000-0000-0000-0000-000000000000}"/>
          </ac:spMkLst>
        </pc:spChg>
      </pc:sldChg>
      <pc:sldChg chg="modSp mod">
        <pc:chgData name="Jinyin Yan" userId="7d7b1cac-fbbc-4678-8cfc-23ca66a374ce" providerId="ADAL" clId="{F4B2358E-BEBC-4C30-A24B-D5654E2AC392}" dt="2026-07-19T03:15:03.899" v="10" actId="20577"/>
        <pc:sldMkLst>
          <pc:docMk/>
          <pc:sldMk cId="0" sldId="262"/>
        </pc:sldMkLst>
        <pc:spChg chg="mod">
          <ac:chgData name="Jinyin Yan" userId="7d7b1cac-fbbc-4678-8cfc-23ca66a374ce" providerId="ADAL" clId="{F4B2358E-BEBC-4C30-A24B-D5654E2AC392}" dt="2026-07-19T03:15:03.899" v="10" actId="20577"/>
          <ac:spMkLst>
            <pc:docMk/>
            <pc:sldMk cId="0" sldId="262"/>
            <ac:spMk id="4" creationId="{00000000-0000-0000-0000-000000000000}"/>
          </ac:spMkLst>
        </pc:spChg>
      </pc:sldChg>
      <pc:sldChg chg="modSp mod">
        <pc:chgData name="Jinyin Yan" userId="7d7b1cac-fbbc-4678-8cfc-23ca66a374ce" providerId="ADAL" clId="{F4B2358E-BEBC-4C30-A24B-D5654E2AC392}" dt="2026-07-19T03:31:09.498" v="34" actId="6549"/>
        <pc:sldMkLst>
          <pc:docMk/>
          <pc:sldMk cId="0" sldId="263"/>
        </pc:sldMkLst>
        <pc:spChg chg="mod">
          <ac:chgData name="Jinyin Yan" userId="7d7b1cac-fbbc-4678-8cfc-23ca66a374ce" providerId="ADAL" clId="{F4B2358E-BEBC-4C30-A24B-D5654E2AC392}" dt="2026-07-19T03:31:09.498" v="34" actId="6549"/>
          <ac:spMkLst>
            <pc:docMk/>
            <pc:sldMk cId="0" sldId="263"/>
            <ac:spMk id="37" creationId="{00000000-0000-0000-0000-000000000000}"/>
          </ac:spMkLst>
        </pc:spChg>
      </pc:sldChg>
      <pc:sldChg chg="modSp mod">
        <pc:chgData name="Jinyin Yan" userId="7d7b1cac-fbbc-4678-8cfc-23ca66a374ce" providerId="ADAL" clId="{F4B2358E-BEBC-4C30-A24B-D5654E2AC392}" dt="2026-07-19T05:41:48.620" v="356" actId="1076"/>
        <pc:sldMkLst>
          <pc:docMk/>
          <pc:sldMk cId="0" sldId="271"/>
        </pc:sldMkLst>
        <pc:spChg chg="mod">
          <ac:chgData name="Jinyin Yan" userId="7d7b1cac-fbbc-4678-8cfc-23ca66a374ce" providerId="ADAL" clId="{F4B2358E-BEBC-4C30-A24B-D5654E2AC392}" dt="2026-07-19T05:41:35.001" v="349" actId="20577"/>
          <ac:spMkLst>
            <pc:docMk/>
            <pc:sldMk cId="0" sldId="271"/>
            <ac:spMk id="32" creationId="{00000000-0000-0000-0000-000000000000}"/>
          </ac:spMkLst>
        </pc:spChg>
        <pc:spChg chg="mod">
          <ac:chgData name="Jinyin Yan" userId="7d7b1cac-fbbc-4678-8cfc-23ca66a374ce" providerId="ADAL" clId="{F4B2358E-BEBC-4C30-A24B-D5654E2AC392}" dt="2026-07-19T05:41:44.801" v="355" actId="20577"/>
          <ac:spMkLst>
            <pc:docMk/>
            <pc:sldMk cId="0" sldId="271"/>
            <ac:spMk id="35" creationId="{00000000-0000-0000-0000-000000000000}"/>
          </ac:spMkLst>
        </pc:spChg>
        <pc:spChg chg="mod">
          <ac:chgData name="Jinyin Yan" userId="7d7b1cac-fbbc-4678-8cfc-23ca66a374ce" providerId="ADAL" clId="{F4B2358E-BEBC-4C30-A24B-D5654E2AC392}" dt="2026-07-19T05:41:48.620" v="356" actId="1076"/>
          <ac:spMkLst>
            <pc:docMk/>
            <pc:sldMk cId="0" sldId="271"/>
            <ac:spMk id="38" creationId="{00000000-0000-0000-0000-000000000000}"/>
          </ac:spMkLst>
        </pc:spChg>
      </pc:sldChg>
      <pc:sldChg chg="modSp mod">
        <pc:chgData name="Jinyin Yan" userId="7d7b1cac-fbbc-4678-8cfc-23ca66a374ce" providerId="ADAL" clId="{F4B2358E-BEBC-4C30-A24B-D5654E2AC392}" dt="2026-07-19T05:42:02.556" v="360" actId="20577"/>
        <pc:sldMkLst>
          <pc:docMk/>
          <pc:sldMk cId="0" sldId="274"/>
        </pc:sldMkLst>
        <pc:spChg chg="mod">
          <ac:chgData name="Jinyin Yan" userId="7d7b1cac-fbbc-4678-8cfc-23ca66a374ce" providerId="ADAL" clId="{F4B2358E-BEBC-4C30-A24B-D5654E2AC392}" dt="2026-07-19T05:42:02.556" v="360" actId="20577"/>
          <ac:spMkLst>
            <pc:docMk/>
            <pc:sldMk cId="0" sldId="274"/>
            <ac:spMk id="4" creationId="{00000000-0000-0000-0000-000000000000}"/>
          </ac:spMkLst>
        </pc:spChg>
      </pc:sldChg>
      <pc:sldChg chg="modSp mod">
        <pc:chgData name="Jinyin Yan" userId="7d7b1cac-fbbc-4678-8cfc-23ca66a374ce" providerId="ADAL" clId="{F4B2358E-BEBC-4C30-A24B-D5654E2AC392}" dt="2026-07-19T05:42:11.020" v="364" actId="20577"/>
        <pc:sldMkLst>
          <pc:docMk/>
          <pc:sldMk cId="0" sldId="275"/>
        </pc:sldMkLst>
        <pc:spChg chg="mod">
          <ac:chgData name="Jinyin Yan" userId="7d7b1cac-fbbc-4678-8cfc-23ca66a374ce" providerId="ADAL" clId="{F4B2358E-BEBC-4C30-A24B-D5654E2AC392}" dt="2026-07-19T05:42:11.020" v="364" actId="20577"/>
          <ac:spMkLst>
            <pc:docMk/>
            <pc:sldMk cId="0" sldId="275"/>
            <ac:spMk id="4" creationId="{00000000-0000-0000-0000-000000000000}"/>
          </ac:spMkLst>
        </pc:spChg>
      </pc:sldChg>
      <pc:sldChg chg="modSp mod">
        <pc:chgData name="Jinyin Yan" userId="7d7b1cac-fbbc-4678-8cfc-23ca66a374ce" providerId="ADAL" clId="{F4B2358E-BEBC-4C30-A24B-D5654E2AC392}" dt="2026-07-19T05:42:15.535" v="368" actId="20577"/>
        <pc:sldMkLst>
          <pc:docMk/>
          <pc:sldMk cId="0" sldId="276"/>
        </pc:sldMkLst>
        <pc:spChg chg="mod">
          <ac:chgData name="Jinyin Yan" userId="7d7b1cac-fbbc-4678-8cfc-23ca66a374ce" providerId="ADAL" clId="{F4B2358E-BEBC-4C30-A24B-D5654E2AC392}" dt="2026-07-19T05:42:15.535" v="368" actId="20577"/>
          <ac:spMkLst>
            <pc:docMk/>
            <pc:sldMk cId="0" sldId="276"/>
            <ac:spMk id="4" creationId="{00000000-0000-0000-0000-000000000000}"/>
          </ac:spMkLst>
        </pc:spChg>
      </pc:sldChg>
      <pc:sldChg chg="modSp mod">
        <pc:chgData name="Jinyin Yan" userId="7d7b1cac-fbbc-4678-8cfc-23ca66a374ce" providerId="ADAL" clId="{F4B2358E-BEBC-4C30-A24B-D5654E2AC392}" dt="2026-07-19T05:42:20.964" v="372" actId="20577"/>
        <pc:sldMkLst>
          <pc:docMk/>
          <pc:sldMk cId="0" sldId="277"/>
        </pc:sldMkLst>
        <pc:spChg chg="mod">
          <ac:chgData name="Jinyin Yan" userId="7d7b1cac-fbbc-4678-8cfc-23ca66a374ce" providerId="ADAL" clId="{F4B2358E-BEBC-4C30-A24B-D5654E2AC392}" dt="2026-07-19T05:42:20.964" v="372" actId="20577"/>
          <ac:spMkLst>
            <pc:docMk/>
            <pc:sldMk cId="0" sldId="277"/>
            <ac:spMk id="4" creationId="{00000000-0000-0000-0000-000000000000}"/>
          </ac:spMkLst>
        </pc:spChg>
      </pc:sldChg>
      <pc:sldChg chg="modSp mod">
        <pc:chgData name="Jinyin Yan" userId="7d7b1cac-fbbc-4678-8cfc-23ca66a374ce" providerId="ADAL" clId="{F4B2358E-BEBC-4C30-A24B-D5654E2AC392}" dt="2026-07-19T05:43:00.709" v="376" actId="20577"/>
        <pc:sldMkLst>
          <pc:docMk/>
          <pc:sldMk cId="0" sldId="278"/>
        </pc:sldMkLst>
        <pc:spChg chg="mod">
          <ac:chgData name="Jinyin Yan" userId="7d7b1cac-fbbc-4678-8cfc-23ca66a374ce" providerId="ADAL" clId="{F4B2358E-BEBC-4C30-A24B-D5654E2AC392}" dt="2026-07-19T05:43:00.709" v="376" actId="20577"/>
          <ac:spMkLst>
            <pc:docMk/>
            <pc:sldMk cId="0" sldId="278"/>
            <ac:spMk id="4" creationId="{00000000-0000-0000-0000-000000000000}"/>
          </ac:spMkLst>
        </pc:spChg>
      </pc:sldChg>
      <pc:sldChg chg="addSp delSp modSp mod">
        <pc:chgData name="Jinyin Yan" userId="7d7b1cac-fbbc-4678-8cfc-23ca66a374ce" providerId="ADAL" clId="{F4B2358E-BEBC-4C30-A24B-D5654E2AC392}" dt="2026-07-19T03:55:09.554" v="171" actId="6549"/>
        <pc:sldMkLst>
          <pc:docMk/>
          <pc:sldMk cId="0" sldId="286"/>
        </pc:sldMkLst>
        <pc:spChg chg="mod">
          <ac:chgData name="Jinyin Yan" userId="7d7b1cac-fbbc-4678-8cfc-23ca66a374ce" providerId="ADAL" clId="{F4B2358E-BEBC-4C30-A24B-D5654E2AC392}" dt="2026-07-19T03:35:30.635" v="66" actId="1076"/>
          <ac:spMkLst>
            <pc:docMk/>
            <pc:sldMk cId="0" sldId="286"/>
            <ac:spMk id="5" creationId="{00000000-0000-0000-0000-000000000000}"/>
          </ac:spMkLst>
        </pc:spChg>
        <pc:spChg chg="mod">
          <ac:chgData name="Jinyin Yan" userId="7d7b1cac-fbbc-4678-8cfc-23ca66a374ce" providerId="ADAL" clId="{F4B2358E-BEBC-4C30-A24B-D5654E2AC392}" dt="2026-07-19T03:36:51.111" v="84" actId="20577"/>
          <ac:spMkLst>
            <pc:docMk/>
            <pc:sldMk cId="0" sldId="286"/>
            <ac:spMk id="9" creationId="{00000000-0000-0000-0000-000000000000}"/>
          </ac:spMkLst>
        </pc:spChg>
        <pc:spChg chg="del mod">
          <ac:chgData name="Jinyin Yan" userId="7d7b1cac-fbbc-4678-8cfc-23ca66a374ce" providerId="ADAL" clId="{F4B2358E-BEBC-4C30-A24B-D5654E2AC392}" dt="2026-07-19T03:32:05.237" v="46" actId="478"/>
          <ac:spMkLst>
            <pc:docMk/>
            <pc:sldMk cId="0" sldId="286"/>
            <ac:spMk id="10" creationId="{00000000-0000-0000-0000-000000000000}"/>
          </ac:spMkLst>
        </pc:spChg>
        <pc:spChg chg="del mod">
          <ac:chgData name="Jinyin Yan" userId="7d7b1cac-fbbc-4678-8cfc-23ca66a374ce" providerId="ADAL" clId="{F4B2358E-BEBC-4C30-A24B-D5654E2AC392}" dt="2026-07-19T03:31:32.119" v="41" actId="478"/>
          <ac:spMkLst>
            <pc:docMk/>
            <pc:sldMk cId="0" sldId="286"/>
            <ac:spMk id="11" creationId="{00000000-0000-0000-0000-000000000000}"/>
          </ac:spMkLst>
        </pc:spChg>
        <pc:spChg chg="del">
          <ac:chgData name="Jinyin Yan" userId="7d7b1cac-fbbc-4678-8cfc-23ca66a374ce" providerId="ADAL" clId="{F4B2358E-BEBC-4C30-A24B-D5654E2AC392}" dt="2026-07-19T03:31:30.492" v="40" actId="478"/>
          <ac:spMkLst>
            <pc:docMk/>
            <pc:sldMk cId="0" sldId="286"/>
            <ac:spMk id="12" creationId="{00000000-0000-0000-0000-000000000000}"/>
          </ac:spMkLst>
        </pc:spChg>
        <pc:spChg chg="mod">
          <ac:chgData name="Jinyin Yan" userId="7d7b1cac-fbbc-4678-8cfc-23ca66a374ce" providerId="ADAL" clId="{F4B2358E-BEBC-4C30-A24B-D5654E2AC392}" dt="2026-07-19T03:35:40.103" v="68" actId="1076"/>
          <ac:spMkLst>
            <pc:docMk/>
            <pc:sldMk cId="0" sldId="286"/>
            <ac:spMk id="13" creationId="{00000000-0000-0000-0000-000000000000}"/>
          </ac:spMkLst>
        </pc:spChg>
        <pc:spChg chg="mod">
          <ac:chgData name="Jinyin Yan" userId="7d7b1cac-fbbc-4678-8cfc-23ca66a374ce" providerId="ADAL" clId="{F4B2358E-BEBC-4C30-A24B-D5654E2AC392}" dt="2026-07-19T03:36:44.450" v="82" actId="255"/>
          <ac:spMkLst>
            <pc:docMk/>
            <pc:sldMk cId="0" sldId="286"/>
            <ac:spMk id="14" creationId="{00000000-0000-0000-0000-000000000000}"/>
          </ac:spMkLst>
        </pc:spChg>
        <pc:spChg chg="del mod">
          <ac:chgData name="Jinyin Yan" userId="7d7b1cac-fbbc-4678-8cfc-23ca66a374ce" providerId="ADAL" clId="{F4B2358E-BEBC-4C30-A24B-D5654E2AC392}" dt="2026-07-19T03:32:49.240" v="60" actId="478"/>
          <ac:spMkLst>
            <pc:docMk/>
            <pc:sldMk cId="0" sldId="286"/>
            <ac:spMk id="15" creationId="{00000000-0000-0000-0000-000000000000}"/>
          </ac:spMkLst>
        </pc:spChg>
        <pc:spChg chg="del">
          <ac:chgData name="Jinyin Yan" userId="7d7b1cac-fbbc-4678-8cfc-23ca66a374ce" providerId="ADAL" clId="{F4B2358E-BEBC-4C30-A24B-D5654E2AC392}" dt="2026-07-19T03:32:20.787" v="53" actId="478"/>
          <ac:spMkLst>
            <pc:docMk/>
            <pc:sldMk cId="0" sldId="286"/>
            <ac:spMk id="16" creationId="{00000000-0000-0000-0000-000000000000}"/>
          </ac:spMkLst>
        </pc:spChg>
        <pc:spChg chg="mod">
          <ac:chgData name="Jinyin Yan" userId="7d7b1cac-fbbc-4678-8cfc-23ca66a374ce" providerId="ADAL" clId="{F4B2358E-BEBC-4C30-A24B-D5654E2AC392}" dt="2026-07-19T03:36:54.948" v="88" actId="20577"/>
          <ac:spMkLst>
            <pc:docMk/>
            <pc:sldMk cId="0" sldId="286"/>
            <ac:spMk id="19" creationId="{00000000-0000-0000-0000-000000000000}"/>
          </ac:spMkLst>
        </pc:spChg>
        <pc:spChg chg="del">
          <ac:chgData name="Jinyin Yan" userId="7d7b1cac-fbbc-4678-8cfc-23ca66a374ce" providerId="ADAL" clId="{F4B2358E-BEBC-4C30-A24B-D5654E2AC392}" dt="2026-07-19T03:35:58.794" v="71" actId="478"/>
          <ac:spMkLst>
            <pc:docMk/>
            <pc:sldMk cId="0" sldId="286"/>
            <ac:spMk id="20" creationId="{00000000-0000-0000-0000-000000000000}"/>
          </ac:spMkLst>
        </pc:spChg>
        <pc:spChg chg="del mod">
          <ac:chgData name="Jinyin Yan" userId="7d7b1cac-fbbc-4678-8cfc-23ca66a374ce" providerId="ADAL" clId="{F4B2358E-BEBC-4C30-A24B-D5654E2AC392}" dt="2026-07-19T03:36:17.275" v="77" actId="478"/>
          <ac:spMkLst>
            <pc:docMk/>
            <pc:sldMk cId="0" sldId="286"/>
            <ac:spMk id="21" creationId="{00000000-0000-0000-0000-000000000000}"/>
          </ac:spMkLst>
        </pc:spChg>
        <pc:spChg chg="del mod">
          <ac:chgData name="Jinyin Yan" userId="7d7b1cac-fbbc-4678-8cfc-23ca66a374ce" providerId="ADAL" clId="{F4B2358E-BEBC-4C30-A24B-D5654E2AC392}" dt="2026-07-19T03:35:26.291" v="64" actId="478"/>
          <ac:spMkLst>
            <pc:docMk/>
            <pc:sldMk cId="0" sldId="286"/>
            <ac:spMk id="22" creationId="{00000000-0000-0000-0000-000000000000}"/>
          </ac:spMkLst>
        </pc:spChg>
        <pc:spChg chg="add del mod">
          <ac:chgData name="Jinyin Yan" userId="7d7b1cac-fbbc-4678-8cfc-23ca66a374ce" providerId="ADAL" clId="{F4B2358E-BEBC-4C30-A24B-D5654E2AC392}" dt="2026-07-19T03:54:29.801" v="157" actId="1076"/>
          <ac:spMkLst>
            <pc:docMk/>
            <pc:sldMk cId="0" sldId="286"/>
            <ac:spMk id="23" creationId="{00000000-0000-0000-0000-000000000000}"/>
          </ac:spMkLst>
        </pc:spChg>
        <pc:spChg chg="mod">
          <ac:chgData name="Jinyin Yan" userId="7d7b1cac-fbbc-4678-8cfc-23ca66a374ce" providerId="ADAL" clId="{F4B2358E-BEBC-4C30-A24B-D5654E2AC392}" dt="2026-07-19T03:43:20.557" v="119" actId="20577"/>
          <ac:spMkLst>
            <pc:docMk/>
            <pc:sldMk cId="0" sldId="286"/>
            <ac:spMk id="28" creationId="{00000000-0000-0000-0000-000000000000}"/>
          </ac:spMkLst>
        </pc:spChg>
        <pc:spChg chg="del">
          <ac:chgData name="Jinyin Yan" userId="7d7b1cac-fbbc-4678-8cfc-23ca66a374ce" providerId="ADAL" clId="{F4B2358E-BEBC-4C30-A24B-D5654E2AC392}" dt="2026-07-19T03:43:08.522" v="110" actId="478"/>
          <ac:spMkLst>
            <pc:docMk/>
            <pc:sldMk cId="0" sldId="286"/>
            <ac:spMk id="29" creationId="{00000000-0000-0000-0000-000000000000}"/>
          </ac:spMkLst>
        </pc:spChg>
        <pc:spChg chg="del">
          <ac:chgData name="Jinyin Yan" userId="7d7b1cac-fbbc-4678-8cfc-23ca66a374ce" providerId="ADAL" clId="{F4B2358E-BEBC-4C30-A24B-D5654E2AC392}" dt="2026-07-19T03:43:07.059" v="109" actId="478"/>
          <ac:spMkLst>
            <pc:docMk/>
            <pc:sldMk cId="0" sldId="286"/>
            <ac:spMk id="30" creationId="{00000000-0000-0000-0000-000000000000}"/>
          </ac:spMkLst>
        </pc:spChg>
        <pc:spChg chg="del">
          <ac:chgData name="Jinyin Yan" userId="7d7b1cac-fbbc-4678-8cfc-23ca66a374ce" providerId="ADAL" clId="{F4B2358E-BEBC-4C30-A24B-D5654E2AC392}" dt="2026-07-19T03:42:55.951" v="105" actId="478"/>
          <ac:spMkLst>
            <pc:docMk/>
            <pc:sldMk cId="0" sldId="286"/>
            <ac:spMk id="31" creationId="{00000000-0000-0000-0000-000000000000}"/>
          </ac:spMkLst>
        </pc:spChg>
        <pc:spChg chg="del">
          <ac:chgData name="Jinyin Yan" userId="7d7b1cac-fbbc-4678-8cfc-23ca66a374ce" providerId="ADAL" clId="{F4B2358E-BEBC-4C30-A24B-D5654E2AC392}" dt="2026-07-19T03:43:04.894" v="108" actId="478"/>
          <ac:spMkLst>
            <pc:docMk/>
            <pc:sldMk cId="0" sldId="286"/>
            <ac:spMk id="32" creationId="{00000000-0000-0000-0000-000000000000}"/>
          </ac:spMkLst>
        </pc:spChg>
        <pc:spChg chg="mod">
          <ac:chgData name="Jinyin Yan" userId="7d7b1cac-fbbc-4678-8cfc-23ca66a374ce" providerId="ADAL" clId="{F4B2358E-BEBC-4C30-A24B-D5654E2AC392}" dt="2026-07-19T03:53:42.839" v="152" actId="20577"/>
          <ac:spMkLst>
            <pc:docMk/>
            <pc:sldMk cId="0" sldId="286"/>
            <ac:spMk id="35" creationId="{00000000-0000-0000-0000-000000000000}"/>
          </ac:spMkLst>
        </pc:spChg>
        <pc:spChg chg="del">
          <ac:chgData name="Jinyin Yan" userId="7d7b1cac-fbbc-4678-8cfc-23ca66a374ce" providerId="ADAL" clId="{F4B2358E-BEBC-4C30-A24B-D5654E2AC392}" dt="2026-07-19T03:53:14.552" v="122" actId="478"/>
          <ac:spMkLst>
            <pc:docMk/>
            <pc:sldMk cId="0" sldId="286"/>
            <ac:spMk id="36" creationId="{00000000-0000-0000-0000-000000000000}"/>
          </ac:spMkLst>
        </pc:spChg>
        <pc:spChg chg="del">
          <ac:chgData name="Jinyin Yan" userId="7d7b1cac-fbbc-4678-8cfc-23ca66a374ce" providerId="ADAL" clId="{F4B2358E-BEBC-4C30-A24B-D5654E2AC392}" dt="2026-07-19T03:53:17.409" v="123" actId="478"/>
          <ac:spMkLst>
            <pc:docMk/>
            <pc:sldMk cId="0" sldId="286"/>
            <ac:spMk id="37" creationId="{00000000-0000-0000-0000-000000000000}"/>
          </ac:spMkLst>
        </pc:spChg>
        <pc:spChg chg="del">
          <ac:chgData name="Jinyin Yan" userId="7d7b1cac-fbbc-4678-8cfc-23ca66a374ce" providerId="ADAL" clId="{F4B2358E-BEBC-4C30-A24B-D5654E2AC392}" dt="2026-07-19T03:53:37.165" v="149" actId="478"/>
          <ac:spMkLst>
            <pc:docMk/>
            <pc:sldMk cId="0" sldId="286"/>
            <ac:spMk id="38" creationId="{00000000-0000-0000-0000-000000000000}"/>
          </ac:spMkLst>
        </pc:spChg>
        <pc:spChg chg="mod">
          <ac:chgData name="Jinyin Yan" userId="7d7b1cac-fbbc-4678-8cfc-23ca66a374ce" providerId="ADAL" clId="{F4B2358E-BEBC-4C30-A24B-D5654E2AC392}" dt="2026-07-19T03:55:09.554" v="171" actId="6549"/>
          <ac:spMkLst>
            <pc:docMk/>
            <pc:sldMk cId="0" sldId="286"/>
            <ac:spMk id="41" creationId="{00000000-0000-0000-0000-000000000000}"/>
          </ac:spMkLst>
        </pc:spChg>
        <pc:spChg chg="del">
          <ac:chgData name="Jinyin Yan" userId="7d7b1cac-fbbc-4678-8cfc-23ca66a374ce" providerId="ADAL" clId="{F4B2358E-BEBC-4C30-A24B-D5654E2AC392}" dt="2026-07-19T03:53:59.408" v="156" actId="478"/>
          <ac:spMkLst>
            <pc:docMk/>
            <pc:sldMk cId="0" sldId="286"/>
            <ac:spMk id="42" creationId="{00000000-0000-0000-0000-000000000000}"/>
          </ac:spMkLst>
        </pc:spChg>
        <pc:spChg chg="del">
          <ac:chgData name="Jinyin Yan" userId="7d7b1cac-fbbc-4678-8cfc-23ca66a374ce" providerId="ADAL" clId="{F4B2358E-BEBC-4C30-A24B-D5654E2AC392}" dt="2026-07-19T03:54:40.192" v="159" actId="478"/>
          <ac:spMkLst>
            <pc:docMk/>
            <pc:sldMk cId="0" sldId="286"/>
            <ac:spMk id="43" creationId="{00000000-0000-0000-0000-000000000000}"/>
          </ac:spMkLst>
        </pc:spChg>
        <pc:spChg chg="del">
          <ac:chgData name="Jinyin Yan" userId="7d7b1cac-fbbc-4678-8cfc-23ca66a374ce" providerId="ADAL" clId="{F4B2358E-BEBC-4C30-A24B-D5654E2AC392}" dt="2026-07-19T03:54:43.211" v="160" actId="478"/>
          <ac:spMkLst>
            <pc:docMk/>
            <pc:sldMk cId="0" sldId="286"/>
            <ac:spMk id="44" creationId="{00000000-0000-0000-0000-000000000000}"/>
          </ac:spMkLst>
        </pc:spChg>
        <pc:spChg chg="del">
          <ac:chgData name="Jinyin Yan" userId="7d7b1cac-fbbc-4678-8cfc-23ca66a374ce" providerId="ADAL" clId="{F4B2358E-BEBC-4C30-A24B-D5654E2AC392}" dt="2026-07-19T03:54:56.122" v="164" actId="478"/>
          <ac:spMkLst>
            <pc:docMk/>
            <pc:sldMk cId="0" sldId="286"/>
            <ac:spMk id="45" creationId="{00000000-0000-0000-0000-000000000000}"/>
          </ac:spMkLst>
        </pc:spChg>
        <pc:spChg chg="del">
          <ac:chgData name="Jinyin Yan" userId="7d7b1cac-fbbc-4678-8cfc-23ca66a374ce" providerId="ADAL" clId="{F4B2358E-BEBC-4C30-A24B-D5654E2AC392}" dt="2026-07-19T03:55:02.954" v="166" actId="478"/>
          <ac:spMkLst>
            <pc:docMk/>
            <pc:sldMk cId="0" sldId="286"/>
            <ac:spMk id="46" creationId="{00000000-0000-0000-0000-000000000000}"/>
          </ac:spMkLst>
        </pc:spChg>
      </pc:sldChg>
      <pc:sldChg chg="addSp delSp modSp mod">
        <pc:chgData name="Jinyin Yan" userId="7d7b1cac-fbbc-4678-8cfc-23ca66a374ce" providerId="ADAL" clId="{F4B2358E-BEBC-4C30-A24B-D5654E2AC392}" dt="2026-07-19T04:25:15.920" v="270" actId="6549"/>
        <pc:sldMkLst>
          <pc:docMk/>
          <pc:sldMk cId="0" sldId="287"/>
        </pc:sldMkLst>
        <pc:spChg chg="mod">
          <ac:chgData name="Jinyin Yan" userId="7d7b1cac-fbbc-4678-8cfc-23ca66a374ce" providerId="ADAL" clId="{F4B2358E-BEBC-4C30-A24B-D5654E2AC392}" dt="2026-07-19T04:25:15.920" v="270" actId="6549"/>
          <ac:spMkLst>
            <pc:docMk/>
            <pc:sldMk cId="0" sldId="287"/>
            <ac:spMk id="10" creationId="{00000000-0000-0000-0000-000000000000}"/>
          </ac:spMkLst>
        </pc:spChg>
        <pc:spChg chg="del">
          <ac:chgData name="Jinyin Yan" userId="7d7b1cac-fbbc-4678-8cfc-23ca66a374ce" providerId="ADAL" clId="{F4B2358E-BEBC-4C30-A24B-D5654E2AC392}" dt="2026-07-19T04:03:43.475" v="173" actId="478"/>
          <ac:spMkLst>
            <pc:docMk/>
            <pc:sldMk cId="0" sldId="287"/>
            <ac:spMk id="11" creationId="{00000000-0000-0000-0000-000000000000}"/>
          </ac:spMkLst>
        </pc:spChg>
        <pc:spChg chg="del">
          <ac:chgData name="Jinyin Yan" userId="7d7b1cac-fbbc-4678-8cfc-23ca66a374ce" providerId="ADAL" clId="{F4B2358E-BEBC-4C30-A24B-D5654E2AC392}" dt="2026-07-19T04:03:50.525" v="175" actId="478"/>
          <ac:spMkLst>
            <pc:docMk/>
            <pc:sldMk cId="0" sldId="287"/>
            <ac:spMk id="12" creationId="{00000000-0000-0000-0000-000000000000}"/>
          </ac:spMkLst>
        </pc:spChg>
        <pc:spChg chg="del">
          <ac:chgData name="Jinyin Yan" userId="7d7b1cac-fbbc-4678-8cfc-23ca66a374ce" providerId="ADAL" clId="{F4B2358E-BEBC-4C30-A24B-D5654E2AC392}" dt="2026-07-19T04:04:17.267" v="179" actId="478"/>
          <ac:spMkLst>
            <pc:docMk/>
            <pc:sldMk cId="0" sldId="287"/>
            <ac:spMk id="13" creationId="{00000000-0000-0000-0000-000000000000}"/>
          </ac:spMkLst>
        </pc:spChg>
        <pc:spChg chg="del">
          <ac:chgData name="Jinyin Yan" userId="7d7b1cac-fbbc-4678-8cfc-23ca66a374ce" providerId="ADAL" clId="{F4B2358E-BEBC-4C30-A24B-D5654E2AC392}" dt="2026-07-19T04:04:18.918" v="180" actId="478"/>
          <ac:spMkLst>
            <pc:docMk/>
            <pc:sldMk cId="0" sldId="287"/>
            <ac:spMk id="14" creationId="{00000000-0000-0000-0000-000000000000}"/>
          </ac:spMkLst>
        </pc:spChg>
        <pc:spChg chg="del">
          <ac:chgData name="Jinyin Yan" userId="7d7b1cac-fbbc-4678-8cfc-23ca66a374ce" providerId="ADAL" clId="{F4B2358E-BEBC-4C30-A24B-D5654E2AC392}" dt="2026-07-19T04:04:05.362" v="177" actId="478"/>
          <ac:spMkLst>
            <pc:docMk/>
            <pc:sldMk cId="0" sldId="287"/>
            <ac:spMk id="15" creationId="{00000000-0000-0000-0000-000000000000}"/>
          </ac:spMkLst>
        </pc:spChg>
        <pc:spChg chg="mod">
          <ac:chgData name="Jinyin Yan" userId="7d7b1cac-fbbc-4678-8cfc-23ca66a374ce" providerId="ADAL" clId="{F4B2358E-BEBC-4C30-A24B-D5654E2AC392}" dt="2026-07-19T04:25:02.183" v="266" actId="20577"/>
          <ac:spMkLst>
            <pc:docMk/>
            <pc:sldMk cId="0" sldId="287"/>
            <ac:spMk id="18" creationId="{00000000-0000-0000-0000-000000000000}"/>
          </ac:spMkLst>
        </pc:spChg>
        <pc:spChg chg="del mod">
          <ac:chgData name="Jinyin Yan" userId="7d7b1cac-fbbc-4678-8cfc-23ca66a374ce" providerId="ADAL" clId="{F4B2358E-BEBC-4C30-A24B-D5654E2AC392}" dt="2026-07-19T04:24:53.877" v="255" actId="478"/>
          <ac:spMkLst>
            <pc:docMk/>
            <pc:sldMk cId="0" sldId="287"/>
            <ac:spMk id="19" creationId="{00000000-0000-0000-0000-000000000000}"/>
          </ac:spMkLst>
        </pc:spChg>
        <pc:spChg chg="del mod">
          <ac:chgData name="Jinyin Yan" userId="7d7b1cac-fbbc-4678-8cfc-23ca66a374ce" providerId="ADAL" clId="{F4B2358E-BEBC-4C30-A24B-D5654E2AC392}" dt="2026-07-19T04:24:46.405" v="252" actId="478"/>
          <ac:spMkLst>
            <pc:docMk/>
            <pc:sldMk cId="0" sldId="287"/>
            <ac:spMk id="20" creationId="{00000000-0000-0000-0000-000000000000}"/>
          </ac:spMkLst>
        </pc:spChg>
        <pc:spChg chg="del mod">
          <ac:chgData name="Jinyin Yan" userId="7d7b1cac-fbbc-4678-8cfc-23ca66a374ce" providerId="ADAL" clId="{F4B2358E-BEBC-4C30-A24B-D5654E2AC392}" dt="2026-07-19T04:24:38.479" v="250" actId="478"/>
          <ac:spMkLst>
            <pc:docMk/>
            <pc:sldMk cId="0" sldId="287"/>
            <ac:spMk id="21" creationId="{00000000-0000-0000-0000-000000000000}"/>
          </ac:spMkLst>
        </pc:spChg>
        <pc:spChg chg="del mod">
          <ac:chgData name="Jinyin Yan" userId="7d7b1cac-fbbc-4678-8cfc-23ca66a374ce" providerId="ADAL" clId="{F4B2358E-BEBC-4C30-A24B-D5654E2AC392}" dt="2026-07-19T04:24:14.866" v="244" actId="478"/>
          <ac:spMkLst>
            <pc:docMk/>
            <pc:sldMk cId="0" sldId="287"/>
            <ac:spMk id="22" creationId="{00000000-0000-0000-0000-000000000000}"/>
          </ac:spMkLst>
        </pc:spChg>
        <pc:spChg chg="del">
          <ac:chgData name="Jinyin Yan" userId="7d7b1cac-fbbc-4678-8cfc-23ca66a374ce" providerId="ADAL" clId="{F4B2358E-BEBC-4C30-A24B-D5654E2AC392}" dt="2026-07-19T04:24:18.141" v="245" actId="478"/>
          <ac:spMkLst>
            <pc:docMk/>
            <pc:sldMk cId="0" sldId="287"/>
            <ac:spMk id="23" creationId="{00000000-0000-0000-0000-000000000000}"/>
          </ac:spMkLst>
        </pc:spChg>
        <pc:spChg chg="mod">
          <ac:chgData name="Jinyin Yan" userId="7d7b1cac-fbbc-4678-8cfc-23ca66a374ce" providerId="ADAL" clId="{F4B2358E-BEBC-4C30-A24B-D5654E2AC392}" dt="2026-07-19T04:19:05.742" v="213" actId="6549"/>
          <ac:spMkLst>
            <pc:docMk/>
            <pc:sldMk cId="0" sldId="287"/>
            <ac:spMk id="29" creationId="{00000000-0000-0000-0000-000000000000}"/>
          </ac:spMkLst>
        </pc:spChg>
        <pc:spChg chg="del">
          <ac:chgData name="Jinyin Yan" userId="7d7b1cac-fbbc-4678-8cfc-23ca66a374ce" providerId="ADAL" clId="{F4B2358E-BEBC-4C30-A24B-D5654E2AC392}" dt="2026-07-19T04:12:26.367" v="189" actId="478"/>
          <ac:spMkLst>
            <pc:docMk/>
            <pc:sldMk cId="0" sldId="287"/>
            <ac:spMk id="30" creationId="{00000000-0000-0000-0000-000000000000}"/>
          </ac:spMkLst>
        </pc:spChg>
        <pc:spChg chg="del">
          <ac:chgData name="Jinyin Yan" userId="7d7b1cac-fbbc-4678-8cfc-23ca66a374ce" providerId="ADAL" clId="{F4B2358E-BEBC-4C30-A24B-D5654E2AC392}" dt="2026-07-19T04:12:33.668" v="191" actId="478"/>
          <ac:spMkLst>
            <pc:docMk/>
            <pc:sldMk cId="0" sldId="287"/>
            <ac:spMk id="31" creationId="{00000000-0000-0000-0000-000000000000}"/>
          </ac:spMkLst>
        </pc:spChg>
        <pc:spChg chg="add del">
          <ac:chgData name="Jinyin Yan" userId="7d7b1cac-fbbc-4678-8cfc-23ca66a374ce" providerId="ADAL" clId="{F4B2358E-BEBC-4C30-A24B-D5654E2AC392}" dt="2026-07-19T04:12:56.309" v="196" actId="478"/>
          <ac:spMkLst>
            <pc:docMk/>
            <pc:sldMk cId="0" sldId="287"/>
            <ac:spMk id="32" creationId="{00000000-0000-0000-0000-000000000000}"/>
          </ac:spMkLst>
        </pc:spChg>
        <pc:spChg chg="del">
          <ac:chgData name="Jinyin Yan" userId="7d7b1cac-fbbc-4678-8cfc-23ca66a374ce" providerId="ADAL" clId="{F4B2358E-BEBC-4C30-A24B-D5654E2AC392}" dt="2026-07-19T04:13:09.505" v="198" actId="478"/>
          <ac:spMkLst>
            <pc:docMk/>
            <pc:sldMk cId="0" sldId="287"/>
            <ac:spMk id="33" creationId="{00000000-0000-0000-0000-000000000000}"/>
          </ac:spMkLst>
        </pc:spChg>
        <pc:spChg chg="del mod">
          <ac:chgData name="Jinyin Yan" userId="7d7b1cac-fbbc-4678-8cfc-23ca66a374ce" providerId="ADAL" clId="{F4B2358E-BEBC-4C30-A24B-D5654E2AC392}" dt="2026-07-19T04:13:30.636" v="202" actId="478"/>
          <ac:spMkLst>
            <pc:docMk/>
            <pc:sldMk cId="0" sldId="287"/>
            <ac:spMk id="34" creationId="{00000000-0000-0000-0000-000000000000}"/>
          </ac:spMkLst>
        </pc:spChg>
        <pc:spChg chg="del mod">
          <ac:chgData name="Jinyin Yan" userId="7d7b1cac-fbbc-4678-8cfc-23ca66a374ce" providerId="ADAL" clId="{F4B2358E-BEBC-4C30-A24B-D5654E2AC392}" dt="2026-07-19T04:04:48.259" v="183" actId="478"/>
          <ac:spMkLst>
            <pc:docMk/>
            <pc:sldMk cId="0" sldId="287"/>
            <ac:spMk id="35" creationId="{00000000-0000-0000-0000-000000000000}"/>
          </ac:spMkLst>
        </pc:spChg>
        <pc:spChg chg="del">
          <ac:chgData name="Jinyin Yan" userId="7d7b1cac-fbbc-4678-8cfc-23ca66a374ce" providerId="ADAL" clId="{F4B2358E-BEBC-4C30-A24B-D5654E2AC392}" dt="2026-07-19T04:13:43.657" v="206" actId="478"/>
          <ac:spMkLst>
            <pc:docMk/>
            <pc:sldMk cId="0" sldId="287"/>
            <ac:spMk id="36" creationId="{00000000-0000-0000-0000-000000000000}"/>
          </ac:spMkLst>
        </pc:spChg>
        <pc:spChg chg="mod">
          <ac:chgData name="Jinyin Yan" userId="7d7b1cac-fbbc-4678-8cfc-23ca66a374ce" providerId="ADAL" clId="{F4B2358E-BEBC-4C30-A24B-D5654E2AC392}" dt="2026-07-19T04:19:24.927" v="219" actId="20577"/>
          <ac:spMkLst>
            <pc:docMk/>
            <pc:sldMk cId="0" sldId="287"/>
            <ac:spMk id="39" creationId="{00000000-0000-0000-0000-000000000000}"/>
          </ac:spMkLst>
        </pc:spChg>
        <pc:spChg chg="del mod">
          <ac:chgData name="Jinyin Yan" userId="7d7b1cac-fbbc-4678-8cfc-23ca66a374ce" providerId="ADAL" clId="{F4B2358E-BEBC-4C30-A24B-D5654E2AC392}" dt="2026-07-19T04:19:29.611" v="220" actId="478"/>
          <ac:spMkLst>
            <pc:docMk/>
            <pc:sldMk cId="0" sldId="287"/>
            <ac:spMk id="40" creationId="{00000000-0000-0000-0000-000000000000}"/>
          </ac:spMkLst>
        </pc:spChg>
        <pc:spChg chg="del mod">
          <ac:chgData name="Jinyin Yan" userId="7d7b1cac-fbbc-4678-8cfc-23ca66a374ce" providerId="ADAL" clId="{F4B2358E-BEBC-4C30-A24B-D5654E2AC392}" dt="2026-07-19T04:19:36.245" v="221" actId="478"/>
          <ac:spMkLst>
            <pc:docMk/>
            <pc:sldMk cId="0" sldId="287"/>
            <ac:spMk id="41" creationId="{00000000-0000-0000-0000-000000000000}"/>
          </ac:spMkLst>
        </pc:spChg>
        <pc:spChg chg="add del">
          <ac:chgData name="Jinyin Yan" userId="7d7b1cac-fbbc-4678-8cfc-23ca66a374ce" providerId="ADAL" clId="{F4B2358E-BEBC-4C30-A24B-D5654E2AC392}" dt="2026-07-19T04:05:05.019" v="187" actId="22"/>
          <ac:spMkLst>
            <pc:docMk/>
            <pc:sldMk cId="0" sldId="287"/>
            <ac:spMk id="49" creationId="{4B529F38-778A-6212-9CF1-99DAC98D9288}"/>
          </ac:spMkLst>
        </pc:spChg>
      </pc:sldChg>
      <pc:sldChg chg="delSp modSp mod">
        <pc:chgData name="Jinyin Yan" userId="7d7b1cac-fbbc-4678-8cfc-23ca66a374ce" providerId="ADAL" clId="{F4B2358E-BEBC-4C30-A24B-D5654E2AC392}" dt="2026-07-19T05:41:06.026" v="343" actId="478"/>
        <pc:sldMkLst>
          <pc:docMk/>
          <pc:sldMk cId="0" sldId="288"/>
        </pc:sldMkLst>
        <pc:spChg chg="mod">
          <ac:chgData name="Jinyin Yan" userId="7d7b1cac-fbbc-4678-8cfc-23ca66a374ce" providerId="ADAL" clId="{F4B2358E-BEBC-4C30-A24B-D5654E2AC392}" dt="2026-07-19T04:22:26.985" v="235" actId="20577"/>
          <ac:spMkLst>
            <pc:docMk/>
            <pc:sldMk cId="0" sldId="288"/>
            <ac:spMk id="10" creationId="{00000000-0000-0000-0000-000000000000}"/>
          </ac:spMkLst>
        </pc:spChg>
        <pc:spChg chg="del">
          <ac:chgData name="Jinyin Yan" userId="7d7b1cac-fbbc-4678-8cfc-23ca66a374ce" providerId="ADAL" clId="{F4B2358E-BEBC-4C30-A24B-D5654E2AC392}" dt="2026-07-19T04:21:47.233" v="223" actId="478"/>
          <ac:spMkLst>
            <pc:docMk/>
            <pc:sldMk cId="0" sldId="288"/>
            <ac:spMk id="11" creationId="{00000000-0000-0000-0000-000000000000}"/>
          </ac:spMkLst>
        </pc:spChg>
        <pc:spChg chg="del">
          <ac:chgData name="Jinyin Yan" userId="7d7b1cac-fbbc-4678-8cfc-23ca66a374ce" providerId="ADAL" clId="{F4B2358E-BEBC-4C30-A24B-D5654E2AC392}" dt="2026-07-19T04:22:03.245" v="227" actId="478"/>
          <ac:spMkLst>
            <pc:docMk/>
            <pc:sldMk cId="0" sldId="288"/>
            <ac:spMk id="12" creationId="{00000000-0000-0000-0000-000000000000}"/>
          </ac:spMkLst>
        </pc:spChg>
        <pc:spChg chg="del">
          <ac:chgData name="Jinyin Yan" userId="7d7b1cac-fbbc-4678-8cfc-23ca66a374ce" providerId="ADAL" clId="{F4B2358E-BEBC-4C30-A24B-D5654E2AC392}" dt="2026-07-19T04:22:17.260" v="232" actId="478"/>
          <ac:spMkLst>
            <pc:docMk/>
            <pc:sldMk cId="0" sldId="288"/>
            <ac:spMk id="13" creationId="{00000000-0000-0000-0000-000000000000}"/>
          </ac:spMkLst>
        </pc:spChg>
        <pc:spChg chg="del">
          <ac:chgData name="Jinyin Yan" userId="7d7b1cac-fbbc-4678-8cfc-23ca66a374ce" providerId="ADAL" clId="{F4B2358E-BEBC-4C30-A24B-D5654E2AC392}" dt="2026-07-19T04:22:22.920" v="233" actId="478"/>
          <ac:spMkLst>
            <pc:docMk/>
            <pc:sldMk cId="0" sldId="288"/>
            <ac:spMk id="14" creationId="{00000000-0000-0000-0000-000000000000}"/>
          </ac:spMkLst>
        </pc:spChg>
        <pc:spChg chg="mod">
          <ac:chgData name="Jinyin Yan" userId="7d7b1cac-fbbc-4678-8cfc-23ca66a374ce" providerId="ADAL" clId="{F4B2358E-BEBC-4C30-A24B-D5654E2AC392}" dt="2026-07-19T04:26:31.088" v="290"/>
          <ac:spMkLst>
            <pc:docMk/>
            <pc:sldMk cId="0" sldId="288"/>
            <ac:spMk id="17" creationId="{00000000-0000-0000-0000-000000000000}"/>
          </ac:spMkLst>
        </pc:spChg>
        <pc:spChg chg="del mod">
          <ac:chgData name="Jinyin Yan" userId="7d7b1cac-fbbc-4678-8cfc-23ca66a374ce" providerId="ADAL" clId="{F4B2358E-BEBC-4C30-A24B-D5654E2AC392}" dt="2026-07-19T04:26:34.728" v="291" actId="478"/>
          <ac:spMkLst>
            <pc:docMk/>
            <pc:sldMk cId="0" sldId="288"/>
            <ac:spMk id="18" creationId="{00000000-0000-0000-0000-000000000000}"/>
          </ac:spMkLst>
        </pc:spChg>
        <pc:spChg chg="del mod">
          <ac:chgData name="Jinyin Yan" userId="7d7b1cac-fbbc-4678-8cfc-23ca66a374ce" providerId="ADAL" clId="{F4B2358E-BEBC-4C30-A24B-D5654E2AC392}" dt="2026-07-19T04:26:23.026" v="288" actId="478"/>
          <ac:spMkLst>
            <pc:docMk/>
            <pc:sldMk cId="0" sldId="288"/>
            <ac:spMk id="19" creationId="{00000000-0000-0000-0000-000000000000}"/>
          </ac:spMkLst>
        </pc:spChg>
        <pc:spChg chg="del mod">
          <ac:chgData name="Jinyin Yan" userId="7d7b1cac-fbbc-4678-8cfc-23ca66a374ce" providerId="ADAL" clId="{F4B2358E-BEBC-4C30-A24B-D5654E2AC392}" dt="2026-07-19T04:26:12.670" v="285" actId="478"/>
          <ac:spMkLst>
            <pc:docMk/>
            <pc:sldMk cId="0" sldId="288"/>
            <ac:spMk id="20" creationId="{00000000-0000-0000-0000-000000000000}"/>
          </ac:spMkLst>
        </pc:spChg>
        <pc:spChg chg="del mod">
          <ac:chgData name="Jinyin Yan" userId="7d7b1cac-fbbc-4678-8cfc-23ca66a374ce" providerId="ADAL" clId="{F4B2358E-BEBC-4C30-A24B-D5654E2AC392}" dt="2026-07-19T04:26:03.627" v="281" actId="478"/>
          <ac:spMkLst>
            <pc:docMk/>
            <pc:sldMk cId="0" sldId="288"/>
            <ac:spMk id="21" creationId="{00000000-0000-0000-0000-000000000000}"/>
          </ac:spMkLst>
        </pc:spChg>
        <pc:spChg chg="del">
          <ac:chgData name="Jinyin Yan" userId="7d7b1cac-fbbc-4678-8cfc-23ca66a374ce" providerId="ADAL" clId="{F4B2358E-BEBC-4C30-A24B-D5654E2AC392}" dt="2026-07-19T04:25:30.808" v="272" actId="478"/>
          <ac:spMkLst>
            <pc:docMk/>
            <pc:sldMk cId="0" sldId="288"/>
            <ac:spMk id="22" creationId="{00000000-0000-0000-0000-000000000000}"/>
          </ac:spMkLst>
        </pc:spChg>
        <pc:spChg chg="del">
          <ac:chgData name="Jinyin Yan" userId="7d7b1cac-fbbc-4678-8cfc-23ca66a374ce" providerId="ADAL" clId="{F4B2358E-BEBC-4C30-A24B-D5654E2AC392}" dt="2026-07-19T04:25:28.823" v="271" actId="478"/>
          <ac:spMkLst>
            <pc:docMk/>
            <pc:sldMk cId="0" sldId="288"/>
            <ac:spMk id="23" creationId="{00000000-0000-0000-0000-000000000000}"/>
          </ac:spMkLst>
        </pc:spChg>
        <pc:spChg chg="del">
          <ac:chgData name="Jinyin Yan" userId="7d7b1cac-fbbc-4678-8cfc-23ca66a374ce" providerId="ADAL" clId="{F4B2358E-BEBC-4C30-A24B-D5654E2AC392}" dt="2026-07-19T04:25:34.449" v="275" actId="478"/>
          <ac:spMkLst>
            <pc:docMk/>
            <pc:sldMk cId="0" sldId="288"/>
            <ac:spMk id="24" creationId="{00000000-0000-0000-0000-000000000000}"/>
          </ac:spMkLst>
        </pc:spChg>
        <pc:spChg chg="del mod">
          <ac:chgData name="Jinyin Yan" userId="7d7b1cac-fbbc-4678-8cfc-23ca66a374ce" providerId="ADAL" clId="{F4B2358E-BEBC-4C30-A24B-D5654E2AC392}" dt="2026-07-19T04:25:32.945" v="274" actId="478"/>
          <ac:spMkLst>
            <pc:docMk/>
            <pc:sldMk cId="0" sldId="288"/>
            <ac:spMk id="25" creationId="{00000000-0000-0000-0000-000000000000}"/>
          </ac:spMkLst>
        </pc:spChg>
        <pc:spChg chg="del">
          <ac:chgData name="Jinyin Yan" userId="7d7b1cac-fbbc-4678-8cfc-23ca66a374ce" providerId="ADAL" clId="{F4B2358E-BEBC-4C30-A24B-D5654E2AC392}" dt="2026-07-19T04:25:37.910" v="276" actId="478"/>
          <ac:spMkLst>
            <pc:docMk/>
            <pc:sldMk cId="0" sldId="288"/>
            <ac:spMk id="26" creationId="{00000000-0000-0000-0000-000000000000}"/>
          </ac:spMkLst>
        </pc:spChg>
        <pc:spChg chg="mod">
          <ac:chgData name="Jinyin Yan" userId="7d7b1cac-fbbc-4678-8cfc-23ca66a374ce" providerId="ADAL" clId="{F4B2358E-BEBC-4C30-A24B-D5654E2AC392}" dt="2026-07-19T04:37:33.524" v="330" actId="20577"/>
          <ac:spMkLst>
            <pc:docMk/>
            <pc:sldMk cId="0" sldId="288"/>
            <ac:spMk id="32" creationId="{00000000-0000-0000-0000-000000000000}"/>
          </ac:spMkLst>
        </pc:spChg>
        <pc:spChg chg="del">
          <ac:chgData name="Jinyin Yan" userId="7d7b1cac-fbbc-4678-8cfc-23ca66a374ce" providerId="ADAL" clId="{F4B2358E-BEBC-4C30-A24B-D5654E2AC392}" dt="2026-07-19T04:36:41.209" v="305" actId="478"/>
          <ac:spMkLst>
            <pc:docMk/>
            <pc:sldMk cId="0" sldId="288"/>
            <ac:spMk id="33" creationId="{00000000-0000-0000-0000-000000000000}"/>
          </ac:spMkLst>
        </pc:spChg>
        <pc:spChg chg="del">
          <ac:chgData name="Jinyin Yan" userId="7d7b1cac-fbbc-4678-8cfc-23ca66a374ce" providerId="ADAL" clId="{F4B2358E-BEBC-4C30-A24B-D5654E2AC392}" dt="2026-07-19T04:36:39.190" v="304" actId="478"/>
          <ac:spMkLst>
            <pc:docMk/>
            <pc:sldMk cId="0" sldId="288"/>
            <ac:spMk id="34" creationId="{00000000-0000-0000-0000-000000000000}"/>
          </ac:spMkLst>
        </pc:spChg>
        <pc:spChg chg="del">
          <ac:chgData name="Jinyin Yan" userId="7d7b1cac-fbbc-4678-8cfc-23ca66a374ce" providerId="ADAL" clId="{F4B2358E-BEBC-4C30-A24B-D5654E2AC392}" dt="2026-07-19T04:36:51.124" v="308" actId="478"/>
          <ac:spMkLst>
            <pc:docMk/>
            <pc:sldMk cId="0" sldId="288"/>
            <ac:spMk id="35" creationId="{00000000-0000-0000-0000-000000000000}"/>
          </ac:spMkLst>
        </pc:spChg>
        <pc:spChg chg="del">
          <ac:chgData name="Jinyin Yan" userId="7d7b1cac-fbbc-4678-8cfc-23ca66a374ce" providerId="ADAL" clId="{F4B2358E-BEBC-4C30-A24B-D5654E2AC392}" dt="2026-07-19T04:37:04.040" v="317" actId="478"/>
          <ac:spMkLst>
            <pc:docMk/>
            <pc:sldMk cId="0" sldId="288"/>
            <ac:spMk id="36" creationId="{00000000-0000-0000-0000-000000000000}"/>
          </ac:spMkLst>
        </pc:spChg>
        <pc:spChg chg="del">
          <ac:chgData name="Jinyin Yan" userId="7d7b1cac-fbbc-4678-8cfc-23ca66a374ce" providerId="ADAL" clId="{F4B2358E-BEBC-4C30-A24B-D5654E2AC392}" dt="2026-07-19T04:37:01.220" v="316" actId="478"/>
          <ac:spMkLst>
            <pc:docMk/>
            <pc:sldMk cId="0" sldId="288"/>
            <ac:spMk id="37" creationId="{00000000-0000-0000-0000-000000000000}"/>
          </ac:spMkLst>
        </pc:spChg>
        <pc:spChg chg="del mod">
          <ac:chgData name="Jinyin Yan" userId="7d7b1cac-fbbc-4678-8cfc-23ca66a374ce" providerId="ADAL" clId="{F4B2358E-BEBC-4C30-A24B-D5654E2AC392}" dt="2026-07-19T04:37:14.045" v="319" actId="478"/>
          <ac:spMkLst>
            <pc:docMk/>
            <pc:sldMk cId="0" sldId="288"/>
            <ac:spMk id="38" creationId="{00000000-0000-0000-0000-000000000000}"/>
          </ac:spMkLst>
        </pc:spChg>
        <pc:spChg chg="del mod">
          <ac:chgData name="Jinyin Yan" userId="7d7b1cac-fbbc-4678-8cfc-23ca66a374ce" providerId="ADAL" clId="{F4B2358E-BEBC-4C30-A24B-D5654E2AC392}" dt="2026-07-19T04:35:46.879" v="294" actId="478"/>
          <ac:spMkLst>
            <pc:docMk/>
            <pc:sldMk cId="0" sldId="288"/>
            <ac:spMk id="39" creationId="{00000000-0000-0000-0000-000000000000}"/>
          </ac:spMkLst>
        </pc:spChg>
        <pc:spChg chg="del">
          <ac:chgData name="Jinyin Yan" userId="7d7b1cac-fbbc-4678-8cfc-23ca66a374ce" providerId="ADAL" clId="{F4B2358E-BEBC-4C30-A24B-D5654E2AC392}" dt="2026-07-19T04:36:08.317" v="300" actId="478"/>
          <ac:spMkLst>
            <pc:docMk/>
            <pc:sldMk cId="0" sldId="288"/>
            <ac:spMk id="40" creationId="{00000000-0000-0000-0000-000000000000}"/>
          </ac:spMkLst>
        </pc:spChg>
        <pc:spChg chg="del">
          <ac:chgData name="Jinyin Yan" userId="7d7b1cac-fbbc-4678-8cfc-23ca66a374ce" providerId="ADAL" clId="{F4B2358E-BEBC-4C30-A24B-D5654E2AC392}" dt="2026-07-19T04:36:06.590" v="299" actId="478"/>
          <ac:spMkLst>
            <pc:docMk/>
            <pc:sldMk cId="0" sldId="288"/>
            <ac:spMk id="41" creationId="{00000000-0000-0000-0000-000000000000}"/>
          </ac:spMkLst>
        </pc:spChg>
        <pc:spChg chg="del">
          <ac:chgData name="Jinyin Yan" userId="7d7b1cac-fbbc-4678-8cfc-23ca66a374ce" providerId="ADAL" clId="{F4B2358E-BEBC-4C30-A24B-D5654E2AC392}" dt="2026-07-19T04:37:28.043" v="322" actId="478"/>
          <ac:spMkLst>
            <pc:docMk/>
            <pc:sldMk cId="0" sldId="288"/>
            <ac:spMk id="42" creationId="{00000000-0000-0000-0000-000000000000}"/>
          </ac:spMkLst>
        </pc:spChg>
        <pc:spChg chg="del">
          <ac:chgData name="Jinyin Yan" userId="7d7b1cac-fbbc-4678-8cfc-23ca66a374ce" providerId="ADAL" clId="{F4B2358E-BEBC-4C30-A24B-D5654E2AC392}" dt="2026-07-19T04:37:25.726" v="321" actId="478"/>
          <ac:spMkLst>
            <pc:docMk/>
            <pc:sldMk cId="0" sldId="288"/>
            <ac:spMk id="43" creationId="{00000000-0000-0000-0000-000000000000}"/>
          </ac:spMkLst>
        </pc:spChg>
        <pc:spChg chg="mod">
          <ac:chgData name="Jinyin Yan" userId="7d7b1cac-fbbc-4678-8cfc-23ca66a374ce" providerId="ADAL" clId="{F4B2358E-BEBC-4C30-A24B-D5654E2AC392}" dt="2026-07-19T05:40:50.293" v="336" actId="20577"/>
          <ac:spMkLst>
            <pc:docMk/>
            <pc:sldMk cId="0" sldId="288"/>
            <ac:spMk id="46" creationId="{00000000-0000-0000-0000-000000000000}"/>
          </ac:spMkLst>
        </pc:spChg>
        <pc:spChg chg="del">
          <ac:chgData name="Jinyin Yan" userId="7d7b1cac-fbbc-4678-8cfc-23ca66a374ce" providerId="ADAL" clId="{F4B2358E-BEBC-4C30-A24B-D5654E2AC392}" dt="2026-07-19T05:40:40.921" v="333" actId="478"/>
          <ac:spMkLst>
            <pc:docMk/>
            <pc:sldMk cId="0" sldId="288"/>
            <ac:spMk id="47" creationId="{00000000-0000-0000-0000-000000000000}"/>
          </ac:spMkLst>
        </pc:spChg>
        <pc:spChg chg="del">
          <ac:chgData name="Jinyin Yan" userId="7d7b1cac-fbbc-4678-8cfc-23ca66a374ce" providerId="ADAL" clId="{F4B2358E-BEBC-4C30-A24B-D5654E2AC392}" dt="2026-07-19T05:40:55.338" v="337" actId="478"/>
          <ac:spMkLst>
            <pc:docMk/>
            <pc:sldMk cId="0" sldId="288"/>
            <ac:spMk id="48" creationId="{00000000-0000-0000-0000-000000000000}"/>
          </ac:spMkLst>
        </pc:spChg>
        <pc:spChg chg="del">
          <ac:chgData name="Jinyin Yan" userId="7d7b1cac-fbbc-4678-8cfc-23ca66a374ce" providerId="ADAL" clId="{F4B2358E-BEBC-4C30-A24B-D5654E2AC392}" dt="2026-07-19T05:40:57.684" v="338" actId="478"/>
          <ac:spMkLst>
            <pc:docMk/>
            <pc:sldMk cId="0" sldId="288"/>
            <ac:spMk id="49" creationId="{00000000-0000-0000-0000-000000000000}"/>
          </ac:spMkLst>
        </pc:spChg>
        <pc:spChg chg="mod">
          <ac:chgData name="Jinyin Yan" userId="7d7b1cac-fbbc-4678-8cfc-23ca66a374ce" providerId="ADAL" clId="{F4B2358E-BEBC-4C30-A24B-D5654E2AC392}" dt="2026-07-19T05:41:03.056" v="342" actId="20577"/>
          <ac:spMkLst>
            <pc:docMk/>
            <pc:sldMk cId="0" sldId="288"/>
            <ac:spMk id="52" creationId="{00000000-0000-0000-0000-000000000000}"/>
          </ac:spMkLst>
        </pc:spChg>
        <pc:spChg chg="del">
          <ac:chgData name="Jinyin Yan" userId="7d7b1cac-fbbc-4678-8cfc-23ca66a374ce" providerId="ADAL" clId="{F4B2358E-BEBC-4C30-A24B-D5654E2AC392}" dt="2026-07-19T05:41:06.026" v="343" actId="478"/>
          <ac:spMkLst>
            <pc:docMk/>
            <pc:sldMk cId="0" sldId="288"/>
            <ac:spMk id="53" creationId="{00000000-0000-0000-0000-000000000000}"/>
          </ac:spMkLst>
        </pc:spChg>
        <pc:picChg chg="mod">
          <ac:chgData name="Jinyin Yan" userId="7d7b1cac-fbbc-4678-8cfc-23ca66a374ce" providerId="ADAL" clId="{F4B2358E-BEBC-4C30-A24B-D5654E2AC392}" dt="2026-07-19T04:23:37.881" v="237" actId="1076"/>
          <ac:picMkLst>
            <pc:docMk/>
            <pc:sldMk cId="0" sldId="288"/>
            <ac:picMk id="2"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4264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jpe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jpeg"/><Relationship Id="rId7" Type="http://schemas.openxmlformats.org/officeDocument/2006/relationships/image" Target="../media/image42.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29.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48.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30.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51.png"/><Relationship Id="rId4"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3571875" cy="5143500"/>
          </a:xfrm>
          <a:prstGeom prst="rect">
            <a:avLst/>
          </a:prstGeom>
          <a:solidFill>
            <a:srgbClr val="3253DC"/>
          </a:solidFill>
          <a:ln/>
        </p:spPr>
        <p:txBody>
          <a:bodyPr/>
          <a:lstStyle/>
          <a:p>
            <a:endParaRPr lang="zh-CN" altLang="en-US"/>
          </a:p>
        </p:txBody>
      </p:sp>
      <p:sp>
        <p:nvSpPr>
          <p:cNvPr id="4" name="Text 1"/>
          <p:cNvSpPr/>
          <p:nvPr/>
        </p:nvSpPr>
        <p:spPr>
          <a:xfrm>
            <a:off x="685800" y="1039806"/>
            <a:ext cx="2457450" cy="1080102"/>
          </a:xfrm>
          <a:prstGeom prst="rect">
            <a:avLst/>
          </a:prstGeom>
          <a:noFill/>
          <a:ln/>
        </p:spPr>
        <p:txBody>
          <a:bodyPr wrap="square" lIns="0" tIns="0" rIns="0" bIns="0" rtlCol="0" anchor="t">
            <a:spAutoFit/>
          </a:bodyPr>
          <a:lstStyle/>
          <a:p>
            <a:pPr marL="0" indent="0" algn="l">
              <a:lnSpc>
                <a:spcPct val="96000"/>
              </a:lnSpc>
              <a:buNone/>
            </a:pPr>
            <a:r>
              <a:rPr lang="en-US" sz="2100" b="1" dirty="0">
                <a:solidFill>
                  <a:srgbClr val="FFFFFF"/>
                </a:solidFill>
                <a:latin typeface="Arial" pitchFamily="34" charset="0"/>
                <a:ea typeface="Arial" pitchFamily="34" charset="-122"/>
                <a:cs typeface="Arial" pitchFamily="34" charset="-120"/>
              </a:rPr>
              <a:t>SMART MMU (SMMU)
设计模块讲解</a:t>
            </a:r>
            <a:endParaRPr lang="en-US" sz="2100" dirty="0"/>
          </a:p>
        </p:txBody>
      </p:sp>
      <p:sp>
        <p:nvSpPr>
          <p:cNvPr id="5" name="Text 2"/>
          <p:cNvSpPr/>
          <p:nvPr/>
        </p:nvSpPr>
        <p:spPr>
          <a:xfrm>
            <a:off x="685800" y="2262783"/>
            <a:ext cx="2457450" cy="589359"/>
          </a:xfrm>
          <a:prstGeom prst="rect">
            <a:avLst/>
          </a:prstGeom>
          <a:noFill/>
          <a:ln/>
        </p:spPr>
        <p:txBody>
          <a:bodyPr wrap="square" lIns="0" tIns="0" rIns="0" bIns="0" rtlCol="0" anchor="t">
            <a:spAutoFit/>
          </a:bodyPr>
          <a:lstStyle/>
          <a:p>
            <a:pPr marL="0" indent="0" algn="l">
              <a:buNone/>
            </a:pPr>
            <a:r>
              <a:rPr lang="en-US" sz="1250" kern="0" spc="1" dirty="0">
                <a:solidFill>
                  <a:srgbClr val="A5C8FF"/>
                </a:solidFill>
                <a:latin typeface="Arial" pitchFamily="34" charset="0"/>
                <a:ea typeface="Arial" pitchFamily="34" charset="-122"/>
                <a:cs typeface="Arial" pitchFamily="34" charset="-120"/>
              </a:rPr>
              <a:t>Flexible Shared SRAM Address Management Module</a:t>
            </a:r>
            <a:endParaRPr lang="en-US" sz="1250" dirty="0"/>
          </a:p>
        </p:txBody>
      </p:sp>
      <p:sp>
        <p:nvSpPr>
          <p:cNvPr id="6" name="Text 3"/>
          <p:cNvSpPr/>
          <p:nvPr/>
        </p:nvSpPr>
        <p:spPr>
          <a:xfrm>
            <a:off x="428625" y="3280767"/>
            <a:ext cx="2714625" cy="205718"/>
          </a:xfrm>
          <a:prstGeom prst="rect">
            <a:avLst/>
          </a:prstGeom>
          <a:noFill/>
          <a:ln/>
        </p:spPr>
        <p:txBody>
          <a:bodyPr wrap="none" lIns="0" tIns="0" rIns="0" bIns="0" rtlCol="0" anchor="t">
            <a:spAutoFit/>
          </a:bodyPr>
          <a:lstStyle/>
          <a:p>
            <a:pPr marL="0" indent="0" algn="l">
              <a:lnSpc>
                <a:spcPct val="144000"/>
              </a:lnSpc>
              <a:buNone/>
            </a:pPr>
            <a:r>
              <a:rPr lang="en-US" sz="800" b="1" dirty="0">
                <a:solidFill>
                  <a:srgbClr val="00C2DE"/>
                </a:solidFill>
                <a:latin typeface="Arial" pitchFamily="34" charset="0"/>
                <a:ea typeface="Arial" pitchFamily="34" charset="-122"/>
                <a:cs typeface="Arial" pitchFamily="34" charset="-120"/>
              </a:rPr>
              <a:t>项目：</a:t>
            </a:r>
            <a:r>
              <a:rPr lang="en-US" sz="850" dirty="0">
                <a:solidFill>
                  <a:srgbClr val="F2F4F8"/>
                </a:solidFill>
                <a:latin typeface="Arial" pitchFamily="34" charset="0"/>
                <a:ea typeface="Arial" pitchFamily="34" charset="-122"/>
                <a:cs typeface="Arial" pitchFamily="34" charset="-120"/>
              </a:rPr>
              <a:t> 4-Port 2.5G/1G/100M Ethernet Switch</a:t>
            </a:r>
            <a:endParaRPr lang="en-US" sz="800" dirty="0"/>
          </a:p>
        </p:txBody>
      </p:sp>
      <p:sp>
        <p:nvSpPr>
          <p:cNvPr id="7" name="Text 4"/>
          <p:cNvSpPr/>
          <p:nvPr/>
        </p:nvSpPr>
        <p:spPr>
          <a:xfrm>
            <a:off x="428625" y="3486485"/>
            <a:ext cx="2714625" cy="205718"/>
          </a:xfrm>
          <a:prstGeom prst="rect">
            <a:avLst/>
          </a:prstGeom>
          <a:noFill/>
          <a:ln/>
        </p:spPr>
        <p:txBody>
          <a:bodyPr wrap="none" lIns="0" tIns="0" rIns="0" bIns="0" rtlCol="0" anchor="t">
            <a:spAutoFit/>
          </a:bodyPr>
          <a:lstStyle/>
          <a:p>
            <a:pPr marL="0" indent="0" algn="l">
              <a:lnSpc>
                <a:spcPct val="144000"/>
              </a:lnSpc>
              <a:buNone/>
            </a:pPr>
            <a:r>
              <a:rPr lang="en-US" sz="800" b="1" dirty="0">
                <a:solidFill>
                  <a:srgbClr val="00C2DE"/>
                </a:solidFill>
                <a:latin typeface="Arial" pitchFamily="34" charset="0"/>
                <a:ea typeface="Arial" pitchFamily="34" charset="-122"/>
                <a:cs typeface="Arial" pitchFamily="34" charset="-120"/>
              </a:rPr>
              <a:t>时钟域：</a:t>
            </a:r>
            <a:r>
              <a:rPr lang="en-US" sz="850" dirty="0">
                <a:solidFill>
                  <a:srgbClr val="F2F4F8"/>
                </a:solidFill>
                <a:latin typeface="Arial" pitchFamily="34" charset="0"/>
                <a:ea typeface="Arial" pitchFamily="34" charset="-122"/>
                <a:cs typeface="Arial" pitchFamily="34" charset="-120"/>
              </a:rPr>
              <a:t> clk_core 300 MHz 单时钟域</a:t>
            </a:r>
            <a:endParaRPr lang="en-US" sz="800" dirty="0"/>
          </a:p>
        </p:txBody>
      </p:sp>
      <p:sp>
        <p:nvSpPr>
          <p:cNvPr id="8" name="Text 5"/>
          <p:cNvSpPr/>
          <p:nvPr/>
        </p:nvSpPr>
        <p:spPr>
          <a:xfrm>
            <a:off x="428625" y="3692203"/>
            <a:ext cx="2714625" cy="205718"/>
          </a:xfrm>
          <a:prstGeom prst="rect">
            <a:avLst/>
          </a:prstGeom>
          <a:noFill/>
          <a:ln/>
        </p:spPr>
        <p:txBody>
          <a:bodyPr wrap="none" lIns="0" tIns="0" rIns="0" bIns="0" rtlCol="0" anchor="t">
            <a:spAutoFit/>
          </a:bodyPr>
          <a:lstStyle/>
          <a:p>
            <a:pPr marL="0" indent="0" algn="l">
              <a:lnSpc>
                <a:spcPct val="144000"/>
              </a:lnSpc>
              <a:buNone/>
            </a:pPr>
            <a:r>
              <a:rPr lang="en-US" sz="800" b="1" dirty="0">
                <a:solidFill>
                  <a:srgbClr val="00C2DE"/>
                </a:solidFill>
                <a:latin typeface="Arial" pitchFamily="34" charset="0"/>
                <a:ea typeface="Arial" pitchFamily="34" charset="-122"/>
                <a:cs typeface="Arial" pitchFamily="34" charset="-120"/>
              </a:rPr>
              <a:t>版本：</a:t>
            </a:r>
            <a:r>
              <a:rPr lang="en-US" sz="850" dirty="0">
                <a:solidFill>
                  <a:srgbClr val="F2F4F8"/>
                </a:solidFill>
                <a:latin typeface="Arial" pitchFamily="34" charset="0"/>
                <a:ea typeface="Arial" pitchFamily="34" charset="-122"/>
                <a:cs typeface="Arial" pitchFamily="34" charset="-120"/>
              </a:rPr>
              <a:t> RTL B2 多播逻辑拼接版</a:t>
            </a:r>
            <a:endParaRPr lang="en-US" sz="800" dirty="0"/>
          </a:p>
        </p:txBody>
      </p:sp>
      <p:sp>
        <p:nvSpPr>
          <p:cNvPr id="9" name="Text 6"/>
          <p:cNvSpPr/>
          <p:nvPr/>
        </p:nvSpPr>
        <p:spPr>
          <a:xfrm>
            <a:off x="428625" y="3897920"/>
            <a:ext cx="2714625" cy="205718"/>
          </a:xfrm>
          <a:prstGeom prst="rect">
            <a:avLst/>
          </a:prstGeom>
          <a:noFill/>
          <a:ln/>
        </p:spPr>
        <p:txBody>
          <a:bodyPr wrap="none" lIns="0" tIns="0" rIns="0" bIns="0" rtlCol="0" anchor="t">
            <a:spAutoFit/>
          </a:bodyPr>
          <a:lstStyle/>
          <a:p>
            <a:pPr marL="0" indent="0" algn="l">
              <a:lnSpc>
                <a:spcPct val="144000"/>
              </a:lnSpc>
              <a:buNone/>
            </a:pPr>
            <a:r>
              <a:rPr lang="en-US" sz="800" b="1" dirty="0">
                <a:solidFill>
                  <a:srgbClr val="00C2DE"/>
                </a:solidFill>
                <a:latin typeface="Arial" pitchFamily="34" charset="0"/>
                <a:ea typeface="Arial" pitchFamily="34" charset="-122"/>
                <a:cs typeface="Arial" pitchFamily="34" charset="-120"/>
              </a:rPr>
              <a:t>日期：</a:t>
            </a:r>
            <a:r>
              <a:rPr lang="en-US" sz="850" dirty="0">
                <a:solidFill>
                  <a:srgbClr val="F2F4F8"/>
                </a:solidFill>
                <a:latin typeface="Arial" pitchFamily="34" charset="0"/>
                <a:ea typeface="Arial" pitchFamily="34" charset="-122"/>
                <a:cs typeface="Arial" pitchFamily="34" charset="-120"/>
              </a:rPr>
              <a:t> 2026年7月16日</a:t>
            </a:r>
            <a:endParaRPr lang="en-US" sz="800" dirty="0"/>
          </a:p>
        </p:txBody>
      </p:sp>
      <p:sp>
        <p:nvSpPr>
          <p:cNvPr id="10" name="Text 7"/>
          <p:cNvSpPr/>
          <p:nvPr/>
        </p:nvSpPr>
        <p:spPr>
          <a:xfrm>
            <a:off x="428625" y="4757738"/>
            <a:ext cx="1492486" cy="100013"/>
          </a:xfrm>
          <a:prstGeom prst="rect">
            <a:avLst/>
          </a:prstGeom>
          <a:noFill/>
          <a:ln/>
        </p:spPr>
        <p:txBody>
          <a:bodyPr wrap="square" lIns="0" tIns="0" rIns="0" bIns="0" rtlCol="0" anchor="t">
            <a:spAutoFit/>
          </a:bodyPr>
          <a:lstStyle/>
          <a:p>
            <a:pPr marL="0" indent="0" algn="l">
              <a:buNone/>
            </a:pPr>
            <a:r>
              <a:rPr lang="en-US" sz="600" dirty="0">
                <a:solidFill>
                  <a:srgbClr val="FFFFFF">
                    <a:alpha val="50000"/>
                  </a:srgbClr>
                </a:solidFill>
                <a:latin typeface="Arial" pitchFamily="34" charset="0"/>
                <a:ea typeface="Arial" pitchFamily="34" charset="-122"/>
                <a:cs typeface="Arial" pitchFamily="34" charset="-120"/>
              </a:rPr>
              <a:t>CONFIDENTIAL TECHNICAL REVIEW</a:t>
            </a:r>
            <a:endParaRPr lang="en-US" sz="600" dirty="0"/>
          </a:p>
        </p:txBody>
      </p:sp>
      <p:sp>
        <p:nvSpPr>
          <p:cNvPr id="11" name="Shape 8"/>
          <p:cNvSpPr/>
          <p:nvPr/>
        </p:nvSpPr>
        <p:spPr>
          <a:xfrm>
            <a:off x="3571875" y="0"/>
            <a:ext cx="5572125" cy="5143500"/>
          </a:xfrm>
          <a:prstGeom prst="rect">
            <a:avLst/>
          </a:prstGeom>
          <a:solidFill>
            <a:srgbClr val="FFFFFF"/>
          </a:solidFill>
          <a:ln/>
        </p:spPr>
        <p:txBody>
          <a:bodyPr/>
          <a:lstStyle/>
          <a:p>
            <a:endParaRPr lang="zh-CN" altLang="en-US"/>
          </a:p>
        </p:txBody>
      </p:sp>
      <p:sp>
        <p:nvSpPr>
          <p:cNvPr id="12" name="Text 9"/>
          <p:cNvSpPr/>
          <p:nvPr/>
        </p:nvSpPr>
        <p:spPr>
          <a:xfrm>
            <a:off x="5429250" y="762595"/>
            <a:ext cx="1857375" cy="196453"/>
          </a:xfrm>
          <a:prstGeom prst="rect">
            <a:avLst/>
          </a:prstGeom>
          <a:noFill/>
          <a:ln/>
        </p:spPr>
        <p:txBody>
          <a:bodyPr wrap="square" lIns="0" tIns="0" rIns="0" bIns="0" rtlCol="0" anchor="t">
            <a:spAutoFit/>
          </a:bodyPr>
          <a:lstStyle/>
          <a:p>
            <a:pPr marL="0" indent="0" algn="ctr">
              <a:buNone/>
            </a:pPr>
            <a:r>
              <a:rPr lang="en-US" sz="1000" b="1" dirty="0">
                <a:solidFill>
                  <a:srgbClr val="2E2E38"/>
                </a:solidFill>
                <a:latin typeface="Arial" pitchFamily="34" charset="0"/>
                <a:ea typeface="Arial" pitchFamily="34" charset="-122"/>
                <a:cs typeface="Arial" pitchFamily="34" charset="-120"/>
              </a:rPr>
              <a:t>芯片报文处理主链路缩略框图</a:t>
            </a:r>
            <a:endParaRPr lang="en-US" sz="1000" dirty="0"/>
          </a:p>
        </p:txBody>
      </p:sp>
      <p:sp>
        <p:nvSpPr>
          <p:cNvPr id="13" name="Shape 10"/>
          <p:cNvSpPr/>
          <p:nvPr/>
        </p:nvSpPr>
        <p:spPr>
          <a:xfrm>
            <a:off x="3857625" y="1173361"/>
            <a:ext cx="5000625" cy="2857500"/>
          </a:xfrm>
          <a:prstGeom prst="rect">
            <a:avLst/>
          </a:prstGeom>
          <a:solidFill>
            <a:srgbClr val="FFFFFF"/>
          </a:solidFill>
          <a:ln/>
        </p:spPr>
        <p:txBody>
          <a:bodyPr/>
          <a:lstStyle/>
          <a:p>
            <a:endParaRPr lang="zh-CN" altLang="en-US"/>
          </a:p>
        </p:txBody>
      </p:sp>
      <p:pic>
        <p:nvPicPr>
          <p:cNvPr id="14" name="Image 1" descr="preencoded.png"/>
          <p:cNvPicPr>
            <a:picLocks noChangeAspect="1"/>
          </p:cNvPicPr>
          <p:nvPr/>
        </p:nvPicPr>
        <p:blipFill>
          <a:blip r:embed="rId4"/>
          <a:stretch>
            <a:fillRect/>
          </a:stretch>
        </p:blipFill>
        <p:spPr>
          <a:xfrm>
            <a:off x="3857625" y="1173361"/>
            <a:ext cx="5000625" cy="2857500"/>
          </a:xfrm>
          <a:prstGeom prst="rect">
            <a:avLst/>
          </a:prstGeom>
        </p:spPr>
      </p:pic>
      <p:sp>
        <p:nvSpPr>
          <p:cNvPr id="15" name="Text 11"/>
          <p:cNvSpPr/>
          <p:nvPr/>
        </p:nvSpPr>
        <p:spPr>
          <a:xfrm>
            <a:off x="4652200" y="4245173"/>
            <a:ext cx="3411475" cy="135731"/>
          </a:xfrm>
          <a:prstGeom prst="rect">
            <a:avLst/>
          </a:prstGeom>
          <a:noFill/>
          <a:ln/>
        </p:spPr>
        <p:txBody>
          <a:bodyPr wrap="square" lIns="0" tIns="0" rIns="0" bIns="0" rtlCol="0" anchor="t">
            <a:spAutoFit/>
          </a:bodyPr>
          <a:lstStyle/>
          <a:p>
            <a:pPr marL="0" indent="0" algn="ctr">
              <a:buNone/>
            </a:pPr>
            <a:r>
              <a:rPr lang="en-US" sz="750" dirty="0">
                <a:solidFill>
                  <a:srgbClr val="6E6E7A"/>
                </a:solidFill>
                <a:latin typeface="Arial" pitchFamily="34" charset="0"/>
                <a:ea typeface="Arial" pitchFamily="34" charset="-122"/>
                <a:cs typeface="Arial" pitchFamily="34" charset="-120"/>
              </a:rPr>
              <a:t>体现 QM 与 SMMU 的交互关系：SMMU 仅负责地址管理，不参与净荷搬运。</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71500"/>
          </a:xfrm>
          <a:prstGeom prst="rect">
            <a:avLst/>
          </a:prstGeom>
          <a:solidFill>
            <a:srgbClr val="3253DC"/>
          </a:solidFill>
          <a:ln/>
        </p:spPr>
        <p:txBody>
          <a:bodyPr/>
          <a:lstStyle/>
          <a:p>
            <a:endParaRPr lang="zh-CN" altLang="en-US"/>
          </a:p>
        </p:txBody>
      </p:sp>
      <p:sp>
        <p:nvSpPr>
          <p:cNvPr id="4" name="Text 1"/>
          <p:cNvSpPr/>
          <p:nvPr/>
        </p:nvSpPr>
        <p:spPr>
          <a:xfrm>
            <a:off x="428625" y="130373"/>
            <a:ext cx="1663601" cy="310753"/>
          </a:xfrm>
          <a:prstGeom prst="rect">
            <a:avLst/>
          </a:prstGeom>
          <a:noFill/>
          <a:ln/>
        </p:spPr>
        <p:txBody>
          <a:bodyPr wrap="square" lIns="0" tIns="0" rIns="0" bIns="0" rtlCol="0" anchor="t">
            <a:spAutoFit/>
          </a:bodyPr>
          <a:lstStyle/>
          <a:p>
            <a:pPr marL="0" indent="0" algn="l">
              <a:buNone/>
            </a:pPr>
            <a:r>
              <a:rPr lang="en-US" sz="1600" b="1" dirty="0">
                <a:solidFill>
                  <a:srgbClr val="FFFFFF"/>
                </a:solidFill>
                <a:latin typeface="Arial" pitchFamily="34" charset="0"/>
                <a:ea typeface="Arial" pitchFamily="34" charset="-122"/>
                <a:cs typeface="Arial" pitchFamily="34" charset="-120"/>
              </a:rPr>
              <a:t>目录 (AGENDA)</a:t>
            </a:r>
            <a:endParaRPr lang="en-US" sz="1600" dirty="0"/>
          </a:p>
        </p:txBody>
      </p:sp>
      <p:sp>
        <p:nvSpPr>
          <p:cNvPr id="5" name="Shape 2"/>
          <p:cNvSpPr/>
          <p:nvPr/>
        </p:nvSpPr>
        <p:spPr>
          <a:xfrm>
            <a:off x="428625" y="1000125"/>
            <a:ext cx="4000500" cy="571500"/>
          </a:xfrm>
          <a:prstGeom prst="rect">
            <a:avLst/>
          </a:prstGeom>
          <a:solidFill>
            <a:srgbClr val="FFFFFF"/>
          </a:solidFill>
          <a:ln/>
        </p:spPr>
        <p:txBody>
          <a:bodyPr/>
          <a:lstStyle/>
          <a:p>
            <a:endParaRPr lang="zh-CN" altLang="en-US"/>
          </a:p>
        </p:txBody>
      </p:sp>
      <p:sp>
        <p:nvSpPr>
          <p:cNvPr id="6" name="Shape 3"/>
          <p:cNvSpPr/>
          <p:nvPr/>
        </p:nvSpPr>
        <p:spPr>
          <a:xfrm>
            <a:off x="428625" y="1000125"/>
            <a:ext cx="28575" cy="571500"/>
          </a:xfrm>
          <a:prstGeom prst="rect">
            <a:avLst/>
          </a:prstGeom>
          <a:solidFill>
            <a:srgbClr val="6CA0F6"/>
          </a:solidFill>
          <a:ln/>
        </p:spPr>
        <p:txBody>
          <a:bodyPr/>
          <a:lstStyle/>
          <a:p>
            <a:endParaRPr lang="zh-CN" altLang="en-US"/>
          </a:p>
        </p:txBody>
      </p:sp>
      <p:sp>
        <p:nvSpPr>
          <p:cNvPr id="7" name="Text 4"/>
          <p:cNvSpPr/>
          <p:nvPr/>
        </p:nvSpPr>
        <p:spPr>
          <a:xfrm>
            <a:off x="642938" y="1187648"/>
            <a:ext cx="285750" cy="196453"/>
          </a:xfrm>
          <a:prstGeom prst="rect">
            <a:avLst/>
          </a:prstGeom>
          <a:noFill/>
          <a:ln/>
        </p:spPr>
        <p:txBody>
          <a:bodyPr wrap="none" lIns="0" tIns="0" rIns="0" bIns="0" rtlCol="0" anchor="t">
            <a:spAutoFit/>
          </a:bodyPr>
          <a:lstStyle/>
          <a:p>
            <a:pPr marL="0" indent="0" algn="l">
              <a:buNone/>
            </a:pPr>
            <a:r>
              <a:rPr lang="en-US" sz="1200" b="1" dirty="0">
                <a:solidFill>
                  <a:srgbClr val="3253DC"/>
                </a:solidFill>
                <a:latin typeface="Arial" pitchFamily="34" charset="0"/>
                <a:ea typeface="Arial" pitchFamily="34" charset="-122"/>
                <a:cs typeface="Arial" pitchFamily="34" charset="-120"/>
              </a:rPr>
              <a:t>01</a:t>
            </a:r>
            <a:endParaRPr lang="en-US" sz="1200" dirty="0"/>
          </a:p>
        </p:txBody>
      </p:sp>
      <p:sp>
        <p:nvSpPr>
          <p:cNvPr id="8" name="Text 5"/>
          <p:cNvSpPr/>
          <p:nvPr/>
        </p:nvSpPr>
        <p:spPr>
          <a:xfrm>
            <a:off x="1071563" y="1187648"/>
            <a:ext cx="1000125" cy="196453"/>
          </a:xfrm>
          <a:prstGeom prst="rect">
            <a:avLst/>
          </a:prstGeom>
          <a:noFill/>
          <a:ln/>
        </p:spPr>
        <p:txBody>
          <a:bodyPr wrap="none" lIns="0" tIns="0" rIns="0" bIns="0" rtlCol="0" anchor="t">
            <a:spAutoFit/>
          </a:bodyPr>
          <a:lstStyle/>
          <a:p>
            <a:pPr marL="0" indent="0" algn="l">
              <a:buNone/>
            </a:pPr>
            <a:r>
              <a:rPr lang="en-US" sz="1000" b="1" dirty="0">
                <a:solidFill>
                  <a:srgbClr val="2E2E38"/>
                </a:solidFill>
                <a:latin typeface="Arial" pitchFamily="34" charset="0"/>
                <a:ea typeface="Arial" pitchFamily="34" charset="-122"/>
                <a:cs typeface="Arial" pitchFamily="34" charset="-120"/>
              </a:rPr>
              <a:t>设计背景与定位</a:t>
            </a:r>
            <a:endParaRPr lang="en-US" sz="1000" dirty="0"/>
          </a:p>
        </p:txBody>
      </p:sp>
      <p:sp>
        <p:nvSpPr>
          <p:cNvPr id="9" name="Shape 6"/>
          <p:cNvSpPr/>
          <p:nvPr/>
        </p:nvSpPr>
        <p:spPr>
          <a:xfrm>
            <a:off x="4714875" y="1000125"/>
            <a:ext cx="4000500" cy="571500"/>
          </a:xfrm>
          <a:prstGeom prst="rect">
            <a:avLst/>
          </a:prstGeom>
          <a:solidFill>
            <a:srgbClr val="FFFFFF"/>
          </a:solidFill>
          <a:ln/>
        </p:spPr>
        <p:txBody>
          <a:bodyPr/>
          <a:lstStyle/>
          <a:p>
            <a:endParaRPr lang="zh-CN" altLang="en-US"/>
          </a:p>
        </p:txBody>
      </p:sp>
      <p:sp>
        <p:nvSpPr>
          <p:cNvPr id="10" name="Shape 7"/>
          <p:cNvSpPr/>
          <p:nvPr/>
        </p:nvSpPr>
        <p:spPr>
          <a:xfrm>
            <a:off x="4714875" y="1000125"/>
            <a:ext cx="28575" cy="571500"/>
          </a:xfrm>
          <a:prstGeom prst="rect">
            <a:avLst/>
          </a:prstGeom>
          <a:solidFill>
            <a:srgbClr val="6CA0F6"/>
          </a:solidFill>
          <a:ln/>
        </p:spPr>
        <p:txBody>
          <a:bodyPr/>
          <a:lstStyle/>
          <a:p>
            <a:endParaRPr lang="zh-CN" altLang="en-US"/>
          </a:p>
        </p:txBody>
      </p:sp>
      <p:sp>
        <p:nvSpPr>
          <p:cNvPr id="11" name="Text 8"/>
          <p:cNvSpPr/>
          <p:nvPr/>
        </p:nvSpPr>
        <p:spPr>
          <a:xfrm>
            <a:off x="4929188" y="1187648"/>
            <a:ext cx="285750" cy="196453"/>
          </a:xfrm>
          <a:prstGeom prst="rect">
            <a:avLst/>
          </a:prstGeom>
          <a:noFill/>
          <a:ln/>
        </p:spPr>
        <p:txBody>
          <a:bodyPr wrap="none" lIns="0" tIns="0" rIns="0" bIns="0" rtlCol="0" anchor="t">
            <a:spAutoFit/>
          </a:bodyPr>
          <a:lstStyle/>
          <a:p>
            <a:pPr marL="0" indent="0" algn="l">
              <a:buNone/>
            </a:pPr>
            <a:r>
              <a:rPr lang="en-US" sz="1200" b="1" dirty="0">
                <a:solidFill>
                  <a:srgbClr val="3253DC"/>
                </a:solidFill>
                <a:latin typeface="Arial" pitchFamily="34" charset="0"/>
                <a:ea typeface="Arial" pitchFamily="34" charset="-122"/>
                <a:cs typeface="Arial" pitchFamily="34" charset="-120"/>
              </a:rPr>
              <a:t>02</a:t>
            </a:r>
            <a:endParaRPr lang="en-US" sz="1200" dirty="0"/>
          </a:p>
        </p:txBody>
      </p:sp>
      <p:sp>
        <p:nvSpPr>
          <p:cNvPr id="12" name="Text 9"/>
          <p:cNvSpPr/>
          <p:nvPr/>
        </p:nvSpPr>
        <p:spPr>
          <a:xfrm>
            <a:off x="5357813" y="1187648"/>
            <a:ext cx="1428750" cy="196453"/>
          </a:xfrm>
          <a:prstGeom prst="rect">
            <a:avLst/>
          </a:prstGeom>
          <a:noFill/>
          <a:ln/>
        </p:spPr>
        <p:txBody>
          <a:bodyPr wrap="square" lIns="0" tIns="0" rIns="0" bIns="0" rtlCol="0" anchor="t">
            <a:spAutoFit/>
          </a:bodyPr>
          <a:lstStyle/>
          <a:p>
            <a:pPr marL="0" indent="0" algn="l">
              <a:buNone/>
            </a:pPr>
            <a:r>
              <a:rPr lang="en-US" sz="1000" b="1" dirty="0">
                <a:solidFill>
                  <a:srgbClr val="2E2E38"/>
                </a:solidFill>
                <a:latin typeface="Arial" pitchFamily="34" charset="0"/>
                <a:ea typeface="Arial" pitchFamily="34" charset="-122"/>
                <a:cs typeface="Arial" pitchFamily="34" charset="-120"/>
              </a:rPr>
              <a:t>顶层架构与子模块划分</a:t>
            </a:r>
            <a:endParaRPr lang="en-US" sz="1000" dirty="0"/>
          </a:p>
        </p:txBody>
      </p:sp>
      <p:sp>
        <p:nvSpPr>
          <p:cNvPr id="13" name="Shape 10"/>
          <p:cNvSpPr/>
          <p:nvPr/>
        </p:nvSpPr>
        <p:spPr>
          <a:xfrm>
            <a:off x="428625" y="1714500"/>
            <a:ext cx="4000500" cy="571500"/>
          </a:xfrm>
          <a:prstGeom prst="rect">
            <a:avLst/>
          </a:prstGeom>
          <a:solidFill>
            <a:srgbClr val="FFFFFF"/>
          </a:solidFill>
          <a:ln/>
        </p:spPr>
        <p:txBody>
          <a:bodyPr/>
          <a:lstStyle/>
          <a:p>
            <a:endParaRPr lang="zh-CN" altLang="en-US"/>
          </a:p>
        </p:txBody>
      </p:sp>
      <p:sp>
        <p:nvSpPr>
          <p:cNvPr id="14" name="Shape 11"/>
          <p:cNvSpPr/>
          <p:nvPr/>
        </p:nvSpPr>
        <p:spPr>
          <a:xfrm>
            <a:off x="428625" y="1714500"/>
            <a:ext cx="28575" cy="571500"/>
          </a:xfrm>
          <a:prstGeom prst="rect">
            <a:avLst/>
          </a:prstGeom>
          <a:solidFill>
            <a:srgbClr val="6CA0F6"/>
          </a:solidFill>
          <a:ln/>
        </p:spPr>
        <p:txBody>
          <a:bodyPr/>
          <a:lstStyle/>
          <a:p>
            <a:endParaRPr lang="zh-CN" altLang="en-US"/>
          </a:p>
        </p:txBody>
      </p:sp>
      <p:sp>
        <p:nvSpPr>
          <p:cNvPr id="15" name="Text 12"/>
          <p:cNvSpPr/>
          <p:nvPr/>
        </p:nvSpPr>
        <p:spPr>
          <a:xfrm>
            <a:off x="642938" y="1902023"/>
            <a:ext cx="285750" cy="196453"/>
          </a:xfrm>
          <a:prstGeom prst="rect">
            <a:avLst/>
          </a:prstGeom>
          <a:noFill/>
          <a:ln/>
        </p:spPr>
        <p:txBody>
          <a:bodyPr wrap="none" lIns="0" tIns="0" rIns="0" bIns="0" rtlCol="0" anchor="t">
            <a:spAutoFit/>
          </a:bodyPr>
          <a:lstStyle/>
          <a:p>
            <a:pPr marL="0" indent="0" algn="l">
              <a:buNone/>
            </a:pPr>
            <a:r>
              <a:rPr lang="en-US" sz="1200" b="1" dirty="0">
                <a:solidFill>
                  <a:srgbClr val="3253DC"/>
                </a:solidFill>
                <a:latin typeface="Arial" pitchFamily="34" charset="0"/>
                <a:ea typeface="Arial" pitchFamily="34" charset="-122"/>
                <a:cs typeface="Arial" pitchFamily="34" charset="-120"/>
              </a:rPr>
              <a:t>03</a:t>
            </a:r>
            <a:endParaRPr lang="en-US" sz="1200" dirty="0"/>
          </a:p>
        </p:txBody>
      </p:sp>
      <p:sp>
        <p:nvSpPr>
          <p:cNvPr id="16" name="Text 13"/>
          <p:cNvSpPr/>
          <p:nvPr/>
        </p:nvSpPr>
        <p:spPr>
          <a:xfrm>
            <a:off x="1071563" y="1902023"/>
            <a:ext cx="2063818" cy="196453"/>
          </a:xfrm>
          <a:prstGeom prst="rect">
            <a:avLst/>
          </a:prstGeom>
          <a:noFill/>
          <a:ln/>
        </p:spPr>
        <p:txBody>
          <a:bodyPr wrap="square" lIns="0" tIns="0" rIns="0" bIns="0" rtlCol="0" anchor="t">
            <a:spAutoFit/>
          </a:bodyPr>
          <a:lstStyle/>
          <a:p>
            <a:pPr marL="0" indent="0" algn="l">
              <a:buNone/>
            </a:pPr>
            <a:r>
              <a:rPr lang="en-US" sz="1000" b="1" dirty="0">
                <a:solidFill>
                  <a:srgbClr val="2E2E38"/>
                </a:solidFill>
                <a:latin typeface="Arial" pitchFamily="34" charset="0"/>
                <a:ea typeface="Arial" pitchFamily="34" charset="-122"/>
                <a:cs typeface="Arial" pitchFamily="34" charset="-120"/>
              </a:rPr>
              <a:t>核心数据结构 (Cell / 链表 / 双池)</a:t>
            </a:r>
            <a:endParaRPr lang="en-US" sz="1000" dirty="0"/>
          </a:p>
        </p:txBody>
      </p:sp>
      <p:sp>
        <p:nvSpPr>
          <p:cNvPr id="17" name="Shape 14"/>
          <p:cNvSpPr/>
          <p:nvPr/>
        </p:nvSpPr>
        <p:spPr>
          <a:xfrm>
            <a:off x="4714875" y="1714500"/>
            <a:ext cx="4000500" cy="571500"/>
          </a:xfrm>
          <a:prstGeom prst="rect">
            <a:avLst/>
          </a:prstGeom>
          <a:solidFill>
            <a:srgbClr val="FFFFFF"/>
          </a:solidFill>
          <a:ln/>
        </p:spPr>
        <p:txBody>
          <a:bodyPr/>
          <a:lstStyle/>
          <a:p>
            <a:endParaRPr lang="zh-CN" altLang="en-US"/>
          </a:p>
        </p:txBody>
      </p:sp>
      <p:sp>
        <p:nvSpPr>
          <p:cNvPr id="18" name="Shape 15"/>
          <p:cNvSpPr/>
          <p:nvPr/>
        </p:nvSpPr>
        <p:spPr>
          <a:xfrm>
            <a:off x="4714875" y="1714500"/>
            <a:ext cx="28575" cy="571500"/>
          </a:xfrm>
          <a:prstGeom prst="rect">
            <a:avLst/>
          </a:prstGeom>
          <a:solidFill>
            <a:srgbClr val="6CA0F6"/>
          </a:solidFill>
          <a:ln/>
        </p:spPr>
        <p:txBody>
          <a:bodyPr/>
          <a:lstStyle/>
          <a:p>
            <a:endParaRPr lang="zh-CN" altLang="en-US"/>
          </a:p>
        </p:txBody>
      </p:sp>
      <p:sp>
        <p:nvSpPr>
          <p:cNvPr id="19" name="Text 16"/>
          <p:cNvSpPr/>
          <p:nvPr/>
        </p:nvSpPr>
        <p:spPr>
          <a:xfrm>
            <a:off x="4929188" y="1902023"/>
            <a:ext cx="285750" cy="196453"/>
          </a:xfrm>
          <a:prstGeom prst="rect">
            <a:avLst/>
          </a:prstGeom>
          <a:noFill/>
          <a:ln/>
        </p:spPr>
        <p:txBody>
          <a:bodyPr wrap="none" lIns="0" tIns="0" rIns="0" bIns="0" rtlCol="0" anchor="t">
            <a:spAutoFit/>
          </a:bodyPr>
          <a:lstStyle/>
          <a:p>
            <a:pPr marL="0" indent="0" algn="l">
              <a:buNone/>
            </a:pPr>
            <a:r>
              <a:rPr lang="en-US" sz="1200" b="1" dirty="0">
                <a:solidFill>
                  <a:srgbClr val="3253DC"/>
                </a:solidFill>
                <a:latin typeface="Arial" pitchFamily="34" charset="0"/>
                <a:ea typeface="Arial" pitchFamily="34" charset="-122"/>
                <a:cs typeface="Arial" pitchFamily="34" charset="-120"/>
              </a:rPr>
              <a:t>04</a:t>
            </a:r>
            <a:endParaRPr lang="en-US" sz="1200" dirty="0"/>
          </a:p>
        </p:txBody>
      </p:sp>
      <p:sp>
        <p:nvSpPr>
          <p:cNvPr id="20" name="Text 17"/>
          <p:cNvSpPr/>
          <p:nvPr/>
        </p:nvSpPr>
        <p:spPr>
          <a:xfrm>
            <a:off x="5357813" y="1902023"/>
            <a:ext cx="2214507" cy="196453"/>
          </a:xfrm>
          <a:prstGeom prst="rect">
            <a:avLst/>
          </a:prstGeom>
          <a:noFill/>
          <a:ln/>
        </p:spPr>
        <p:txBody>
          <a:bodyPr wrap="square" lIns="0" tIns="0" rIns="0" bIns="0" rtlCol="0" anchor="t">
            <a:spAutoFit/>
          </a:bodyPr>
          <a:lstStyle/>
          <a:p>
            <a:pPr marL="0" indent="0" algn="l">
              <a:buNone/>
            </a:pPr>
            <a:r>
              <a:rPr lang="en-US" sz="1000" b="1" dirty="0">
                <a:solidFill>
                  <a:srgbClr val="2E2E38"/>
                </a:solidFill>
                <a:latin typeface="Arial" pitchFamily="34" charset="0"/>
                <a:ea typeface="Arial" pitchFamily="34" charset="-122"/>
                <a:cs typeface="Arial" pitchFamily="34" charset="-120"/>
              </a:rPr>
              <a:t>六大工作流程 (初始化/入队/出队等)</a:t>
            </a:r>
            <a:endParaRPr lang="en-US" sz="1000" dirty="0"/>
          </a:p>
        </p:txBody>
      </p:sp>
      <p:sp>
        <p:nvSpPr>
          <p:cNvPr id="21" name="Shape 18"/>
          <p:cNvSpPr/>
          <p:nvPr/>
        </p:nvSpPr>
        <p:spPr>
          <a:xfrm>
            <a:off x="428625" y="2428875"/>
            <a:ext cx="4000500" cy="571500"/>
          </a:xfrm>
          <a:prstGeom prst="rect">
            <a:avLst/>
          </a:prstGeom>
          <a:solidFill>
            <a:srgbClr val="FFFFFF"/>
          </a:solidFill>
          <a:ln/>
        </p:spPr>
        <p:txBody>
          <a:bodyPr/>
          <a:lstStyle/>
          <a:p>
            <a:endParaRPr lang="zh-CN" altLang="en-US"/>
          </a:p>
        </p:txBody>
      </p:sp>
      <p:sp>
        <p:nvSpPr>
          <p:cNvPr id="22" name="Shape 19"/>
          <p:cNvSpPr/>
          <p:nvPr/>
        </p:nvSpPr>
        <p:spPr>
          <a:xfrm>
            <a:off x="428625" y="2428875"/>
            <a:ext cx="28575" cy="571500"/>
          </a:xfrm>
          <a:prstGeom prst="rect">
            <a:avLst/>
          </a:prstGeom>
          <a:solidFill>
            <a:srgbClr val="6CA0F6"/>
          </a:solidFill>
          <a:ln/>
        </p:spPr>
        <p:txBody>
          <a:bodyPr/>
          <a:lstStyle/>
          <a:p>
            <a:endParaRPr lang="zh-CN" altLang="en-US"/>
          </a:p>
        </p:txBody>
      </p:sp>
      <p:sp>
        <p:nvSpPr>
          <p:cNvPr id="23" name="Text 20"/>
          <p:cNvSpPr/>
          <p:nvPr/>
        </p:nvSpPr>
        <p:spPr>
          <a:xfrm>
            <a:off x="642938" y="2616398"/>
            <a:ext cx="285750" cy="196453"/>
          </a:xfrm>
          <a:prstGeom prst="rect">
            <a:avLst/>
          </a:prstGeom>
          <a:noFill/>
          <a:ln/>
        </p:spPr>
        <p:txBody>
          <a:bodyPr wrap="none" lIns="0" tIns="0" rIns="0" bIns="0" rtlCol="0" anchor="t">
            <a:spAutoFit/>
          </a:bodyPr>
          <a:lstStyle/>
          <a:p>
            <a:pPr marL="0" indent="0" algn="l">
              <a:buNone/>
            </a:pPr>
            <a:r>
              <a:rPr lang="en-US" sz="1200" b="1" dirty="0">
                <a:solidFill>
                  <a:srgbClr val="3253DC"/>
                </a:solidFill>
                <a:latin typeface="Arial" pitchFamily="34" charset="0"/>
                <a:ea typeface="Arial" pitchFamily="34" charset="-122"/>
                <a:cs typeface="Arial" pitchFamily="34" charset="-120"/>
              </a:rPr>
              <a:t>05</a:t>
            </a:r>
            <a:endParaRPr lang="en-US" sz="1200" dirty="0"/>
          </a:p>
        </p:txBody>
      </p:sp>
      <p:sp>
        <p:nvSpPr>
          <p:cNvPr id="24" name="Text 21"/>
          <p:cNvSpPr/>
          <p:nvPr/>
        </p:nvSpPr>
        <p:spPr>
          <a:xfrm>
            <a:off x="1071563" y="2616398"/>
            <a:ext cx="2476760" cy="196453"/>
          </a:xfrm>
          <a:prstGeom prst="rect">
            <a:avLst/>
          </a:prstGeom>
          <a:noFill/>
          <a:ln/>
        </p:spPr>
        <p:txBody>
          <a:bodyPr wrap="square" lIns="0" tIns="0" rIns="0" bIns="0" rtlCol="0" anchor="t">
            <a:spAutoFit/>
          </a:bodyPr>
          <a:lstStyle/>
          <a:p>
            <a:pPr marL="0" indent="0" algn="l">
              <a:buNone/>
            </a:pPr>
            <a:r>
              <a:rPr lang="en-US" sz="1000" b="1" dirty="0">
                <a:solidFill>
                  <a:srgbClr val="2E2E38"/>
                </a:solidFill>
                <a:latin typeface="Arial" pitchFamily="34" charset="0"/>
                <a:ea typeface="Arial" pitchFamily="34" charset="-122"/>
                <a:cs typeface="Arial" pitchFamily="34" charset="-120"/>
              </a:rPr>
              <a:t>关键子模块详解 (LLE / Occupancy 等)</a:t>
            </a:r>
            <a:endParaRPr lang="en-US" sz="1000" dirty="0"/>
          </a:p>
        </p:txBody>
      </p:sp>
      <p:sp>
        <p:nvSpPr>
          <p:cNvPr id="25" name="Shape 22"/>
          <p:cNvSpPr/>
          <p:nvPr/>
        </p:nvSpPr>
        <p:spPr>
          <a:xfrm>
            <a:off x="4714875" y="2428875"/>
            <a:ext cx="4000500" cy="571500"/>
          </a:xfrm>
          <a:prstGeom prst="rect">
            <a:avLst/>
          </a:prstGeom>
          <a:solidFill>
            <a:srgbClr val="FFFFFF"/>
          </a:solidFill>
          <a:ln/>
        </p:spPr>
        <p:txBody>
          <a:bodyPr/>
          <a:lstStyle/>
          <a:p>
            <a:endParaRPr lang="zh-CN" altLang="en-US"/>
          </a:p>
        </p:txBody>
      </p:sp>
      <p:sp>
        <p:nvSpPr>
          <p:cNvPr id="26" name="Shape 23"/>
          <p:cNvSpPr/>
          <p:nvPr/>
        </p:nvSpPr>
        <p:spPr>
          <a:xfrm>
            <a:off x="4714875" y="2428875"/>
            <a:ext cx="28575" cy="571500"/>
          </a:xfrm>
          <a:prstGeom prst="rect">
            <a:avLst/>
          </a:prstGeom>
          <a:solidFill>
            <a:srgbClr val="6CA0F6"/>
          </a:solidFill>
          <a:ln/>
        </p:spPr>
        <p:txBody>
          <a:bodyPr/>
          <a:lstStyle/>
          <a:p>
            <a:endParaRPr lang="zh-CN" altLang="en-US"/>
          </a:p>
        </p:txBody>
      </p:sp>
      <p:sp>
        <p:nvSpPr>
          <p:cNvPr id="27" name="Text 24"/>
          <p:cNvSpPr/>
          <p:nvPr/>
        </p:nvSpPr>
        <p:spPr>
          <a:xfrm>
            <a:off x="4929188" y="2616398"/>
            <a:ext cx="285750" cy="196453"/>
          </a:xfrm>
          <a:prstGeom prst="rect">
            <a:avLst/>
          </a:prstGeom>
          <a:noFill/>
          <a:ln/>
        </p:spPr>
        <p:txBody>
          <a:bodyPr wrap="none" lIns="0" tIns="0" rIns="0" bIns="0" rtlCol="0" anchor="t">
            <a:spAutoFit/>
          </a:bodyPr>
          <a:lstStyle/>
          <a:p>
            <a:pPr marL="0" indent="0" algn="l">
              <a:buNone/>
            </a:pPr>
            <a:r>
              <a:rPr lang="en-US" sz="1200" b="1" dirty="0">
                <a:solidFill>
                  <a:srgbClr val="3253DC"/>
                </a:solidFill>
                <a:latin typeface="Arial" pitchFamily="34" charset="0"/>
                <a:ea typeface="Arial" pitchFamily="34" charset="-122"/>
                <a:cs typeface="Arial" pitchFamily="34" charset="-120"/>
              </a:rPr>
              <a:t>06</a:t>
            </a:r>
            <a:endParaRPr lang="en-US" sz="1200" dirty="0"/>
          </a:p>
        </p:txBody>
      </p:sp>
      <p:sp>
        <p:nvSpPr>
          <p:cNvPr id="28" name="Text 25"/>
          <p:cNvSpPr/>
          <p:nvPr/>
        </p:nvSpPr>
        <p:spPr>
          <a:xfrm>
            <a:off x="5357813" y="2616398"/>
            <a:ext cx="1405031" cy="153888"/>
          </a:xfrm>
          <a:prstGeom prst="rect">
            <a:avLst/>
          </a:prstGeom>
          <a:noFill/>
          <a:ln/>
        </p:spPr>
        <p:txBody>
          <a:bodyPr wrap="square" lIns="0" tIns="0" rIns="0" bIns="0" rtlCol="0" anchor="t">
            <a:spAutoFit/>
          </a:bodyPr>
          <a:lstStyle/>
          <a:p>
            <a:pPr marL="0" indent="0" algn="l">
              <a:buNone/>
            </a:pPr>
            <a:r>
              <a:rPr lang="en-US" sz="1000" b="1" dirty="0" err="1">
                <a:solidFill>
                  <a:srgbClr val="2E2E38"/>
                </a:solidFill>
                <a:latin typeface="Arial" pitchFamily="34" charset="0"/>
                <a:ea typeface="Arial" pitchFamily="34" charset="-122"/>
                <a:cs typeface="Arial" pitchFamily="34" charset="-120"/>
              </a:rPr>
              <a:t>多播逻辑拼接机制</a:t>
            </a:r>
            <a:endParaRPr lang="en-US" sz="1000" dirty="0"/>
          </a:p>
        </p:txBody>
      </p:sp>
      <p:sp>
        <p:nvSpPr>
          <p:cNvPr id="29" name="Shape 26"/>
          <p:cNvSpPr/>
          <p:nvPr/>
        </p:nvSpPr>
        <p:spPr>
          <a:xfrm>
            <a:off x="428625" y="3143250"/>
            <a:ext cx="4000500" cy="571500"/>
          </a:xfrm>
          <a:prstGeom prst="rect">
            <a:avLst/>
          </a:prstGeom>
          <a:solidFill>
            <a:srgbClr val="FFFFFF"/>
          </a:solidFill>
          <a:ln/>
        </p:spPr>
        <p:txBody>
          <a:bodyPr/>
          <a:lstStyle/>
          <a:p>
            <a:endParaRPr lang="zh-CN" altLang="en-US"/>
          </a:p>
        </p:txBody>
      </p:sp>
      <p:sp>
        <p:nvSpPr>
          <p:cNvPr id="30" name="Shape 27"/>
          <p:cNvSpPr/>
          <p:nvPr/>
        </p:nvSpPr>
        <p:spPr>
          <a:xfrm>
            <a:off x="428625" y="3143250"/>
            <a:ext cx="28575" cy="571500"/>
          </a:xfrm>
          <a:prstGeom prst="rect">
            <a:avLst/>
          </a:prstGeom>
          <a:solidFill>
            <a:srgbClr val="6CA0F6"/>
          </a:solidFill>
          <a:ln/>
        </p:spPr>
        <p:txBody>
          <a:bodyPr/>
          <a:lstStyle/>
          <a:p>
            <a:endParaRPr lang="zh-CN" altLang="en-US"/>
          </a:p>
        </p:txBody>
      </p:sp>
      <p:sp>
        <p:nvSpPr>
          <p:cNvPr id="31" name="Text 28"/>
          <p:cNvSpPr/>
          <p:nvPr/>
        </p:nvSpPr>
        <p:spPr>
          <a:xfrm>
            <a:off x="642938" y="3330773"/>
            <a:ext cx="285750" cy="196453"/>
          </a:xfrm>
          <a:prstGeom prst="rect">
            <a:avLst/>
          </a:prstGeom>
          <a:noFill/>
          <a:ln/>
        </p:spPr>
        <p:txBody>
          <a:bodyPr wrap="none" lIns="0" tIns="0" rIns="0" bIns="0" rtlCol="0" anchor="t">
            <a:spAutoFit/>
          </a:bodyPr>
          <a:lstStyle/>
          <a:p>
            <a:pPr marL="0" indent="0" algn="l">
              <a:buNone/>
            </a:pPr>
            <a:r>
              <a:rPr lang="en-US" sz="1200" b="1" dirty="0">
                <a:solidFill>
                  <a:srgbClr val="3253DC"/>
                </a:solidFill>
                <a:latin typeface="Arial" pitchFamily="34" charset="0"/>
                <a:ea typeface="Arial" pitchFamily="34" charset="-122"/>
                <a:cs typeface="Arial" pitchFamily="34" charset="-120"/>
              </a:rPr>
              <a:t>07</a:t>
            </a:r>
            <a:endParaRPr lang="en-US" sz="1200" dirty="0"/>
          </a:p>
        </p:txBody>
      </p:sp>
      <p:sp>
        <p:nvSpPr>
          <p:cNvPr id="32" name="Text 29"/>
          <p:cNvSpPr/>
          <p:nvPr/>
        </p:nvSpPr>
        <p:spPr>
          <a:xfrm>
            <a:off x="1071563" y="3330773"/>
            <a:ext cx="1735708" cy="196453"/>
          </a:xfrm>
          <a:prstGeom prst="rect">
            <a:avLst/>
          </a:prstGeom>
          <a:noFill/>
          <a:ln/>
        </p:spPr>
        <p:txBody>
          <a:bodyPr wrap="square" lIns="0" tIns="0" rIns="0" bIns="0" rtlCol="0" anchor="t">
            <a:spAutoFit/>
          </a:bodyPr>
          <a:lstStyle/>
          <a:p>
            <a:pPr marL="0" indent="0" algn="l">
              <a:buNone/>
            </a:pPr>
            <a:r>
              <a:rPr lang="en-US" sz="1000" b="1" dirty="0">
                <a:solidFill>
                  <a:srgbClr val="2E2E38"/>
                </a:solidFill>
                <a:latin typeface="Arial" pitchFamily="34" charset="0"/>
                <a:ea typeface="Arial" pitchFamily="34" charset="-122"/>
                <a:cs typeface="Arial" pitchFamily="34" charset="-120"/>
              </a:rPr>
              <a:t>流控与告警 (PAUSE / PFC)</a:t>
            </a:r>
            <a:endParaRPr lang="en-US" sz="1000" dirty="0"/>
          </a:p>
        </p:txBody>
      </p:sp>
      <p:sp>
        <p:nvSpPr>
          <p:cNvPr id="33" name="Shape 30"/>
          <p:cNvSpPr/>
          <p:nvPr/>
        </p:nvSpPr>
        <p:spPr>
          <a:xfrm>
            <a:off x="4714875" y="3143250"/>
            <a:ext cx="4000500" cy="571500"/>
          </a:xfrm>
          <a:prstGeom prst="rect">
            <a:avLst/>
          </a:prstGeom>
          <a:solidFill>
            <a:srgbClr val="FFFFFF"/>
          </a:solidFill>
          <a:ln/>
        </p:spPr>
        <p:txBody>
          <a:bodyPr/>
          <a:lstStyle/>
          <a:p>
            <a:endParaRPr lang="zh-CN" altLang="en-US"/>
          </a:p>
        </p:txBody>
      </p:sp>
      <p:sp>
        <p:nvSpPr>
          <p:cNvPr id="34" name="Shape 31"/>
          <p:cNvSpPr/>
          <p:nvPr/>
        </p:nvSpPr>
        <p:spPr>
          <a:xfrm>
            <a:off x="4714875" y="3143250"/>
            <a:ext cx="28575" cy="571500"/>
          </a:xfrm>
          <a:prstGeom prst="rect">
            <a:avLst/>
          </a:prstGeom>
          <a:solidFill>
            <a:srgbClr val="6CA0F6"/>
          </a:solidFill>
          <a:ln/>
        </p:spPr>
        <p:txBody>
          <a:bodyPr/>
          <a:lstStyle/>
          <a:p>
            <a:endParaRPr lang="zh-CN" altLang="en-US"/>
          </a:p>
        </p:txBody>
      </p:sp>
      <p:sp>
        <p:nvSpPr>
          <p:cNvPr id="35" name="Text 32"/>
          <p:cNvSpPr/>
          <p:nvPr/>
        </p:nvSpPr>
        <p:spPr>
          <a:xfrm>
            <a:off x="4929188" y="3330773"/>
            <a:ext cx="285750" cy="196453"/>
          </a:xfrm>
          <a:prstGeom prst="rect">
            <a:avLst/>
          </a:prstGeom>
          <a:noFill/>
          <a:ln/>
        </p:spPr>
        <p:txBody>
          <a:bodyPr wrap="none" lIns="0" tIns="0" rIns="0" bIns="0" rtlCol="0" anchor="t">
            <a:spAutoFit/>
          </a:bodyPr>
          <a:lstStyle/>
          <a:p>
            <a:pPr marL="0" indent="0" algn="l">
              <a:buNone/>
            </a:pPr>
            <a:r>
              <a:rPr lang="en-US" sz="1200" b="1" dirty="0">
                <a:solidFill>
                  <a:srgbClr val="3253DC"/>
                </a:solidFill>
                <a:latin typeface="Arial" pitchFamily="34" charset="0"/>
                <a:ea typeface="Arial" pitchFamily="34" charset="-122"/>
                <a:cs typeface="Arial" pitchFamily="34" charset="-120"/>
              </a:rPr>
              <a:t>08</a:t>
            </a:r>
            <a:endParaRPr lang="en-US" sz="1200" dirty="0"/>
          </a:p>
        </p:txBody>
      </p:sp>
      <p:sp>
        <p:nvSpPr>
          <p:cNvPr id="36" name="Text 33"/>
          <p:cNvSpPr/>
          <p:nvPr/>
        </p:nvSpPr>
        <p:spPr>
          <a:xfrm>
            <a:off x="5357813" y="3330773"/>
            <a:ext cx="714375" cy="196453"/>
          </a:xfrm>
          <a:prstGeom prst="rect">
            <a:avLst/>
          </a:prstGeom>
          <a:noFill/>
          <a:ln/>
        </p:spPr>
        <p:txBody>
          <a:bodyPr wrap="none" lIns="0" tIns="0" rIns="0" bIns="0" rtlCol="0" anchor="t">
            <a:spAutoFit/>
          </a:bodyPr>
          <a:lstStyle/>
          <a:p>
            <a:pPr marL="0" indent="0" algn="l">
              <a:buNone/>
            </a:pPr>
            <a:r>
              <a:rPr lang="en-US" sz="1000" b="1" dirty="0">
                <a:solidFill>
                  <a:srgbClr val="2E2E38"/>
                </a:solidFill>
                <a:latin typeface="Arial" pitchFamily="34" charset="0"/>
                <a:ea typeface="Arial" pitchFamily="34" charset="-122"/>
                <a:cs typeface="Arial" pitchFamily="34" charset="-120"/>
              </a:rPr>
              <a:t>时序与性能</a:t>
            </a:r>
            <a:endParaRPr lang="en-US" sz="1000" dirty="0"/>
          </a:p>
        </p:txBody>
      </p:sp>
      <p:sp>
        <p:nvSpPr>
          <p:cNvPr id="37" name="Shape 34"/>
          <p:cNvSpPr/>
          <p:nvPr/>
        </p:nvSpPr>
        <p:spPr>
          <a:xfrm>
            <a:off x="428625" y="3857625"/>
            <a:ext cx="4000500" cy="571500"/>
          </a:xfrm>
          <a:prstGeom prst="rect">
            <a:avLst/>
          </a:prstGeom>
          <a:solidFill>
            <a:srgbClr val="FFFFFF"/>
          </a:solidFill>
          <a:ln/>
        </p:spPr>
        <p:txBody>
          <a:bodyPr/>
          <a:lstStyle/>
          <a:p>
            <a:endParaRPr lang="zh-CN" altLang="en-US"/>
          </a:p>
        </p:txBody>
      </p:sp>
      <p:sp>
        <p:nvSpPr>
          <p:cNvPr id="38" name="Shape 35"/>
          <p:cNvSpPr/>
          <p:nvPr/>
        </p:nvSpPr>
        <p:spPr>
          <a:xfrm>
            <a:off x="428625" y="3857625"/>
            <a:ext cx="28575" cy="571500"/>
          </a:xfrm>
          <a:prstGeom prst="rect">
            <a:avLst/>
          </a:prstGeom>
          <a:solidFill>
            <a:srgbClr val="6CA0F6"/>
          </a:solidFill>
          <a:ln/>
        </p:spPr>
        <p:txBody>
          <a:bodyPr/>
          <a:lstStyle/>
          <a:p>
            <a:endParaRPr lang="zh-CN" altLang="en-US"/>
          </a:p>
        </p:txBody>
      </p:sp>
      <p:sp>
        <p:nvSpPr>
          <p:cNvPr id="39" name="Text 36"/>
          <p:cNvSpPr/>
          <p:nvPr/>
        </p:nvSpPr>
        <p:spPr>
          <a:xfrm>
            <a:off x="642938" y="4045148"/>
            <a:ext cx="285750" cy="196453"/>
          </a:xfrm>
          <a:prstGeom prst="rect">
            <a:avLst/>
          </a:prstGeom>
          <a:noFill/>
          <a:ln/>
        </p:spPr>
        <p:txBody>
          <a:bodyPr wrap="none" lIns="0" tIns="0" rIns="0" bIns="0" rtlCol="0" anchor="t">
            <a:spAutoFit/>
          </a:bodyPr>
          <a:lstStyle/>
          <a:p>
            <a:pPr marL="0" indent="0" algn="l">
              <a:buNone/>
            </a:pPr>
            <a:r>
              <a:rPr lang="en-US" sz="1200" b="1" dirty="0">
                <a:solidFill>
                  <a:srgbClr val="3253DC"/>
                </a:solidFill>
                <a:latin typeface="Arial" pitchFamily="34" charset="0"/>
                <a:ea typeface="Arial" pitchFamily="34" charset="-122"/>
                <a:cs typeface="Arial" pitchFamily="34" charset="-120"/>
              </a:rPr>
              <a:t>09</a:t>
            </a:r>
            <a:endParaRPr lang="en-US" sz="1200" dirty="0"/>
          </a:p>
        </p:txBody>
      </p:sp>
      <p:sp>
        <p:nvSpPr>
          <p:cNvPr id="40" name="Text 37"/>
          <p:cNvSpPr/>
          <p:nvPr/>
        </p:nvSpPr>
        <p:spPr>
          <a:xfrm>
            <a:off x="1071563" y="4045148"/>
            <a:ext cx="1143000" cy="196453"/>
          </a:xfrm>
          <a:prstGeom prst="rect">
            <a:avLst/>
          </a:prstGeom>
          <a:noFill/>
          <a:ln/>
        </p:spPr>
        <p:txBody>
          <a:bodyPr wrap="none" lIns="0" tIns="0" rIns="0" bIns="0" rtlCol="0" anchor="t">
            <a:spAutoFit/>
          </a:bodyPr>
          <a:lstStyle/>
          <a:p>
            <a:pPr marL="0" indent="0" algn="l">
              <a:buNone/>
            </a:pPr>
            <a:r>
              <a:rPr lang="en-US" sz="1000" b="1" dirty="0">
                <a:solidFill>
                  <a:srgbClr val="2E2E38"/>
                </a:solidFill>
                <a:latin typeface="Arial" pitchFamily="34" charset="0"/>
                <a:ea typeface="Arial" pitchFamily="34" charset="-122"/>
                <a:cs typeface="Arial" pitchFamily="34" charset="-120"/>
              </a:rPr>
              <a:t>参数化与可配置性</a:t>
            </a:r>
            <a:endParaRPr lang="en-US" sz="1000" dirty="0"/>
          </a:p>
        </p:txBody>
      </p:sp>
      <p:sp>
        <p:nvSpPr>
          <p:cNvPr id="41" name="Shape 38"/>
          <p:cNvSpPr/>
          <p:nvPr/>
        </p:nvSpPr>
        <p:spPr>
          <a:xfrm>
            <a:off x="4714875" y="3857625"/>
            <a:ext cx="4000500" cy="571500"/>
          </a:xfrm>
          <a:prstGeom prst="rect">
            <a:avLst/>
          </a:prstGeom>
          <a:solidFill>
            <a:srgbClr val="FFFFFF"/>
          </a:solidFill>
          <a:ln/>
        </p:spPr>
        <p:txBody>
          <a:bodyPr/>
          <a:lstStyle/>
          <a:p>
            <a:endParaRPr lang="zh-CN" altLang="en-US"/>
          </a:p>
        </p:txBody>
      </p:sp>
      <p:sp>
        <p:nvSpPr>
          <p:cNvPr id="42" name="Shape 39"/>
          <p:cNvSpPr/>
          <p:nvPr/>
        </p:nvSpPr>
        <p:spPr>
          <a:xfrm>
            <a:off x="4714875" y="3857625"/>
            <a:ext cx="28575" cy="571500"/>
          </a:xfrm>
          <a:prstGeom prst="rect">
            <a:avLst/>
          </a:prstGeom>
          <a:solidFill>
            <a:srgbClr val="6CA0F6"/>
          </a:solidFill>
          <a:ln/>
        </p:spPr>
        <p:txBody>
          <a:bodyPr/>
          <a:lstStyle/>
          <a:p>
            <a:endParaRPr lang="zh-CN" altLang="en-US"/>
          </a:p>
        </p:txBody>
      </p:sp>
      <p:sp>
        <p:nvSpPr>
          <p:cNvPr id="43" name="Text 40"/>
          <p:cNvSpPr/>
          <p:nvPr/>
        </p:nvSpPr>
        <p:spPr>
          <a:xfrm>
            <a:off x="4929188" y="4045148"/>
            <a:ext cx="285750" cy="196453"/>
          </a:xfrm>
          <a:prstGeom prst="rect">
            <a:avLst/>
          </a:prstGeom>
          <a:noFill/>
          <a:ln/>
        </p:spPr>
        <p:txBody>
          <a:bodyPr wrap="none" lIns="0" tIns="0" rIns="0" bIns="0" rtlCol="0" anchor="t">
            <a:spAutoFit/>
          </a:bodyPr>
          <a:lstStyle/>
          <a:p>
            <a:pPr marL="0" indent="0" algn="l">
              <a:buNone/>
            </a:pPr>
            <a:r>
              <a:rPr lang="en-US" sz="1200" b="1" dirty="0">
                <a:solidFill>
                  <a:srgbClr val="3253DC"/>
                </a:solidFill>
                <a:latin typeface="Arial" pitchFamily="34" charset="0"/>
                <a:ea typeface="Arial" pitchFamily="34" charset="-122"/>
                <a:cs typeface="Arial" pitchFamily="34" charset="-120"/>
              </a:rPr>
              <a:t>10</a:t>
            </a:r>
            <a:endParaRPr lang="en-US" sz="1200" dirty="0"/>
          </a:p>
        </p:txBody>
      </p:sp>
      <p:sp>
        <p:nvSpPr>
          <p:cNvPr id="44" name="Text 41"/>
          <p:cNvSpPr/>
          <p:nvPr/>
        </p:nvSpPr>
        <p:spPr>
          <a:xfrm>
            <a:off x="5357813" y="4045148"/>
            <a:ext cx="714375" cy="196453"/>
          </a:xfrm>
          <a:prstGeom prst="rect">
            <a:avLst/>
          </a:prstGeom>
          <a:noFill/>
          <a:ln/>
        </p:spPr>
        <p:txBody>
          <a:bodyPr wrap="none" lIns="0" tIns="0" rIns="0" bIns="0" rtlCol="0" anchor="t">
            <a:spAutoFit/>
          </a:bodyPr>
          <a:lstStyle/>
          <a:p>
            <a:pPr marL="0" indent="0" algn="l">
              <a:buNone/>
            </a:pPr>
            <a:r>
              <a:rPr lang="en-US" sz="1000" b="1" dirty="0">
                <a:solidFill>
                  <a:srgbClr val="2E2E38"/>
                </a:solidFill>
                <a:latin typeface="Arial" pitchFamily="34" charset="0"/>
                <a:ea typeface="Arial" pitchFamily="34" charset="-122"/>
                <a:cs typeface="Arial" pitchFamily="34" charset="-120"/>
              </a:rPr>
              <a:t>总结与展望</a:t>
            </a:r>
            <a:endParaRPr lang="en-US" sz="1000" dirty="0"/>
          </a:p>
        </p:txBody>
      </p:sp>
      <p:sp>
        <p:nvSpPr>
          <p:cNvPr id="45" name="Text 42"/>
          <p:cNvSpPr/>
          <p:nvPr/>
        </p:nvSpPr>
        <p:spPr>
          <a:xfrm>
            <a:off x="428625" y="4879181"/>
            <a:ext cx="857473"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SMMU Design Review</a:t>
            </a:r>
            <a:endParaRPr lang="en-US" sz="600" dirty="0"/>
          </a:p>
        </p:txBody>
      </p:sp>
      <p:sp>
        <p:nvSpPr>
          <p:cNvPr id="46" name="Text 43"/>
          <p:cNvSpPr/>
          <p:nvPr/>
        </p:nvSpPr>
        <p:spPr>
          <a:xfrm>
            <a:off x="8395971" y="4879181"/>
            <a:ext cx="319404"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Page 02</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71500"/>
          </a:xfrm>
          <a:prstGeom prst="rect">
            <a:avLst/>
          </a:prstGeom>
          <a:solidFill>
            <a:srgbClr val="3253DC"/>
          </a:solidFill>
          <a:ln/>
        </p:spPr>
        <p:txBody>
          <a:bodyPr/>
          <a:lstStyle/>
          <a:p>
            <a:endParaRPr lang="zh-CN" altLang="en-US"/>
          </a:p>
        </p:txBody>
      </p:sp>
      <p:sp>
        <p:nvSpPr>
          <p:cNvPr id="4" name="Text 1"/>
          <p:cNvSpPr/>
          <p:nvPr/>
        </p:nvSpPr>
        <p:spPr>
          <a:xfrm>
            <a:off x="428625" y="130373"/>
            <a:ext cx="4165476" cy="310753"/>
          </a:xfrm>
          <a:prstGeom prst="rect">
            <a:avLst/>
          </a:prstGeom>
          <a:noFill/>
          <a:ln/>
        </p:spPr>
        <p:txBody>
          <a:bodyPr wrap="square" lIns="0" tIns="0" rIns="0" bIns="0" rtlCol="0" anchor="t">
            <a:spAutoFit/>
          </a:bodyPr>
          <a:lstStyle/>
          <a:p>
            <a:pPr marL="0" indent="0" algn="l">
              <a:buNone/>
            </a:pPr>
            <a:r>
              <a:rPr lang="en-US" sz="1600" b="1" dirty="0">
                <a:solidFill>
                  <a:srgbClr val="FFFFFF"/>
                </a:solidFill>
                <a:latin typeface="Arial" pitchFamily="34" charset="0"/>
                <a:ea typeface="Arial" pitchFamily="34" charset="-122"/>
                <a:cs typeface="Arial" pitchFamily="34" charset="-120"/>
              </a:rPr>
              <a:t>设计背景 —— MMU 在交换芯片中的位置</a:t>
            </a:r>
            <a:endParaRPr lang="en-US" sz="1600" dirty="0"/>
          </a:p>
        </p:txBody>
      </p:sp>
      <p:sp>
        <p:nvSpPr>
          <p:cNvPr id="5" name="Shape 2"/>
          <p:cNvSpPr/>
          <p:nvPr/>
        </p:nvSpPr>
        <p:spPr>
          <a:xfrm>
            <a:off x="428625" y="742950"/>
            <a:ext cx="2857500" cy="1285875"/>
          </a:xfrm>
          <a:prstGeom prst="rect">
            <a:avLst/>
          </a:prstGeom>
          <a:solidFill>
            <a:srgbClr val="FFFFFF"/>
          </a:solidFill>
          <a:ln/>
        </p:spPr>
        <p:txBody>
          <a:bodyPr/>
          <a:lstStyle/>
          <a:p>
            <a:endParaRPr lang="zh-CN" altLang="en-US"/>
          </a:p>
        </p:txBody>
      </p:sp>
      <p:sp>
        <p:nvSpPr>
          <p:cNvPr id="6" name="Shape 3"/>
          <p:cNvSpPr/>
          <p:nvPr/>
        </p:nvSpPr>
        <p:spPr>
          <a:xfrm>
            <a:off x="428625" y="742950"/>
            <a:ext cx="28575" cy="1285875"/>
          </a:xfrm>
          <a:prstGeom prst="rect">
            <a:avLst/>
          </a:prstGeom>
          <a:solidFill>
            <a:srgbClr val="6CA0F6"/>
          </a:solidFill>
          <a:ln/>
        </p:spPr>
        <p:txBody>
          <a:bodyPr/>
          <a:lstStyle/>
          <a:p>
            <a:endParaRPr lang="zh-CN" altLang="en-US"/>
          </a:p>
        </p:txBody>
      </p:sp>
      <p:sp>
        <p:nvSpPr>
          <p:cNvPr id="7" name="Text 4"/>
          <p:cNvSpPr/>
          <p:nvPr/>
        </p:nvSpPr>
        <p:spPr>
          <a:xfrm>
            <a:off x="571500" y="885825"/>
            <a:ext cx="2571750" cy="196453"/>
          </a:xfrm>
          <a:prstGeom prst="rect">
            <a:avLst/>
          </a:prstGeom>
          <a:noFill/>
          <a:ln/>
        </p:spPr>
        <p:txBody>
          <a:bodyPr wrap="square" lIns="0" tIns="0" rIns="0" bIns="0" rtlCol="0" anchor="t">
            <a:spAutoFit/>
          </a:bodyPr>
          <a:lstStyle/>
          <a:p>
            <a:pPr marL="0" indent="0" algn="l">
              <a:buNone/>
            </a:pPr>
            <a:r>
              <a:rPr lang="en-US" sz="1000" b="1" dirty="0">
                <a:solidFill>
                  <a:srgbClr val="3253DC"/>
                </a:solidFill>
                <a:latin typeface="Arial" pitchFamily="34" charset="0"/>
                <a:ea typeface="Arial" pitchFamily="34" charset="-122"/>
                <a:cs typeface="Arial" pitchFamily="34" charset="-120"/>
              </a:rPr>
              <a:t>核心职责与定位</a:t>
            </a:r>
            <a:endParaRPr lang="en-US" sz="1000" dirty="0"/>
          </a:p>
        </p:txBody>
      </p:sp>
      <p:sp>
        <p:nvSpPr>
          <p:cNvPr id="8" name="Text 5"/>
          <p:cNvSpPr/>
          <p:nvPr/>
        </p:nvSpPr>
        <p:spPr>
          <a:xfrm>
            <a:off x="571500" y="1189434"/>
            <a:ext cx="2571750" cy="548506"/>
          </a:xfrm>
          <a:prstGeom prst="rect">
            <a:avLst/>
          </a:prstGeom>
          <a:noFill/>
          <a:ln/>
        </p:spPr>
        <p:txBody>
          <a:bodyPr wrap="square" lIns="0" tIns="0" rIns="0" bIns="0" rtlCol="0" anchor="t">
            <a:spAutoFit/>
          </a:bodyPr>
          <a:lstStyle/>
          <a:p>
            <a:pPr marL="0" indent="0" algn="l">
              <a:lnSpc>
                <a:spcPct val="128000"/>
              </a:lnSpc>
              <a:buNone/>
            </a:pPr>
            <a:r>
              <a:rPr lang="en-US" sz="850" dirty="0">
                <a:solidFill>
                  <a:srgbClr val="2E2E38"/>
                </a:solidFill>
                <a:latin typeface="Arial" pitchFamily="34" charset="0"/>
                <a:ea typeface="Arial" pitchFamily="34" charset="-122"/>
                <a:cs typeface="Arial" pitchFamily="34" charset="-120"/>
              </a:rPr>
              <a:t>MMU 是 QM (Queue Manager) 的</a:t>
            </a:r>
            <a:r>
              <a:rPr lang="en-US" sz="800" b="1" dirty="0">
                <a:solidFill>
                  <a:srgbClr val="2E2E38"/>
                </a:solidFill>
                <a:latin typeface="Arial" pitchFamily="34" charset="0"/>
                <a:ea typeface="Arial" pitchFamily="34" charset="-122"/>
                <a:cs typeface="Arial" pitchFamily="34" charset="-120"/>
              </a:rPr>
              <a:t>地址管理子模块</a:t>
            </a:r>
            <a:r>
              <a:rPr lang="en-US" sz="850" dirty="0">
                <a:solidFill>
                  <a:srgbClr val="2E2E38"/>
                </a:solidFill>
                <a:latin typeface="Arial" pitchFamily="34" charset="0"/>
                <a:ea typeface="Arial" pitchFamily="34" charset="-122"/>
                <a:cs typeface="Arial" pitchFamily="34" charset="-120"/>
              </a:rPr>
              <a:t>，负责以 256B cell 为粒度，统一管理 2MB 共享数据 SRAM 的地址分配与链表组织。</a:t>
            </a:r>
            <a:endParaRPr lang="en-US" sz="850" dirty="0"/>
          </a:p>
        </p:txBody>
      </p:sp>
      <p:sp>
        <p:nvSpPr>
          <p:cNvPr id="9" name="Shape 6"/>
          <p:cNvSpPr/>
          <p:nvPr/>
        </p:nvSpPr>
        <p:spPr>
          <a:xfrm>
            <a:off x="428625" y="2243138"/>
            <a:ext cx="2857500" cy="1875234"/>
          </a:xfrm>
          <a:prstGeom prst="rect">
            <a:avLst/>
          </a:prstGeom>
          <a:solidFill>
            <a:srgbClr val="FFFFFF"/>
          </a:solidFill>
          <a:ln/>
        </p:spPr>
        <p:txBody>
          <a:bodyPr/>
          <a:lstStyle/>
          <a:p>
            <a:endParaRPr lang="zh-CN" altLang="en-US"/>
          </a:p>
        </p:txBody>
      </p:sp>
      <p:sp>
        <p:nvSpPr>
          <p:cNvPr id="10" name="Shape 7"/>
          <p:cNvSpPr/>
          <p:nvPr/>
        </p:nvSpPr>
        <p:spPr>
          <a:xfrm>
            <a:off x="428625" y="2243138"/>
            <a:ext cx="28575" cy="1875234"/>
          </a:xfrm>
          <a:prstGeom prst="rect">
            <a:avLst/>
          </a:prstGeom>
          <a:solidFill>
            <a:srgbClr val="6CA0F6"/>
          </a:solidFill>
          <a:ln/>
        </p:spPr>
        <p:txBody>
          <a:bodyPr/>
          <a:lstStyle/>
          <a:p>
            <a:endParaRPr lang="zh-CN" altLang="en-US"/>
          </a:p>
        </p:txBody>
      </p:sp>
      <p:sp>
        <p:nvSpPr>
          <p:cNvPr id="11" name="Text 8"/>
          <p:cNvSpPr/>
          <p:nvPr/>
        </p:nvSpPr>
        <p:spPr>
          <a:xfrm>
            <a:off x="571500" y="2386013"/>
            <a:ext cx="2571750" cy="196453"/>
          </a:xfrm>
          <a:prstGeom prst="rect">
            <a:avLst/>
          </a:prstGeom>
          <a:noFill/>
          <a:ln/>
        </p:spPr>
        <p:txBody>
          <a:bodyPr wrap="square" lIns="0" tIns="0" rIns="0" bIns="0" rtlCol="0" anchor="t">
            <a:spAutoFit/>
          </a:bodyPr>
          <a:lstStyle/>
          <a:p>
            <a:pPr marL="0" indent="0" algn="l">
              <a:buNone/>
            </a:pPr>
            <a:r>
              <a:rPr lang="en-US" sz="1000" b="1" dirty="0">
                <a:solidFill>
                  <a:srgbClr val="3253DC"/>
                </a:solidFill>
                <a:latin typeface="Arial" pitchFamily="34" charset="0"/>
                <a:ea typeface="Arial" pitchFamily="34" charset="-122"/>
                <a:cs typeface="Arial" pitchFamily="34" charset="-120"/>
              </a:rPr>
              <a:t>容量派生</a:t>
            </a:r>
            <a:endParaRPr lang="en-US" sz="1000" dirty="0"/>
          </a:p>
        </p:txBody>
      </p:sp>
      <p:sp>
        <p:nvSpPr>
          <p:cNvPr id="12" name="Shape 9"/>
          <p:cNvSpPr/>
          <p:nvPr/>
        </p:nvSpPr>
        <p:spPr>
          <a:xfrm>
            <a:off x="571500" y="2689622"/>
            <a:ext cx="2571750" cy="1428750"/>
          </a:xfrm>
          <a:prstGeom prst="rect">
            <a:avLst/>
          </a:prstGeom>
          <a:solidFill>
            <a:srgbClr val="FFFFFF"/>
          </a:solidFill>
          <a:ln/>
        </p:spPr>
        <p:txBody>
          <a:bodyPr/>
          <a:lstStyle/>
          <a:p>
            <a:endParaRPr lang="zh-CN" altLang="en-US"/>
          </a:p>
        </p:txBody>
      </p:sp>
      <p:sp>
        <p:nvSpPr>
          <p:cNvPr id="13" name="Shape 10"/>
          <p:cNvSpPr/>
          <p:nvPr/>
        </p:nvSpPr>
        <p:spPr>
          <a:xfrm>
            <a:off x="575072" y="2689622"/>
            <a:ext cx="1096008" cy="282178"/>
          </a:xfrm>
          <a:prstGeom prst="rect">
            <a:avLst/>
          </a:prstGeom>
          <a:solidFill>
            <a:srgbClr val="6E6E7A"/>
          </a:solidFill>
          <a:ln/>
        </p:spPr>
        <p:txBody>
          <a:bodyPr/>
          <a:lstStyle/>
          <a:p>
            <a:endParaRPr lang="zh-CN" altLang="en-US"/>
          </a:p>
        </p:txBody>
      </p:sp>
      <p:sp>
        <p:nvSpPr>
          <p:cNvPr id="14" name="Text 11"/>
          <p:cNvSpPr/>
          <p:nvPr/>
        </p:nvSpPr>
        <p:spPr>
          <a:xfrm>
            <a:off x="575072" y="2689622"/>
            <a:ext cx="1096008" cy="282178"/>
          </a:xfrm>
          <a:prstGeom prst="rect">
            <a:avLst/>
          </a:prstGeom>
          <a:noFill/>
          <a:ln/>
        </p:spPr>
        <p:txBody>
          <a:bodyPr wrap="none" lIns="85090" tIns="85090" rIns="85090" bIns="85090" rtlCol="0" anchor="ctr">
            <a:spAutoFit/>
          </a:bodyPr>
          <a:lstStyle/>
          <a:p>
            <a:pPr marL="0" indent="0" algn="l">
              <a:buNone/>
            </a:pPr>
            <a:r>
              <a:rPr lang="en-US" sz="700" b="1" dirty="0">
                <a:solidFill>
                  <a:srgbClr val="FFFFFF"/>
                </a:solidFill>
                <a:latin typeface="Arial" pitchFamily="34" charset="0"/>
                <a:ea typeface="Arial" pitchFamily="34" charset="-122"/>
                <a:cs typeface="Arial" pitchFamily="34" charset="-120"/>
              </a:rPr>
              <a:t>项目</a:t>
            </a:r>
            <a:endParaRPr lang="en-US" sz="700" dirty="0"/>
          </a:p>
        </p:txBody>
      </p:sp>
      <p:sp>
        <p:nvSpPr>
          <p:cNvPr id="15" name="Shape 12"/>
          <p:cNvSpPr/>
          <p:nvPr/>
        </p:nvSpPr>
        <p:spPr>
          <a:xfrm>
            <a:off x="1671079" y="2689622"/>
            <a:ext cx="520098" cy="282178"/>
          </a:xfrm>
          <a:prstGeom prst="rect">
            <a:avLst/>
          </a:prstGeom>
          <a:solidFill>
            <a:srgbClr val="6E6E7A"/>
          </a:solidFill>
          <a:ln/>
        </p:spPr>
        <p:txBody>
          <a:bodyPr/>
          <a:lstStyle/>
          <a:p>
            <a:endParaRPr lang="zh-CN" altLang="en-US"/>
          </a:p>
        </p:txBody>
      </p:sp>
      <p:sp>
        <p:nvSpPr>
          <p:cNvPr id="16" name="Text 13"/>
          <p:cNvSpPr/>
          <p:nvPr/>
        </p:nvSpPr>
        <p:spPr>
          <a:xfrm>
            <a:off x="1671079" y="2689622"/>
            <a:ext cx="520098" cy="282178"/>
          </a:xfrm>
          <a:prstGeom prst="rect">
            <a:avLst/>
          </a:prstGeom>
          <a:noFill/>
          <a:ln/>
        </p:spPr>
        <p:txBody>
          <a:bodyPr wrap="none" lIns="85090" tIns="85090" rIns="85090" bIns="85090" rtlCol="0" anchor="ctr">
            <a:spAutoFit/>
          </a:bodyPr>
          <a:lstStyle/>
          <a:p>
            <a:pPr marL="0" indent="0" algn="l">
              <a:buNone/>
            </a:pPr>
            <a:r>
              <a:rPr lang="en-US" sz="700" b="1" dirty="0">
                <a:solidFill>
                  <a:srgbClr val="FFFFFF"/>
                </a:solidFill>
                <a:latin typeface="Arial" pitchFamily="34" charset="0"/>
                <a:ea typeface="Arial" pitchFamily="34" charset="-122"/>
                <a:cs typeface="Arial" pitchFamily="34" charset="-120"/>
              </a:rPr>
              <a:t>数值</a:t>
            </a:r>
            <a:endParaRPr lang="en-US" sz="700" dirty="0"/>
          </a:p>
        </p:txBody>
      </p:sp>
      <p:sp>
        <p:nvSpPr>
          <p:cNvPr id="17" name="Shape 14"/>
          <p:cNvSpPr/>
          <p:nvPr/>
        </p:nvSpPr>
        <p:spPr>
          <a:xfrm>
            <a:off x="2191178" y="2689622"/>
            <a:ext cx="948500" cy="282178"/>
          </a:xfrm>
          <a:prstGeom prst="rect">
            <a:avLst/>
          </a:prstGeom>
          <a:solidFill>
            <a:srgbClr val="6E6E7A"/>
          </a:solidFill>
          <a:ln/>
        </p:spPr>
        <p:txBody>
          <a:bodyPr/>
          <a:lstStyle/>
          <a:p>
            <a:endParaRPr lang="zh-CN" altLang="en-US"/>
          </a:p>
        </p:txBody>
      </p:sp>
      <p:sp>
        <p:nvSpPr>
          <p:cNvPr id="18" name="Text 15"/>
          <p:cNvSpPr/>
          <p:nvPr/>
        </p:nvSpPr>
        <p:spPr>
          <a:xfrm>
            <a:off x="2191178" y="2689622"/>
            <a:ext cx="948500" cy="282178"/>
          </a:xfrm>
          <a:prstGeom prst="rect">
            <a:avLst/>
          </a:prstGeom>
          <a:noFill/>
          <a:ln/>
        </p:spPr>
        <p:txBody>
          <a:bodyPr wrap="none" lIns="85090" tIns="85090" rIns="85090" bIns="85090" rtlCol="0" anchor="ctr">
            <a:spAutoFit/>
          </a:bodyPr>
          <a:lstStyle/>
          <a:p>
            <a:pPr marL="0" indent="0" algn="l">
              <a:buNone/>
            </a:pPr>
            <a:r>
              <a:rPr lang="en-US" sz="700" b="1" dirty="0">
                <a:solidFill>
                  <a:srgbClr val="FFFFFF"/>
                </a:solidFill>
                <a:latin typeface="Arial" pitchFamily="34" charset="0"/>
                <a:ea typeface="Arial" pitchFamily="34" charset="-122"/>
                <a:cs typeface="Arial" pitchFamily="34" charset="-120"/>
              </a:rPr>
              <a:t>说明</a:t>
            </a:r>
            <a:endParaRPr lang="en-US" sz="700" dirty="0"/>
          </a:p>
        </p:txBody>
      </p:sp>
      <p:sp>
        <p:nvSpPr>
          <p:cNvPr id="19" name="Text 16"/>
          <p:cNvSpPr/>
          <p:nvPr/>
        </p:nvSpPr>
        <p:spPr>
          <a:xfrm>
            <a:off x="575072" y="2971800"/>
            <a:ext cx="1096008" cy="285750"/>
          </a:xfrm>
          <a:prstGeom prst="rect">
            <a:avLst/>
          </a:prstGeom>
          <a:noFill/>
          <a:ln/>
        </p:spPr>
        <p:txBody>
          <a:bodyPr wrap="non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共享数据 SRAM</a:t>
            </a:r>
            <a:endParaRPr lang="en-US" sz="750" dirty="0"/>
          </a:p>
        </p:txBody>
      </p:sp>
      <p:sp>
        <p:nvSpPr>
          <p:cNvPr id="20" name="Text 17"/>
          <p:cNvSpPr/>
          <p:nvPr/>
        </p:nvSpPr>
        <p:spPr>
          <a:xfrm>
            <a:off x="1671079" y="2971800"/>
            <a:ext cx="520098" cy="285750"/>
          </a:xfrm>
          <a:prstGeom prst="rect">
            <a:avLst/>
          </a:prstGeom>
          <a:noFill/>
          <a:ln/>
        </p:spPr>
        <p:txBody>
          <a:bodyPr wrap="non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2 MB</a:t>
            </a:r>
            <a:endParaRPr lang="en-US" sz="750" dirty="0"/>
          </a:p>
        </p:txBody>
      </p:sp>
      <p:sp>
        <p:nvSpPr>
          <p:cNvPr id="21" name="Text 18"/>
          <p:cNvSpPr/>
          <p:nvPr/>
        </p:nvSpPr>
        <p:spPr>
          <a:xfrm>
            <a:off x="2191178" y="2971800"/>
            <a:ext cx="948500" cy="285750"/>
          </a:xfrm>
          <a:prstGeom prst="rect">
            <a:avLst/>
          </a:prstGeom>
          <a:noFill/>
          <a:ln/>
        </p:spPr>
        <p:txBody>
          <a:bodyPr wrap="non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报文净荷缓存</a:t>
            </a:r>
            <a:endParaRPr lang="en-US" sz="750" dirty="0"/>
          </a:p>
        </p:txBody>
      </p:sp>
      <p:sp>
        <p:nvSpPr>
          <p:cNvPr id="22" name="Text 19"/>
          <p:cNvSpPr/>
          <p:nvPr/>
        </p:nvSpPr>
        <p:spPr>
          <a:xfrm>
            <a:off x="575072" y="3257550"/>
            <a:ext cx="1096008" cy="285750"/>
          </a:xfrm>
          <a:prstGeom prst="rect">
            <a:avLst/>
          </a:prstGeom>
          <a:noFill/>
          <a:ln/>
        </p:spPr>
        <p:txBody>
          <a:bodyPr wrap="non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Cell 粒度</a:t>
            </a:r>
            <a:endParaRPr lang="en-US" sz="750" dirty="0"/>
          </a:p>
        </p:txBody>
      </p:sp>
      <p:sp>
        <p:nvSpPr>
          <p:cNvPr id="23" name="Text 20"/>
          <p:cNvSpPr/>
          <p:nvPr/>
        </p:nvSpPr>
        <p:spPr>
          <a:xfrm>
            <a:off x="1671079" y="3257550"/>
            <a:ext cx="520098" cy="285750"/>
          </a:xfrm>
          <a:prstGeom prst="rect">
            <a:avLst/>
          </a:prstGeom>
          <a:noFill/>
          <a:ln/>
        </p:spPr>
        <p:txBody>
          <a:bodyPr wrap="non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256 B</a:t>
            </a:r>
            <a:endParaRPr lang="en-US" sz="750" dirty="0"/>
          </a:p>
        </p:txBody>
      </p:sp>
      <p:sp>
        <p:nvSpPr>
          <p:cNvPr id="24" name="Text 21"/>
          <p:cNvSpPr/>
          <p:nvPr/>
        </p:nvSpPr>
        <p:spPr>
          <a:xfrm>
            <a:off x="2191178" y="3257550"/>
            <a:ext cx="948500" cy="285750"/>
          </a:xfrm>
          <a:prstGeom prst="rect">
            <a:avLst/>
          </a:prstGeom>
          <a:noFill/>
          <a:ln/>
        </p:spPr>
        <p:txBody>
          <a:bodyPr wrap="non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管理最小单位</a:t>
            </a:r>
            <a:endParaRPr lang="en-US" sz="750" dirty="0"/>
          </a:p>
        </p:txBody>
      </p:sp>
      <p:sp>
        <p:nvSpPr>
          <p:cNvPr id="25" name="Text 22"/>
          <p:cNvSpPr/>
          <p:nvPr/>
        </p:nvSpPr>
        <p:spPr>
          <a:xfrm>
            <a:off x="575072" y="3543300"/>
            <a:ext cx="1096008" cy="285750"/>
          </a:xfrm>
          <a:prstGeom prst="rect">
            <a:avLst/>
          </a:prstGeom>
          <a:noFill/>
          <a:ln/>
        </p:spPr>
        <p:txBody>
          <a:bodyPr wrap="non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Cell 总数</a:t>
            </a:r>
            <a:endParaRPr lang="en-US" sz="750" dirty="0"/>
          </a:p>
        </p:txBody>
      </p:sp>
      <p:sp>
        <p:nvSpPr>
          <p:cNvPr id="26" name="Text 23"/>
          <p:cNvSpPr/>
          <p:nvPr/>
        </p:nvSpPr>
        <p:spPr>
          <a:xfrm>
            <a:off x="1671079" y="3543300"/>
            <a:ext cx="520098" cy="285750"/>
          </a:xfrm>
          <a:prstGeom prst="rect">
            <a:avLst/>
          </a:prstGeom>
          <a:noFill/>
          <a:ln/>
        </p:spPr>
        <p:txBody>
          <a:bodyPr wrap="non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8192</a:t>
            </a:r>
            <a:endParaRPr lang="en-US" sz="750" dirty="0"/>
          </a:p>
        </p:txBody>
      </p:sp>
      <p:sp>
        <p:nvSpPr>
          <p:cNvPr id="27" name="Text 24"/>
          <p:cNvSpPr/>
          <p:nvPr/>
        </p:nvSpPr>
        <p:spPr>
          <a:xfrm>
            <a:off x="2191178" y="3543300"/>
            <a:ext cx="948500" cy="285750"/>
          </a:xfrm>
          <a:prstGeom prst="rect">
            <a:avLst/>
          </a:prstGeom>
          <a:noFill/>
          <a:ln/>
        </p:spPr>
        <p:txBody>
          <a:bodyPr wrap="non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2MB / 256B</a:t>
            </a:r>
            <a:endParaRPr lang="en-US" sz="750" dirty="0"/>
          </a:p>
        </p:txBody>
      </p:sp>
      <p:sp>
        <p:nvSpPr>
          <p:cNvPr id="28" name="Text 25"/>
          <p:cNvSpPr/>
          <p:nvPr/>
        </p:nvSpPr>
        <p:spPr>
          <a:xfrm>
            <a:off x="575072" y="3829050"/>
            <a:ext cx="1096008" cy="285750"/>
          </a:xfrm>
          <a:prstGeom prst="rect">
            <a:avLst/>
          </a:prstGeom>
          <a:noFill/>
          <a:ln/>
        </p:spPr>
        <p:txBody>
          <a:bodyPr wrap="non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地址位宽</a:t>
            </a:r>
            <a:endParaRPr lang="en-US" sz="750" dirty="0"/>
          </a:p>
        </p:txBody>
      </p:sp>
      <p:sp>
        <p:nvSpPr>
          <p:cNvPr id="29" name="Text 26"/>
          <p:cNvSpPr/>
          <p:nvPr/>
        </p:nvSpPr>
        <p:spPr>
          <a:xfrm>
            <a:off x="1671079" y="3829050"/>
            <a:ext cx="520098" cy="285750"/>
          </a:xfrm>
          <a:prstGeom prst="rect">
            <a:avLst/>
          </a:prstGeom>
          <a:noFill/>
          <a:ln/>
        </p:spPr>
        <p:txBody>
          <a:bodyPr wrap="non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13 bit</a:t>
            </a:r>
            <a:endParaRPr lang="en-US" sz="750" dirty="0"/>
          </a:p>
        </p:txBody>
      </p:sp>
      <p:sp>
        <p:nvSpPr>
          <p:cNvPr id="30" name="Text 27"/>
          <p:cNvSpPr/>
          <p:nvPr/>
        </p:nvSpPr>
        <p:spPr>
          <a:xfrm>
            <a:off x="2191178" y="3829050"/>
            <a:ext cx="948500" cy="285750"/>
          </a:xfrm>
          <a:prstGeom prst="rect">
            <a:avLst/>
          </a:prstGeom>
          <a:noFill/>
          <a:ln/>
        </p:spPr>
        <p:txBody>
          <a:bodyPr wrap="non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$clog2(8192)</a:t>
            </a:r>
            <a:endParaRPr lang="en-US" sz="750" dirty="0"/>
          </a:p>
        </p:txBody>
      </p:sp>
      <p:sp>
        <p:nvSpPr>
          <p:cNvPr id="31" name="Text 28"/>
          <p:cNvSpPr/>
          <p:nvPr/>
        </p:nvSpPr>
        <p:spPr>
          <a:xfrm>
            <a:off x="4750371" y="742950"/>
            <a:ext cx="2786509" cy="175022"/>
          </a:xfrm>
          <a:prstGeom prst="rect">
            <a:avLst/>
          </a:prstGeom>
          <a:noFill/>
          <a:ln/>
        </p:spPr>
        <p:txBody>
          <a:bodyPr wrap="square" lIns="0" tIns="0" rIns="0" bIns="0" rtlCol="0" anchor="t">
            <a:spAutoFit/>
          </a:bodyPr>
          <a:lstStyle/>
          <a:p>
            <a:pPr marL="0" indent="0" algn="l">
              <a:buNone/>
            </a:pPr>
            <a:r>
              <a:rPr lang="en-US" sz="900" b="1" dirty="0">
                <a:solidFill>
                  <a:srgbClr val="3253DC"/>
                </a:solidFill>
                <a:latin typeface="Arial" pitchFamily="34" charset="0"/>
                <a:ea typeface="Arial" pitchFamily="34" charset="-122"/>
                <a:cs typeface="Arial" pitchFamily="34" charset="-120"/>
              </a:rPr>
              <a:t>数据面 (Payload) vs 地址面 (Address) 拆分对比</a:t>
            </a:r>
            <a:endParaRPr lang="en-US" sz="900" dirty="0"/>
          </a:p>
        </p:txBody>
      </p:sp>
      <p:sp>
        <p:nvSpPr>
          <p:cNvPr id="32" name="Shape 29"/>
          <p:cNvSpPr/>
          <p:nvPr/>
        </p:nvSpPr>
        <p:spPr>
          <a:xfrm>
            <a:off x="3571875" y="1025128"/>
            <a:ext cx="5143500" cy="3429000"/>
          </a:xfrm>
          <a:prstGeom prst="rect">
            <a:avLst/>
          </a:prstGeom>
          <a:solidFill>
            <a:srgbClr val="FFFFFF"/>
          </a:solidFill>
          <a:ln/>
        </p:spPr>
        <p:txBody>
          <a:bodyPr/>
          <a:lstStyle/>
          <a:p>
            <a:endParaRPr lang="zh-CN" altLang="en-US"/>
          </a:p>
        </p:txBody>
      </p:sp>
      <p:pic>
        <p:nvPicPr>
          <p:cNvPr id="33" name="Image 1" descr="preencoded.png"/>
          <p:cNvPicPr>
            <a:picLocks noChangeAspect="1"/>
          </p:cNvPicPr>
          <p:nvPr/>
        </p:nvPicPr>
        <p:blipFill>
          <a:blip r:embed="rId4"/>
          <a:stretch>
            <a:fillRect/>
          </a:stretch>
        </p:blipFill>
        <p:spPr>
          <a:xfrm>
            <a:off x="3571875" y="1025128"/>
            <a:ext cx="5143500" cy="3429000"/>
          </a:xfrm>
          <a:prstGeom prst="rect">
            <a:avLst/>
          </a:prstGeom>
        </p:spPr>
      </p:pic>
      <p:sp>
        <p:nvSpPr>
          <p:cNvPr id="34" name="Text 30"/>
          <p:cNvSpPr/>
          <p:nvPr/>
        </p:nvSpPr>
        <p:spPr>
          <a:xfrm>
            <a:off x="4170945" y="4454128"/>
            <a:ext cx="3945303" cy="242888"/>
          </a:xfrm>
          <a:prstGeom prst="rect">
            <a:avLst/>
          </a:prstGeom>
          <a:noFill/>
          <a:ln/>
        </p:spPr>
        <p:txBody>
          <a:bodyPr wrap="square" lIns="0" tIns="127508" rIns="0" bIns="0" rtlCol="0" anchor="t">
            <a:spAutoFit/>
          </a:bodyPr>
          <a:lstStyle/>
          <a:p>
            <a:pPr marL="0" indent="0" algn="ctr">
              <a:buNone/>
            </a:pPr>
            <a:r>
              <a:rPr lang="en-US" sz="750" dirty="0">
                <a:solidFill>
                  <a:srgbClr val="6E6E7A"/>
                </a:solidFill>
                <a:latin typeface="Arial" pitchFamily="34" charset="0"/>
                <a:ea typeface="Arial" pitchFamily="34" charset="-122"/>
                <a:cs typeface="Arial" pitchFamily="34" charset="-120"/>
              </a:rPr>
              <a:t>数据由 QM/EPS 搬运，SMMU 仅负责 256B cell 地址（指针）的分配、回收与链表管理。</a:t>
            </a:r>
            <a:endParaRPr lang="en-US" sz="750" dirty="0"/>
          </a:p>
        </p:txBody>
      </p:sp>
      <p:sp>
        <p:nvSpPr>
          <p:cNvPr id="35" name="Text 31"/>
          <p:cNvSpPr/>
          <p:nvPr/>
        </p:nvSpPr>
        <p:spPr>
          <a:xfrm>
            <a:off x="428625" y="4879181"/>
            <a:ext cx="857473"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SMMU Design Review</a:t>
            </a:r>
            <a:endParaRPr lang="en-US" sz="600" dirty="0"/>
          </a:p>
        </p:txBody>
      </p:sp>
      <p:sp>
        <p:nvSpPr>
          <p:cNvPr id="36" name="Text 32"/>
          <p:cNvSpPr/>
          <p:nvPr/>
        </p:nvSpPr>
        <p:spPr>
          <a:xfrm>
            <a:off x="8395971" y="4879181"/>
            <a:ext cx="319404"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Page 03</a:t>
            </a:r>
            <a:endParaRPr lang="en-US" sz="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71500"/>
          </a:xfrm>
          <a:prstGeom prst="rect">
            <a:avLst/>
          </a:prstGeom>
          <a:solidFill>
            <a:srgbClr val="3253DC"/>
          </a:solidFill>
          <a:ln/>
        </p:spPr>
        <p:txBody>
          <a:bodyPr/>
          <a:lstStyle/>
          <a:p>
            <a:endParaRPr lang="zh-CN" altLang="en-US"/>
          </a:p>
        </p:txBody>
      </p:sp>
      <p:sp>
        <p:nvSpPr>
          <p:cNvPr id="4" name="Text 1"/>
          <p:cNvSpPr/>
          <p:nvPr/>
        </p:nvSpPr>
        <p:spPr>
          <a:xfrm>
            <a:off x="428625" y="130373"/>
            <a:ext cx="4267498" cy="310753"/>
          </a:xfrm>
          <a:prstGeom prst="rect">
            <a:avLst/>
          </a:prstGeom>
          <a:noFill/>
          <a:ln/>
        </p:spPr>
        <p:txBody>
          <a:bodyPr wrap="square" lIns="0" tIns="0" rIns="0" bIns="0" rtlCol="0" anchor="t">
            <a:spAutoFit/>
          </a:bodyPr>
          <a:lstStyle/>
          <a:p>
            <a:pPr marL="0" indent="0" algn="l">
              <a:buNone/>
            </a:pPr>
            <a:r>
              <a:rPr lang="en-US" sz="1600" b="1" dirty="0">
                <a:solidFill>
                  <a:srgbClr val="FFFFFF"/>
                </a:solidFill>
                <a:latin typeface="Arial" pitchFamily="34" charset="0"/>
                <a:ea typeface="Arial" pitchFamily="34" charset="-122"/>
                <a:cs typeface="Arial" pitchFamily="34" charset="-120"/>
              </a:rPr>
              <a:t>核心设计约束 (Core Design Constraints)</a:t>
            </a:r>
            <a:endParaRPr lang="en-US" sz="1600" dirty="0"/>
          </a:p>
        </p:txBody>
      </p:sp>
      <p:sp>
        <p:nvSpPr>
          <p:cNvPr id="5" name="Shape 2"/>
          <p:cNvSpPr/>
          <p:nvPr/>
        </p:nvSpPr>
        <p:spPr>
          <a:xfrm>
            <a:off x="428625" y="857250"/>
            <a:ext cx="2619356" cy="1678781"/>
          </a:xfrm>
          <a:prstGeom prst="rect">
            <a:avLst/>
          </a:prstGeom>
          <a:solidFill>
            <a:srgbClr val="FFFFFF"/>
          </a:solidFill>
          <a:ln/>
        </p:spPr>
        <p:txBody>
          <a:bodyPr/>
          <a:lstStyle/>
          <a:p>
            <a:endParaRPr lang="zh-CN" altLang="en-US"/>
          </a:p>
        </p:txBody>
      </p:sp>
      <p:sp>
        <p:nvSpPr>
          <p:cNvPr id="6" name="Shape 3"/>
          <p:cNvSpPr/>
          <p:nvPr/>
        </p:nvSpPr>
        <p:spPr>
          <a:xfrm>
            <a:off x="428625" y="857250"/>
            <a:ext cx="28575" cy="1678781"/>
          </a:xfrm>
          <a:prstGeom prst="rect">
            <a:avLst/>
          </a:prstGeom>
          <a:solidFill>
            <a:srgbClr val="6CA0F6"/>
          </a:solidFill>
          <a:ln/>
        </p:spPr>
        <p:txBody>
          <a:bodyPr/>
          <a:lstStyle/>
          <a:p>
            <a:endParaRPr lang="zh-CN" altLang="en-US"/>
          </a:p>
        </p:txBody>
      </p:sp>
      <p:pic>
        <p:nvPicPr>
          <p:cNvPr id="7" name="Image 1" descr="preencoded.png"/>
          <p:cNvPicPr>
            <a:picLocks noChangeAspect="1"/>
          </p:cNvPicPr>
          <p:nvPr/>
        </p:nvPicPr>
        <p:blipFill>
          <a:blip r:embed="rId4"/>
          <a:stretch>
            <a:fillRect/>
          </a:stretch>
        </p:blipFill>
        <p:spPr>
          <a:xfrm>
            <a:off x="607219" y="1035844"/>
            <a:ext cx="2262169" cy="171450"/>
          </a:xfrm>
          <a:prstGeom prst="rect">
            <a:avLst/>
          </a:prstGeom>
        </p:spPr>
      </p:pic>
      <p:sp>
        <p:nvSpPr>
          <p:cNvPr id="8" name="Text 4"/>
          <p:cNvSpPr/>
          <p:nvPr/>
        </p:nvSpPr>
        <p:spPr>
          <a:xfrm>
            <a:off x="607219" y="1314450"/>
            <a:ext cx="2262169" cy="175022"/>
          </a:xfrm>
          <a:prstGeom prst="rect">
            <a:avLst/>
          </a:prstGeom>
          <a:noFill/>
          <a:ln/>
        </p:spPr>
        <p:txBody>
          <a:bodyPr wrap="square" lIns="0" tIns="0" rIns="0" bIns="0" rtlCol="0" anchor="t">
            <a:spAutoFit/>
          </a:bodyPr>
          <a:lstStyle/>
          <a:p>
            <a:pPr marL="0" indent="0" algn="l">
              <a:buNone/>
            </a:pPr>
            <a:r>
              <a:rPr lang="en-US" sz="900" b="1" dirty="0">
                <a:solidFill>
                  <a:srgbClr val="3253DC"/>
                </a:solidFill>
                <a:latin typeface="Arial" pitchFamily="34" charset="0"/>
                <a:ea typeface="Arial" pitchFamily="34" charset="-122"/>
                <a:cs typeface="Arial" pitchFamily="34" charset="-120"/>
              </a:rPr>
              <a:t>1. 极致性能</a:t>
            </a:r>
            <a:endParaRPr lang="en-US" sz="900" dirty="0"/>
          </a:p>
        </p:txBody>
      </p:sp>
      <p:sp>
        <p:nvSpPr>
          <p:cNvPr id="9" name="Text 5"/>
          <p:cNvSpPr/>
          <p:nvPr/>
        </p:nvSpPr>
        <p:spPr>
          <a:xfrm>
            <a:off x="607219" y="1560909"/>
            <a:ext cx="2262169" cy="300038"/>
          </a:xfrm>
          <a:prstGeom prst="rect">
            <a:avLst/>
          </a:prstGeom>
          <a:noFill/>
          <a:ln/>
        </p:spPr>
        <p:txBody>
          <a:bodyPr wrap="square" lIns="0" tIns="0" rIns="0" bIns="0" rtlCol="0" anchor="t">
            <a:spAutoFit/>
          </a:bodyPr>
          <a:lstStyle/>
          <a:p>
            <a:pPr marL="0" indent="0" algn="l">
              <a:lnSpc>
                <a:spcPct val="120000"/>
              </a:lnSpc>
              <a:buNone/>
            </a:pPr>
            <a:r>
              <a:rPr lang="en-US" sz="750" dirty="0">
                <a:solidFill>
                  <a:srgbClr val="2E2E38"/>
                </a:solidFill>
                <a:latin typeface="Arial" pitchFamily="34" charset="0"/>
                <a:ea typeface="Arial" pitchFamily="34" charset="-122"/>
                <a:cs typeface="Arial" pitchFamily="34" charset="-120"/>
              </a:rPr>
              <a:t>入队 / 出队严格 </a:t>
            </a:r>
            <a:r>
              <a:rPr lang="en-US" sz="700" b="1" dirty="0">
                <a:solidFill>
                  <a:srgbClr val="2E2E38"/>
                </a:solidFill>
                <a:latin typeface="Arial" pitchFamily="34" charset="0"/>
                <a:ea typeface="Arial" pitchFamily="34" charset="-122"/>
                <a:cs typeface="Arial" pitchFamily="34" charset="-120"/>
              </a:rPr>
              <a:t>1 拍</a:t>
            </a:r>
            <a:r>
              <a:rPr lang="en-US" sz="750" dirty="0">
                <a:solidFill>
                  <a:srgbClr val="2E2E38"/>
                </a:solidFill>
                <a:latin typeface="Arial" pitchFamily="34" charset="0"/>
                <a:ea typeface="Arial" pitchFamily="34" charset="-122"/>
                <a:cs typeface="Arial" pitchFamily="34" charset="-120"/>
              </a:rPr>
              <a:t>完成 (T0 收请求，T1 返回结果)。支持背靠背 1 cell/cycle 满吞吐。</a:t>
            </a:r>
            <a:endParaRPr lang="en-US" sz="750" dirty="0"/>
          </a:p>
        </p:txBody>
      </p:sp>
      <p:sp>
        <p:nvSpPr>
          <p:cNvPr id="10" name="Shape 6"/>
          <p:cNvSpPr/>
          <p:nvPr/>
        </p:nvSpPr>
        <p:spPr>
          <a:xfrm>
            <a:off x="3262294" y="857250"/>
            <a:ext cx="2619356" cy="1678781"/>
          </a:xfrm>
          <a:prstGeom prst="rect">
            <a:avLst/>
          </a:prstGeom>
          <a:solidFill>
            <a:srgbClr val="FFFFFF"/>
          </a:solidFill>
          <a:ln/>
        </p:spPr>
        <p:txBody>
          <a:bodyPr/>
          <a:lstStyle/>
          <a:p>
            <a:endParaRPr lang="zh-CN" altLang="en-US"/>
          </a:p>
        </p:txBody>
      </p:sp>
      <p:sp>
        <p:nvSpPr>
          <p:cNvPr id="11" name="Shape 7"/>
          <p:cNvSpPr/>
          <p:nvPr/>
        </p:nvSpPr>
        <p:spPr>
          <a:xfrm>
            <a:off x="3262294" y="857250"/>
            <a:ext cx="28575" cy="1678781"/>
          </a:xfrm>
          <a:prstGeom prst="rect">
            <a:avLst/>
          </a:prstGeom>
          <a:solidFill>
            <a:srgbClr val="6CA0F6"/>
          </a:solidFill>
          <a:ln/>
        </p:spPr>
        <p:txBody>
          <a:bodyPr/>
          <a:lstStyle/>
          <a:p>
            <a:endParaRPr lang="zh-CN" altLang="en-US"/>
          </a:p>
        </p:txBody>
      </p:sp>
      <p:pic>
        <p:nvPicPr>
          <p:cNvPr id="12" name="Image 2" descr="preencoded.png"/>
          <p:cNvPicPr>
            <a:picLocks noChangeAspect="1"/>
          </p:cNvPicPr>
          <p:nvPr/>
        </p:nvPicPr>
        <p:blipFill>
          <a:blip r:embed="rId5"/>
          <a:stretch>
            <a:fillRect/>
          </a:stretch>
        </p:blipFill>
        <p:spPr>
          <a:xfrm>
            <a:off x="3440888" y="1035844"/>
            <a:ext cx="2262169" cy="171450"/>
          </a:xfrm>
          <a:prstGeom prst="rect">
            <a:avLst/>
          </a:prstGeom>
        </p:spPr>
      </p:pic>
      <p:sp>
        <p:nvSpPr>
          <p:cNvPr id="13" name="Text 8"/>
          <p:cNvSpPr/>
          <p:nvPr/>
        </p:nvSpPr>
        <p:spPr>
          <a:xfrm>
            <a:off x="3440888" y="1314450"/>
            <a:ext cx="2262169" cy="175022"/>
          </a:xfrm>
          <a:prstGeom prst="rect">
            <a:avLst/>
          </a:prstGeom>
          <a:noFill/>
          <a:ln/>
        </p:spPr>
        <p:txBody>
          <a:bodyPr wrap="square" lIns="0" tIns="0" rIns="0" bIns="0" rtlCol="0" anchor="t">
            <a:spAutoFit/>
          </a:bodyPr>
          <a:lstStyle/>
          <a:p>
            <a:pPr marL="0" indent="0" algn="l">
              <a:buNone/>
            </a:pPr>
            <a:r>
              <a:rPr lang="en-US" sz="900" b="1" dirty="0">
                <a:solidFill>
                  <a:srgbClr val="3253DC"/>
                </a:solidFill>
                <a:latin typeface="Arial" pitchFamily="34" charset="0"/>
                <a:ea typeface="Arial" pitchFamily="34" charset="-122"/>
                <a:cs typeface="Arial" pitchFamily="34" charset="-120"/>
              </a:rPr>
              <a:t>2. 单/组播支持</a:t>
            </a:r>
            <a:endParaRPr lang="en-US" sz="900" dirty="0"/>
          </a:p>
        </p:txBody>
      </p:sp>
      <p:sp>
        <p:nvSpPr>
          <p:cNvPr id="14" name="Text 9"/>
          <p:cNvSpPr/>
          <p:nvPr/>
        </p:nvSpPr>
        <p:spPr>
          <a:xfrm>
            <a:off x="3440888" y="1560909"/>
            <a:ext cx="2262169" cy="300038"/>
          </a:xfrm>
          <a:prstGeom prst="rect">
            <a:avLst/>
          </a:prstGeom>
          <a:noFill/>
          <a:ln/>
        </p:spPr>
        <p:txBody>
          <a:bodyPr wrap="square" lIns="0" tIns="0" rIns="0" bIns="0" rtlCol="0" anchor="t">
            <a:spAutoFit/>
          </a:bodyPr>
          <a:lstStyle/>
          <a:p>
            <a:pPr marL="0" indent="0" algn="l">
              <a:lnSpc>
                <a:spcPct val="120000"/>
              </a:lnSpc>
              <a:buNone/>
            </a:pPr>
            <a:r>
              <a:rPr lang="en-US" sz="750" dirty="0">
                <a:solidFill>
                  <a:srgbClr val="2E2E38"/>
                </a:solidFill>
                <a:latin typeface="Arial" pitchFamily="34" charset="0"/>
                <a:ea typeface="Arial" pitchFamily="34" charset="-122"/>
                <a:cs typeface="Arial" pitchFamily="34" charset="-120"/>
              </a:rPr>
              <a:t>同时覆盖单播与组播。组播采用“一份数据多端口共享”模式，基于引用计数 (Ref-count) 自动回收。</a:t>
            </a:r>
            <a:endParaRPr lang="en-US" sz="750" dirty="0"/>
          </a:p>
        </p:txBody>
      </p:sp>
      <p:sp>
        <p:nvSpPr>
          <p:cNvPr id="15" name="Shape 10"/>
          <p:cNvSpPr/>
          <p:nvPr/>
        </p:nvSpPr>
        <p:spPr>
          <a:xfrm>
            <a:off x="6095963" y="857250"/>
            <a:ext cx="2619356" cy="1678781"/>
          </a:xfrm>
          <a:prstGeom prst="rect">
            <a:avLst/>
          </a:prstGeom>
          <a:solidFill>
            <a:srgbClr val="FFFFFF"/>
          </a:solidFill>
          <a:ln/>
        </p:spPr>
        <p:txBody>
          <a:bodyPr/>
          <a:lstStyle/>
          <a:p>
            <a:endParaRPr lang="zh-CN" altLang="en-US"/>
          </a:p>
        </p:txBody>
      </p:sp>
      <p:sp>
        <p:nvSpPr>
          <p:cNvPr id="16" name="Shape 11"/>
          <p:cNvSpPr/>
          <p:nvPr/>
        </p:nvSpPr>
        <p:spPr>
          <a:xfrm>
            <a:off x="6095963" y="857250"/>
            <a:ext cx="28575" cy="1678781"/>
          </a:xfrm>
          <a:prstGeom prst="rect">
            <a:avLst/>
          </a:prstGeom>
          <a:solidFill>
            <a:srgbClr val="6CA0F6"/>
          </a:solidFill>
          <a:ln/>
        </p:spPr>
        <p:txBody>
          <a:bodyPr/>
          <a:lstStyle/>
          <a:p>
            <a:endParaRPr lang="zh-CN" altLang="en-US"/>
          </a:p>
        </p:txBody>
      </p:sp>
      <p:pic>
        <p:nvPicPr>
          <p:cNvPr id="17" name="Image 3" descr="preencoded.png"/>
          <p:cNvPicPr>
            <a:picLocks noChangeAspect="1"/>
          </p:cNvPicPr>
          <p:nvPr/>
        </p:nvPicPr>
        <p:blipFill>
          <a:blip r:embed="rId6"/>
          <a:stretch>
            <a:fillRect/>
          </a:stretch>
        </p:blipFill>
        <p:spPr>
          <a:xfrm>
            <a:off x="6274557" y="1035844"/>
            <a:ext cx="2262169" cy="171450"/>
          </a:xfrm>
          <a:prstGeom prst="rect">
            <a:avLst/>
          </a:prstGeom>
        </p:spPr>
      </p:pic>
      <p:sp>
        <p:nvSpPr>
          <p:cNvPr id="18" name="Text 12"/>
          <p:cNvSpPr/>
          <p:nvPr/>
        </p:nvSpPr>
        <p:spPr>
          <a:xfrm>
            <a:off x="6274557" y="1314450"/>
            <a:ext cx="2262169" cy="175022"/>
          </a:xfrm>
          <a:prstGeom prst="rect">
            <a:avLst/>
          </a:prstGeom>
          <a:noFill/>
          <a:ln/>
        </p:spPr>
        <p:txBody>
          <a:bodyPr wrap="square" lIns="0" tIns="0" rIns="0" bIns="0" rtlCol="0" anchor="t">
            <a:spAutoFit/>
          </a:bodyPr>
          <a:lstStyle/>
          <a:p>
            <a:pPr marL="0" indent="0" algn="l">
              <a:buNone/>
            </a:pPr>
            <a:r>
              <a:rPr lang="en-US" sz="900" b="1" dirty="0">
                <a:solidFill>
                  <a:srgbClr val="3253DC"/>
                </a:solidFill>
                <a:latin typeface="Arial" pitchFamily="34" charset="0"/>
                <a:ea typeface="Arial" pitchFamily="34" charset="-122"/>
                <a:cs typeface="Arial" pitchFamily="34" charset="-120"/>
              </a:rPr>
              <a:t>3. 流量控制</a:t>
            </a:r>
            <a:endParaRPr lang="en-US" sz="900" dirty="0"/>
          </a:p>
        </p:txBody>
      </p:sp>
      <p:sp>
        <p:nvSpPr>
          <p:cNvPr id="19" name="Text 13"/>
          <p:cNvSpPr/>
          <p:nvPr/>
        </p:nvSpPr>
        <p:spPr>
          <a:xfrm>
            <a:off x="6274557" y="1560909"/>
            <a:ext cx="2262169" cy="300038"/>
          </a:xfrm>
          <a:prstGeom prst="rect">
            <a:avLst/>
          </a:prstGeom>
          <a:noFill/>
          <a:ln/>
        </p:spPr>
        <p:txBody>
          <a:bodyPr wrap="square" lIns="0" tIns="0" rIns="0" bIns="0" rtlCol="0" anchor="t">
            <a:spAutoFit/>
          </a:bodyPr>
          <a:lstStyle/>
          <a:p>
            <a:pPr marL="0" indent="0" algn="l">
              <a:lnSpc>
                <a:spcPct val="120000"/>
              </a:lnSpc>
              <a:buNone/>
            </a:pPr>
            <a:r>
              <a:rPr lang="en-US" sz="750" dirty="0">
                <a:solidFill>
                  <a:srgbClr val="2E2E38"/>
                </a:solidFill>
                <a:latin typeface="Arial" pitchFamily="34" charset="0"/>
                <a:ea typeface="Arial" pitchFamily="34" charset="-122"/>
                <a:cs typeface="Arial" pitchFamily="34" charset="-120"/>
              </a:rPr>
              <a:t>支持 PAUSE (802.3x) 与 PFC (802.1Qbb)。提供每队列/端口/全局的 max/near_full 反馈做入队门控。</a:t>
            </a:r>
            <a:endParaRPr lang="en-US" sz="750" dirty="0"/>
          </a:p>
        </p:txBody>
      </p:sp>
      <p:sp>
        <p:nvSpPr>
          <p:cNvPr id="20" name="Shape 14"/>
          <p:cNvSpPr/>
          <p:nvPr/>
        </p:nvSpPr>
        <p:spPr>
          <a:xfrm>
            <a:off x="428625" y="2750344"/>
            <a:ext cx="2619356" cy="1678781"/>
          </a:xfrm>
          <a:prstGeom prst="rect">
            <a:avLst/>
          </a:prstGeom>
          <a:solidFill>
            <a:srgbClr val="FFFFFF"/>
          </a:solidFill>
          <a:ln/>
        </p:spPr>
        <p:txBody>
          <a:bodyPr/>
          <a:lstStyle/>
          <a:p>
            <a:endParaRPr lang="zh-CN" altLang="en-US"/>
          </a:p>
        </p:txBody>
      </p:sp>
      <p:sp>
        <p:nvSpPr>
          <p:cNvPr id="21" name="Shape 15"/>
          <p:cNvSpPr/>
          <p:nvPr/>
        </p:nvSpPr>
        <p:spPr>
          <a:xfrm>
            <a:off x="428625" y="2750344"/>
            <a:ext cx="28575" cy="1678781"/>
          </a:xfrm>
          <a:prstGeom prst="rect">
            <a:avLst/>
          </a:prstGeom>
          <a:solidFill>
            <a:srgbClr val="6CA0F6"/>
          </a:solidFill>
          <a:ln/>
        </p:spPr>
        <p:txBody>
          <a:bodyPr/>
          <a:lstStyle/>
          <a:p>
            <a:endParaRPr lang="zh-CN" altLang="en-US"/>
          </a:p>
        </p:txBody>
      </p:sp>
      <p:pic>
        <p:nvPicPr>
          <p:cNvPr id="22" name="Image 4" descr="preencoded.png"/>
          <p:cNvPicPr>
            <a:picLocks noChangeAspect="1"/>
          </p:cNvPicPr>
          <p:nvPr/>
        </p:nvPicPr>
        <p:blipFill>
          <a:blip r:embed="rId7"/>
          <a:stretch>
            <a:fillRect/>
          </a:stretch>
        </p:blipFill>
        <p:spPr>
          <a:xfrm>
            <a:off x="607219" y="2928938"/>
            <a:ext cx="2262169" cy="171450"/>
          </a:xfrm>
          <a:prstGeom prst="rect">
            <a:avLst/>
          </a:prstGeom>
        </p:spPr>
      </p:pic>
      <p:sp>
        <p:nvSpPr>
          <p:cNvPr id="23" name="Text 16"/>
          <p:cNvSpPr/>
          <p:nvPr/>
        </p:nvSpPr>
        <p:spPr>
          <a:xfrm>
            <a:off x="607219" y="3207544"/>
            <a:ext cx="2262169" cy="175022"/>
          </a:xfrm>
          <a:prstGeom prst="rect">
            <a:avLst/>
          </a:prstGeom>
          <a:noFill/>
          <a:ln/>
        </p:spPr>
        <p:txBody>
          <a:bodyPr wrap="square" lIns="0" tIns="0" rIns="0" bIns="0" rtlCol="0" anchor="t">
            <a:spAutoFit/>
          </a:bodyPr>
          <a:lstStyle/>
          <a:p>
            <a:pPr marL="0" indent="0" algn="l">
              <a:buNone/>
            </a:pPr>
            <a:r>
              <a:rPr lang="en-US" sz="900" b="1" dirty="0">
                <a:solidFill>
                  <a:srgbClr val="3253DC"/>
                </a:solidFill>
                <a:latin typeface="Arial" pitchFamily="34" charset="0"/>
                <a:ea typeface="Arial" pitchFamily="34" charset="-122"/>
                <a:cs typeface="Arial" pitchFamily="34" charset="-120"/>
              </a:rPr>
              <a:t>4. 存储优化</a:t>
            </a:r>
            <a:endParaRPr lang="en-US" sz="900" dirty="0"/>
          </a:p>
        </p:txBody>
      </p:sp>
      <p:sp>
        <p:nvSpPr>
          <p:cNvPr id="24" name="Text 17"/>
          <p:cNvSpPr/>
          <p:nvPr/>
        </p:nvSpPr>
        <p:spPr>
          <a:xfrm>
            <a:off x="607219" y="3454003"/>
            <a:ext cx="2262169" cy="300038"/>
          </a:xfrm>
          <a:prstGeom prst="rect">
            <a:avLst/>
          </a:prstGeom>
          <a:noFill/>
          <a:ln/>
        </p:spPr>
        <p:txBody>
          <a:bodyPr wrap="square" lIns="0" tIns="0" rIns="0" bIns="0" rtlCol="0" anchor="t">
            <a:spAutoFit/>
          </a:bodyPr>
          <a:lstStyle/>
          <a:p>
            <a:pPr marL="0" indent="0" algn="l">
              <a:lnSpc>
                <a:spcPct val="120000"/>
              </a:lnSpc>
              <a:buNone/>
            </a:pPr>
            <a:r>
              <a:rPr lang="en-US" sz="750" dirty="0">
                <a:solidFill>
                  <a:srgbClr val="2E2E38"/>
                </a:solidFill>
                <a:latin typeface="Arial" pitchFamily="34" charset="0"/>
                <a:ea typeface="Arial" pitchFamily="34" charset="-122"/>
                <a:cs typeface="Arial" pitchFamily="34" charset="-120"/>
              </a:rPr>
              <a:t>链表指针存于 Next-Ptr SRAM。采用</a:t>
            </a:r>
            <a:r>
              <a:rPr lang="en-US" sz="700" b="1" dirty="0">
                <a:solidFill>
                  <a:srgbClr val="2E2E38"/>
                </a:solidFill>
                <a:latin typeface="Arial" pitchFamily="34" charset="0"/>
                <a:ea typeface="Arial" pitchFamily="34" charset="-122"/>
                <a:cs typeface="Arial" pitchFamily="34" charset="-120"/>
              </a:rPr>
              <a:t>两级预取寄存器</a:t>
            </a:r>
            <a:r>
              <a:rPr lang="en-US" sz="750" dirty="0">
                <a:solidFill>
                  <a:srgbClr val="2E2E38"/>
                </a:solidFill>
                <a:latin typeface="Arial" pitchFamily="34" charset="0"/>
                <a:ea typeface="Arial" pitchFamily="34" charset="-122"/>
                <a:cs typeface="Arial" pitchFamily="34" charset="-120"/>
              </a:rPr>
              <a:t>吸收 1 拍读延迟，确保流水线不停顿。</a:t>
            </a:r>
            <a:endParaRPr lang="en-US" sz="750" dirty="0"/>
          </a:p>
        </p:txBody>
      </p:sp>
      <p:sp>
        <p:nvSpPr>
          <p:cNvPr id="25" name="Shape 18"/>
          <p:cNvSpPr/>
          <p:nvPr/>
        </p:nvSpPr>
        <p:spPr>
          <a:xfrm>
            <a:off x="3262294" y="2750344"/>
            <a:ext cx="2619356" cy="1678781"/>
          </a:xfrm>
          <a:prstGeom prst="rect">
            <a:avLst/>
          </a:prstGeom>
          <a:solidFill>
            <a:srgbClr val="FFFFFF"/>
          </a:solidFill>
          <a:ln/>
        </p:spPr>
        <p:txBody>
          <a:bodyPr/>
          <a:lstStyle/>
          <a:p>
            <a:endParaRPr lang="zh-CN" altLang="en-US"/>
          </a:p>
        </p:txBody>
      </p:sp>
      <p:sp>
        <p:nvSpPr>
          <p:cNvPr id="26" name="Shape 19"/>
          <p:cNvSpPr/>
          <p:nvPr/>
        </p:nvSpPr>
        <p:spPr>
          <a:xfrm>
            <a:off x="3262294" y="2750344"/>
            <a:ext cx="28575" cy="1678781"/>
          </a:xfrm>
          <a:prstGeom prst="rect">
            <a:avLst/>
          </a:prstGeom>
          <a:solidFill>
            <a:srgbClr val="6CA0F6"/>
          </a:solidFill>
          <a:ln/>
        </p:spPr>
        <p:txBody>
          <a:bodyPr/>
          <a:lstStyle/>
          <a:p>
            <a:endParaRPr lang="zh-CN" altLang="en-US"/>
          </a:p>
        </p:txBody>
      </p:sp>
      <p:pic>
        <p:nvPicPr>
          <p:cNvPr id="27" name="Image 5" descr="preencoded.png"/>
          <p:cNvPicPr>
            <a:picLocks noChangeAspect="1"/>
          </p:cNvPicPr>
          <p:nvPr/>
        </p:nvPicPr>
        <p:blipFill>
          <a:blip r:embed="rId8"/>
          <a:stretch>
            <a:fillRect/>
          </a:stretch>
        </p:blipFill>
        <p:spPr>
          <a:xfrm>
            <a:off x="3440888" y="2928938"/>
            <a:ext cx="2262169" cy="171450"/>
          </a:xfrm>
          <a:prstGeom prst="rect">
            <a:avLst/>
          </a:prstGeom>
        </p:spPr>
      </p:pic>
      <p:sp>
        <p:nvSpPr>
          <p:cNvPr id="28" name="Text 20"/>
          <p:cNvSpPr/>
          <p:nvPr/>
        </p:nvSpPr>
        <p:spPr>
          <a:xfrm>
            <a:off x="3440888" y="3207544"/>
            <a:ext cx="2262169" cy="175022"/>
          </a:xfrm>
          <a:prstGeom prst="rect">
            <a:avLst/>
          </a:prstGeom>
          <a:noFill/>
          <a:ln/>
        </p:spPr>
        <p:txBody>
          <a:bodyPr wrap="square" lIns="0" tIns="0" rIns="0" bIns="0" rtlCol="0" anchor="t">
            <a:spAutoFit/>
          </a:bodyPr>
          <a:lstStyle/>
          <a:p>
            <a:pPr marL="0" indent="0" algn="l">
              <a:buNone/>
            </a:pPr>
            <a:r>
              <a:rPr lang="en-US" sz="900" b="1" dirty="0">
                <a:solidFill>
                  <a:srgbClr val="3253DC"/>
                </a:solidFill>
                <a:latin typeface="Arial" pitchFamily="34" charset="0"/>
                <a:ea typeface="Arial" pitchFamily="34" charset="-122"/>
                <a:cs typeface="Arial" pitchFamily="34" charset="-120"/>
              </a:rPr>
              <a:t>5. 缓存双池</a:t>
            </a:r>
            <a:endParaRPr lang="en-US" sz="900" dirty="0"/>
          </a:p>
        </p:txBody>
      </p:sp>
      <p:sp>
        <p:nvSpPr>
          <p:cNvPr id="29" name="Text 21"/>
          <p:cNvSpPr/>
          <p:nvPr/>
        </p:nvSpPr>
        <p:spPr>
          <a:xfrm>
            <a:off x="3440888" y="3454003"/>
            <a:ext cx="2262169" cy="300038"/>
          </a:xfrm>
          <a:prstGeom prst="rect">
            <a:avLst/>
          </a:prstGeom>
          <a:noFill/>
          <a:ln/>
        </p:spPr>
        <p:txBody>
          <a:bodyPr wrap="square" lIns="0" tIns="0" rIns="0" bIns="0" rtlCol="0" anchor="t">
            <a:spAutoFit/>
          </a:bodyPr>
          <a:lstStyle/>
          <a:p>
            <a:pPr marL="0" indent="0" algn="l">
              <a:lnSpc>
                <a:spcPct val="120000"/>
              </a:lnSpc>
              <a:buNone/>
            </a:pPr>
            <a:r>
              <a:rPr lang="en-US" sz="750" dirty="0">
                <a:solidFill>
                  <a:srgbClr val="2E2E38"/>
                </a:solidFill>
                <a:latin typeface="Arial" pitchFamily="34" charset="0"/>
                <a:ea typeface="Arial" pitchFamily="34" charset="-122"/>
                <a:cs typeface="Arial" pitchFamily="34" charset="-120"/>
              </a:rPr>
              <a:t>采用</a:t>
            </a:r>
            <a:r>
              <a:rPr lang="en-US" sz="700" b="1" dirty="0">
                <a:solidFill>
                  <a:srgbClr val="2E2E38"/>
                </a:solidFill>
                <a:latin typeface="Arial" pitchFamily="34" charset="0"/>
                <a:ea typeface="Arial" pitchFamily="34" charset="-122"/>
                <a:cs typeface="Arial" pitchFamily="34" charset="-120"/>
              </a:rPr>
              <a:t>静态预留池</a:t>
            </a:r>
            <a:r>
              <a:rPr lang="en-US" sz="750" dirty="0">
                <a:solidFill>
                  <a:srgbClr val="2E2E38"/>
                </a:solidFill>
                <a:latin typeface="Arial" pitchFamily="34" charset="0"/>
                <a:ea typeface="Arial" pitchFamily="34" charset="-122"/>
                <a:cs typeface="Arial" pitchFamily="34" charset="-120"/>
              </a:rPr>
              <a:t> (每队列保底) + </a:t>
            </a:r>
            <a:r>
              <a:rPr lang="en-US" sz="700" b="1" dirty="0">
                <a:solidFill>
                  <a:srgbClr val="2E2E38"/>
                </a:solidFill>
                <a:latin typeface="Arial" pitchFamily="34" charset="0"/>
                <a:ea typeface="Arial" pitchFamily="34" charset="-122"/>
                <a:cs typeface="Arial" pitchFamily="34" charset="-120"/>
              </a:rPr>
              <a:t>动态共享池</a:t>
            </a:r>
            <a:r>
              <a:rPr lang="en-US" sz="750" dirty="0">
                <a:solidFill>
                  <a:srgbClr val="2E2E38"/>
                </a:solidFill>
                <a:latin typeface="Arial" pitchFamily="34" charset="0"/>
                <a:ea typeface="Arial" pitchFamily="34" charset="-122"/>
                <a:cs typeface="Arial" pitchFamily="34" charset="-120"/>
              </a:rPr>
              <a:t>架构，兼顾 QoS 公平性与缓存利用率。</a:t>
            </a:r>
            <a:endParaRPr lang="en-US" sz="750" dirty="0"/>
          </a:p>
        </p:txBody>
      </p:sp>
      <p:sp>
        <p:nvSpPr>
          <p:cNvPr id="30" name="Shape 22"/>
          <p:cNvSpPr/>
          <p:nvPr/>
        </p:nvSpPr>
        <p:spPr>
          <a:xfrm>
            <a:off x="6095963" y="2750344"/>
            <a:ext cx="2619356" cy="1678781"/>
          </a:xfrm>
          <a:prstGeom prst="rect">
            <a:avLst/>
          </a:prstGeom>
          <a:solidFill>
            <a:srgbClr val="FFFFFF"/>
          </a:solidFill>
          <a:ln/>
        </p:spPr>
        <p:txBody>
          <a:bodyPr/>
          <a:lstStyle/>
          <a:p>
            <a:endParaRPr lang="zh-CN" altLang="en-US"/>
          </a:p>
        </p:txBody>
      </p:sp>
      <p:sp>
        <p:nvSpPr>
          <p:cNvPr id="31" name="Shape 23"/>
          <p:cNvSpPr/>
          <p:nvPr/>
        </p:nvSpPr>
        <p:spPr>
          <a:xfrm>
            <a:off x="6095963" y="2750344"/>
            <a:ext cx="28575" cy="1678781"/>
          </a:xfrm>
          <a:prstGeom prst="rect">
            <a:avLst/>
          </a:prstGeom>
          <a:solidFill>
            <a:srgbClr val="6CA0F6"/>
          </a:solidFill>
          <a:ln/>
        </p:spPr>
        <p:txBody>
          <a:bodyPr/>
          <a:lstStyle/>
          <a:p>
            <a:endParaRPr lang="zh-CN" altLang="en-US"/>
          </a:p>
        </p:txBody>
      </p:sp>
      <p:pic>
        <p:nvPicPr>
          <p:cNvPr id="32" name="Image 6" descr="preencoded.png"/>
          <p:cNvPicPr>
            <a:picLocks noChangeAspect="1"/>
          </p:cNvPicPr>
          <p:nvPr/>
        </p:nvPicPr>
        <p:blipFill>
          <a:blip r:embed="rId9"/>
          <a:stretch>
            <a:fillRect/>
          </a:stretch>
        </p:blipFill>
        <p:spPr>
          <a:xfrm>
            <a:off x="6274557" y="2928938"/>
            <a:ext cx="2262169" cy="171450"/>
          </a:xfrm>
          <a:prstGeom prst="rect">
            <a:avLst/>
          </a:prstGeom>
        </p:spPr>
      </p:pic>
      <p:sp>
        <p:nvSpPr>
          <p:cNvPr id="33" name="Text 24"/>
          <p:cNvSpPr/>
          <p:nvPr/>
        </p:nvSpPr>
        <p:spPr>
          <a:xfrm>
            <a:off x="6274557" y="3207544"/>
            <a:ext cx="2262169" cy="175022"/>
          </a:xfrm>
          <a:prstGeom prst="rect">
            <a:avLst/>
          </a:prstGeom>
          <a:noFill/>
          <a:ln/>
        </p:spPr>
        <p:txBody>
          <a:bodyPr wrap="square" lIns="0" tIns="0" rIns="0" bIns="0" rtlCol="0" anchor="t">
            <a:spAutoFit/>
          </a:bodyPr>
          <a:lstStyle/>
          <a:p>
            <a:pPr marL="0" indent="0" algn="l">
              <a:buNone/>
            </a:pPr>
            <a:r>
              <a:rPr lang="en-US" sz="900" b="1" dirty="0">
                <a:solidFill>
                  <a:srgbClr val="3253DC"/>
                </a:solidFill>
                <a:latin typeface="Arial" pitchFamily="34" charset="0"/>
                <a:ea typeface="Arial" pitchFamily="34" charset="-122"/>
                <a:cs typeface="Arial" pitchFamily="34" charset="-120"/>
              </a:rPr>
              <a:t>6. 配置平面</a:t>
            </a:r>
            <a:endParaRPr lang="en-US" sz="900" dirty="0"/>
          </a:p>
        </p:txBody>
      </p:sp>
      <p:sp>
        <p:nvSpPr>
          <p:cNvPr id="34" name="Text 25"/>
          <p:cNvSpPr/>
          <p:nvPr/>
        </p:nvSpPr>
        <p:spPr>
          <a:xfrm>
            <a:off x="6274557" y="3454003"/>
            <a:ext cx="2262169" cy="300038"/>
          </a:xfrm>
          <a:prstGeom prst="rect">
            <a:avLst/>
          </a:prstGeom>
          <a:noFill/>
          <a:ln/>
        </p:spPr>
        <p:txBody>
          <a:bodyPr wrap="square" lIns="0" tIns="0" rIns="0" bIns="0" rtlCol="0" anchor="t">
            <a:spAutoFit/>
          </a:bodyPr>
          <a:lstStyle/>
          <a:p>
            <a:pPr marL="0" indent="0" algn="l">
              <a:lnSpc>
                <a:spcPct val="120000"/>
              </a:lnSpc>
              <a:buNone/>
            </a:pPr>
            <a:r>
              <a:rPr lang="en-US" sz="750" dirty="0">
                <a:solidFill>
                  <a:srgbClr val="2E2E38"/>
                </a:solidFill>
                <a:latin typeface="Arial" pitchFamily="34" charset="0"/>
                <a:ea typeface="Arial" pitchFamily="34" charset="-122"/>
                <a:cs typeface="Arial" pitchFamily="34" charset="-120"/>
              </a:rPr>
              <a:t>CSR 不走慢速总线。配置信号在 clk_core 域直接采样，确保配置变更实时生效且简化集成。</a:t>
            </a:r>
            <a:endParaRPr lang="en-US" sz="750" dirty="0"/>
          </a:p>
        </p:txBody>
      </p:sp>
      <p:sp>
        <p:nvSpPr>
          <p:cNvPr id="35" name="Text 26"/>
          <p:cNvSpPr/>
          <p:nvPr/>
        </p:nvSpPr>
        <p:spPr>
          <a:xfrm>
            <a:off x="428625" y="4879181"/>
            <a:ext cx="857473"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SMMU Design Review</a:t>
            </a:r>
            <a:endParaRPr lang="en-US" sz="600" dirty="0"/>
          </a:p>
        </p:txBody>
      </p:sp>
      <p:sp>
        <p:nvSpPr>
          <p:cNvPr id="36" name="Text 27"/>
          <p:cNvSpPr/>
          <p:nvPr/>
        </p:nvSpPr>
        <p:spPr>
          <a:xfrm>
            <a:off x="8395971" y="4879181"/>
            <a:ext cx="319404"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Page 04</a:t>
            </a:r>
            <a:endParaRPr lang="en-US"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71500"/>
          </a:xfrm>
          <a:prstGeom prst="rect">
            <a:avLst/>
          </a:prstGeom>
          <a:solidFill>
            <a:srgbClr val="3253DC"/>
          </a:solidFill>
          <a:ln/>
        </p:spPr>
        <p:txBody>
          <a:bodyPr/>
          <a:lstStyle/>
          <a:p>
            <a:endParaRPr lang="zh-CN" altLang="en-US"/>
          </a:p>
        </p:txBody>
      </p:sp>
      <p:sp>
        <p:nvSpPr>
          <p:cNvPr id="4" name="Text 1"/>
          <p:cNvSpPr/>
          <p:nvPr/>
        </p:nvSpPr>
        <p:spPr>
          <a:xfrm>
            <a:off x="428625" y="130373"/>
            <a:ext cx="2578447" cy="310753"/>
          </a:xfrm>
          <a:prstGeom prst="rect">
            <a:avLst/>
          </a:prstGeom>
          <a:noFill/>
          <a:ln/>
        </p:spPr>
        <p:txBody>
          <a:bodyPr wrap="square" lIns="0" tIns="0" rIns="0" bIns="0" rtlCol="0" anchor="t">
            <a:spAutoFit/>
          </a:bodyPr>
          <a:lstStyle/>
          <a:p>
            <a:pPr marL="0" indent="0" algn="l">
              <a:buNone/>
            </a:pPr>
            <a:r>
              <a:rPr lang="en-US" sz="1600" b="1" dirty="0">
                <a:solidFill>
                  <a:srgbClr val="FFFFFF"/>
                </a:solidFill>
                <a:latin typeface="Arial" pitchFamily="34" charset="0"/>
                <a:ea typeface="Arial" pitchFamily="34" charset="-122"/>
                <a:cs typeface="Arial" pitchFamily="34" charset="-120"/>
              </a:rPr>
              <a:t>顶层架构框图 (smmu.sv)</a:t>
            </a:r>
            <a:endParaRPr lang="en-US" sz="1600" dirty="0"/>
          </a:p>
        </p:txBody>
      </p:sp>
      <p:sp>
        <p:nvSpPr>
          <p:cNvPr id="5" name="Shape 2"/>
          <p:cNvSpPr/>
          <p:nvPr/>
        </p:nvSpPr>
        <p:spPr>
          <a:xfrm>
            <a:off x="428625" y="785813"/>
            <a:ext cx="5000625" cy="3214688"/>
          </a:xfrm>
          <a:prstGeom prst="rect">
            <a:avLst/>
          </a:prstGeom>
          <a:solidFill>
            <a:srgbClr val="FFFFFF"/>
          </a:solidFill>
          <a:ln w="9144">
            <a:solidFill>
              <a:srgbClr val="E0E0E0"/>
            </a:solidFill>
            <a:prstDash val="solid"/>
          </a:ln>
        </p:spPr>
        <p:txBody>
          <a:bodyPr/>
          <a:lstStyle/>
          <a:p>
            <a:endParaRPr lang="zh-CN" altLang="en-US"/>
          </a:p>
        </p:txBody>
      </p:sp>
      <p:pic>
        <p:nvPicPr>
          <p:cNvPr id="6" name="Image 1" descr="preencoded.png"/>
          <p:cNvPicPr>
            <a:picLocks noChangeAspect="1"/>
          </p:cNvPicPr>
          <p:nvPr/>
        </p:nvPicPr>
        <p:blipFill>
          <a:blip r:embed="rId4"/>
          <a:stretch>
            <a:fillRect/>
          </a:stretch>
        </p:blipFill>
        <p:spPr>
          <a:xfrm>
            <a:off x="428625" y="785813"/>
            <a:ext cx="5000625" cy="3214688"/>
          </a:xfrm>
          <a:prstGeom prst="rect">
            <a:avLst/>
          </a:prstGeom>
        </p:spPr>
      </p:pic>
      <p:sp>
        <p:nvSpPr>
          <p:cNvPr id="7" name="Text 3"/>
          <p:cNvSpPr/>
          <p:nvPr/>
        </p:nvSpPr>
        <p:spPr>
          <a:xfrm>
            <a:off x="564356" y="4164806"/>
            <a:ext cx="535781" cy="117872"/>
          </a:xfrm>
          <a:prstGeom prst="rect">
            <a:avLst/>
          </a:prstGeom>
          <a:noFill/>
          <a:ln/>
        </p:spPr>
        <p:txBody>
          <a:bodyPr wrap="none" lIns="0" tIns="0" rIns="0" bIns="0" rtlCol="0" anchor="t">
            <a:spAutoFit/>
          </a:bodyPr>
          <a:lstStyle/>
          <a:p>
            <a:pPr marL="0" indent="0" algn="l">
              <a:lnSpc>
                <a:spcPct val="120000"/>
              </a:lnSpc>
              <a:buNone/>
            </a:pPr>
            <a:r>
              <a:rPr lang="en-US" sz="750" b="1" dirty="0">
                <a:solidFill>
                  <a:srgbClr val="2E2E38"/>
                </a:solidFill>
                <a:latin typeface="Arial" pitchFamily="34" charset="0"/>
                <a:ea typeface="Arial" pitchFamily="34" charset="-122"/>
                <a:cs typeface="Arial" pitchFamily="34" charset="-120"/>
              </a:rPr>
              <a:t>核心设计：</a:t>
            </a:r>
            <a:endParaRPr lang="en-US" sz="750" dirty="0"/>
          </a:p>
        </p:txBody>
      </p:sp>
      <p:sp>
        <p:nvSpPr>
          <p:cNvPr id="8" name="Text 4"/>
          <p:cNvSpPr/>
          <p:nvPr/>
        </p:nvSpPr>
        <p:spPr>
          <a:xfrm>
            <a:off x="1100138" y="4164806"/>
            <a:ext cx="1250268" cy="117872"/>
          </a:xfrm>
          <a:prstGeom prst="rect">
            <a:avLst/>
          </a:prstGeom>
          <a:noFill/>
          <a:ln/>
        </p:spPr>
        <p:txBody>
          <a:bodyPr wrap="none" lIns="0" tIns="0" rIns="0" bIns="0" rtlCol="0" anchor="t">
            <a:spAutoFit/>
          </a:bodyPr>
          <a:lstStyle/>
          <a:p>
            <a:pPr marL="0" indent="0" algn="l">
              <a:lnSpc>
                <a:spcPct val="120000"/>
              </a:lnSpc>
              <a:buNone/>
            </a:pPr>
            <a:r>
              <a:rPr lang="en-US" sz="800" dirty="0">
                <a:solidFill>
                  <a:srgbClr val="2E2E38"/>
                </a:solidFill>
                <a:latin typeface="Arial" pitchFamily="34" charset="0"/>
                <a:ea typeface="Arial" pitchFamily="34" charset="-122"/>
                <a:cs typeface="Arial" pitchFamily="34" charset="-120"/>
              </a:rPr>
              <a:t>顶层例化 7 个子模块，以</a:t>
            </a:r>
            <a:endParaRPr lang="en-US" sz="800" dirty="0"/>
          </a:p>
        </p:txBody>
      </p:sp>
      <p:sp>
        <p:nvSpPr>
          <p:cNvPr id="9" name="Text 5"/>
          <p:cNvSpPr/>
          <p:nvPr/>
        </p:nvSpPr>
        <p:spPr>
          <a:xfrm>
            <a:off x="2350405" y="4164806"/>
            <a:ext cx="1136972" cy="117872"/>
          </a:xfrm>
          <a:prstGeom prst="rect">
            <a:avLst/>
          </a:prstGeom>
          <a:noFill/>
          <a:ln/>
        </p:spPr>
        <p:txBody>
          <a:bodyPr wrap="none" lIns="0" tIns="0" rIns="0" bIns="0" rtlCol="0" anchor="t">
            <a:spAutoFit/>
          </a:bodyPr>
          <a:lstStyle/>
          <a:p>
            <a:pPr marL="0" indent="0" algn="l">
              <a:lnSpc>
                <a:spcPct val="120000"/>
              </a:lnSpc>
              <a:buNone/>
            </a:pPr>
            <a:r>
              <a:rPr lang="en-US" sz="750" b="1" dirty="0">
                <a:solidFill>
                  <a:srgbClr val="2E2E38"/>
                </a:solidFill>
                <a:latin typeface="Arial" pitchFamily="34" charset="0"/>
                <a:ea typeface="Arial" pitchFamily="34" charset="-122"/>
                <a:cs typeface="Arial" pitchFamily="34" charset="-120"/>
              </a:rPr>
              <a:t>LLE (Link-List Engine)</a:t>
            </a:r>
            <a:endParaRPr lang="en-US" sz="750" dirty="0"/>
          </a:p>
        </p:txBody>
      </p:sp>
      <p:sp>
        <p:nvSpPr>
          <p:cNvPr id="10" name="Text 6"/>
          <p:cNvSpPr/>
          <p:nvPr/>
        </p:nvSpPr>
        <p:spPr>
          <a:xfrm>
            <a:off x="3487378" y="4164806"/>
            <a:ext cx="702487" cy="117872"/>
          </a:xfrm>
          <a:prstGeom prst="rect">
            <a:avLst/>
          </a:prstGeom>
          <a:noFill/>
          <a:ln/>
        </p:spPr>
        <p:txBody>
          <a:bodyPr wrap="none" lIns="0" tIns="0" rIns="0" bIns="0" rtlCol="0" anchor="t">
            <a:spAutoFit/>
          </a:bodyPr>
          <a:lstStyle/>
          <a:p>
            <a:pPr marL="0" indent="0" algn="l">
              <a:lnSpc>
                <a:spcPct val="120000"/>
              </a:lnSpc>
              <a:buNone/>
            </a:pPr>
            <a:r>
              <a:rPr lang="en-US" sz="800" dirty="0">
                <a:solidFill>
                  <a:srgbClr val="2E2E38"/>
                </a:solidFill>
                <a:latin typeface="Arial" pitchFamily="34" charset="0"/>
                <a:ea typeface="Arial" pitchFamily="34" charset="-122"/>
                <a:cs typeface="Arial" pitchFamily="34" charset="-120"/>
              </a:rPr>
              <a:t>为中心，通过</a:t>
            </a:r>
            <a:endParaRPr lang="en-US" sz="800" dirty="0"/>
          </a:p>
        </p:txBody>
      </p:sp>
      <p:sp>
        <p:nvSpPr>
          <p:cNvPr id="11" name="Text 7"/>
          <p:cNvSpPr/>
          <p:nvPr/>
        </p:nvSpPr>
        <p:spPr>
          <a:xfrm>
            <a:off x="4189865" y="4164806"/>
            <a:ext cx="494426" cy="117872"/>
          </a:xfrm>
          <a:prstGeom prst="rect">
            <a:avLst/>
          </a:prstGeom>
          <a:noFill/>
          <a:ln/>
        </p:spPr>
        <p:txBody>
          <a:bodyPr wrap="none" lIns="0" tIns="0" rIns="0" bIns="0" rtlCol="0" anchor="t">
            <a:spAutoFit/>
          </a:bodyPr>
          <a:lstStyle/>
          <a:p>
            <a:pPr marL="0" indent="0" algn="l">
              <a:lnSpc>
                <a:spcPct val="120000"/>
              </a:lnSpc>
              <a:buNone/>
            </a:pPr>
            <a:r>
              <a:rPr lang="en-US" sz="800" dirty="0">
                <a:solidFill>
                  <a:srgbClr val="2E2E38"/>
                </a:solidFill>
                <a:latin typeface="Arial" pitchFamily="34" charset="0"/>
                <a:ea typeface="Arial" pitchFamily="34" charset="-122"/>
                <a:cs typeface="Arial" pitchFamily="34" charset="-120"/>
              </a:rPr>
              <a:t>occ_query</a:t>
            </a:r>
            <a:endParaRPr lang="en-US" sz="800" dirty="0"/>
          </a:p>
        </p:txBody>
      </p:sp>
      <p:sp>
        <p:nvSpPr>
          <p:cNvPr id="12" name="Text 8"/>
          <p:cNvSpPr/>
          <p:nvPr/>
        </p:nvSpPr>
        <p:spPr>
          <a:xfrm>
            <a:off x="4684291" y="4164806"/>
            <a:ext cx="107156" cy="117872"/>
          </a:xfrm>
          <a:prstGeom prst="rect">
            <a:avLst/>
          </a:prstGeom>
          <a:noFill/>
          <a:ln/>
        </p:spPr>
        <p:txBody>
          <a:bodyPr wrap="none" lIns="0" tIns="0" rIns="0" bIns="0" rtlCol="0" anchor="t">
            <a:spAutoFit/>
          </a:bodyPr>
          <a:lstStyle/>
          <a:p>
            <a:pPr marL="0" indent="0" algn="l">
              <a:lnSpc>
                <a:spcPct val="120000"/>
              </a:lnSpc>
              <a:buNone/>
            </a:pPr>
            <a:r>
              <a:rPr lang="en-US" sz="800" dirty="0">
                <a:solidFill>
                  <a:srgbClr val="2E2E38"/>
                </a:solidFill>
                <a:latin typeface="Arial" pitchFamily="34" charset="0"/>
                <a:ea typeface="Arial" pitchFamily="34" charset="-122"/>
                <a:cs typeface="Arial" pitchFamily="34" charset="-120"/>
              </a:rPr>
              <a:t>、</a:t>
            </a:r>
            <a:endParaRPr lang="en-US" sz="800" dirty="0"/>
          </a:p>
        </p:txBody>
      </p:sp>
      <p:sp>
        <p:nvSpPr>
          <p:cNvPr id="13" name="Text 9"/>
          <p:cNvSpPr/>
          <p:nvPr/>
        </p:nvSpPr>
        <p:spPr>
          <a:xfrm>
            <a:off x="4791447" y="4164806"/>
            <a:ext cx="428848" cy="117872"/>
          </a:xfrm>
          <a:prstGeom prst="rect">
            <a:avLst/>
          </a:prstGeom>
          <a:noFill/>
          <a:ln/>
        </p:spPr>
        <p:txBody>
          <a:bodyPr wrap="none" lIns="0" tIns="0" rIns="0" bIns="0" rtlCol="0" anchor="t">
            <a:spAutoFit/>
          </a:bodyPr>
          <a:lstStyle/>
          <a:p>
            <a:pPr marL="0" indent="0" algn="l">
              <a:lnSpc>
                <a:spcPct val="120000"/>
              </a:lnSpc>
              <a:buNone/>
            </a:pPr>
            <a:r>
              <a:rPr lang="en-US" sz="800" dirty="0">
                <a:solidFill>
                  <a:srgbClr val="2E2E38"/>
                </a:solidFill>
                <a:latin typeface="Arial" pitchFamily="34" charset="0"/>
                <a:ea typeface="Arial" pitchFamily="34" charset="-122"/>
                <a:cs typeface="Arial" pitchFamily="34" charset="-120"/>
              </a:rPr>
              <a:t>alloc_fire</a:t>
            </a:r>
            <a:endParaRPr lang="en-US" sz="800" dirty="0"/>
          </a:p>
        </p:txBody>
      </p:sp>
      <p:sp>
        <p:nvSpPr>
          <p:cNvPr id="14" name="Text 10"/>
          <p:cNvSpPr/>
          <p:nvPr/>
        </p:nvSpPr>
        <p:spPr>
          <a:xfrm>
            <a:off x="5220295" y="4164806"/>
            <a:ext cx="136959" cy="117872"/>
          </a:xfrm>
          <a:prstGeom prst="rect">
            <a:avLst/>
          </a:prstGeom>
          <a:noFill/>
          <a:ln/>
        </p:spPr>
        <p:txBody>
          <a:bodyPr wrap="none" lIns="0" tIns="0" rIns="0" bIns="0" rtlCol="0" anchor="t">
            <a:spAutoFit/>
          </a:bodyPr>
          <a:lstStyle/>
          <a:p>
            <a:pPr marL="0" indent="0" algn="l">
              <a:lnSpc>
                <a:spcPct val="120000"/>
              </a:lnSpc>
              <a:buNone/>
            </a:pPr>
            <a:r>
              <a:rPr lang="en-US" sz="800" dirty="0">
                <a:solidFill>
                  <a:srgbClr val="2E2E38"/>
                </a:solidFill>
                <a:latin typeface="Arial" pitchFamily="34" charset="0"/>
                <a:ea typeface="Arial" pitchFamily="34" charset="-122"/>
                <a:cs typeface="Arial" pitchFamily="34" charset="-120"/>
              </a:rPr>
              <a:t>等</a:t>
            </a:r>
            <a:endParaRPr lang="en-US" sz="800" dirty="0"/>
          </a:p>
        </p:txBody>
      </p:sp>
      <p:sp>
        <p:nvSpPr>
          <p:cNvPr id="15" name="Text 11"/>
          <p:cNvSpPr/>
          <p:nvPr/>
        </p:nvSpPr>
        <p:spPr>
          <a:xfrm>
            <a:off x="564356" y="4325541"/>
            <a:ext cx="1821656" cy="117872"/>
          </a:xfrm>
          <a:prstGeom prst="rect">
            <a:avLst/>
          </a:prstGeom>
          <a:noFill/>
          <a:ln/>
        </p:spPr>
        <p:txBody>
          <a:bodyPr wrap="none" lIns="0" tIns="0" rIns="0" bIns="0" rtlCol="0" anchor="t">
            <a:spAutoFit/>
          </a:bodyPr>
          <a:lstStyle/>
          <a:p>
            <a:pPr marL="0" indent="0" algn="l">
              <a:lnSpc>
                <a:spcPct val="120000"/>
              </a:lnSpc>
              <a:buNone/>
            </a:pPr>
            <a:r>
              <a:rPr lang="en-US" sz="800" dirty="0">
                <a:solidFill>
                  <a:srgbClr val="2E2E38"/>
                </a:solidFill>
                <a:latin typeface="Arial" pitchFamily="34" charset="0"/>
                <a:ea typeface="Arial" pitchFamily="34" charset="-122"/>
                <a:cs typeface="Arial" pitchFamily="34" charset="-120"/>
              </a:rPr>
              <a:t>关键信号实现控制面与存储面的解耦。</a:t>
            </a:r>
            <a:endParaRPr lang="en-US" sz="800" dirty="0"/>
          </a:p>
        </p:txBody>
      </p:sp>
      <p:sp>
        <p:nvSpPr>
          <p:cNvPr id="16" name="Shape 12"/>
          <p:cNvSpPr/>
          <p:nvPr/>
        </p:nvSpPr>
        <p:spPr>
          <a:xfrm>
            <a:off x="5715000" y="785813"/>
            <a:ext cx="3000375" cy="2916324"/>
          </a:xfrm>
          <a:prstGeom prst="rect">
            <a:avLst/>
          </a:prstGeom>
          <a:solidFill>
            <a:srgbClr val="FFFFFF"/>
          </a:solidFill>
          <a:ln/>
        </p:spPr>
        <p:txBody>
          <a:bodyPr/>
          <a:lstStyle/>
          <a:p>
            <a:endParaRPr lang="zh-CN" altLang="en-US"/>
          </a:p>
        </p:txBody>
      </p:sp>
      <p:sp>
        <p:nvSpPr>
          <p:cNvPr id="17" name="Shape 13"/>
          <p:cNvSpPr/>
          <p:nvPr/>
        </p:nvSpPr>
        <p:spPr>
          <a:xfrm>
            <a:off x="5718572" y="785813"/>
            <a:ext cx="890848" cy="242888"/>
          </a:xfrm>
          <a:prstGeom prst="rect">
            <a:avLst/>
          </a:prstGeom>
          <a:solidFill>
            <a:srgbClr val="6E6E7A"/>
          </a:solidFill>
          <a:ln/>
        </p:spPr>
        <p:txBody>
          <a:bodyPr/>
          <a:lstStyle/>
          <a:p>
            <a:endParaRPr lang="zh-CN" altLang="en-US"/>
          </a:p>
        </p:txBody>
      </p:sp>
      <p:sp>
        <p:nvSpPr>
          <p:cNvPr id="18" name="Text 14"/>
          <p:cNvSpPr/>
          <p:nvPr/>
        </p:nvSpPr>
        <p:spPr>
          <a:xfrm>
            <a:off x="5718572" y="785813"/>
            <a:ext cx="890848" cy="242888"/>
          </a:xfrm>
          <a:prstGeom prst="rect">
            <a:avLst/>
          </a:prstGeom>
          <a:noFill/>
          <a:ln/>
        </p:spPr>
        <p:txBody>
          <a:bodyPr wrap="none" lIns="102108" tIns="68072" rIns="102108" bIns="68072" rtlCol="0" anchor="ctr">
            <a:spAutoFit/>
          </a:bodyPr>
          <a:lstStyle/>
          <a:p>
            <a:pPr marL="0" indent="0" algn="l">
              <a:buNone/>
            </a:pPr>
            <a:r>
              <a:rPr lang="en-US" sz="650" b="1" dirty="0">
                <a:solidFill>
                  <a:srgbClr val="FFFFFF"/>
                </a:solidFill>
                <a:latin typeface="Arial" pitchFamily="34" charset="0"/>
                <a:ea typeface="Arial" pitchFamily="34" charset="-122"/>
                <a:cs typeface="Arial" pitchFamily="34" charset="-120"/>
              </a:rPr>
              <a:t>子模块</a:t>
            </a:r>
            <a:endParaRPr lang="en-US" sz="650" dirty="0"/>
          </a:p>
        </p:txBody>
      </p:sp>
      <p:sp>
        <p:nvSpPr>
          <p:cNvPr id="19" name="Shape 15"/>
          <p:cNvSpPr/>
          <p:nvPr/>
        </p:nvSpPr>
        <p:spPr>
          <a:xfrm>
            <a:off x="6609420" y="785813"/>
            <a:ext cx="364220" cy="242888"/>
          </a:xfrm>
          <a:prstGeom prst="rect">
            <a:avLst/>
          </a:prstGeom>
          <a:solidFill>
            <a:srgbClr val="6E6E7A"/>
          </a:solidFill>
          <a:ln/>
        </p:spPr>
        <p:txBody>
          <a:bodyPr/>
          <a:lstStyle/>
          <a:p>
            <a:endParaRPr lang="zh-CN" altLang="en-US"/>
          </a:p>
        </p:txBody>
      </p:sp>
      <p:sp>
        <p:nvSpPr>
          <p:cNvPr id="20" name="Text 16"/>
          <p:cNvSpPr/>
          <p:nvPr/>
        </p:nvSpPr>
        <p:spPr>
          <a:xfrm>
            <a:off x="6609420" y="785813"/>
            <a:ext cx="364220" cy="242888"/>
          </a:xfrm>
          <a:prstGeom prst="rect">
            <a:avLst/>
          </a:prstGeom>
          <a:noFill/>
          <a:ln/>
        </p:spPr>
        <p:txBody>
          <a:bodyPr wrap="none" lIns="102108" tIns="68072" rIns="102108" bIns="68072" rtlCol="0" anchor="ctr">
            <a:spAutoFit/>
          </a:bodyPr>
          <a:lstStyle/>
          <a:p>
            <a:pPr marL="0" indent="0" algn="l">
              <a:buNone/>
            </a:pPr>
            <a:r>
              <a:rPr lang="en-US" sz="650" b="1" dirty="0">
                <a:solidFill>
                  <a:srgbClr val="FFFFFF"/>
                </a:solidFill>
                <a:latin typeface="Arial" pitchFamily="34" charset="0"/>
                <a:ea typeface="Arial" pitchFamily="34" charset="-122"/>
                <a:cs typeface="Arial" pitchFamily="34" charset="-120"/>
              </a:rPr>
              <a:t>平面</a:t>
            </a:r>
            <a:endParaRPr lang="en-US" sz="650" dirty="0"/>
          </a:p>
        </p:txBody>
      </p:sp>
      <p:sp>
        <p:nvSpPr>
          <p:cNvPr id="21" name="Shape 17"/>
          <p:cNvSpPr/>
          <p:nvPr/>
        </p:nvSpPr>
        <p:spPr>
          <a:xfrm>
            <a:off x="6973639" y="785813"/>
            <a:ext cx="1738164" cy="242888"/>
          </a:xfrm>
          <a:prstGeom prst="rect">
            <a:avLst/>
          </a:prstGeom>
          <a:solidFill>
            <a:srgbClr val="6E6E7A"/>
          </a:solidFill>
          <a:ln/>
        </p:spPr>
        <p:txBody>
          <a:bodyPr/>
          <a:lstStyle/>
          <a:p>
            <a:endParaRPr lang="zh-CN" altLang="en-US"/>
          </a:p>
        </p:txBody>
      </p:sp>
      <p:sp>
        <p:nvSpPr>
          <p:cNvPr id="22" name="Text 18"/>
          <p:cNvSpPr/>
          <p:nvPr/>
        </p:nvSpPr>
        <p:spPr>
          <a:xfrm>
            <a:off x="6973639" y="785813"/>
            <a:ext cx="1738164" cy="242888"/>
          </a:xfrm>
          <a:prstGeom prst="rect">
            <a:avLst/>
          </a:prstGeom>
          <a:noFill/>
          <a:ln/>
        </p:spPr>
        <p:txBody>
          <a:bodyPr wrap="square" lIns="102108" tIns="68072" rIns="102108" bIns="68072" rtlCol="0" anchor="ctr">
            <a:spAutoFit/>
          </a:bodyPr>
          <a:lstStyle/>
          <a:p>
            <a:pPr marL="0" indent="0" algn="l">
              <a:buNone/>
            </a:pPr>
            <a:r>
              <a:rPr lang="en-US" sz="650" b="1" dirty="0">
                <a:solidFill>
                  <a:srgbClr val="FFFFFF"/>
                </a:solidFill>
                <a:latin typeface="Arial" pitchFamily="34" charset="0"/>
                <a:ea typeface="Arial" pitchFamily="34" charset="-122"/>
                <a:cs typeface="Arial" pitchFamily="34" charset="-120"/>
              </a:rPr>
              <a:t>核心职责</a:t>
            </a:r>
            <a:endParaRPr lang="en-US" sz="650" dirty="0"/>
          </a:p>
        </p:txBody>
      </p:sp>
      <p:sp>
        <p:nvSpPr>
          <p:cNvPr id="23" name="Text 19"/>
          <p:cNvSpPr/>
          <p:nvPr/>
        </p:nvSpPr>
        <p:spPr>
          <a:xfrm>
            <a:off x="5807869" y="1165101"/>
            <a:ext cx="175413" cy="107156"/>
          </a:xfrm>
          <a:prstGeom prst="rect">
            <a:avLst/>
          </a:prstGeom>
          <a:noFill/>
          <a:ln/>
        </p:spPr>
        <p:txBody>
          <a:bodyPr wrap="none" lIns="0" tIns="0" rIns="0" bIns="0" rtlCol="0" anchor="t">
            <a:spAutoFit/>
          </a:bodyPr>
          <a:lstStyle/>
          <a:p>
            <a:pPr marL="0" indent="0" algn="l">
              <a:lnSpc>
                <a:spcPct val="112000"/>
              </a:lnSpc>
              <a:buNone/>
            </a:pPr>
            <a:r>
              <a:rPr lang="en-US" sz="650" b="1" dirty="0">
                <a:solidFill>
                  <a:srgbClr val="2E2E38"/>
                </a:solidFill>
                <a:latin typeface="Arial" pitchFamily="34" charset="0"/>
                <a:ea typeface="Arial" pitchFamily="34" charset="-122"/>
                <a:cs typeface="Arial" pitchFamily="34" charset="-120"/>
              </a:rPr>
              <a:t>LLE</a:t>
            </a:r>
            <a:endParaRPr lang="en-US" sz="650" dirty="0"/>
          </a:p>
        </p:txBody>
      </p:sp>
      <p:sp>
        <p:nvSpPr>
          <p:cNvPr id="24" name="Text 20"/>
          <p:cNvSpPr/>
          <p:nvPr/>
        </p:nvSpPr>
        <p:spPr>
          <a:xfrm>
            <a:off x="6609420" y="1028700"/>
            <a:ext cx="364220" cy="381409"/>
          </a:xfrm>
          <a:prstGeom prst="rect">
            <a:avLst/>
          </a:prstGeom>
          <a:noFill/>
          <a:ln/>
        </p:spPr>
        <p:txBody>
          <a:bodyPr wrap="square" lIns="102108" tIns="68072" rIns="102108" bIns="68072" rtlCol="0" anchor="ctr">
            <a:spAutoFit/>
          </a:bodyPr>
          <a:lstStyle/>
          <a:p>
            <a:pPr marL="0" indent="0" algn="l">
              <a:lnSpc>
                <a:spcPct val="112000"/>
              </a:lnSpc>
              <a:buNone/>
            </a:pPr>
            <a:r>
              <a:rPr lang="en-US" sz="650" dirty="0">
                <a:solidFill>
                  <a:srgbClr val="2E2E38"/>
                </a:solidFill>
                <a:latin typeface="Arial" pitchFamily="34" charset="0"/>
                <a:ea typeface="Arial" pitchFamily="34" charset="-122"/>
                <a:cs typeface="Arial" pitchFamily="34" charset="-120"/>
              </a:rPr>
              <a:t>存储</a:t>
            </a:r>
            <a:endParaRPr lang="en-US" sz="650" dirty="0"/>
          </a:p>
        </p:txBody>
      </p:sp>
      <p:sp>
        <p:nvSpPr>
          <p:cNvPr id="25" name="Text 21"/>
          <p:cNvSpPr/>
          <p:nvPr/>
        </p:nvSpPr>
        <p:spPr>
          <a:xfrm>
            <a:off x="6973639" y="1028700"/>
            <a:ext cx="1738164" cy="381409"/>
          </a:xfrm>
          <a:prstGeom prst="rect">
            <a:avLst/>
          </a:prstGeom>
          <a:noFill/>
          <a:ln/>
        </p:spPr>
        <p:txBody>
          <a:bodyPr wrap="square" lIns="102108" tIns="68072" rIns="102108" bIns="68072" rtlCol="0" anchor="ctr">
            <a:spAutoFit/>
          </a:bodyPr>
          <a:lstStyle/>
          <a:p>
            <a:pPr marL="0" indent="0" algn="l">
              <a:lnSpc>
                <a:spcPct val="112000"/>
              </a:lnSpc>
              <a:buNone/>
            </a:pPr>
            <a:r>
              <a:rPr lang="en-US" sz="650" dirty="0">
                <a:solidFill>
                  <a:srgbClr val="2E2E38"/>
                </a:solidFill>
                <a:latin typeface="Arial" pitchFamily="34" charset="0"/>
                <a:ea typeface="Arial" pitchFamily="34" charset="-122"/>
                <a:cs typeface="Arial" pitchFamily="34" charset="-120"/>
              </a:rPr>
              <a:t>链表引擎，唯一访问 Next-Ptr SRAM</a:t>
            </a:r>
            <a:endParaRPr lang="en-US" sz="650" dirty="0"/>
          </a:p>
        </p:txBody>
      </p:sp>
      <p:sp>
        <p:nvSpPr>
          <p:cNvPr id="26" name="Text 22"/>
          <p:cNvSpPr/>
          <p:nvPr/>
        </p:nvSpPr>
        <p:spPr>
          <a:xfrm>
            <a:off x="5807869" y="1546510"/>
            <a:ext cx="578030" cy="107156"/>
          </a:xfrm>
          <a:prstGeom prst="rect">
            <a:avLst/>
          </a:prstGeom>
          <a:noFill/>
          <a:ln/>
        </p:spPr>
        <p:txBody>
          <a:bodyPr wrap="none" lIns="0" tIns="0" rIns="0" bIns="0" rtlCol="0" anchor="t">
            <a:spAutoFit/>
          </a:bodyPr>
          <a:lstStyle/>
          <a:p>
            <a:pPr marL="0" indent="0" algn="l">
              <a:lnSpc>
                <a:spcPct val="112000"/>
              </a:lnSpc>
              <a:buNone/>
            </a:pPr>
            <a:r>
              <a:rPr lang="en-US" sz="650" b="1" dirty="0">
                <a:solidFill>
                  <a:srgbClr val="2E2E38"/>
                </a:solidFill>
                <a:latin typeface="Arial" pitchFamily="34" charset="0"/>
                <a:ea typeface="Arial" pitchFamily="34" charset="-122"/>
                <a:cs typeface="Arial" pitchFamily="34" charset="-120"/>
              </a:rPr>
              <a:t>enqueue_ctrl</a:t>
            </a:r>
            <a:endParaRPr lang="en-US" sz="650" dirty="0"/>
          </a:p>
        </p:txBody>
      </p:sp>
      <p:sp>
        <p:nvSpPr>
          <p:cNvPr id="27" name="Text 23"/>
          <p:cNvSpPr/>
          <p:nvPr/>
        </p:nvSpPr>
        <p:spPr>
          <a:xfrm>
            <a:off x="6609420" y="1410109"/>
            <a:ext cx="364220" cy="381409"/>
          </a:xfrm>
          <a:prstGeom prst="rect">
            <a:avLst/>
          </a:prstGeom>
          <a:noFill/>
          <a:ln/>
        </p:spPr>
        <p:txBody>
          <a:bodyPr wrap="square" lIns="102108" tIns="68072" rIns="102108" bIns="68072" rtlCol="0" anchor="ctr">
            <a:spAutoFit/>
          </a:bodyPr>
          <a:lstStyle/>
          <a:p>
            <a:pPr marL="0" indent="0" algn="l">
              <a:lnSpc>
                <a:spcPct val="112000"/>
              </a:lnSpc>
              <a:buNone/>
            </a:pPr>
            <a:r>
              <a:rPr lang="en-US" sz="650" dirty="0">
                <a:solidFill>
                  <a:srgbClr val="2E2E38"/>
                </a:solidFill>
                <a:latin typeface="Arial" pitchFamily="34" charset="0"/>
                <a:ea typeface="Arial" pitchFamily="34" charset="-122"/>
                <a:cs typeface="Arial" pitchFamily="34" charset="-120"/>
              </a:rPr>
              <a:t>控制</a:t>
            </a:r>
            <a:endParaRPr lang="en-US" sz="650" dirty="0"/>
          </a:p>
        </p:txBody>
      </p:sp>
      <p:sp>
        <p:nvSpPr>
          <p:cNvPr id="28" name="Text 24"/>
          <p:cNvSpPr/>
          <p:nvPr/>
        </p:nvSpPr>
        <p:spPr>
          <a:xfrm>
            <a:off x="6973639" y="1410109"/>
            <a:ext cx="1738164" cy="381409"/>
          </a:xfrm>
          <a:prstGeom prst="rect">
            <a:avLst/>
          </a:prstGeom>
          <a:noFill/>
          <a:ln/>
        </p:spPr>
        <p:txBody>
          <a:bodyPr wrap="square" lIns="102108" tIns="68072" rIns="102108" bIns="68072" rtlCol="0" anchor="ctr">
            <a:spAutoFit/>
          </a:bodyPr>
          <a:lstStyle/>
          <a:p>
            <a:pPr marL="0" indent="0" algn="l">
              <a:lnSpc>
                <a:spcPct val="112000"/>
              </a:lnSpc>
              <a:buNone/>
            </a:pPr>
            <a:r>
              <a:rPr lang="en-US" sz="650" dirty="0">
                <a:solidFill>
                  <a:srgbClr val="2E2E38"/>
                </a:solidFill>
                <a:latin typeface="Arial" pitchFamily="34" charset="0"/>
                <a:ea typeface="Arial" pitchFamily="34" charset="-122"/>
                <a:cs typeface="Arial" pitchFamily="34" charset="-120"/>
              </a:rPr>
              <a:t>入队 1 拍命令，整帧丢弃 FSM</a:t>
            </a:r>
            <a:endParaRPr lang="en-US" sz="650" dirty="0"/>
          </a:p>
        </p:txBody>
      </p:sp>
      <p:sp>
        <p:nvSpPr>
          <p:cNvPr id="29" name="Text 25"/>
          <p:cNvSpPr/>
          <p:nvPr/>
        </p:nvSpPr>
        <p:spPr>
          <a:xfrm>
            <a:off x="5807869" y="1927920"/>
            <a:ext cx="578030" cy="107156"/>
          </a:xfrm>
          <a:prstGeom prst="rect">
            <a:avLst/>
          </a:prstGeom>
          <a:noFill/>
          <a:ln/>
        </p:spPr>
        <p:txBody>
          <a:bodyPr wrap="none" lIns="0" tIns="0" rIns="0" bIns="0" rtlCol="0" anchor="t">
            <a:spAutoFit/>
          </a:bodyPr>
          <a:lstStyle/>
          <a:p>
            <a:pPr marL="0" indent="0" algn="l">
              <a:lnSpc>
                <a:spcPct val="112000"/>
              </a:lnSpc>
              <a:buNone/>
            </a:pPr>
            <a:r>
              <a:rPr lang="en-US" sz="650" b="1" dirty="0">
                <a:solidFill>
                  <a:srgbClr val="2E2E38"/>
                </a:solidFill>
                <a:latin typeface="Arial" pitchFamily="34" charset="0"/>
                <a:ea typeface="Arial" pitchFamily="34" charset="-122"/>
                <a:cs typeface="Arial" pitchFamily="34" charset="-120"/>
              </a:rPr>
              <a:t>dequeue_ctrl</a:t>
            </a:r>
            <a:endParaRPr lang="en-US" sz="650" dirty="0"/>
          </a:p>
        </p:txBody>
      </p:sp>
      <p:sp>
        <p:nvSpPr>
          <p:cNvPr id="30" name="Text 26"/>
          <p:cNvSpPr/>
          <p:nvPr/>
        </p:nvSpPr>
        <p:spPr>
          <a:xfrm>
            <a:off x="6609420" y="1791519"/>
            <a:ext cx="364220" cy="381409"/>
          </a:xfrm>
          <a:prstGeom prst="rect">
            <a:avLst/>
          </a:prstGeom>
          <a:noFill/>
          <a:ln/>
        </p:spPr>
        <p:txBody>
          <a:bodyPr wrap="square" lIns="102108" tIns="68072" rIns="102108" bIns="68072" rtlCol="0" anchor="ctr">
            <a:spAutoFit/>
          </a:bodyPr>
          <a:lstStyle/>
          <a:p>
            <a:pPr marL="0" indent="0" algn="l">
              <a:lnSpc>
                <a:spcPct val="112000"/>
              </a:lnSpc>
              <a:buNone/>
            </a:pPr>
            <a:r>
              <a:rPr lang="en-US" sz="650" dirty="0">
                <a:solidFill>
                  <a:srgbClr val="2E2E38"/>
                </a:solidFill>
                <a:latin typeface="Arial" pitchFamily="34" charset="0"/>
                <a:ea typeface="Arial" pitchFamily="34" charset="-122"/>
                <a:cs typeface="Arial" pitchFamily="34" charset="-120"/>
              </a:rPr>
              <a:t>控制</a:t>
            </a:r>
            <a:endParaRPr lang="en-US" sz="650" dirty="0"/>
          </a:p>
        </p:txBody>
      </p:sp>
      <p:sp>
        <p:nvSpPr>
          <p:cNvPr id="31" name="Text 27"/>
          <p:cNvSpPr/>
          <p:nvPr/>
        </p:nvSpPr>
        <p:spPr>
          <a:xfrm>
            <a:off x="6973639" y="1791519"/>
            <a:ext cx="1738164" cy="381409"/>
          </a:xfrm>
          <a:prstGeom prst="rect">
            <a:avLst/>
          </a:prstGeom>
          <a:noFill/>
          <a:ln/>
        </p:spPr>
        <p:txBody>
          <a:bodyPr wrap="square" lIns="102108" tIns="68072" rIns="102108" bIns="68072" rtlCol="0" anchor="ctr">
            <a:spAutoFit/>
          </a:bodyPr>
          <a:lstStyle/>
          <a:p>
            <a:pPr marL="0" indent="0" algn="l">
              <a:lnSpc>
                <a:spcPct val="112000"/>
              </a:lnSpc>
              <a:buNone/>
            </a:pPr>
            <a:r>
              <a:rPr lang="en-US" sz="650" dirty="0">
                <a:solidFill>
                  <a:srgbClr val="2E2E38"/>
                </a:solidFill>
                <a:latin typeface="Arial" pitchFamily="34" charset="0"/>
                <a:ea typeface="Arial" pitchFamily="34" charset="-122"/>
                <a:cs typeface="Arial" pitchFamily="34" charset="-120"/>
              </a:rPr>
              <a:t>出队 1 拍命令，背压检查</a:t>
            </a:r>
            <a:endParaRPr lang="en-US" sz="650" dirty="0"/>
          </a:p>
        </p:txBody>
      </p:sp>
      <p:sp>
        <p:nvSpPr>
          <p:cNvPr id="32" name="Text 28"/>
          <p:cNvSpPr/>
          <p:nvPr/>
        </p:nvSpPr>
        <p:spPr>
          <a:xfrm>
            <a:off x="5807869" y="2309329"/>
            <a:ext cx="516359" cy="107156"/>
          </a:xfrm>
          <a:prstGeom prst="rect">
            <a:avLst/>
          </a:prstGeom>
          <a:noFill/>
          <a:ln/>
        </p:spPr>
        <p:txBody>
          <a:bodyPr wrap="none" lIns="0" tIns="0" rIns="0" bIns="0" rtlCol="0" anchor="t">
            <a:spAutoFit/>
          </a:bodyPr>
          <a:lstStyle/>
          <a:p>
            <a:pPr marL="0" indent="0" algn="l">
              <a:lnSpc>
                <a:spcPct val="112000"/>
              </a:lnSpc>
              <a:buNone/>
            </a:pPr>
            <a:r>
              <a:rPr lang="en-US" sz="650" b="1" dirty="0">
                <a:solidFill>
                  <a:srgbClr val="2E2E38"/>
                </a:solidFill>
                <a:latin typeface="Arial" pitchFamily="34" charset="0"/>
                <a:ea typeface="Arial" pitchFamily="34" charset="-122"/>
                <a:cs typeface="Arial" pitchFamily="34" charset="-120"/>
              </a:rPr>
              <a:t>recycle_ctrl</a:t>
            </a:r>
            <a:endParaRPr lang="en-US" sz="650" dirty="0"/>
          </a:p>
        </p:txBody>
      </p:sp>
      <p:sp>
        <p:nvSpPr>
          <p:cNvPr id="33" name="Text 29"/>
          <p:cNvSpPr/>
          <p:nvPr/>
        </p:nvSpPr>
        <p:spPr>
          <a:xfrm>
            <a:off x="6609420" y="2172928"/>
            <a:ext cx="364220" cy="381409"/>
          </a:xfrm>
          <a:prstGeom prst="rect">
            <a:avLst/>
          </a:prstGeom>
          <a:noFill/>
          <a:ln/>
        </p:spPr>
        <p:txBody>
          <a:bodyPr wrap="square" lIns="102108" tIns="68072" rIns="102108" bIns="68072" rtlCol="0" anchor="ctr">
            <a:spAutoFit/>
          </a:bodyPr>
          <a:lstStyle/>
          <a:p>
            <a:pPr marL="0" indent="0" algn="l">
              <a:lnSpc>
                <a:spcPct val="112000"/>
              </a:lnSpc>
              <a:buNone/>
            </a:pPr>
            <a:r>
              <a:rPr lang="en-US" sz="650" dirty="0">
                <a:solidFill>
                  <a:srgbClr val="2E2E38"/>
                </a:solidFill>
                <a:latin typeface="Arial" pitchFamily="34" charset="0"/>
                <a:ea typeface="Arial" pitchFamily="34" charset="-122"/>
                <a:cs typeface="Arial" pitchFamily="34" charset="-120"/>
              </a:rPr>
              <a:t>控制</a:t>
            </a:r>
            <a:endParaRPr lang="en-US" sz="650" dirty="0"/>
          </a:p>
        </p:txBody>
      </p:sp>
      <p:sp>
        <p:nvSpPr>
          <p:cNvPr id="34" name="Text 30"/>
          <p:cNvSpPr/>
          <p:nvPr/>
        </p:nvSpPr>
        <p:spPr>
          <a:xfrm>
            <a:off x="6973639" y="2172928"/>
            <a:ext cx="1738164" cy="381409"/>
          </a:xfrm>
          <a:prstGeom prst="rect">
            <a:avLst/>
          </a:prstGeom>
          <a:noFill/>
          <a:ln/>
        </p:spPr>
        <p:txBody>
          <a:bodyPr wrap="square" lIns="102108" tIns="68072" rIns="102108" bIns="68072" rtlCol="0" anchor="ctr">
            <a:spAutoFit/>
          </a:bodyPr>
          <a:lstStyle/>
          <a:p>
            <a:pPr marL="0" indent="0" algn="l">
              <a:lnSpc>
                <a:spcPct val="112000"/>
              </a:lnSpc>
              <a:buNone/>
            </a:pPr>
            <a:r>
              <a:rPr lang="en-US" sz="650" dirty="0">
                <a:solidFill>
                  <a:srgbClr val="2E2E38"/>
                </a:solidFill>
                <a:latin typeface="Arial" pitchFamily="34" charset="0"/>
                <a:ea typeface="Arial" pitchFamily="34" charset="-122"/>
                <a:cs typeface="Arial" pitchFamily="34" charset="-120"/>
              </a:rPr>
              <a:t>还链薄透传</a:t>
            </a:r>
            <a:endParaRPr lang="en-US" sz="650" dirty="0"/>
          </a:p>
        </p:txBody>
      </p:sp>
      <p:sp>
        <p:nvSpPr>
          <p:cNvPr id="35" name="Text 31"/>
          <p:cNvSpPr/>
          <p:nvPr/>
        </p:nvSpPr>
        <p:spPr>
          <a:xfrm>
            <a:off x="5807869" y="2690738"/>
            <a:ext cx="712254" cy="107156"/>
          </a:xfrm>
          <a:prstGeom prst="rect">
            <a:avLst/>
          </a:prstGeom>
          <a:noFill/>
          <a:ln/>
        </p:spPr>
        <p:txBody>
          <a:bodyPr wrap="none" lIns="0" tIns="0" rIns="0" bIns="0" rtlCol="0" anchor="t">
            <a:spAutoFit/>
          </a:bodyPr>
          <a:lstStyle/>
          <a:p>
            <a:pPr marL="0" indent="0" algn="l">
              <a:lnSpc>
                <a:spcPct val="112000"/>
              </a:lnSpc>
              <a:buNone/>
            </a:pPr>
            <a:r>
              <a:rPr lang="en-US" sz="650" b="1" dirty="0">
                <a:solidFill>
                  <a:srgbClr val="2E2E38"/>
                </a:solidFill>
                <a:latin typeface="Arial" pitchFamily="34" charset="0"/>
                <a:ea typeface="Arial" pitchFamily="34" charset="-122"/>
                <a:cs typeface="Arial" pitchFamily="34" charset="-120"/>
              </a:rPr>
              <a:t>occupancy_mgr</a:t>
            </a:r>
            <a:endParaRPr lang="en-US" sz="650" dirty="0"/>
          </a:p>
        </p:txBody>
      </p:sp>
      <p:sp>
        <p:nvSpPr>
          <p:cNvPr id="36" name="Text 32"/>
          <p:cNvSpPr/>
          <p:nvPr/>
        </p:nvSpPr>
        <p:spPr>
          <a:xfrm>
            <a:off x="6609420" y="2554337"/>
            <a:ext cx="364220" cy="381409"/>
          </a:xfrm>
          <a:prstGeom prst="rect">
            <a:avLst/>
          </a:prstGeom>
          <a:noFill/>
          <a:ln/>
        </p:spPr>
        <p:txBody>
          <a:bodyPr wrap="square" lIns="102108" tIns="68072" rIns="102108" bIns="68072" rtlCol="0" anchor="ctr">
            <a:spAutoFit/>
          </a:bodyPr>
          <a:lstStyle/>
          <a:p>
            <a:pPr marL="0" indent="0" algn="l">
              <a:lnSpc>
                <a:spcPct val="112000"/>
              </a:lnSpc>
              <a:buNone/>
            </a:pPr>
            <a:r>
              <a:rPr lang="en-US" sz="650" dirty="0">
                <a:solidFill>
                  <a:srgbClr val="2E2E38"/>
                </a:solidFill>
                <a:latin typeface="Arial" pitchFamily="34" charset="0"/>
                <a:ea typeface="Arial" pitchFamily="34" charset="-122"/>
                <a:cs typeface="Arial" pitchFamily="34" charset="-120"/>
              </a:rPr>
              <a:t>计数</a:t>
            </a:r>
            <a:endParaRPr lang="en-US" sz="650" dirty="0"/>
          </a:p>
        </p:txBody>
      </p:sp>
      <p:sp>
        <p:nvSpPr>
          <p:cNvPr id="37" name="Text 33"/>
          <p:cNvSpPr/>
          <p:nvPr/>
        </p:nvSpPr>
        <p:spPr>
          <a:xfrm>
            <a:off x="6973639" y="2554337"/>
            <a:ext cx="1738164" cy="381409"/>
          </a:xfrm>
          <a:prstGeom prst="rect">
            <a:avLst/>
          </a:prstGeom>
          <a:noFill/>
          <a:ln/>
        </p:spPr>
        <p:txBody>
          <a:bodyPr wrap="square" lIns="102108" tIns="68072" rIns="102108" bIns="68072" rtlCol="0" anchor="ctr">
            <a:spAutoFit/>
          </a:bodyPr>
          <a:lstStyle/>
          <a:p>
            <a:pPr marL="0" indent="0" algn="l">
              <a:lnSpc>
                <a:spcPct val="112000"/>
              </a:lnSpc>
              <a:buNone/>
            </a:pPr>
            <a:r>
              <a:rPr lang="en-US" sz="650" dirty="0">
                <a:solidFill>
                  <a:srgbClr val="2E2E38"/>
                </a:solidFill>
                <a:latin typeface="Arial" pitchFamily="34" charset="0"/>
                <a:ea typeface="Arial" pitchFamily="34" charset="-122"/>
                <a:cs typeface="Arial" pitchFamily="34" charset="-120"/>
              </a:rPr>
              <a:t>占用计数 + 双池判决 + PAUSE/PFC</a:t>
            </a:r>
            <a:endParaRPr lang="en-US" sz="650" dirty="0"/>
          </a:p>
        </p:txBody>
      </p:sp>
      <p:sp>
        <p:nvSpPr>
          <p:cNvPr id="38" name="Text 34"/>
          <p:cNvSpPr/>
          <p:nvPr/>
        </p:nvSpPr>
        <p:spPr>
          <a:xfrm>
            <a:off x="5807869" y="3072147"/>
            <a:ext cx="443805" cy="107156"/>
          </a:xfrm>
          <a:prstGeom prst="rect">
            <a:avLst/>
          </a:prstGeom>
          <a:noFill/>
          <a:ln/>
        </p:spPr>
        <p:txBody>
          <a:bodyPr wrap="none" lIns="0" tIns="0" rIns="0" bIns="0" rtlCol="0" anchor="t">
            <a:spAutoFit/>
          </a:bodyPr>
          <a:lstStyle/>
          <a:p>
            <a:pPr marL="0" indent="0" algn="l">
              <a:lnSpc>
                <a:spcPct val="112000"/>
              </a:lnSpc>
              <a:buNone/>
            </a:pPr>
            <a:r>
              <a:rPr lang="en-US" sz="650" b="1" dirty="0">
                <a:solidFill>
                  <a:srgbClr val="2E2E38"/>
                </a:solidFill>
                <a:latin typeface="Arial" pitchFamily="34" charset="0"/>
                <a:ea typeface="Arial" pitchFamily="34" charset="-122"/>
                <a:cs typeface="Arial" pitchFamily="34" charset="-120"/>
              </a:rPr>
              <a:t>aging_ctrl</a:t>
            </a:r>
            <a:endParaRPr lang="en-US" sz="650" dirty="0"/>
          </a:p>
        </p:txBody>
      </p:sp>
      <p:sp>
        <p:nvSpPr>
          <p:cNvPr id="39" name="Text 35"/>
          <p:cNvSpPr/>
          <p:nvPr/>
        </p:nvSpPr>
        <p:spPr>
          <a:xfrm>
            <a:off x="6609420" y="2935746"/>
            <a:ext cx="364220" cy="381409"/>
          </a:xfrm>
          <a:prstGeom prst="rect">
            <a:avLst/>
          </a:prstGeom>
          <a:noFill/>
          <a:ln/>
        </p:spPr>
        <p:txBody>
          <a:bodyPr wrap="square" lIns="102108" tIns="68072" rIns="102108" bIns="68072" rtlCol="0" anchor="ctr">
            <a:spAutoFit/>
          </a:bodyPr>
          <a:lstStyle/>
          <a:p>
            <a:pPr marL="0" indent="0" algn="l">
              <a:lnSpc>
                <a:spcPct val="112000"/>
              </a:lnSpc>
              <a:buNone/>
            </a:pPr>
            <a:r>
              <a:rPr lang="en-US" sz="650" dirty="0">
                <a:solidFill>
                  <a:srgbClr val="2E2E38"/>
                </a:solidFill>
                <a:latin typeface="Arial" pitchFamily="34" charset="0"/>
                <a:ea typeface="Arial" pitchFamily="34" charset="-122"/>
                <a:cs typeface="Arial" pitchFamily="34" charset="-120"/>
              </a:rPr>
              <a:t>控制</a:t>
            </a:r>
            <a:endParaRPr lang="en-US" sz="650" dirty="0"/>
          </a:p>
        </p:txBody>
      </p:sp>
      <p:sp>
        <p:nvSpPr>
          <p:cNvPr id="40" name="Text 36"/>
          <p:cNvSpPr/>
          <p:nvPr/>
        </p:nvSpPr>
        <p:spPr>
          <a:xfrm>
            <a:off x="6973639" y="2935746"/>
            <a:ext cx="1738164" cy="381409"/>
          </a:xfrm>
          <a:prstGeom prst="rect">
            <a:avLst/>
          </a:prstGeom>
          <a:noFill/>
          <a:ln/>
        </p:spPr>
        <p:txBody>
          <a:bodyPr wrap="square" lIns="102108" tIns="68072" rIns="102108" bIns="68072" rtlCol="0" anchor="ctr">
            <a:spAutoFit/>
          </a:bodyPr>
          <a:lstStyle/>
          <a:p>
            <a:pPr marL="0" indent="0" algn="l">
              <a:lnSpc>
                <a:spcPct val="112000"/>
              </a:lnSpc>
              <a:buNone/>
            </a:pPr>
            <a:r>
              <a:rPr lang="en-US" sz="650" dirty="0">
                <a:solidFill>
                  <a:srgbClr val="2E2E38"/>
                </a:solidFill>
                <a:latin typeface="Arial" pitchFamily="34" charset="0"/>
                <a:ea typeface="Arial" pitchFamily="34" charset="-122"/>
                <a:cs typeface="Arial" pitchFamily="34" charset="-120"/>
              </a:rPr>
              <a:t>队列老化冲刷，防僵尸队列</a:t>
            </a:r>
            <a:endParaRPr lang="en-US" sz="650" dirty="0"/>
          </a:p>
        </p:txBody>
      </p:sp>
      <p:sp>
        <p:nvSpPr>
          <p:cNvPr id="41" name="Text 37"/>
          <p:cNvSpPr/>
          <p:nvPr/>
        </p:nvSpPr>
        <p:spPr>
          <a:xfrm>
            <a:off x="5807869" y="3453557"/>
            <a:ext cx="598847" cy="107156"/>
          </a:xfrm>
          <a:prstGeom prst="rect">
            <a:avLst/>
          </a:prstGeom>
          <a:noFill/>
          <a:ln/>
        </p:spPr>
        <p:txBody>
          <a:bodyPr wrap="none" lIns="0" tIns="0" rIns="0" bIns="0" rtlCol="0" anchor="t">
            <a:spAutoFit/>
          </a:bodyPr>
          <a:lstStyle/>
          <a:p>
            <a:pPr marL="0" indent="0" algn="l">
              <a:lnSpc>
                <a:spcPct val="112000"/>
              </a:lnSpc>
              <a:buNone/>
            </a:pPr>
            <a:r>
              <a:rPr lang="en-US" sz="650" b="1" dirty="0">
                <a:solidFill>
                  <a:srgbClr val="2E2E38"/>
                </a:solidFill>
                <a:latin typeface="Arial" pitchFamily="34" charset="0"/>
                <a:ea typeface="Arial" pitchFamily="34" charset="-122"/>
                <a:cs typeface="Arial" pitchFamily="34" charset="-120"/>
              </a:rPr>
              <a:t>csr_stats_init</a:t>
            </a:r>
            <a:endParaRPr lang="en-US" sz="650" dirty="0"/>
          </a:p>
        </p:txBody>
      </p:sp>
      <p:sp>
        <p:nvSpPr>
          <p:cNvPr id="42" name="Text 38"/>
          <p:cNvSpPr/>
          <p:nvPr/>
        </p:nvSpPr>
        <p:spPr>
          <a:xfrm>
            <a:off x="6609420" y="3317156"/>
            <a:ext cx="364220" cy="381409"/>
          </a:xfrm>
          <a:prstGeom prst="rect">
            <a:avLst/>
          </a:prstGeom>
          <a:noFill/>
          <a:ln/>
        </p:spPr>
        <p:txBody>
          <a:bodyPr wrap="square" lIns="102108" tIns="68072" rIns="102108" bIns="68072" rtlCol="0" anchor="ctr">
            <a:spAutoFit/>
          </a:bodyPr>
          <a:lstStyle/>
          <a:p>
            <a:pPr marL="0" indent="0" algn="l">
              <a:lnSpc>
                <a:spcPct val="112000"/>
              </a:lnSpc>
              <a:buNone/>
            </a:pPr>
            <a:r>
              <a:rPr lang="en-US" sz="650" dirty="0">
                <a:solidFill>
                  <a:srgbClr val="2E2E38"/>
                </a:solidFill>
                <a:latin typeface="Arial" pitchFamily="34" charset="0"/>
                <a:ea typeface="Arial" pitchFamily="34" charset="-122"/>
                <a:cs typeface="Arial" pitchFamily="34" charset="-120"/>
              </a:rPr>
              <a:t>配置</a:t>
            </a:r>
            <a:endParaRPr lang="en-US" sz="650" dirty="0"/>
          </a:p>
        </p:txBody>
      </p:sp>
      <p:sp>
        <p:nvSpPr>
          <p:cNvPr id="43" name="Text 39"/>
          <p:cNvSpPr/>
          <p:nvPr/>
        </p:nvSpPr>
        <p:spPr>
          <a:xfrm>
            <a:off x="6973639" y="3317156"/>
            <a:ext cx="1738164" cy="381409"/>
          </a:xfrm>
          <a:prstGeom prst="rect">
            <a:avLst/>
          </a:prstGeom>
          <a:noFill/>
          <a:ln/>
        </p:spPr>
        <p:txBody>
          <a:bodyPr wrap="square" lIns="102108" tIns="68072" rIns="102108" bIns="68072" rtlCol="0" anchor="ctr">
            <a:spAutoFit/>
          </a:bodyPr>
          <a:lstStyle/>
          <a:p>
            <a:pPr marL="0" indent="0" algn="l">
              <a:lnSpc>
                <a:spcPct val="112000"/>
              </a:lnSpc>
              <a:buNone/>
            </a:pPr>
            <a:r>
              <a:rPr lang="en-US" sz="650" dirty="0">
                <a:solidFill>
                  <a:srgbClr val="2E2E38"/>
                </a:solidFill>
                <a:latin typeface="Arial" pitchFamily="34" charset="0"/>
                <a:ea typeface="Arial" pitchFamily="34" charset="-122"/>
                <a:cs typeface="Arial" pitchFamily="34" charset="-120"/>
              </a:rPr>
              <a:t>配置采样 + 初始化 FSM (Free 链构建)</a:t>
            </a:r>
            <a:endParaRPr lang="en-US" sz="650" dirty="0"/>
          </a:p>
        </p:txBody>
      </p:sp>
      <p:pic>
        <p:nvPicPr>
          <p:cNvPr id="44" name="Image 2" descr="preencoded.png"/>
          <p:cNvPicPr>
            <a:picLocks noChangeAspect="1"/>
          </p:cNvPicPr>
          <p:nvPr/>
        </p:nvPicPr>
        <p:blipFill>
          <a:blip r:embed="rId5"/>
          <a:stretch>
            <a:fillRect/>
          </a:stretch>
        </p:blipFill>
        <p:spPr>
          <a:xfrm>
            <a:off x="5715000" y="3859299"/>
            <a:ext cx="100013" cy="100013"/>
          </a:xfrm>
          <a:prstGeom prst="rect">
            <a:avLst/>
          </a:prstGeom>
        </p:spPr>
      </p:pic>
      <p:sp>
        <p:nvSpPr>
          <p:cNvPr id="45" name="Text 40"/>
          <p:cNvSpPr/>
          <p:nvPr/>
        </p:nvSpPr>
        <p:spPr>
          <a:xfrm>
            <a:off x="5815013" y="3855727"/>
            <a:ext cx="827894" cy="110728"/>
          </a:xfrm>
          <a:prstGeom prst="rect">
            <a:avLst/>
          </a:prstGeom>
          <a:noFill/>
          <a:ln/>
        </p:spPr>
        <p:txBody>
          <a:bodyPr wrap="none" lIns="0" tIns="0" rIns="0" bIns="0" rtlCol="0" anchor="t">
            <a:spAutoFit/>
          </a:bodyPr>
          <a:lstStyle/>
          <a:p>
            <a:pPr marL="0" indent="0" algn="l">
              <a:buNone/>
            </a:pPr>
            <a:r>
              <a:rPr lang="en-US" sz="700" b="1" dirty="0">
                <a:solidFill>
                  <a:srgbClr val="3253DC"/>
                </a:solidFill>
                <a:latin typeface="Arial" pitchFamily="34" charset="0"/>
                <a:ea typeface="Arial" pitchFamily="34" charset="-122"/>
                <a:cs typeface="Arial" pitchFamily="34" charset="-120"/>
              </a:rPr>
              <a:t>模块间交互约定：</a:t>
            </a:r>
            <a:endParaRPr lang="en-US" sz="700" dirty="0"/>
          </a:p>
        </p:txBody>
      </p:sp>
      <p:sp>
        <p:nvSpPr>
          <p:cNvPr id="46" name="Text 41"/>
          <p:cNvSpPr/>
          <p:nvPr/>
        </p:nvSpPr>
        <p:spPr>
          <a:xfrm>
            <a:off x="5857875" y="4052181"/>
            <a:ext cx="2857500" cy="148568"/>
          </a:xfrm>
          <a:prstGeom prst="rect">
            <a:avLst/>
          </a:prstGeom>
          <a:noFill/>
          <a:ln/>
        </p:spPr>
        <p:txBody>
          <a:bodyPr wrap="none" lIns="0" tIns="0" rIns="0" bIns="0" rtlCol="0" anchor="t">
            <a:spAutoFit/>
          </a:bodyPr>
          <a:lstStyle/>
          <a:p>
            <a:pPr marL="127000" indent="-127000" algn="l">
              <a:lnSpc>
                <a:spcPct val="128000"/>
              </a:lnSpc>
              <a:buSzPct val="100000"/>
              <a:buChar char="•"/>
            </a:pPr>
            <a:r>
              <a:rPr lang="en-US" sz="650" dirty="0">
                <a:solidFill>
                  <a:srgbClr val="6E6E7A"/>
                </a:solidFill>
                <a:latin typeface="Arial" pitchFamily="34" charset="0"/>
                <a:ea typeface="Arial" pitchFamily="34" charset="-122"/>
                <a:cs typeface="Arial" pitchFamily="34" charset="-120"/>
              </a:rPr>
              <a:t>所有控制模块通过 LLE 进行地址申请与释放</a:t>
            </a:r>
            <a:endParaRPr lang="en-US" sz="650" dirty="0"/>
          </a:p>
        </p:txBody>
      </p:sp>
      <p:sp>
        <p:nvSpPr>
          <p:cNvPr id="47" name="Text 42"/>
          <p:cNvSpPr/>
          <p:nvPr/>
        </p:nvSpPr>
        <p:spPr>
          <a:xfrm>
            <a:off x="5857875" y="4200748"/>
            <a:ext cx="2857500" cy="148568"/>
          </a:xfrm>
          <a:prstGeom prst="rect">
            <a:avLst/>
          </a:prstGeom>
          <a:noFill/>
          <a:ln/>
        </p:spPr>
        <p:txBody>
          <a:bodyPr wrap="none" lIns="0" tIns="0" rIns="0" bIns="0" rtlCol="0" anchor="t">
            <a:spAutoFit/>
          </a:bodyPr>
          <a:lstStyle/>
          <a:p>
            <a:pPr marL="127000" indent="-127000" algn="l">
              <a:lnSpc>
                <a:spcPct val="128000"/>
              </a:lnSpc>
              <a:buSzPct val="100000"/>
              <a:buChar char="•"/>
            </a:pPr>
            <a:r>
              <a:rPr lang="en-US" sz="650" dirty="0">
                <a:solidFill>
                  <a:srgbClr val="6E6E7A"/>
                </a:solidFill>
                <a:latin typeface="Arial" pitchFamily="34" charset="0"/>
                <a:ea typeface="Arial" pitchFamily="34" charset="-122"/>
                <a:cs typeface="Arial" pitchFamily="34" charset="-120"/>
              </a:rPr>
              <a:t>Occupancy 模块实时反馈水位，作为入队门控</a:t>
            </a:r>
            <a:endParaRPr lang="en-US" sz="650" dirty="0"/>
          </a:p>
        </p:txBody>
      </p:sp>
      <p:sp>
        <p:nvSpPr>
          <p:cNvPr id="48" name="Text 43"/>
          <p:cNvSpPr/>
          <p:nvPr/>
        </p:nvSpPr>
        <p:spPr>
          <a:xfrm>
            <a:off x="5857875" y="4349316"/>
            <a:ext cx="2857500" cy="148568"/>
          </a:xfrm>
          <a:prstGeom prst="rect">
            <a:avLst/>
          </a:prstGeom>
          <a:noFill/>
          <a:ln/>
        </p:spPr>
        <p:txBody>
          <a:bodyPr wrap="none" lIns="0" tIns="0" rIns="0" bIns="0" rtlCol="0" anchor="t">
            <a:spAutoFit/>
          </a:bodyPr>
          <a:lstStyle/>
          <a:p>
            <a:pPr marL="127000" indent="-127000" algn="l">
              <a:lnSpc>
                <a:spcPct val="128000"/>
              </a:lnSpc>
              <a:buSzPct val="100000"/>
              <a:buChar char="•"/>
            </a:pPr>
            <a:r>
              <a:rPr lang="en-US" sz="650" dirty="0">
                <a:solidFill>
                  <a:srgbClr val="6E6E7A"/>
                </a:solidFill>
                <a:latin typeface="Arial" pitchFamily="34" charset="0"/>
                <a:ea typeface="Arial" pitchFamily="34" charset="-122"/>
                <a:cs typeface="Arial" pitchFamily="34" charset="-120"/>
              </a:rPr>
              <a:t>Init FSM 负责上电后 Next-Ptr SRAM 的链表初始化</a:t>
            </a:r>
            <a:endParaRPr lang="en-US" sz="650" dirty="0"/>
          </a:p>
        </p:txBody>
      </p:sp>
      <p:sp>
        <p:nvSpPr>
          <p:cNvPr id="49" name="Text 44"/>
          <p:cNvSpPr/>
          <p:nvPr/>
        </p:nvSpPr>
        <p:spPr>
          <a:xfrm>
            <a:off x="428625" y="4879181"/>
            <a:ext cx="857473"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SMMU Design Review</a:t>
            </a:r>
            <a:endParaRPr lang="en-US" sz="600" dirty="0"/>
          </a:p>
        </p:txBody>
      </p:sp>
      <p:sp>
        <p:nvSpPr>
          <p:cNvPr id="50" name="Text 45"/>
          <p:cNvSpPr/>
          <p:nvPr/>
        </p:nvSpPr>
        <p:spPr>
          <a:xfrm>
            <a:off x="8395971" y="4879181"/>
            <a:ext cx="319404"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Page 05</a:t>
            </a:r>
            <a:endParaRPr lang="en-US" sz="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71500"/>
          </a:xfrm>
          <a:prstGeom prst="rect">
            <a:avLst/>
          </a:prstGeom>
          <a:solidFill>
            <a:srgbClr val="3253DC"/>
          </a:solidFill>
          <a:ln/>
        </p:spPr>
        <p:txBody>
          <a:bodyPr/>
          <a:lstStyle/>
          <a:p>
            <a:endParaRPr lang="zh-CN" altLang="en-US"/>
          </a:p>
        </p:txBody>
      </p:sp>
      <p:sp>
        <p:nvSpPr>
          <p:cNvPr id="4" name="Text 1"/>
          <p:cNvSpPr/>
          <p:nvPr/>
        </p:nvSpPr>
        <p:spPr>
          <a:xfrm>
            <a:off x="428625" y="130373"/>
            <a:ext cx="3200958" cy="310753"/>
          </a:xfrm>
          <a:prstGeom prst="rect">
            <a:avLst/>
          </a:prstGeom>
          <a:noFill/>
          <a:ln/>
        </p:spPr>
        <p:txBody>
          <a:bodyPr wrap="square" lIns="0" tIns="0" rIns="0" bIns="0" rtlCol="0" anchor="t">
            <a:spAutoFit/>
          </a:bodyPr>
          <a:lstStyle/>
          <a:p>
            <a:pPr marL="0" indent="0" algn="l">
              <a:buNone/>
            </a:pPr>
            <a:r>
              <a:rPr lang="en-US" sz="1600" b="1" dirty="0">
                <a:solidFill>
                  <a:srgbClr val="FFFFFF"/>
                </a:solidFill>
                <a:latin typeface="Arial" pitchFamily="34" charset="0"/>
                <a:ea typeface="Arial" pitchFamily="34" charset="-122"/>
                <a:cs typeface="Arial" pitchFamily="34" charset="-120"/>
              </a:rPr>
              <a:t>参数化设计 (Parameterization)</a:t>
            </a:r>
            <a:endParaRPr lang="en-US" sz="1600" dirty="0"/>
          </a:p>
        </p:txBody>
      </p:sp>
      <p:sp>
        <p:nvSpPr>
          <p:cNvPr id="5" name="Shape 2"/>
          <p:cNvSpPr/>
          <p:nvPr/>
        </p:nvSpPr>
        <p:spPr>
          <a:xfrm>
            <a:off x="428625" y="857250"/>
            <a:ext cx="8286750" cy="316446"/>
          </a:xfrm>
          <a:prstGeom prst="rect">
            <a:avLst/>
          </a:prstGeom>
          <a:solidFill>
            <a:srgbClr val="FFFFFF"/>
          </a:solidFill>
          <a:ln/>
        </p:spPr>
        <p:txBody>
          <a:bodyPr/>
          <a:lstStyle/>
          <a:p>
            <a:endParaRPr lang="zh-CN" altLang="en-US"/>
          </a:p>
        </p:txBody>
      </p:sp>
      <p:sp>
        <p:nvSpPr>
          <p:cNvPr id="6" name="Shape 3"/>
          <p:cNvSpPr/>
          <p:nvPr/>
        </p:nvSpPr>
        <p:spPr>
          <a:xfrm>
            <a:off x="428625" y="857250"/>
            <a:ext cx="28575" cy="316446"/>
          </a:xfrm>
          <a:prstGeom prst="rect">
            <a:avLst/>
          </a:prstGeom>
          <a:solidFill>
            <a:srgbClr val="6CA0F6"/>
          </a:solidFill>
          <a:ln/>
        </p:spPr>
        <p:txBody>
          <a:bodyPr/>
          <a:lstStyle/>
          <a:p>
            <a:endParaRPr lang="zh-CN" altLang="en-US"/>
          </a:p>
        </p:txBody>
      </p:sp>
      <p:sp>
        <p:nvSpPr>
          <p:cNvPr id="7" name="Text 4"/>
          <p:cNvSpPr/>
          <p:nvPr/>
        </p:nvSpPr>
        <p:spPr>
          <a:xfrm>
            <a:off x="428625" y="857250"/>
            <a:ext cx="8286750" cy="316446"/>
          </a:xfrm>
          <a:prstGeom prst="rect">
            <a:avLst/>
          </a:prstGeom>
          <a:noFill/>
          <a:ln/>
        </p:spPr>
        <p:txBody>
          <a:bodyPr wrap="square" lIns="170053" tIns="127508" rIns="170053" bIns="0" rtlCol="0" anchor="t">
            <a:spAutoFit/>
          </a:bodyPr>
          <a:lstStyle/>
          <a:p>
            <a:pPr marL="0" indent="0" algn="l">
              <a:lnSpc>
                <a:spcPct val="128000"/>
              </a:lnSpc>
              <a:buNone/>
            </a:pPr>
            <a:r>
              <a:rPr lang="en-US" sz="950" dirty="0">
                <a:solidFill>
                  <a:srgbClr val="2E2E38"/>
                </a:solidFill>
                <a:latin typeface="Arial" pitchFamily="34" charset="0"/>
                <a:ea typeface="Arial" pitchFamily="34" charset="-122"/>
                <a:cs typeface="Arial" pitchFamily="34" charset="-120"/>
              </a:rPr>
              <a:t>所有位宽由 </a:t>
            </a:r>
            <a:r>
              <a:rPr lang="en-US" sz="900" b="1" dirty="0">
                <a:solidFill>
                  <a:srgbClr val="3253DC"/>
                </a:solidFill>
                <a:latin typeface="Consolas" pitchFamily="34" charset="0"/>
                <a:ea typeface="Consolas" pitchFamily="34" charset="-122"/>
                <a:cs typeface="Consolas" pitchFamily="34" charset="-120"/>
              </a:rPr>
              <a:t>CELL_NUM</a:t>
            </a:r>
            <a:r>
              <a:rPr lang="en-US" sz="950" dirty="0">
                <a:solidFill>
                  <a:srgbClr val="2E2E38"/>
                </a:solidFill>
                <a:latin typeface="Arial" pitchFamily="34" charset="0"/>
                <a:ea typeface="Arial" pitchFamily="34" charset="-122"/>
                <a:cs typeface="Arial" pitchFamily="34" charset="-120"/>
              </a:rPr>
              <a:t> / </a:t>
            </a:r>
            <a:r>
              <a:rPr lang="en-US" sz="900" b="1" dirty="0">
                <a:solidFill>
                  <a:srgbClr val="3253DC"/>
                </a:solidFill>
                <a:latin typeface="Consolas" pitchFamily="34" charset="0"/>
                <a:ea typeface="Consolas" pitchFamily="34" charset="-122"/>
                <a:cs typeface="Consolas" pitchFamily="34" charset="-120"/>
              </a:rPr>
              <a:t>PORT_NUM</a:t>
            </a:r>
            <a:r>
              <a:rPr lang="en-US" sz="950" dirty="0">
                <a:solidFill>
                  <a:srgbClr val="2E2E38"/>
                </a:solidFill>
                <a:latin typeface="Arial" pitchFamily="34" charset="0"/>
                <a:ea typeface="Arial" pitchFamily="34" charset="-122"/>
                <a:cs typeface="Arial" pitchFamily="34" charset="-120"/>
              </a:rPr>
              <a:t> / </a:t>
            </a:r>
            <a:r>
              <a:rPr lang="en-US" sz="900" b="1" dirty="0">
                <a:solidFill>
                  <a:srgbClr val="3253DC"/>
                </a:solidFill>
                <a:latin typeface="Consolas" pitchFamily="34" charset="0"/>
                <a:ea typeface="Consolas" pitchFamily="34" charset="-122"/>
                <a:cs typeface="Consolas" pitchFamily="34" charset="-120"/>
              </a:rPr>
              <a:t>TC_NUM</a:t>
            </a:r>
            <a:r>
              <a:rPr lang="en-US" sz="950" dirty="0">
                <a:solidFill>
                  <a:srgbClr val="2E2E38"/>
                </a:solidFill>
                <a:latin typeface="Arial" pitchFamily="34" charset="0"/>
                <a:ea typeface="Arial" pitchFamily="34" charset="-122"/>
                <a:cs typeface="Arial" pitchFamily="34" charset="-120"/>
              </a:rPr>
              <a:t> 派生，各子模块同源，保证设计的一致性与可扩展性。</a:t>
            </a:r>
            <a:endParaRPr lang="en-US" sz="950" dirty="0"/>
          </a:p>
        </p:txBody>
      </p:sp>
      <p:sp>
        <p:nvSpPr>
          <p:cNvPr id="8" name="Shape 5"/>
          <p:cNvSpPr/>
          <p:nvPr/>
        </p:nvSpPr>
        <p:spPr>
          <a:xfrm>
            <a:off x="428625" y="1388008"/>
            <a:ext cx="4036219" cy="2160984"/>
          </a:xfrm>
          <a:prstGeom prst="rect">
            <a:avLst/>
          </a:prstGeom>
          <a:solidFill>
            <a:srgbClr val="FFFFFF"/>
          </a:solidFill>
          <a:ln/>
        </p:spPr>
        <p:txBody>
          <a:bodyPr/>
          <a:lstStyle/>
          <a:p>
            <a:endParaRPr lang="zh-CN" altLang="en-US"/>
          </a:p>
        </p:txBody>
      </p:sp>
      <p:sp>
        <p:nvSpPr>
          <p:cNvPr id="9" name="Text 6"/>
          <p:cNvSpPr/>
          <p:nvPr/>
        </p:nvSpPr>
        <p:spPr>
          <a:xfrm>
            <a:off x="571500" y="1530883"/>
            <a:ext cx="3750469" cy="196453"/>
          </a:xfrm>
          <a:prstGeom prst="rect">
            <a:avLst/>
          </a:prstGeom>
          <a:noFill/>
          <a:ln/>
        </p:spPr>
        <p:txBody>
          <a:bodyPr wrap="square" lIns="0" tIns="0" rIns="0" bIns="0" rtlCol="0" anchor="t">
            <a:spAutoFit/>
          </a:bodyPr>
          <a:lstStyle/>
          <a:p>
            <a:pPr marL="0" indent="0" algn="l">
              <a:buNone/>
            </a:pPr>
            <a:r>
              <a:rPr lang="en-US" sz="1000" b="1" dirty="0">
                <a:solidFill>
                  <a:srgbClr val="3253DC"/>
                </a:solidFill>
                <a:latin typeface="Arial" pitchFamily="34" charset="0"/>
                <a:ea typeface="Arial" pitchFamily="34" charset="-122"/>
                <a:cs typeface="Arial" pitchFamily="34" charset="-120"/>
              </a:rPr>
              <a:t>顶层参数 (Top Parameters)</a:t>
            </a:r>
            <a:endParaRPr lang="en-US" sz="1000" dirty="0"/>
          </a:p>
        </p:txBody>
      </p:sp>
      <p:sp>
        <p:nvSpPr>
          <p:cNvPr id="10" name="Shape 7"/>
          <p:cNvSpPr/>
          <p:nvPr/>
        </p:nvSpPr>
        <p:spPr>
          <a:xfrm>
            <a:off x="575072" y="1834493"/>
            <a:ext cx="1076920" cy="282178"/>
          </a:xfrm>
          <a:prstGeom prst="rect">
            <a:avLst/>
          </a:prstGeom>
          <a:solidFill>
            <a:srgbClr val="6E6E7A"/>
          </a:solidFill>
          <a:ln/>
        </p:spPr>
        <p:txBody>
          <a:bodyPr/>
          <a:lstStyle/>
          <a:p>
            <a:endParaRPr lang="zh-CN" altLang="en-US"/>
          </a:p>
        </p:txBody>
      </p:sp>
      <p:sp>
        <p:nvSpPr>
          <p:cNvPr id="11" name="Text 8"/>
          <p:cNvSpPr/>
          <p:nvPr/>
        </p:nvSpPr>
        <p:spPr>
          <a:xfrm>
            <a:off x="575072" y="1834493"/>
            <a:ext cx="1076920" cy="282178"/>
          </a:xfrm>
          <a:prstGeom prst="rect">
            <a:avLst/>
          </a:prstGeom>
          <a:noFill/>
          <a:ln/>
        </p:spPr>
        <p:txBody>
          <a:bodyPr wrap="none" lIns="85090" tIns="85090" rIns="85090" bIns="85090" rtlCol="0" anchor="ctr">
            <a:spAutoFit/>
          </a:bodyPr>
          <a:lstStyle/>
          <a:p>
            <a:pPr marL="0" indent="0" algn="l">
              <a:buNone/>
            </a:pPr>
            <a:r>
              <a:rPr lang="en-US" sz="700" b="1" dirty="0">
                <a:solidFill>
                  <a:srgbClr val="FFFFFF"/>
                </a:solidFill>
                <a:latin typeface="Arial" pitchFamily="34" charset="0"/>
                <a:ea typeface="Arial" pitchFamily="34" charset="-122"/>
                <a:cs typeface="Arial" pitchFamily="34" charset="-120"/>
              </a:rPr>
              <a:t>参数</a:t>
            </a:r>
            <a:endParaRPr lang="en-US" sz="700" dirty="0"/>
          </a:p>
        </p:txBody>
      </p:sp>
      <p:sp>
        <p:nvSpPr>
          <p:cNvPr id="12" name="Shape 9"/>
          <p:cNvSpPr/>
          <p:nvPr/>
        </p:nvSpPr>
        <p:spPr>
          <a:xfrm>
            <a:off x="1651992" y="1834493"/>
            <a:ext cx="757014" cy="282178"/>
          </a:xfrm>
          <a:prstGeom prst="rect">
            <a:avLst/>
          </a:prstGeom>
          <a:solidFill>
            <a:srgbClr val="6E6E7A"/>
          </a:solidFill>
          <a:ln/>
        </p:spPr>
        <p:txBody>
          <a:bodyPr/>
          <a:lstStyle/>
          <a:p>
            <a:endParaRPr lang="zh-CN" altLang="en-US"/>
          </a:p>
        </p:txBody>
      </p:sp>
      <p:sp>
        <p:nvSpPr>
          <p:cNvPr id="13" name="Text 10"/>
          <p:cNvSpPr/>
          <p:nvPr/>
        </p:nvSpPr>
        <p:spPr>
          <a:xfrm>
            <a:off x="1651992" y="1834493"/>
            <a:ext cx="757014" cy="282178"/>
          </a:xfrm>
          <a:prstGeom prst="rect">
            <a:avLst/>
          </a:prstGeom>
          <a:noFill/>
          <a:ln/>
        </p:spPr>
        <p:txBody>
          <a:bodyPr wrap="none" lIns="85090" tIns="85090" rIns="85090" bIns="85090" rtlCol="0" anchor="ctr">
            <a:spAutoFit/>
          </a:bodyPr>
          <a:lstStyle/>
          <a:p>
            <a:pPr marL="0" indent="0" algn="l">
              <a:buNone/>
            </a:pPr>
            <a:r>
              <a:rPr lang="en-US" sz="700" b="1" dirty="0">
                <a:solidFill>
                  <a:srgbClr val="FFFFFF"/>
                </a:solidFill>
                <a:latin typeface="Arial" pitchFamily="34" charset="0"/>
                <a:ea typeface="Arial" pitchFamily="34" charset="-122"/>
                <a:cs typeface="Arial" pitchFamily="34" charset="-120"/>
              </a:rPr>
              <a:t>默认值</a:t>
            </a:r>
            <a:endParaRPr lang="en-US" sz="700" dirty="0"/>
          </a:p>
        </p:txBody>
      </p:sp>
      <p:sp>
        <p:nvSpPr>
          <p:cNvPr id="14" name="Shape 11"/>
          <p:cNvSpPr/>
          <p:nvPr/>
        </p:nvSpPr>
        <p:spPr>
          <a:xfrm>
            <a:off x="2409006" y="1834493"/>
            <a:ext cx="1909390" cy="282178"/>
          </a:xfrm>
          <a:prstGeom prst="rect">
            <a:avLst/>
          </a:prstGeom>
          <a:solidFill>
            <a:srgbClr val="6E6E7A"/>
          </a:solidFill>
          <a:ln/>
        </p:spPr>
        <p:txBody>
          <a:bodyPr/>
          <a:lstStyle/>
          <a:p>
            <a:endParaRPr lang="zh-CN" altLang="en-US"/>
          </a:p>
        </p:txBody>
      </p:sp>
      <p:sp>
        <p:nvSpPr>
          <p:cNvPr id="15" name="Text 12"/>
          <p:cNvSpPr/>
          <p:nvPr/>
        </p:nvSpPr>
        <p:spPr>
          <a:xfrm>
            <a:off x="2409006" y="1834493"/>
            <a:ext cx="1909390" cy="282178"/>
          </a:xfrm>
          <a:prstGeom prst="rect">
            <a:avLst/>
          </a:prstGeom>
          <a:noFill/>
          <a:ln/>
        </p:spPr>
        <p:txBody>
          <a:bodyPr wrap="square" lIns="85090" tIns="85090" rIns="85090" bIns="85090" rtlCol="0" anchor="ctr">
            <a:spAutoFit/>
          </a:bodyPr>
          <a:lstStyle/>
          <a:p>
            <a:pPr marL="0" indent="0" algn="l">
              <a:buNone/>
            </a:pPr>
            <a:r>
              <a:rPr lang="en-US" sz="700" b="1" dirty="0">
                <a:solidFill>
                  <a:srgbClr val="FFFFFF"/>
                </a:solidFill>
                <a:latin typeface="Arial" pitchFamily="34" charset="0"/>
                <a:ea typeface="Arial" pitchFamily="34" charset="-122"/>
                <a:cs typeface="Arial" pitchFamily="34" charset="-120"/>
              </a:rPr>
              <a:t>含义</a:t>
            </a:r>
            <a:endParaRPr lang="en-US" sz="700" dirty="0"/>
          </a:p>
        </p:txBody>
      </p:sp>
      <p:sp>
        <p:nvSpPr>
          <p:cNvPr id="16" name="Text 13"/>
          <p:cNvSpPr/>
          <p:nvPr/>
        </p:nvSpPr>
        <p:spPr>
          <a:xfrm>
            <a:off x="575072" y="2116671"/>
            <a:ext cx="1076920" cy="285750"/>
          </a:xfrm>
          <a:prstGeom prst="rect">
            <a:avLst/>
          </a:prstGeom>
          <a:noFill/>
          <a:ln/>
        </p:spPr>
        <p:txBody>
          <a:bodyPr wrap="none" lIns="85090" tIns="85090" rIns="85090" bIns="85090" rtlCol="0" anchor="ctr">
            <a:spAutoFit/>
          </a:bodyPr>
          <a:lstStyle/>
          <a:p>
            <a:pPr marL="0" indent="0" algn="l">
              <a:buNone/>
            </a:pPr>
            <a:r>
              <a:rPr lang="en-US" sz="700" b="1" dirty="0">
                <a:solidFill>
                  <a:srgbClr val="3253DC"/>
                </a:solidFill>
                <a:latin typeface="Consolas" pitchFamily="34" charset="0"/>
                <a:ea typeface="Consolas" pitchFamily="34" charset="-122"/>
                <a:cs typeface="Consolas" pitchFamily="34" charset="-120"/>
              </a:rPr>
              <a:t>CELL_NUM</a:t>
            </a:r>
            <a:endParaRPr lang="en-US" sz="700" dirty="0"/>
          </a:p>
        </p:txBody>
      </p:sp>
      <p:sp>
        <p:nvSpPr>
          <p:cNvPr id="17" name="Text 14"/>
          <p:cNvSpPr/>
          <p:nvPr/>
        </p:nvSpPr>
        <p:spPr>
          <a:xfrm>
            <a:off x="1651992" y="2116671"/>
            <a:ext cx="757014" cy="285750"/>
          </a:xfrm>
          <a:prstGeom prst="rect">
            <a:avLst/>
          </a:prstGeom>
          <a:noFill/>
          <a:ln/>
        </p:spPr>
        <p:txBody>
          <a:bodyPr wrap="non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8192</a:t>
            </a:r>
            <a:endParaRPr lang="en-US" sz="750" dirty="0"/>
          </a:p>
        </p:txBody>
      </p:sp>
      <p:sp>
        <p:nvSpPr>
          <p:cNvPr id="18" name="Text 15"/>
          <p:cNvSpPr/>
          <p:nvPr/>
        </p:nvSpPr>
        <p:spPr>
          <a:xfrm>
            <a:off x="2409006" y="2116671"/>
            <a:ext cx="1909390" cy="285750"/>
          </a:xfrm>
          <a:prstGeom prst="rect">
            <a:avLst/>
          </a:prstGeom>
          <a:noFill/>
          <a:ln/>
        </p:spPr>
        <p:txBody>
          <a:bodyPr wrap="squar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总 cell 数 (2MB/256B)</a:t>
            </a:r>
            <a:endParaRPr lang="en-US" sz="750" dirty="0"/>
          </a:p>
        </p:txBody>
      </p:sp>
      <p:sp>
        <p:nvSpPr>
          <p:cNvPr id="19" name="Text 16"/>
          <p:cNvSpPr/>
          <p:nvPr/>
        </p:nvSpPr>
        <p:spPr>
          <a:xfrm>
            <a:off x="575072" y="2402421"/>
            <a:ext cx="1076920" cy="285750"/>
          </a:xfrm>
          <a:prstGeom prst="rect">
            <a:avLst/>
          </a:prstGeom>
          <a:noFill/>
          <a:ln/>
        </p:spPr>
        <p:txBody>
          <a:bodyPr wrap="none" lIns="85090" tIns="85090" rIns="85090" bIns="85090" rtlCol="0" anchor="ctr">
            <a:spAutoFit/>
          </a:bodyPr>
          <a:lstStyle/>
          <a:p>
            <a:pPr marL="0" indent="0" algn="l">
              <a:buNone/>
            </a:pPr>
            <a:r>
              <a:rPr lang="en-US" sz="700" b="1" dirty="0">
                <a:solidFill>
                  <a:srgbClr val="3253DC"/>
                </a:solidFill>
                <a:latin typeface="Consolas" pitchFamily="34" charset="0"/>
                <a:ea typeface="Consolas" pitchFamily="34" charset="-122"/>
                <a:cs typeface="Consolas" pitchFamily="34" charset="-120"/>
              </a:rPr>
              <a:t>PORT_NUM</a:t>
            </a:r>
            <a:endParaRPr lang="en-US" sz="700" dirty="0"/>
          </a:p>
        </p:txBody>
      </p:sp>
      <p:sp>
        <p:nvSpPr>
          <p:cNvPr id="20" name="Text 17"/>
          <p:cNvSpPr/>
          <p:nvPr/>
        </p:nvSpPr>
        <p:spPr>
          <a:xfrm>
            <a:off x="1651992" y="2402421"/>
            <a:ext cx="757014" cy="285750"/>
          </a:xfrm>
          <a:prstGeom prst="rect">
            <a:avLst/>
          </a:prstGeom>
          <a:noFill/>
          <a:ln/>
        </p:spPr>
        <p:txBody>
          <a:bodyPr wrap="non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4</a:t>
            </a:r>
            <a:endParaRPr lang="en-US" sz="750" dirty="0"/>
          </a:p>
        </p:txBody>
      </p:sp>
      <p:sp>
        <p:nvSpPr>
          <p:cNvPr id="21" name="Text 18"/>
          <p:cNvSpPr/>
          <p:nvPr/>
        </p:nvSpPr>
        <p:spPr>
          <a:xfrm>
            <a:off x="2409006" y="2402421"/>
            <a:ext cx="1909390" cy="285750"/>
          </a:xfrm>
          <a:prstGeom prst="rect">
            <a:avLst/>
          </a:prstGeom>
          <a:noFill/>
          <a:ln/>
        </p:spPr>
        <p:txBody>
          <a:bodyPr wrap="squar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物理出端口数</a:t>
            </a:r>
            <a:endParaRPr lang="en-US" sz="750" dirty="0"/>
          </a:p>
        </p:txBody>
      </p:sp>
      <p:sp>
        <p:nvSpPr>
          <p:cNvPr id="22" name="Text 19"/>
          <p:cNvSpPr/>
          <p:nvPr/>
        </p:nvSpPr>
        <p:spPr>
          <a:xfrm>
            <a:off x="575072" y="2688171"/>
            <a:ext cx="1076920" cy="285750"/>
          </a:xfrm>
          <a:prstGeom prst="rect">
            <a:avLst/>
          </a:prstGeom>
          <a:noFill/>
          <a:ln/>
        </p:spPr>
        <p:txBody>
          <a:bodyPr wrap="none" lIns="85090" tIns="85090" rIns="85090" bIns="85090" rtlCol="0" anchor="ctr">
            <a:spAutoFit/>
          </a:bodyPr>
          <a:lstStyle/>
          <a:p>
            <a:pPr marL="0" indent="0" algn="l">
              <a:buNone/>
            </a:pPr>
            <a:r>
              <a:rPr lang="en-US" sz="700" b="1" dirty="0">
                <a:solidFill>
                  <a:srgbClr val="3253DC"/>
                </a:solidFill>
                <a:latin typeface="Consolas" pitchFamily="34" charset="0"/>
                <a:ea typeface="Consolas" pitchFamily="34" charset="-122"/>
                <a:cs typeface="Consolas" pitchFamily="34" charset="-120"/>
              </a:rPr>
              <a:t>TC_NUM</a:t>
            </a:r>
            <a:endParaRPr lang="en-US" sz="700" dirty="0"/>
          </a:p>
        </p:txBody>
      </p:sp>
      <p:sp>
        <p:nvSpPr>
          <p:cNvPr id="23" name="Text 20"/>
          <p:cNvSpPr/>
          <p:nvPr/>
        </p:nvSpPr>
        <p:spPr>
          <a:xfrm>
            <a:off x="1651992" y="2688171"/>
            <a:ext cx="757014" cy="285750"/>
          </a:xfrm>
          <a:prstGeom prst="rect">
            <a:avLst/>
          </a:prstGeom>
          <a:noFill/>
          <a:ln/>
        </p:spPr>
        <p:txBody>
          <a:bodyPr wrap="non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8</a:t>
            </a:r>
            <a:endParaRPr lang="en-US" sz="750" dirty="0"/>
          </a:p>
        </p:txBody>
      </p:sp>
      <p:sp>
        <p:nvSpPr>
          <p:cNvPr id="24" name="Text 21"/>
          <p:cNvSpPr/>
          <p:nvPr/>
        </p:nvSpPr>
        <p:spPr>
          <a:xfrm>
            <a:off x="2409006" y="2688171"/>
            <a:ext cx="1909390" cy="285750"/>
          </a:xfrm>
          <a:prstGeom prst="rect">
            <a:avLst/>
          </a:prstGeom>
          <a:noFill/>
          <a:ln/>
        </p:spPr>
        <p:txBody>
          <a:bodyPr wrap="squar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每端口 TC 数</a:t>
            </a:r>
            <a:endParaRPr lang="en-US" sz="750" dirty="0"/>
          </a:p>
        </p:txBody>
      </p:sp>
      <p:sp>
        <p:nvSpPr>
          <p:cNvPr id="25" name="Text 22"/>
          <p:cNvSpPr/>
          <p:nvPr/>
        </p:nvSpPr>
        <p:spPr>
          <a:xfrm>
            <a:off x="575072" y="2973921"/>
            <a:ext cx="1076920" cy="285750"/>
          </a:xfrm>
          <a:prstGeom prst="rect">
            <a:avLst/>
          </a:prstGeom>
          <a:noFill/>
          <a:ln/>
        </p:spPr>
        <p:txBody>
          <a:bodyPr wrap="none" lIns="85090" tIns="85090" rIns="85090" bIns="85090" rtlCol="0" anchor="ctr">
            <a:spAutoFit/>
          </a:bodyPr>
          <a:lstStyle/>
          <a:p>
            <a:pPr marL="0" indent="0" algn="l">
              <a:buNone/>
            </a:pPr>
            <a:r>
              <a:rPr lang="en-US" sz="700" b="1" dirty="0">
                <a:solidFill>
                  <a:srgbClr val="3253DC"/>
                </a:solidFill>
                <a:latin typeface="Consolas" pitchFamily="34" charset="0"/>
                <a:ea typeface="Consolas" pitchFamily="34" charset="-122"/>
                <a:cs typeface="Consolas" pitchFamily="34" charset="-120"/>
              </a:rPr>
              <a:t>REF_W</a:t>
            </a:r>
            <a:endParaRPr lang="en-US" sz="700" dirty="0"/>
          </a:p>
        </p:txBody>
      </p:sp>
      <p:sp>
        <p:nvSpPr>
          <p:cNvPr id="26" name="Text 23"/>
          <p:cNvSpPr/>
          <p:nvPr/>
        </p:nvSpPr>
        <p:spPr>
          <a:xfrm>
            <a:off x="1651992" y="2973921"/>
            <a:ext cx="757014" cy="285750"/>
          </a:xfrm>
          <a:prstGeom prst="rect">
            <a:avLst/>
          </a:prstGeom>
          <a:noFill/>
          <a:ln/>
        </p:spPr>
        <p:txBody>
          <a:bodyPr wrap="non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3</a:t>
            </a:r>
            <a:endParaRPr lang="en-US" sz="750" dirty="0"/>
          </a:p>
        </p:txBody>
      </p:sp>
      <p:sp>
        <p:nvSpPr>
          <p:cNvPr id="27" name="Text 24"/>
          <p:cNvSpPr/>
          <p:nvPr/>
        </p:nvSpPr>
        <p:spPr>
          <a:xfrm>
            <a:off x="2409006" y="2973921"/>
            <a:ext cx="1909390" cy="285750"/>
          </a:xfrm>
          <a:prstGeom prst="rect">
            <a:avLst/>
          </a:prstGeom>
          <a:noFill/>
          <a:ln/>
        </p:spPr>
        <p:txBody>
          <a:bodyPr wrap="squar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组播 ref_count 位宽</a:t>
            </a:r>
            <a:endParaRPr lang="en-US" sz="750" dirty="0"/>
          </a:p>
        </p:txBody>
      </p:sp>
      <p:sp>
        <p:nvSpPr>
          <p:cNvPr id="28" name="Text 25"/>
          <p:cNvSpPr/>
          <p:nvPr/>
        </p:nvSpPr>
        <p:spPr>
          <a:xfrm>
            <a:off x="575072" y="3259671"/>
            <a:ext cx="1076920" cy="285750"/>
          </a:xfrm>
          <a:prstGeom prst="rect">
            <a:avLst/>
          </a:prstGeom>
          <a:noFill/>
          <a:ln/>
        </p:spPr>
        <p:txBody>
          <a:bodyPr wrap="none" lIns="85090" tIns="85090" rIns="85090" bIns="85090" rtlCol="0" anchor="ctr">
            <a:spAutoFit/>
          </a:bodyPr>
          <a:lstStyle/>
          <a:p>
            <a:pPr marL="0" indent="0" algn="l">
              <a:buNone/>
            </a:pPr>
            <a:r>
              <a:rPr lang="en-US" sz="700" b="1" dirty="0">
                <a:solidFill>
                  <a:srgbClr val="3253DC"/>
                </a:solidFill>
                <a:latin typeface="Consolas" pitchFamily="34" charset="0"/>
                <a:ea typeface="Consolas" pitchFamily="34" charset="-122"/>
                <a:cs typeface="Consolas" pitchFamily="34" charset="-120"/>
              </a:rPr>
              <a:t>STAT_W</a:t>
            </a:r>
            <a:endParaRPr lang="en-US" sz="700" dirty="0"/>
          </a:p>
        </p:txBody>
      </p:sp>
      <p:sp>
        <p:nvSpPr>
          <p:cNvPr id="29" name="Text 26"/>
          <p:cNvSpPr/>
          <p:nvPr/>
        </p:nvSpPr>
        <p:spPr>
          <a:xfrm>
            <a:off x="1651992" y="3259671"/>
            <a:ext cx="757014" cy="285750"/>
          </a:xfrm>
          <a:prstGeom prst="rect">
            <a:avLst/>
          </a:prstGeom>
          <a:noFill/>
          <a:ln/>
        </p:spPr>
        <p:txBody>
          <a:bodyPr wrap="non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32</a:t>
            </a:r>
            <a:endParaRPr lang="en-US" sz="750" dirty="0"/>
          </a:p>
        </p:txBody>
      </p:sp>
      <p:sp>
        <p:nvSpPr>
          <p:cNvPr id="30" name="Text 27"/>
          <p:cNvSpPr/>
          <p:nvPr/>
        </p:nvSpPr>
        <p:spPr>
          <a:xfrm>
            <a:off x="2409006" y="3259671"/>
            <a:ext cx="1909390" cy="285750"/>
          </a:xfrm>
          <a:prstGeom prst="rect">
            <a:avLst/>
          </a:prstGeom>
          <a:noFill/>
          <a:ln/>
        </p:spPr>
        <p:txBody>
          <a:bodyPr wrap="squar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统计计数器位宽</a:t>
            </a:r>
            <a:endParaRPr lang="en-US" sz="750" dirty="0"/>
          </a:p>
        </p:txBody>
      </p:sp>
      <p:sp>
        <p:nvSpPr>
          <p:cNvPr id="31" name="Shape 28"/>
          <p:cNvSpPr/>
          <p:nvPr/>
        </p:nvSpPr>
        <p:spPr>
          <a:xfrm>
            <a:off x="4679156" y="1388008"/>
            <a:ext cx="4036219" cy="2160984"/>
          </a:xfrm>
          <a:prstGeom prst="rect">
            <a:avLst/>
          </a:prstGeom>
          <a:solidFill>
            <a:srgbClr val="FFFFFF"/>
          </a:solidFill>
          <a:ln/>
        </p:spPr>
        <p:txBody>
          <a:bodyPr/>
          <a:lstStyle/>
          <a:p>
            <a:endParaRPr lang="zh-CN" altLang="en-US"/>
          </a:p>
        </p:txBody>
      </p:sp>
      <p:sp>
        <p:nvSpPr>
          <p:cNvPr id="32" name="Text 29"/>
          <p:cNvSpPr/>
          <p:nvPr/>
        </p:nvSpPr>
        <p:spPr>
          <a:xfrm>
            <a:off x="4822031" y="1530883"/>
            <a:ext cx="3750469" cy="196453"/>
          </a:xfrm>
          <a:prstGeom prst="rect">
            <a:avLst/>
          </a:prstGeom>
          <a:noFill/>
          <a:ln/>
        </p:spPr>
        <p:txBody>
          <a:bodyPr wrap="square" lIns="0" tIns="0" rIns="0" bIns="0" rtlCol="0" anchor="t">
            <a:spAutoFit/>
          </a:bodyPr>
          <a:lstStyle/>
          <a:p>
            <a:pPr marL="0" indent="0" algn="l">
              <a:buNone/>
            </a:pPr>
            <a:r>
              <a:rPr lang="en-US" sz="1000" b="1" dirty="0">
                <a:solidFill>
                  <a:srgbClr val="3253DC"/>
                </a:solidFill>
                <a:latin typeface="Arial" pitchFamily="34" charset="0"/>
                <a:ea typeface="Arial" pitchFamily="34" charset="-122"/>
                <a:cs typeface="Arial" pitchFamily="34" charset="-120"/>
              </a:rPr>
              <a:t>派生常量 (Localparams)</a:t>
            </a:r>
            <a:endParaRPr lang="en-US" sz="1000" dirty="0"/>
          </a:p>
        </p:txBody>
      </p:sp>
      <p:sp>
        <p:nvSpPr>
          <p:cNvPr id="33" name="Shape 30"/>
          <p:cNvSpPr/>
          <p:nvPr/>
        </p:nvSpPr>
        <p:spPr>
          <a:xfrm>
            <a:off x="4825603" y="1834493"/>
            <a:ext cx="1234920" cy="282178"/>
          </a:xfrm>
          <a:prstGeom prst="rect">
            <a:avLst/>
          </a:prstGeom>
          <a:solidFill>
            <a:srgbClr val="6E6E7A"/>
          </a:solidFill>
          <a:ln/>
        </p:spPr>
        <p:txBody>
          <a:bodyPr/>
          <a:lstStyle/>
          <a:p>
            <a:endParaRPr lang="zh-CN" altLang="en-US"/>
          </a:p>
        </p:txBody>
      </p:sp>
      <p:sp>
        <p:nvSpPr>
          <p:cNvPr id="34" name="Text 31"/>
          <p:cNvSpPr/>
          <p:nvPr/>
        </p:nvSpPr>
        <p:spPr>
          <a:xfrm>
            <a:off x="4825603" y="1834493"/>
            <a:ext cx="1234920" cy="282178"/>
          </a:xfrm>
          <a:prstGeom prst="rect">
            <a:avLst/>
          </a:prstGeom>
          <a:noFill/>
          <a:ln/>
        </p:spPr>
        <p:txBody>
          <a:bodyPr wrap="none" lIns="85090" tIns="85090" rIns="85090" bIns="85090" rtlCol="0" anchor="ctr">
            <a:spAutoFit/>
          </a:bodyPr>
          <a:lstStyle/>
          <a:p>
            <a:pPr marL="0" indent="0" algn="l">
              <a:buNone/>
            </a:pPr>
            <a:r>
              <a:rPr lang="en-US" sz="700" b="1" dirty="0">
                <a:solidFill>
                  <a:srgbClr val="FFFFFF"/>
                </a:solidFill>
                <a:latin typeface="Arial" pitchFamily="34" charset="0"/>
                <a:ea typeface="Arial" pitchFamily="34" charset="-122"/>
                <a:cs typeface="Arial" pitchFamily="34" charset="-120"/>
              </a:rPr>
              <a:t>派生量</a:t>
            </a:r>
            <a:endParaRPr lang="en-US" sz="700" dirty="0"/>
          </a:p>
        </p:txBody>
      </p:sp>
      <p:sp>
        <p:nvSpPr>
          <p:cNvPr id="35" name="Shape 32"/>
          <p:cNvSpPr/>
          <p:nvPr/>
        </p:nvSpPr>
        <p:spPr>
          <a:xfrm>
            <a:off x="6060523" y="1834493"/>
            <a:ext cx="1546733" cy="282178"/>
          </a:xfrm>
          <a:prstGeom prst="rect">
            <a:avLst/>
          </a:prstGeom>
          <a:solidFill>
            <a:srgbClr val="6E6E7A"/>
          </a:solidFill>
          <a:ln/>
        </p:spPr>
        <p:txBody>
          <a:bodyPr/>
          <a:lstStyle/>
          <a:p>
            <a:endParaRPr lang="zh-CN" altLang="en-US"/>
          </a:p>
        </p:txBody>
      </p:sp>
      <p:sp>
        <p:nvSpPr>
          <p:cNvPr id="36" name="Text 33"/>
          <p:cNvSpPr/>
          <p:nvPr/>
        </p:nvSpPr>
        <p:spPr>
          <a:xfrm>
            <a:off x="6060523" y="1834493"/>
            <a:ext cx="1546733" cy="282178"/>
          </a:xfrm>
          <a:prstGeom prst="rect">
            <a:avLst/>
          </a:prstGeom>
          <a:noFill/>
          <a:ln/>
        </p:spPr>
        <p:txBody>
          <a:bodyPr wrap="square" lIns="85090" tIns="85090" rIns="85090" bIns="85090" rtlCol="0" anchor="ctr">
            <a:spAutoFit/>
          </a:bodyPr>
          <a:lstStyle/>
          <a:p>
            <a:pPr marL="0" indent="0" algn="l">
              <a:buNone/>
            </a:pPr>
            <a:r>
              <a:rPr lang="en-US" sz="700" b="1" dirty="0">
                <a:solidFill>
                  <a:srgbClr val="FFFFFF"/>
                </a:solidFill>
                <a:latin typeface="Arial" pitchFamily="34" charset="0"/>
                <a:ea typeface="Arial" pitchFamily="34" charset="-122"/>
                <a:cs typeface="Arial" pitchFamily="34" charset="-120"/>
              </a:rPr>
              <a:t>表达式</a:t>
            </a:r>
            <a:endParaRPr lang="en-US" sz="700" dirty="0"/>
          </a:p>
        </p:txBody>
      </p:sp>
      <p:sp>
        <p:nvSpPr>
          <p:cNvPr id="37" name="Shape 34"/>
          <p:cNvSpPr/>
          <p:nvPr/>
        </p:nvSpPr>
        <p:spPr>
          <a:xfrm>
            <a:off x="7607257" y="1834493"/>
            <a:ext cx="961672" cy="282178"/>
          </a:xfrm>
          <a:prstGeom prst="rect">
            <a:avLst/>
          </a:prstGeom>
          <a:solidFill>
            <a:srgbClr val="6E6E7A"/>
          </a:solidFill>
          <a:ln/>
        </p:spPr>
        <p:txBody>
          <a:bodyPr/>
          <a:lstStyle/>
          <a:p>
            <a:endParaRPr lang="zh-CN" altLang="en-US"/>
          </a:p>
        </p:txBody>
      </p:sp>
      <p:sp>
        <p:nvSpPr>
          <p:cNvPr id="38" name="Text 35"/>
          <p:cNvSpPr/>
          <p:nvPr/>
        </p:nvSpPr>
        <p:spPr>
          <a:xfrm>
            <a:off x="7607257" y="1834493"/>
            <a:ext cx="961672" cy="282178"/>
          </a:xfrm>
          <a:prstGeom prst="rect">
            <a:avLst/>
          </a:prstGeom>
          <a:noFill/>
          <a:ln/>
        </p:spPr>
        <p:txBody>
          <a:bodyPr wrap="none" lIns="85090" tIns="85090" rIns="85090" bIns="85090" rtlCol="0" anchor="ctr">
            <a:spAutoFit/>
          </a:bodyPr>
          <a:lstStyle/>
          <a:p>
            <a:pPr marL="0" indent="0" algn="l">
              <a:buNone/>
            </a:pPr>
            <a:r>
              <a:rPr lang="en-US" sz="700" b="1" dirty="0">
                <a:solidFill>
                  <a:srgbClr val="FFFFFF"/>
                </a:solidFill>
                <a:latin typeface="Arial" pitchFamily="34" charset="0"/>
                <a:ea typeface="Arial" pitchFamily="34" charset="-122"/>
                <a:cs typeface="Arial" pitchFamily="34" charset="-120"/>
              </a:rPr>
              <a:t>值 (默认)</a:t>
            </a:r>
            <a:endParaRPr lang="en-US" sz="700" dirty="0"/>
          </a:p>
        </p:txBody>
      </p:sp>
      <p:sp>
        <p:nvSpPr>
          <p:cNvPr id="39" name="Text 36"/>
          <p:cNvSpPr/>
          <p:nvPr/>
        </p:nvSpPr>
        <p:spPr>
          <a:xfrm>
            <a:off x="4825603" y="2116671"/>
            <a:ext cx="1234920" cy="285750"/>
          </a:xfrm>
          <a:prstGeom prst="rect">
            <a:avLst/>
          </a:prstGeom>
          <a:noFill/>
          <a:ln/>
        </p:spPr>
        <p:txBody>
          <a:bodyPr wrap="none" lIns="85090" tIns="85090" rIns="85090" bIns="85090" rtlCol="0" anchor="ctr">
            <a:spAutoFit/>
          </a:bodyPr>
          <a:lstStyle/>
          <a:p>
            <a:pPr marL="0" indent="0" algn="l">
              <a:buNone/>
            </a:pPr>
            <a:r>
              <a:rPr lang="en-US" sz="700" b="1" dirty="0">
                <a:solidFill>
                  <a:srgbClr val="3253DC"/>
                </a:solidFill>
                <a:latin typeface="Consolas" pitchFamily="34" charset="0"/>
                <a:ea typeface="Consolas" pitchFamily="34" charset="-122"/>
                <a:cs typeface="Consolas" pitchFamily="34" charset="-120"/>
              </a:rPr>
              <a:t>QUEUE_NUM</a:t>
            </a:r>
            <a:endParaRPr lang="en-US" sz="700" dirty="0"/>
          </a:p>
        </p:txBody>
      </p:sp>
      <p:sp>
        <p:nvSpPr>
          <p:cNvPr id="40" name="Text 37"/>
          <p:cNvSpPr/>
          <p:nvPr/>
        </p:nvSpPr>
        <p:spPr>
          <a:xfrm>
            <a:off x="6060523" y="2116671"/>
            <a:ext cx="1546733" cy="285750"/>
          </a:xfrm>
          <a:prstGeom prst="rect">
            <a:avLst/>
          </a:prstGeom>
          <a:noFill/>
          <a:ln/>
        </p:spPr>
        <p:txBody>
          <a:bodyPr wrap="squar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PORT*TC+1</a:t>
            </a:r>
            <a:endParaRPr lang="en-US" sz="750" dirty="0"/>
          </a:p>
        </p:txBody>
      </p:sp>
      <p:sp>
        <p:nvSpPr>
          <p:cNvPr id="41" name="Text 38"/>
          <p:cNvSpPr/>
          <p:nvPr/>
        </p:nvSpPr>
        <p:spPr>
          <a:xfrm>
            <a:off x="7607257" y="2116671"/>
            <a:ext cx="961672" cy="285750"/>
          </a:xfrm>
          <a:prstGeom prst="rect">
            <a:avLst/>
          </a:prstGeom>
          <a:noFill/>
          <a:ln/>
        </p:spPr>
        <p:txBody>
          <a:bodyPr wrap="non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33</a:t>
            </a:r>
            <a:endParaRPr lang="en-US" sz="750" dirty="0"/>
          </a:p>
        </p:txBody>
      </p:sp>
      <p:sp>
        <p:nvSpPr>
          <p:cNvPr id="42" name="Text 39"/>
          <p:cNvSpPr/>
          <p:nvPr/>
        </p:nvSpPr>
        <p:spPr>
          <a:xfrm>
            <a:off x="4825603" y="2402421"/>
            <a:ext cx="1234920" cy="285750"/>
          </a:xfrm>
          <a:prstGeom prst="rect">
            <a:avLst/>
          </a:prstGeom>
          <a:noFill/>
          <a:ln/>
        </p:spPr>
        <p:txBody>
          <a:bodyPr wrap="none" lIns="85090" tIns="85090" rIns="85090" bIns="85090" rtlCol="0" anchor="ctr">
            <a:spAutoFit/>
          </a:bodyPr>
          <a:lstStyle/>
          <a:p>
            <a:pPr marL="0" indent="0" algn="l">
              <a:buNone/>
            </a:pPr>
            <a:r>
              <a:rPr lang="en-US" sz="700" b="1" dirty="0">
                <a:solidFill>
                  <a:srgbClr val="3253DC"/>
                </a:solidFill>
                <a:latin typeface="Consolas" pitchFamily="34" charset="0"/>
                <a:ea typeface="Consolas" pitchFamily="34" charset="-122"/>
                <a:cs typeface="Consolas" pitchFamily="34" charset="-120"/>
              </a:rPr>
              <a:t>ADDR_W</a:t>
            </a:r>
            <a:endParaRPr lang="en-US" sz="700" dirty="0"/>
          </a:p>
        </p:txBody>
      </p:sp>
      <p:sp>
        <p:nvSpPr>
          <p:cNvPr id="43" name="Text 40"/>
          <p:cNvSpPr/>
          <p:nvPr/>
        </p:nvSpPr>
        <p:spPr>
          <a:xfrm>
            <a:off x="6060523" y="2402421"/>
            <a:ext cx="1546733" cy="285750"/>
          </a:xfrm>
          <a:prstGeom prst="rect">
            <a:avLst/>
          </a:prstGeom>
          <a:noFill/>
          <a:ln/>
        </p:spPr>
        <p:txBody>
          <a:bodyPr wrap="squar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$clog2(CELL)</a:t>
            </a:r>
            <a:endParaRPr lang="en-US" sz="750" dirty="0"/>
          </a:p>
        </p:txBody>
      </p:sp>
      <p:sp>
        <p:nvSpPr>
          <p:cNvPr id="44" name="Text 41"/>
          <p:cNvSpPr/>
          <p:nvPr/>
        </p:nvSpPr>
        <p:spPr>
          <a:xfrm>
            <a:off x="7607257" y="2402421"/>
            <a:ext cx="961672" cy="285750"/>
          </a:xfrm>
          <a:prstGeom prst="rect">
            <a:avLst/>
          </a:prstGeom>
          <a:noFill/>
          <a:ln/>
        </p:spPr>
        <p:txBody>
          <a:bodyPr wrap="non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13</a:t>
            </a:r>
            <a:endParaRPr lang="en-US" sz="750" dirty="0"/>
          </a:p>
        </p:txBody>
      </p:sp>
      <p:sp>
        <p:nvSpPr>
          <p:cNvPr id="45" name="Text 42"/>
          <p:cNvSpPr/>
          <p:nvPr/>
        </p:nvSpPr>
        <p:spPr>
          <a:xfrm>
            <a:off x="4825603" y="2688171"/>
            <a:ext cx="1234920" cy="285750"/>
          </a:xfrm>
          <a:prstGeom prst="rect">
            <a:avLst/>
          </a:prstGeom>
          <a:noFill/>
          <a:ln/>
        </p:spPr>
        <p:txBody>
          <a:bodyPr wrap="none" lIns="85090" tIns="85090" rIns="85090" bIns="85090" rtlCol="0" anchor="ctr">
            <a:spAutoFit/>
          </a:bodyPr>
          <a:lstStyle/>
          <a:p>
            <a:pPr marL="0" indent="0" algn="l">
              <a:buNone/>
            </a:pPr>
            <a:r>
              <a:rPr lang="en-US" sz="700" b="1" dirty="0">
                <a:solidFill>
                  <a:srgbClr val="3253DC"/>
                </a:solidFill>
                <a:latin typeface="Consolas" pitchFamily="34" charset="0"/>
                <a:ea typeface="Consolas" pitchFamily="34" charset="-122"/>
                <a:cs typeface="Consolas" pitchFamily="34" charset="-120"/>
              </a:rPr>
              <a:t>QID_W</a:t>
            </a:r>
            <a:endParaRPr lang="en-US" sz="700" dirty="0"/>
          </a:p>
        </p:txBody>
      </p:sp>
      <p:sp>
        <p:nvSpPr>
          <p:cNvPr id="46" name="Text 43"/>
          <p:cNvSpPr/>
          <p:nvPr/>
        </p:nvSpPr>
        <p:spPr>
          <a:xfrm>
            <a:off x="6060523" y="2688171"/>
            <a:ext cx="1546733" cy="285750"/>
          </a:xfrm>
          <a:prstGeom prst="rect">
            <a:avLst/>
          </a:prstGeom>
          <a:noFill/>
          <a:ln/>
        </p:spPr>
        <p:txBody>
          <a:bodyPr wrap="squar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$clog2(QN-1)+1</a:t>
            </a:r>
            <a:endParaRPr lang="en-US" sz="750" dirty="0"/>
          </a:p>
        </p:txBody>
      </p:sp>
      <p:sp>
        <p:nvSpPr>
          <p:cNvPr id="47" name="Text 44"/>
          <p:cNvSpPr/>
          <p:nvPr/>
        </p:nvSpPr>
        <p:spPr>
          <a:xfrm>
            <a:off x="7607257" y="2688171"/>
            <a:ext cx="961672" cy="285750"/>
          </a:xfrm>
          <a:prstGeom prst="rect">
            <a:avLst/>
          </a:prstGeom>
          <a:noFill/>
          <a:ln/>
        </p:spPr>
        <p:txBody>
          <a:bodyPr wrap="non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6</a:t>
            </a:r>
            <a:endParaRPr lang="en-US" sz="750" dirty="0"/>
          </a:p>
        </p:txBody>
      </p:sp>
      <p:sp>
        <p:nvSpPr>
          <p:cNvPr id="48" name="Text 45"/>
          <p:cNvSpPr/>
          <p:nvPr/>
        </p:nvSpPr>
        <p:spPr>
          <a:xfrm>
            <a:off x="4825603" y="2973921"/>
            <a:ext cx="1234920" cy="285750"/>
          </a:xfrm>
          <a:prstGeom prst="rect">
            <a:avLst/>
          </a:prstGeom>
          <a:noFill/>
          <a:ln/>
        </p:spPr>
        <p:txBody>
          <a:bodyPr wrap="none" lIns="85090" tIns="85090" rIns="85090" bIns="85090" rtlCol="0" anchor="ctr">
            <a:spAutoFit/>
          </a:bodyPr>
          <a:lstStyle/>
          <a:p>
            <a:pPr marL="0" indent="0" algn="l">
              <a:buNone/>
            </a:pPr>
            <a:r>
              <a:rPr lang="en-US" sz="700" b="1" dirty="0">
                <a:solidFill>
                  <a:srgbClr val="3253DC"/>
                </a:solidFill>
                <a:latin typeface="Consolas" pitchFamily="34" charset="0"/>
                <a:ea typeface="Consolas" pitchFamily="34" charset="-122"/>
                <a:cs typeface="Consolas" pitchFamily="34" charset="-120"/>
              </a:rPr>
              <a:t>PORT_W</a:t>
            </a:r>
            <a:endParaRPr lang="en-US" sz="700" dirty="0"/>
          </a:p>
        </p:txBody>
      </p:sp>
      <p:sp>
        <p:nvSpPr>
          <p:cNvPr id="49" name="Text 46"/>
          <p:cNvSpPr/>
          <p:nvPr/>
        </p:nvSpPr>
        <p:spPr>
          <a:xfrm>
            <a:off x="6060523" y="2973921"/>
            <a:ext cx="1546733" cy="285750"/>
          </a:xfrm>
          <a:prstGeom prst="rect">
            <a:avLst/>
          </a:prstGeom>
          <a:noFill/>
          <a:ln/>
        </p:spPr>
        <p:txBody>
          <a:bodyPr wrap="squar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$clog2(PN-1)+1</a:t>
            </a:r>
            <a:endParaRPr lang="en-US" sz="750" dirty="0"/>
          </a:p>
        </p:txBody>
      </p:sp>
      <p:sp>
        <p:nvSpPr>
          <p:cNvPr id="50" name="Text 47"/>
          <p:cNvSpPr/>
          <p:nvPr/>
        </p:nvSpPr>
        <p:spPr>
          <a:xfrm>
            <a:off x="7607257" y="2973921"/>
            <a:ext cx="961672" cy="285750"/>
          </a:xfrm>
          <a:prstGeom prst="rect">
            <a:avLst/>
          </a:prstGeom>
          <a:noFill/>
          <a:ln/>
        </p:spPr>
        <p:txBody>
          <a:bodyPr wrap="non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2</a:t>
            </a:r>
            <a:endParaRPr lang="en-US" sz="750" dirty="0"/>
          </a:p>
        </p:txBody>
      </p:sp>
      <p:sp>
        <p:nvSpPr>
          <p:cNvPr id="51" name="Text 48"/>
          <p:cNvSpPr/>
          <p:nvPr/>
        </p:nvSpPr>
        <p:spPr>
          <a:xfrm>
            <a:off x="4825603" y="3259671"/>
            <a:ext cx="1234920" cy="285750"/>
          </a:xfrm>
          <a:prstGeom prst="rect">
            <a:avLst/>
          </a:prstGeom>
          <a:noFill/>
          <a:ln/>
        </p:spPr>
        <p:txBody>
          <a:bodyPr wrap="none" lIns="85090" tIns="85090" rIns="85090" bIns="85090" rtlCol="0" anchor="ctr">
            <a:spAutoFit/>
          </a:bodyPr>
          <a:lstStyle/>
          <a:p>
            <a:pPr marL="0" indent="0" algn="l">
              <a:buNone/>
            </a:pPr>
            <a:r>
              <a:rPr lang="en-US" sz="700" b="1" dirty="0">
                <a:solidFill>
                  <a:srgbClr val="3253DC"/>
                </a:solidFill>
                <a:latin typeface="Consolas" pitchFamily="34" charset="0"/>
                <a:ea typeface="Consolas" pitchFamily="34" charset="-122"/>
                <a:cs typeface="Consolas" pitchFamily="34" charset="-120"/>
              </a:rPr>
              <a:t>CNT_W</a:t>
            </a:r>
            <a:endParaRPr lang="en-US" sz="700" dirty="0"/>
          </a:p>
        </p:txBody>
      </p:sp>
      <p:sp>
        <p:nvSpPr>
          <p:cNvPr id="52" name="Text 49"/>
          <p:cNvSpPr/>
          <p:nvPr/>
        </p:nvSpPr>
        <p:spPr>
          <a:xfrm>
            <a:off x="6060523" y="3259671"/>
            <a:ext cx="1546733" cy="285750"/>
          </a:xfrm>
          <a:prstGeom prst="rect">
            <a:avLst/>
          </a:prstGeom>
          <a:noFill/>
          <a:ln/>
        </p:spPr>
        <p:txBody>
          <a:bodyPr wrap="squar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ADDR_W+1</a:t>
            </a:r>
            <a:endParaRPr lang="en-US" sz="750" dirty="0"/>
          </a:p>
        </p:txBody>
      </p:sp>
      <p:sp>
        <p:nvSpPr>
          <p:cNvPr id="53" name="Text 50"/>
          <p:cNvSpPr/>
          <p:nvPr/>
        </p:nvSpPr>
        <p:spPr>
          <a:xfrm>
            <a:off x="7607257" y="3259671"/>
            <a:ext cx="961672" cy="285750"/>
          </a:xfrm>
          <a:prstGeom prst="rect">
            <a:avLst/>
          </a:prstGeom>
          <a:noFill/>
          <a:ln/>
        </p:spPr>
        <p:txBody>
          <a:bodyPr wrap="non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14</a:t>
            </a:r>
            <a:endParaRPr lang="en-US" sz="750" dirty="0"/>
          </a:p>
        </p:txBody>
      </p:sp>
      <p:sp>
        <p:nvSpPr>
          <p:cNvPr id="54" name="Text 51"/>
          <p:cNvSpPr/>
          <p:nvPr/>
        </p:nvSpPr>
        <p:spPr>
          <a:xfrm>
            <a:off x="428625" y="4879181"/>
            <a:ext cx="857473"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SMMU Design Review</a:t>
            </a:r>
            <a:endParaRPr lang="en-US" sz="600" dirty="0"/>
          </a:p>
        </p:txBody>
      </p:sp>
      <p:sp>
        <p:nvSpPr>
          <p:cNvPr id="55" name="Text 52"/>
          <p:cNvSpPr/>
          <p:nvPr/>
        </p:nvSpPr>
        <p:spPr>
          <a:xfrm>
            <a:off x="8395971" y="4879181"/>
            <a:ext cx="319404"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Page 06</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71500"/>
          </a:xfrm>
          <a:prstGeom prst="rect">
            <a:avLst/>
          </a:prstGeom>
          <a:solidFill>
            <a:srgbClr val="3253DC"/>
          </a:solidFill>
          <a:ln/>
        </p:spPr>
        <p:txBody>
          <a:bodyPr/>
          <a:lstStyle/>
          <a:p>
            <a:endParaRPr lang="zh-CN" altLang="en-US"/>
          </a:p>
        </p:txBody>
      </p:sp>
      <p:sp>
        <p:nvSpPr>
          <p:cNvPr id="4" name="Text 1"/>
          <p:cNvSpPr/>
          <p:nvPr/>
        </p:nvSpPr>
        <p:spPr>
          <a:xfrm>
            <a:off x="428625" y="130373"/>
            <a:ext cx="3505349" cy="246221"/>
          </a:xfrm>
          <a:prstGeom prst="rect">
            <a:avLst/>
          </a:prstGeom>
          <a:noFill/>
          <a:ln/>
        </p:spPr>
        <p:txBody>
          <a:bodyPr wrap="square" lIns="0" tIns="0" rIns="0" bIns="0" rtlCol="0" anchor="t">
            <a:spAutoFit/>
          </a:bodyPr>
          <a:lstStyle/>
          <a:p>
            <a:pPr marL="0" indent="0" algn="l">
              <a:buNone/>
            </a:pPr>
            <a:r>
              <a:rPr lang="en-US" sz="1600" b="1" dirty="0" err="1">
                <a:solidFill>
                  <a:srgbClr val="FFFFFF"/>
                </a:solidFill>
                <a:latin typeface="Arial" pitchFamily="34" charset="0"/>
                <a:ea typeface="Arial" pitchFamily="34" charset="-122"/>
                <a:cs typeface="Arial" pitchFamily="34" charset="-120"/>
              </a:rPr>
              <a:t>链表</a:t>
            </a:r>
            <a:r>
              <a:rPr lang="en-US" sz="1600" b="1" dirty="0">
                <a:solidFill>
                  <a:srgbClr val="FFFFFF"/>
                </a:solidFill>
                <a:latin typeface="Arial" pitchFamily="34" charset="0"/>
                <a:ea typeface="Arial" pitchFamily="34" charset="-122"/>
                <a:cs typeface="Arial" pitchFamily="34" charset="-120"/>
              </a:rPr>
              <a:t> vs </a:t>
            </a:r>
            <a:r>
              <a:rPr lang="en-US" sz="1600" b="1" dirty="0" err="1">
                <a:solidFill>
                  <a:srgbClr val="FFFFFF"/>
                </a:solidFill>
                <a:latin typeface="Arial" pitchFamily="34" charset="0"/>
                <a:ea typeface="Arial" pitchFamily="34" charset="-122"/>
                <a:cs typeface="Arial" pitchFamily="34" charset="-120"/>
              </a:rPr>
              <a:t>静态分区</a:t>
            </a:r>
            <a:endParaRPr lang="en-US" sz="1600" dirty="0"/>
          </a:p>
        </p:txBody>
      </p:sp>
      <p:sp>
        <p:nvSpPr>
          <p:cNvPr id="5" name="Shape 2"/>
          <p:cNvSpPr/>
          <p:nvPr/>
        </p:nvSpPr>
        <p:spPr>
          <a:xfrm>
            <a:off x="428625" y="785813"/>
            <a:ext cx="4000500" cy="1166440"/>
          </a:xfrm>
          <a:prstGeom prst="rect">
            <a:avLst/>
          </a:prstGeom>
          <a:solidFill>
            <a:srgbClr val="FFFFFF"/>
          </a:solidFill>
          <a:ln/>
        </p:spPr>
        <p:txBody>
          <a:bodyPr/>
          <a:lstStyle/>
          <a:p>
            <a:endParaRPr lang="zh-CN" altLang="en-US"/>
          </a:p>
        </p:txBody>
      </p:sp>
      <p:sp>
        <p:nvSpPr>
          <p:cNvPr id="6" name="Shape 3"/>
          <p:cNvSpPr/>
          <p:nvPr/>
        </p:nvSpPr>
        <p:spPr>
          <a:xfrm>
            <a:off x="428625" y="785813"/>
            <a:ext cx="28575" cy="1166440"/>
          </a:xfrm>
          <a:prstGeom prst="rect">
            <a:avLst/>
          </a:prstGeom>
          <a:solidFill>
            <a:srgbClr val="E4002B"/>
          </a:solidFill>
          <a:ln/>
        </p:spPr>
        <p:txBody>
          <a:bodyPr/>
          <a:lstStyle/>
          <a:p>
            <a:endParaRPr lang="zh-CN" altLang="en-US"/>
          </a:p>
        </p:txBody>
      </p:sp>
      <p:sp>
        <p:nvSpPr>
          <p:cNvPr id="7" name="Text 4"/>
          <p:cNvSpPr/>
          <p:nvPr/>
        </p:nvSpPr>
        <p:spPr>
          <a:xfrm>
            <a:off x="607219" y="928688"/>
            <a:ext cx="3629025" cy="196453"/>
          </a:xfrm>
          <a:prstGeom prst="rect">
            <a:avLst/>
          </a:prstGeom>
          <a:noFill/>
          <a:ln/>
        </p:spPr>
        <p:txBody>
          <a:bodyPr wrap="square" lIns="0" tIns="0" rIns="0" bIns="0" rtlCol="0" anchor="t">
            <a:spAutoFit/>
          </a:bodyPr>
          <a:lstStyle/>
          <a:p>
            <a:pPr marL="0" indent="0" algn="l">
              <a:buNone/>
            </a:pPr>
            <a:r>
              <a:rPr lang="en-US" sz="1000" b="1" dirty="0">
                <a:solidFill>
                  <a:srgbClr val="E4002B"/>
                </a:solidFill>
                <a:latin typeface="Arial" pitchFamily="34" charset="0"/>
                <a:ea typeface="Arial" pitchFamily="34" charset="-122"/>
                <a:cs typeface="Arial" pitchFamily="34" charset="-120"/>
              </a:rPr>
              <a:t>静态分区 (Static Partition)</a:t>
            </a:r>
            <a:endParaRPr lang="en-US" sz="1000" dirty="0"/>
          </a:p>
        </p:txBody>
      </p:sp>
      <p:sp>
        <p:nvSpPr>
          <p:cNvPr id="8" name="Text 5"/>
          <p:cNvSpPr/>
          <p:nvPr/>
        </p:nvSpPr>
        <p:spPr>
          <a:xfrm>
            <a:off x="607219" y="1232297"/>
            <a:ext cx="3629025" cy="182835"/>
          </a:xfrm>
          <a:prstGeom prst="rect">
            <a:avLst/>
          </a:prstGeom>
          <a:noFill/>
          <a:ln/>
        </p:spPr>
        <p:txBody>
          <a:bodyPr wrap="none" lIns="170053" tIns="0" rIns="0" bIns="0" rtlCol="0" anchor="t">
            <a:spAutoFit/>
          </a:bodyPr>
          <a:lstStyle/>
          <a:p>
            <a:pPr marL="0" indent="0" algn="l">
              <a:lnSpc>
                <a:spcPct val="128000"/>
              </a:lnSpc>
              <a:buNone/>
            </a:pPr>
            <a:r>
              <a:rPr lang="en-US" sz="800" b="1" dirty="0">
                <a:solidFill>
                  <a:srgbClr val="2E2E38"/>
                </a:solidFill>
                <a:latin typeface="Arial" pitchFamily="34" charset="0"/>
                <a:ea typeface="Arial" pitchFamily="34" charset="-122"/>
                <a:cs typeface="Arial" pitchFamily="34" charset="-120"/>
              </a:rPr>
              <a:t>空间利用率低</a:t>
            </a:r>
            <a:r>
              <a:rPr lang="en-US" sz="850" dirty="0">
                <a:solidFill>
                  <a:srgbClr val="2E2E38"/>
                </a:solidFill>
                <a:latin typeface="Arial" pitchFamily="34" charset="0"/>
                <a:ea typeface="Arial" pitchFamily="34" charset="-122"/>
                <a:cs typeface="Arial" pitchFamily="34" charset="-120"/>
              </a:rPr>
              <a:t>：空闲 Cell 无法跨队列借用。</a:t>
            </a:r>
            <a:endParaRPr lang="en-US" sz="800" dirty="0"/>
          </a:p>
        </p:txBody>
      </p:sp>
      <p:sp>
        <p:nvSpPr>
          <p:cNvPr id="9" name="Text 6"/>
          <p:cNvSpPr/>
          <p:nvPr/>
        </p:nvSpPr>
        <p:spPr>
          <a:xfrm>
            <a:off x="607219" y="1472282"/>
            <a:ext cx="3629025" cy="182835"/>
          </a:xfrm>
          <a:prstGeom prst="rect">
            <a:avLst/>
          </a:prstGeom>
          <a:noFill/>
          <a:ln/>
        </p:spPr>
        <p:txBody>
          <a:bodyPr wrap="none" lIns="170053" tIns="0" rIns="0" bIns="0" rtlCol="0" anchor="t">
            <a:spAutoFit/>
          </a:bodyPr>
          <a:lstStyle/>
          <a:p>
            <a:pPr marL="0" indent="0" algn="l">
              <a:lnSpc>
                <a:spcPct val="128000"/>
              </a:lnSpc>
              <a:buNone/>
            </a:pPr>
            <a:r>
              <a:rPr lang="en-US" sz="800" b="1" dirty="0">
                <a:solidFill>
                  <a:srgbClr val="2E2E38"/>
                </a:solidFill>
                <a:latin typeface="Arial" pitchFamily="34" charset="0"/>
                <a:ea typeface="Arial" pitchFamily="34" charset="-122"/>
                <a:cs typeface="Arial" pitchFamily="34" charset="-120"/>
              </a:rPr>
              <a:t>不灵活</a:t>
            </a:r>
            <a:r>
              <a:rPr lang="en-US" sz="850" dirty="0">
                <a:solidFill>
                  <a:srgbClr val="2E2E38"/>
                </a:solidFill>
                <a:latin typeface="Arial" pitchFamily="34" charset="0"/>
                <a:ea typeface="Arial" pitchFamily="34" charset="-122"/>
                <a:cs typeface="Arial" pitchFamily="34" charset="-120"/>
              </a:rPr>
              <a:t>：队列配额改动需重新划分物理地址。</a:t>
            </a:r>
            <a:endParaRPr lang="en-US" sz="800" dirty="0"/>
          </a:p>
        </p:txBody>
      </p:sp>
      <p:sp>
        <p:nvSpPr>
          <p:cNvPr id="10" name="Text 7"/>
          <p:cNvSpPr/>
          <p:nvPr/>
        </p:nvSpPr>
        <p:spPr>
          <a:xfrm>
            <a:off x="607219" y="1712268"/>
            <a:ext cx="3629025" cy="182835"/>
          </a:xfrm>
          <a:prstGeom prst="rect">
            <a:avLst/>
          </a:prstGeom>
          <a:noFill/>
          <a:ln/>
        </p:spPr>
        <p:txBody>
          <a:bodyPr wrap="none" lIns="170053" tIns="0" rIns="0" bIns="0" rtlCol="0" anchor="t">
            <a:spAutoFit/>
          </a:bodyPr>
          <a:lstStyle/>
          <a:p>
            <a:pPr marL="0" indent="0" algn="l">
              <a:lnSpc>
                <a:spcPct val="128000"/>
              </a:lnSpc>
              <a:buNone/>
            </a:pPr>
            <a:r>
              <a:rPr lang="en-US" sz="800" b="1" dirty="0">
                <a:solidFill>
                  <a:srgbClr val="2E2E38"/>
                </a:solidFill>
                <a:latin typeface="Arial" pitchFamily="34" charset="0"/>
                <a:ea typeface="Arial" pitchFamily="34" charset="-122"/>
                <a:cs typeface="Arial" pitchFamily="34" charset="-120"/>
              </a:rPr>
              <a:t>碎片化</a:t>
            </a:r>
            <a:r>
              <a:rPr lang="en-US" sz="850" dirty="0">
                <a:solidFill>
                  <a:srgbClr val="2E2E38"/>
                </a:solidFill>
                <a:latin typeface="Arial" pitchFamily="34" charset="0"/>
                <a:ea typeface="Arial" pitchFamily="34" charset="-122"/>
                <a:cs typeface="Arial" pitchFamily="34" charset="-120"/>
              </a:rPr>
              <a:t>：无法利用零散的空闲空间。</a:t>
            </a:r>
            <a:endParaRPr lang="en-US" sz="800" dirty="0"/>
          </a:p>
        </p:txBody>
      </p:sp>
      <p:sp>
        <p:nvSpPr>
          <p:cNvPr id="11" name="Shape 8"/>
          <p:cNvSpPr/>
          <p:nvPr/>
        </p:nvSpPr>
        <p:spPr>
          <a:xfrm>
            <a:off x="4700588" y="785813"/>
            <a:ext cx="4014788" cy="1166440"/>
          </a:xfrm>
          <a:prstGeom prst="rect">
            <a:avLst/>
          </a:prstGeom>
          <a:solidFill>
            <a:srgbClr val="FFFFFF"/>
          </a:solidFill>
          <a:ln/>
        </p:spPr>
        <p:txBody>
          <a:bodyPr/>
          <a:lstStyle/>
          <a:p>
            <a:endParaRPr lang="zh-CN" altLang="en-US"/>
          </a:p>
        </p:txBody>
      </p:sp>
      <p:sp>
        <p:nvSpPr>
          <p:cNvPr id="12" name="Shape 9"/>
          <p:cNvSpPr/>
          <p:nvPr/>
        </p:nvSpPr>
        <p:spPr>
          <a:xfrm>
            <a:off x="4700588" y="785813"/>
            <a:ext cx="28575" cy="1166440"/>
          </a:xfrm>
          <a:prstGeom prst="rect">
            <a:avLst/>
          </a:prstGeom>
          <a:solidFill>
            <a:srgbClr val="3DBB6B"/>
          </a:solidFill>
          <a:ln/>
        </p:spPr>
        <p:txBody>
          <a:bodyPr/>
          <a:lstStyle/>
          <a:p>
            <a:endParaRPr lang="zh-CN" altLang="en-US"/>
          </a:p>
        </p:txBody>
      </p:sp>
      <p:sp>
        <p:nvSpPr>
          <p:cNvPr id="13" name="Text 10"/>
          <p:cNvSpPr/>
          <p:nvPr/>
        </p:nvSpPr>
        <p:spPr>
          <a:xfrm>
            <a:off x="607219" y="1232297"/>
            <a:ext cx="39960" cy="182835"/>
          </a:xfrm>
          <a:prstGeom prst="rect">
            <a:avLst/>
          </a:prstGeom>
          <a:noFill/>
          <a:ln/>
        </p:spPr>
        <p:txBody>
          <a:bodyPr wrap="none" lIns="0" tIns="0" rIns="0" bIns="0" rtlCol="0" anchor="t">
            <a:spAutoFit/>
          </a:bodyPr>
          <a:lstStyle/>
          <a:p>
            <a:pPr marL="0" indent="0" algn="l">
              <a:lnSpc>
                <a:spcPct val="128000"/>
              </a:lnSpc>
              <a:buNone/>
            </a:pPr>
            <a:r>
              <a:rPr lang="en-US" sz="800" b="1" dirty="0">
                <a:solidFill>
                  <a:srgbClr val="2E2E38"/>
                </a:solidFill>
                <a:latin typeface="Arial" pitchFamily="34" charset="0"/>
                <a:ea typeface="Arial" pitchFamily="34" charset="-122"/>
                <a:cs typeface="Arial" pitchFamily="34" charset="-120"/>
              </a:rPr>
              <a:t>•</a:t>
            </a:r>
            <a:endParaRPr lang="en-US" sz="800" dirty="0"/>
          </a:p>
        </p:txBody>
      </p:sp>
      <p:sp>
        <p:nvSpPr>
          <p:cNvPr id="14" name="Text 11"/>
          <p:cNvSpPr/>
          <p:nvPr/>
        </p:nvSpPr>
        <p:spPr>
          <a:xfrm>
            <a:off x="607219" y="1472282"/>
            <a:ext cx="39960" cy="182835"/>
          </a:xfrm>
          <a:prstGeom prst="rect">
            <a:avLst/>
          </a:prstGeom>
          <a:noFill/>
          <a:ln/>
        </p:spPr>
        <p:txBody>
          <a:bodyPr wrap="none" lIns="0" tIns="0" rIns="0" bIns="0" rtlCol="0" anchor="t">
            <a:spAutoFit/>
          </a:bodyPr>
          <a:lstStyle/>
          <a:p>
            <a:pPr marL="0" indent="0" algn="l">
              <a:lnSpc>
                <a:spcPct val="128000"/>
              </a:lnSpc>
              <a:buNone/>
            </a:pPr>
            <a:r>
              <a:rPr lang="en-US" sz="800" b="1" dirty="0">
                <a:solidFill>
                  <a:srgbClr val="2E2E38"/>
                </a:solidFill>
                <a:latin typeface="Arial" pitchFamily="34" charset="0"/>
                <a:ea typeface="Arial" pitchFamily="34" charset="-122"/>
                <a:cs typeface="Arial" pitchFamily="34" charset="-120"/>
              </a:rPr>
              <a:t>•</a:t>
            </a:r>
            <a:endParaRPr lang="en-US" sz="800" dirty="0"/>
          </a:p>
        </p:txBody>
      </p:sp>
      <p:sp>
        <p:nvSpPr>
          <p:cNvPr id="15" name="Text 12"/>
          <p:cNvSpPr/>
          <p:nvPr/>
        </p:nvSpPr>
        <p:spPr>
          <a:xfrm>
            <a:off x="607219" y="1712268"/>
            <a:ext cx="39960" cy="182835"/>
          </a:xfrm>
          <a:prstGeom prst="rect">
            <a:avLst/>
          </a:prstGeom>
          <a:noFill/>
          <a:ln/>
        </p:spPr>
        <p:txBody>
          <a:bodyPr wrap="none" lIns="0" tIns="0" rIns="0" bIns="0" rtlCol="0" anchor="t">
            <a:spAutoFit/>
          </a:bodyPr>
          <a:lstStyle/>
          <a:p>
            <a:pPr marL="0" indent="0" algn="l">
              <a:lnSpc>
                <a:spcPct val="128000"/>
              </a:lnSpc>
              <a:buNone/>
            </a:pPr>
            <a:r>
              <a:rPr lang="en-US" sz="800" b="1" dirty="0">
                <a:solidFill>
                  <a:srgbClr val="2E2E38"/>
                </a:solidFill>
                <a:latin typeface="Arial" pitchFamily="34" charset="0"/>
                <a:ea typeface="Arial" pitchFamily="34" charset="-122"/>
                <a:cs typeface="Arial" pitchFamily="34" charset="-120"/>
              </a:rPr>
              <a:t>•</a:t>
            </a:r>
            <a:endParaRPr lang="en-US" sz="800" dirty="0"/>
          </a:p>
        </p:txBody>
      </p:sp>
      <p:sp>
        <p:nvSpPr>
          <p:cNvPr id="16" name="Text 13"/>
          <p:cNvSpPr/>
          <p:nvPr/>
        </p:nvSpPr>
        <p:spPr>
          <a:xfrm>
            <a:off x="4893469" y="928688"/>
            <a:ext cx="3643313" cy="196453"/>
          </a:xfrm>
          <a:prstGeom prst="rect">
            <a:avLst/>
          </a:prstGeom>
          <a:noFill/>
          <a:ln/>
        </p:spPr>
        <p:txBody>
          <a:bodyPr wrap="square" lIns="0" tIns="0" rIns="0" bIns="0" rtlCol="0" anchor="t">
            <a:spAutoFit/>
          </a:bodyPr>
          <a:lstStyle/>
          <a:p>
            <a:pPr marL="0" indent="0" algn="l">
              <a:buNone/>
            </a:pPr>
            <a:r>
              <a:rPr lang="en-US" sz="1000" b="1" dirty="0">
                <a:solidFill>
                  <a:srgbClr val="3DBB6B"/>
                </a:solidFill>
                <a:latin typeface="Arial" pitchFamily="34" charset="0"/>
                <a:ea typeface="Arial" pitchFamily="34" charset="-122"/>
                <a:cs typeface="Arial" pitchFamily="34" charset="-120"/>
              </a:rPr>
              <a:t>链表方案 (Linked List)</a:t>
            </a:r>
            <a:endParaRPr lang="en-US" sz="1000" dirty="0"/>
          </a:p>
        </p:txBody>
      </p:sp>
      <p:sp>
        <p:nvSpPr>
          <p:cNvPr id="17" name="Text 14"/>
          <p:cNvSpPr/>
          <p:nvPr/>
        </p:nvSpPr>
        <p:spPr>
          <a:xfrm>
            <a:off x="4893469" y="1232297"/>
            <a:ext cx="3643313" cy="182835"/>
          </a:xfrm>
          <a:prstGeom prst="rect">
            <a:avLst/>
          </a:prstGeom>
          <a:noFill/>
          <a:ln/>
        </p:spPr>
        <p:txBody>
          <a:bodyPr wrap="none" lIns="170053" tIns="0" rIns="0" bIns="0" rtlCol="0" anchor="t">
            <a:spAutoFit/>
          </a:bodyPr>
          <a:lstStyle/>
          <a:p>
            <a:pPr marL="0" indent="0" algn="l">
              <a:lnSpc>
                <a:spcPct val="128000"/>
              </a:lnSpc>
              <a:buNone/>
            </a:pPr>
            <a:r>
              <a:rPr lang="en-US" sz="800" b="1" dirty="0">
                <a:solidFill>
                  <a:srgbClr val="2E2E38"/>
                </a:solidFill>
                <a:latin typeface="Arial" pitchFamily="34" charset="0"/>
                <a:ea typeface="Arial" pitchFamily="34" charset="-122"/>
                <a:cs typeface="Arial" pitchFamily="34" charset="-120"/>
              </a:rPr>
              <a:t>全共享架构</a:t>
            </a:r>
            <a:r>
              <a:rPr lang="en-US" sz="850" dirty="0">
                <a:solidFill>
                  <a:srgbClr val="2E2E38"/>
                </a:solidFill>
                <a:latin typeface="Arial" pitchFamily="34" charset="0"/>
                <a:ea typeface="Arial" pitchFamily="34" charset="-122"/>
                <a:cs typeface="Arial" pitchFamily="34" charset="-120"/>
              </a:rPr>
              <a:t>：任意 Cell 可挂到任意队列，利用率近 100%。</a:t>
            </a:r>
            <a:endParaRPr lang="en-US" sz="800" dirty="0"/>
          </a:p>
        </p:txBody>
      </p:sp>
      <p:sp>
        <p:nvSpPr>
          <p:cNvPr id="18" name="Text 15"/>
          <p:cNvSpPr/>
          <p:nvPr/>
        </p:nvSpPr>
        <p:spPr>
          <a:xfrm>
            <a:off x="4893469" y="1472282"/>
            <a:ext cx="3643313" cy="182835"/>
          </a:xfrm>
          <a:prstGeom prst="rect">
            <a:avLst/>
          </a:prstGeom>
          <a:noFill/>
          <a:ln/>
        </p:spPr>
        <p:txBody>
          <a:bodyPr wrap="none" lIns="170053" tIns="0" rIns="0" bIns="0" rtlCol="0" anchor="t">
            <a:spAutoFit/>
          </a:bodyPr>
          <a:lstStyle/>
          <a:p>
            <a:pPr marL="0" indent="0" algn="l">
              <a:lnSpc>
                <a:spcPct val="128000"/>
              </a:lnSpc>
              <a:buNone/>
            </a:pPr>
            <a:r>
              <a:rPr lang="en-US" sz="800" b="1" dirty="0">
                <a:solidFill>
                  <a:srgbClr val="2E2E38"/>
                </a:solidFill>
                <a:latin typeface="Arial" pitchFamily="34" charset="0"/>
                <a:ea typeface="Arial" pitchFamily="34" charset="-122"/>
                <a:cs typeface="Arial" pitchFamily="34" charset="-120"/>
              </a:rPr>
              <a:t>O(1) 复杂度</a:t>
            </a:r>
            <a:r>
              <a:rPr lang="en-US" sz="850" dirty="0">
                <a:solidFill>
                  <a:srgbClr val="2E2E38"/>
                </a:solidFill>
                <a:latin typeface="Arial" pitchFamily="34" charset="0"/>
                <a:ea typeface="Arial" pitchFamily="34" charset="-122"/>
                <a:cs typeface="Arial" pitchFamily="34" charset="-120"/>
              </a:rPr>
              <a:t>：入队/出队仅需操作头尾指针。</a:t>
            </a:r>
            <a:endParaRPr lang="en-US" sz="800" dirty="0"/>
          </a:p>
        </p:txBody>
      </p:sp>
      <p:sp>
        <p:nvSpPr>
          <p:cNvPr id="19" name="Text 16"/>
          <p:cNvSpPr/>
          <p:nvPr/>
        </p:nvSpPr>
        <p:spPr>
          <a:xfrm>
            <a:off x="4893469" y="1712268"/>
            <a:ext cx="3643313" cy="182835"/>
          </a:xfrm>
          <a:prstGeom prst="rect">
            <a:avLst/>
          </a:prstGeom>
          <a:noFill/>
          <a:ln/>
        </p:spPr>
        <p:txBody>
          <a:bodyPr wrap="none" lIns="170053" tIns="0" rIns="0" bIns="0" rtlCol="0" anchor="t">
            <a:spAutoFit/>
          </a:bodyPr>
          <a:lstStyle/>
          <a:p>
            <a:pPr marL="0" indent="0" algn="l">
              <a:lnSpc>
                <a:spcPct val="128000"/>
              </a:lnSpc>
              <a:buNone/>
            </a:pPr>
            <a:r>
              <a:rPr lang="en-US" sz="800" b="1" dirty="0">
                <a:solidFill>
                  <a:srgbClr val="2E2E38"/>
                </a:solidFill>
                <a:latin typeface="Arial" pitchFamily="34" charset="0"/>
                <a:ea typeface="Arial" pitchFamily="34" charset="-122"/>
                <a:cs typeface="Arial" pitchFamily="34" charset="-120"/>
              </a:rPr>
              <a:t>天然支持双池</a:t>
            </a:r>
            <a:r>
              <a:rPr lang="en-US" sz="850" dirty="0">
                <a:solidFill>
                  <a:srgbClr val="2E2E38"/>
                </a:solidFill>
                <a:latin typeface="Arial" pitchFamily="34" charset="0"/>
                <a:ea typeface="Arial" pitchFamily="34" charset="-122"/>
                <a:cs typeface="Arial" pitchFamily="34" charset="-120"/>
              </a:rPr>
              <a:t>：易于实现静态保底与动态共享。</a:t>
            </a:r>
            <a:endParaRPr lang="en-US" sz="800" dirty="0"/>
          </a:p>
        </p:txBody>
      </p:sp>
      <p:sp>
        <p:nvSpPr>
          <p:cNvPr id="20" name="Shape 17"/>
          <p:cNvSpPr/>
          <p:nvPr/>
        </p:nvSpPr>
        <p:spPr>
          <a:xfrm>
            <a:off x="428625" y="2166565"/>
            <a:ext cx="8286750" cy="2428875"/>
          </a:xfrm>
          <a:prstGeom prst="rect">
            <a:avLst/>
          </a:prstGeom>
          <a:solidFill>
            <a:srgbClr val="FFFFFF"/>
          </a:solidFill>
          <a:ln/>
        </p:spPr>
        <p:txBody>
          <a:bodyPr/>
          <a:lstStyle/>
          <a:p>
            <a:endParaRPr lang="zh-CN" altLang="en-US"/>
          </a:p>
        </p:txBody>
      </p:sp>
      <p:sp>
        <p:nvSpPr>
          <p:cNvPr id="21" name="Text 18"/>
          <p:cNvSpPr/>
          <p:nvPr/>
        </p:nvSpPr>
        <p:spPr>
          <a:xfrm>
            <a:off x="4893469" y="1232297"/>
            <a:ext cx="39960" cy="182835"/>
          </a:xfrm>
          <a:prstGeom prst="rect">
            <a:avLst/>
          </a:prstGeom>
          <a:noFill/>
          <a:ln/>
        </p:spPr>
        <p:txBody>
          <a:bodyPr wrap="none" lIns="0" tIns="0" rIns="0" bIns="0" rtlCol="0" anchor="t">
            <a:spAutoFit/>
          </a:bodyPr>
          <a:lstStyle/>
          <a:p>
            <a:pPr marL="0" indent="0" algn="l">
              <a:lnSpc>
                <a:spcPct val="128000"/>
              </a:lnSpc>
              <a:buNone/>
            </a:pPr>
            <a:r>
              <a:rPr lang="en-US" sz="800" b="1" dirty="0">
                <a:solidFill>
                  <a:srgbClr val="2E2E38"/>
                </a:solidFill>
                <a:latin typeface="Arial" pitchFamily="34" charset="0"/>
                <a:ea typeface="Arial" pitchFamily="34" charset="-122"/>
                <a:cs typeface="Arial" pitchFamily="34" charset="-120"/>
              </a:rPr>
              <a:t>•</a:t>
            </a:r>
            <a:endParaRPr lang="en-US" sz="800" dirty="0"/>
          </a:p>
        </p:txBody>
      </p:sp>
      <p:sp>
        <p:nvSpPr>
          <p:cNvPr id="22" name="Text 19"/>
          <p:cNvSpPr/>
          <p:nvPr/>
        </p:nvSpPr>
        <p:spPr>
          <a:xfrm>
            <a:off x="4893469" y="1472282"/>
            <a:ext cx="39960" cy="182835"/>
          </a:xfrm>
          <a:prstGeom prst="rect">
            <a:avLst/>
          </a:prstGeom>
          <a:noFill/>
          <a:ln/>
        </p:spPr>
        <p:txBody>
          <a:bodyPr wrap="none" lIns="0" tIns="0" rIns="0" bIns="0" rtlCol="0" anchor="t">
            <a:spAutoFit/>
          </a:bodyPr>
          <a:lstStyle/>
          <a:p>
            <a:pPr marL="0" indent="0" algn="l">
              <a:lnSpc>
                <a:spcPct val="128000"/>
              </a:lnSpc>
              <a:buNone/>
            </a:pPr>
            <a:r>
              <a:rPr lang="en-US" sz="800" b="1" dirty="0">
                <a:solidFill>
                  <a:srgbClr val="2E2E38"/>
                </a:solidFill>
                <a:latin typeface="Arial" pitchFamily="34" charset="0"/>
                <a:ea typeface="Arial" pitchFamily="34" charset="-122"/>
                <a:cs typeface="Arial" pitchFamily="34" charset="-120"/>
              </a:rPr>
              <a:t>•</a:t>
            </a:r>
            <a:endParaRPr lang="en-US" sz="800" dirty="0"/>
          </a:p>
        </p:txBody>
      </p:sp>
      <p:sp>
        <p:nvSpPr>
          <p:cNvPr id="23" name="Text 20"/>
          <p:cNvSpPr/>
          <p:nvPr/>
        </p:nvSpPr>
        <p:spPr>
          <a:xfrm>
            <a:off x="4893469" y="1712268"/>
            <a:ext cx="39960" cy="182835"/>
          </a:xfrm>
          <a:prstGeom prst="rect">
            <a:avLst/>
          </a:prstGeom>
          <a:noFill/>
          <a:ln/>
        </p:spPr>
        <p:txBody>
          <a:bodyPr wrap="none" lIns="0" tIns="0" rIns="0" bIns="0" rtlCol="0" anchor="t">
            <a:spAutoFit/>
          </a:bodyPr>
          <a:lstStyle/>
          <a:p>
            <a:pPr marL="0" indent="0" algn="l">
              <a:lnSpc>
                <a:spcPct val="128000"/>
              </a:lnSpc>
              <a:buNone/>
            </a:pPr>
            <a:r>
              <a:rPr lang="en-US" sz="800" b="1" dirty="0">
                <a:solidFill>
                  <a:srgbClr val="2E2E38"/>
                </a:solidFill>
                <a:latin typeface="Arial" pitchFamily="34" charset="0"/>
                <a:ea typeface="Arial" pitchFamily="34" charset="-122"/>
                <a:cs typeface="Arial" pitchFamily="34" charset="-120"/>
              </a:rPr>
              <a:t>•</a:t>
            </a:r>
            <a:endParaRPr lang="en-US" sz="800" dirty="0"/>
          </a:p>
        </p:txBody>
      </p:sp>
      <p:pic>
        <p:nvPicPr>
          <p:cNvPr id="24" name="Image 1" descr="preencoded.png"/>
          <p:cNvPicPr>
            <a:picLocks noChangeAspect="1"/>
          </p:cNvPicPr>
          <p:nvPr/>
        </p:nvPicPr>
        <p:blipFill>
          <a:blip r:embed="rId4"/>
          <a:stretch>
            <a:fillRect/>
          </a:stretch>
        </p:blipFill>
        <p:spPr>
          <a:xfrm>
            <a:off x="428625" y="2238003"/>
            <a:ext cx="8286750" cy="2286000"/>
          </a:xfrm>
          <a:prstGeom prst="rect">
            <a:avLst/>
          </a:prstGeom>
        </p:spPr>
      </p:pic>
      <p:sp>
        <p:nvSpPr>
          <p:cNvPr id="25" name="Text 21"/>
          <p:cNvSpPr/>
          <p:nvPr/>
        </p:nvSpPr>
        <p:spPr>
          <a:xfrm>
            <a:off x="428625" y="4879181"/>
            <a:ext cx="857473"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SMMU Design Review</a:t>
            </a:r>
            <a:endParaRPr lang="en-US" sz="600" dirty="0"/>
          </a:p>
        </p:txBody>
      </p:sp>
      <p:sp>
        <p:nvSpPr>
          <p:cNvPr id="26" name="Text 22"/>
          <p:cNvSpPr/>
          <p:nvPr/>
        </p:nvSpPr>
        <p:spPr>
          <a:xfrm>
            <a:off x="8395971" y="4879181"/>
            <a:ext cx="319404"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Page 07</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71500"/>
          </a:xfrm>
          <a:prstGeom prst="rect">
            <a:avLst/>
          </a:prstGeom>
          <a:solidFill>
            <a:srgbClr val="3253DC"/>
          </a:solidFill>
          <a:ln/>
        </p:spPr>
        <p:txBody>
          <a:bodyPr/>
          <a:lstStyle/>
          <a:p>
            <a:endParaRPr lang="zh-CN" altLang="en-US"/>
          </a:p>
        </p:txBody>
      </p:sp>
      <p:sp>
        <p:nvSpPr>
          <p:cNvPr id="4" name="Text 1"/>
          <p:cNvSpPr/>
          <p:nvPr/>
        </p:nvSpPr>
        <p:spPr>
          <a:xfrm>
            <a:off x="428625" y="130373"/>
            <a:ext cx="2539826" cy="310753"/>
          </a:xfrm>
          <a:prstGeom prst="rect">
            <a:avLst/>
          </a:prstGeom>
          <a:noFill/>
          <a:ln/>
        </p:spPr>
        <p:txBody>
          <a:bodyPr wrap="square" lIns="0" tIns="0" rIns="0" bIns="0" rtlCol="0" anchor="t">
            <a:spAutoFit/>
          </a:bodyPr>
          <a:lstStyle/>
          <a:p>
            <a:pPr marL="0" indent="0" algn="l">
              <a:buNone/>
            </a:pPr>
            <a:r>
              <a:rPr lang="en-US" sz="1600" b="1" dirty="0">
                <a:solidFill>
                  <a:srgbClr val="FFFFFF"/>
                </a:solidFill>
                <a:latin typeface="Arial" pitchFamily="34" charset="0"/>
                <a:ea typeface="Arial" pitchFamily="34" charset="-122"/>
                <a:cs typeface="Arial" pitchFamily="34" charset="-120"/>
              </a:rPr>
              <a:t>链表数据结构 (LLE 核心)</a:t>
            </a:r>
            <a:endParaRPr lang="en-US" sz="1600" dirty="0"/>
          </a:p>
        </p:txBody>
      </p:sp>
      <p:sp>
        <p:nvSpPr>
          <p:cNvPr id="5" name="Shape 2"/>
          <p:cNvSpPr/>
          <p:nvPr/>
        </p:nvSpPr>
        <p:spPr>
          <a:xfrm>
            <a:off x="428625" y="714375"/>
            <a:ext cx="4100513" cy="2259602"/>
          </a:xfrm>
          <a:prstGeom prst="rect">
            <a:avLst/>
          </a:prstGeom>
          <a:solidFill>
            <a:srgbClr val="FFFFFF"/>
          </a:solidFill>
          <a:ln/>
        </p:spPr>
        <p:txBody>
          <a:bodyPr/>
          <a:lstStyle/>
          <a:p>
            <a:endParaRPr lang="zh-CN" altLang="en-US"/>
          </a:p>
        </p:txBody>
      </p:sp>
      <p:sp>
        <p:nvSpPr>
          <p:cNvPr id="6" name="Shape 3"/>
          <p:cNvSpPr/>
          <p:nvPr/>
        </p:nvSpPr>
        <p:spPr>
          <a:xfrm>
            <a:off x="428625" y="714375"/>
            <a:ext cx="28575" cy="2259602"/>
          </a:xfrm>
          <a:prstGeom prst="rect">
            <a:avLst/>
          </a:prstGeom>
          <a:solidFill>
            <a:srgbClr val="6CA0F6"/>
          </a:solidFill>
          <a:ln/>
        </p:spPr>
        <p:txBody>
          <a:bodyPr/>
          <a:lstStyle/>
          <a:p>
            <a:endParaRPr lang="zh-CN" altLang="en-US"/>
          </a:p>
        </p:txBody>
      </p:sp>
      <p:pic>
        <p:nvPicPr>
          <p:cNvPr id="7" name="Image 1" descr="preencoded.png"/>
          <p:cNvPicPr>
            <a:picLocks noChangeAspect="1"/>
          </p:cNvPicPr>
          <p:nvPr/>
        </p:nvPicPr>
        <p:blipFill>
          <a:blip r:embed="rId4"/>
          <a:stretch>
            <a:fillRect/>
          </a:stretch>
        </p:blipFill>
        <p:spPr>
          <a:xfrm>
            <a:off x="571500" y="826889"/>
            <a:ext cx="178594" cy="157163"/>
          </a:xfrm>
          <a:prstGeom prst="rect">
            <a:avLst/>
          </a:prstGeom>
        </p:spPr>
      </p:pic>
      <p:sp>
        <p:nvSpPr>
          <p:cNvPr id="8" name="Text 4"/>
          <p:cNvSpPr/>
          <p:nvPr/>
        </p:nvSpPr>
        <p:spPr>
          <a:xfrm>
            <a:off x="835819" y="800100"/>
            <a:ext cx="1903530" cy="210741"/>
          </a:xfrm>
          <a:prstGeom prst="rect">
            <a:avLst/>
          </a:prstGeom>
          <a:noFill/>
          <a:ln/>
        </p:spPr>
        <p:txBody>
          <a:bodyPr wrap="square" lIns="0" tIns="0" rIns="0" bIns="0" rtlCol="0" anchor="t">
            <a:spAutoFit/>
          </a:bodyPr>
          <a:lstStyle/>
          <a:p>
            <a:pPr marL="0" indent="0" algn="l">
              <a:buNone/>
            </a:pPr>
            <a:r>
              <a:rPr lang="en-US" sz="1100" b="1" dirty="0">
                <a:solidFill>
                  <a:srgbClr val="3253DC"/>
                </a:solidFill>
                <a:latin typeface="Arial" pitchFamily="34" charset="0"/>
                <a:ea typeface="Arial" pitchFamily="34" charset="-122"/>
                <a:cs typeface="Arial" pitchFamily="34" charset="-120"/>
              </a:rPr>
              <a:t>物理实现：Next-Ptr SRAM</a:t>
            </a:r>
            <a:endParaRPr lang="en-US" sz="1100" dirty="0"/>
          </a:p>
        </p:txBody>
      </p:sp>
      <p:sp>
        <p:nvSpPr>
          <p:cNvPr id="9" name="Text 5"/>
          <p:cNvSpPr/>
          <p:nvPr/>
        </p:nvSpPr>
        <p:spPr>
          <a:xfrm>
            <a:off x="571500" y="1096566"/>
            <a:ext cx="3814763" cy="209290"/>
          </a:xfrm>
          <a:prstGeom prst="rect">
            <a:avLst/>
          </a:prstGeom>
          <a:noFill/>
          <a:ln/>
        </p:spPr>
        <p:txBody>
          <a:bodyPr wrap="non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链表的核心存储位于 </a:t>
            </a:r>
            <a:r>
              <a:rPr lang="en-US" sz="800" b="1" dirty="0">
                <a:solidFill>
                  <a:srgbClr val="3253DC"/>
                </a:solidFill>
                <a:latin typeface="Consolas" pitchFamily="34" charset="0"/>
                <a:ea typeface="Consolas" pitchFamily="34" charset="-122"/>
                <a:cs typeface="Consolas" pitchFamily="34" charset="-120"/>
              </a:rPr>
              <a:t>Next-Ptr SRAM</a:t>
            </a:r>
            <a:r>
              <a:rPr lang="en-US" sz="850" dirty="0">
                <a:solidFill>
                  <a:srgbClr val="2E2E38"/>
                </a:solidFill>
                <a:latin typeface="Arial" pitchFamily="34" charset="0"/>
                <a:ea typeface="Arial" pitchFamily="34" charset="-122"/>
                <a:cs typeface="Arial" pitchFamily="34" charset="-120"/>
              </a:rPr>
              <a:t>，用于记录每个 cell 的后继指针。</a:t>
            </a:r>
            <a:endParaRPr lang="en-US" sz="850" dirty="0"/>
          </a:p>
        </p:txBody>
      </p:sp>
      <p:sp>
        <p:nvSpPr>
          <p:cNvPr id="10" name="Shape 6"/>
          <p:cNvSpPr/>
          <p:nvPr/>
        </p:nvSpPr>
        <p:spPr>
          <a:xfrm>
            <a:off x="575072" y="1363005"/>
            <a:ext cx="1153827" cy="253603"/>
          </a:xfrm>
          <a:prstGeom prst="rect">
            <a:avLst/>
          </a:prstGeom>
          <a:solidFill>
            <a:srgbClr val="6E6E7A"/>
          </a:solidFill>
          <a:ln/>
        </p:spPr>
        <p:txBody>
          <a:bodyPr/>
          <a:lstStyle/>
          <a:p>
            <a:endParaRPr lang="zh-CN" altLang="en-US"/>
          </a:p>
        </p:txBody>
      </p:sp>
      <p:sp>
        <p:nvSpPr>
          <p:cNvPr id="11" name="Text 7"/>
          <p:cNvSpPr/>
          <p:nvPr/>
        </p:nvSpPr>
        <p:spPr>
          <a:xfrm>
            <a:off x="575072" y="1363005"/>
            <a:ext cx="1153827" cy="253603"/>
          </a:xfrm>
          <a:prstGeom prst="rect">
            <a:avLst/>
          </a:prstGeom>
          <a:noFill/>
          <a:ln/>
        </p:spPr>
        <p:txBody>
          <a:bodyPr wrap="none" lIns="68072" tIns="68072" rIns="68072" bIns="68072" rtlCol="0" anchor="ctr">
            <a:spAutoFit/>
          </a:bodyPr>
          <a:lstStyle/>
          <a:p>
            <a:pPr marL="0" indent="0" algn="l">
              <a:buNone/>
            </a:pPr>
            <a:r>
              <a:rPr lang="en-US" sz="700" b="1" dirty="0">
                <a:solidFill>
                  <a:srgbClr val="FFFFFF"/>
                </a:solidFill>
                <a:latin typeface="Arial" pitchFamily="34" charset="0"/>
                <a:ea typeface="Arial" pitchFamily="34" charset="-122"/>
                <a:cs typeface="Arial" pitchFamily="34" charset="-120"/>
              </a:rPr>
              <a:t>参数</a:t>
            </a:r>
            <a:endParaRPr lang="en-US" sz="700" dirty="0"/>
          </a:p>
        </p:txBody>
      </p:sp>
      <p:sp>
        <p:nvSpPr>
          <p:cNvPr id="12" name="Shape 8"/>
          <p:cNvSpPr/>
          <p:nvPr/>
        </p:nvSpPr>
        <p:spPr>
          <a:xfrm>
            <a:off x="1728899" y="1363005"/>
            <a:ext cx="2653792" cy="253603"/>
          </a:xfrm>
          <a:prstGeom prst="rect">
            <a:avLst/>
          </a:prstGeom>
          <a:solidFill>
            <a:srgbClr val="6E6E7A"/>
          </a:solidFill>
          <a:ln/>
        </p:spPr>
        <p:txBody>
          <a:bodyPr/>
          <a:lstStyle/>
          <a:p>
            <a:endParaRPr lang="zh-CN" altLang="en-US"/>
          </a:p>
        </p:txBody>
      </p:sp>
      <p:sp>
        <p:nvSpPr>
          <p:cNvPr id="13" name="Text 9"/>
          <p:cNvSpPr/>
          <p:nvPr/>
        </p:nvSpPr>
        <p:spPr>
          <a:xfrm>
            <a:off x="1728899" y="1363005"/>
            <a:ext cx="2653792" cy="253603"/>
          </a:xfrm>
          <a:prstGeom prst="rect">
            <a:avLst/>
          </a:prstGeom>
          <a:noFill/>
          <a:ln/>
        </p:spPr>
        <p:txBody>
          <a:bodyPr wrap="square" lIns="68072" tIns="68072" rIns="68072" bIns="68072" rtlCol="0" anchor="ctr">
            <a:spAutoFit/>
          </a:bodyPr>
          <a:lstStyle/>
          <a:p>
            <a:pPr marL="0" indent="0" algn="l">
              <a:buNone/>
            </a:pPr>
            <a:r>
              <a:rPr lang="en-US" sz="700" b="1" dirty="0">
                <a:solidFill>
                  <a:srgbClr val="FFFFFF"/>
                </a:solidFill>
                <a:latin typeface="Arial" pitchFamily="34" charset="0"/>
                <a:ea typeface="Arial" pitchFamily="34" charset="-122"/>
                <a:cs typeface="Arial" pitchFamily="34" charset="-120"/>
              </a:rPr>
              <a:t>规格</a:t>
            </a:r>
            <a:endParaRPr lang="en-US" sz="700" dirty="0"/>
          </a:p>
        </p:txBody>
      </p:sp>
      <p:sp>
        <p:nvSpPr>
          <p:cNvPr id="14" name="Text 10"/>
          <p:cNvSpPr/>
          <p:nvPr/>
        </p:nvSpPr>
        <p:spPr>
          <a:xfrm>
            <a:off x="575072" y="1616608"/>
            <a:ext cx="1153827" cy="257175"/>
          </a:xfrm>
          <a:prstGeom prst="rect">
            <a:avLst/>
          </a:prstGeom>
          <a:noFill/>
          <a:ln/>
        </p:spPr>
        <p:txBody>
          <a:bodyPr wrap="none" lIns="68072" tIns="68072" rIns="68072" bIns="68072"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存储深度</a:t>
            </a:r>
            <a:endParaRPr lang="en-US" sz="750" dirty="0"/>
          </a:p>
        </p:txBody>
      </p:sp>
      <p:sp>
        <p:nvSpPr>
          <p:cNvPr id="15" name="Text 11"/>
          <p:cNvSpPr/>
          <p:nvPr/>
        </p:nvSpPr>
        <p:spPr>
          <a:xfrm>
            <a:off x="1728899" y="1616608"/>
            <a:ext cx="2653792" cy="257175"/>
          </a:xfrm>
          <a:prstGeom prst="rect">
            <a:avLst/>
          </a:prstGeom>
          <a:noFill/>
          <a:ln/>
        </p:spPr>
        <p:txBody>
          <a:bodyPr wrap="square" lIns="68072" tIns="68072" rIns="68072" bIns="68072"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8192 (CELL_NUM)</a:t>
            </a:r>
            <a:endParaRPr lang="en-US" sz="750" dirty="0"/>
          </a:p>
        </p:txBody>
      </p:sp>
      <p:sp>
        <p:nvSpPr>
          <p:cNvPr id="16" name="Text 12"/>
          <p:cNvSpPr/>
          <p:nvPr/>
        </p:nvSpPr>
        <p:spPr>
          <a:xfrm>
            <a:off x="575072" y="1873783"/>
            <a:ext cx="1153827" cy="257175"/>
          </a:xfrm>
          <a:prstGeom prst="rect">
            <a:avLst/>
          </a:prstGeom>
          <a:noFill/>
          <a:ln/>
        </p:spPr>
        <p:txBody>
          <a:bodyPr wrap="none" lIns="68072" tIns="68072" rIns="68072" bIns="68072"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数据位宽</a:t>
            </a:r>
            <a:endParaRPr lang="en-US" sz="750" dirty="0"/>
          </a:p>
        </p:txBody>
      </p:sp>
      <p:sp>
        <p:nvSpPr>
          <p:cNvPr id="17" name="Text 13"/>
          <p:cNvSpPr/>
          <p:nvPr/>
        </p:nvSpPr>
        <p:spPr>
          <a:xfrm>
            <a:off x="1728899" y="1873783"/>
            <a:ext cx="2653792" cy="257175"/>
          </a:xfrm>
          <a:prstGeom prst="rect">
            <a:avLst/>
          </a:prstGeom>
          <a:noFill/>
          <a:ln/>
        </p:spPr>
        <p:txBody>
          <a:bodyPr wrap="square" lIns="68072" tIns="68072" rIns="68072" bIns="68072"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13 bit (ADDR_W)</a:t>
            </a:r>
            <a:endParaRPr lang="en-US" sz="750" dirty="0"/>
          </a:p>
        </p:txBody>
      </p:sp>
      <p:sp>
        <p:nvSpPr>
          <p:cNvPr id="18" name="Text 14"/>
          <p:cNvSpPr/>
          <p:nvPr/>
        </p:nvSpPr>
        <p:spPr>
          <a:xfrm>
            <a:off x="575072" y="2130958"/>
            <a:ext cx="1153827" cy="257175"/>
          </a:xfrm>
          <a:prstGeom prst="rect">
            <a:avLst/>
          </a:prstGeom>
          <a:noFill/>
          <a:ln/>
        </p:spPr>
        <p:txBody>
          <a:bodyPr wrap="none" lIns="68072" tIns="68072" rIns="68072" bIns="68072"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接口类型</a:t>
            </a:r>
            <a:endParaRPr lang="en-US" sz="750" dirty="0"/>
          </a:p>
        </p:txBody>
      </p:sp>
      <p:sp>
        <p:nvSpPr>
          <p:cNvPr id="19" name="Text 15"/>
          <p:cNvSpPr/>
          <p:nvPr/>
        </p:nvSpPr>
        <p:spPr>
          <a:xfrm>
            <a:off x="1728899" y="2130958"/>
            <a:ext cx="2653792" cy="257175"/>
          </a:xfrm>
          <a:prstGeom prst="rect">
            <a:avLst/>
          </a:prstGeom>
          <a:noFill/>
          <a:ln/>
        </p:spPr>
        <p:txBody>
          <a:bodyPr wrap="square" lIns="68072" tIns="68072" rIns="68072" bIns="68072"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1R1W (独立读写端口)</a:t>
            </a:r>
            <a:endParaRPr lang="en-US" sz="750" dirty="0"/>
          </a:p>
        </p:txBody>
      </p:sp>
      <p:sp>
        <p:nvSpPr>
          <p:cNvPr id="20" name="Text 16"/>
          <p:cNvSpPr/>
          <p:nvPr/>
        </p:nvSpPr>
        <p:spPr>
          <a:xfrm>
            <a:off x="575072" y="2388133"/>
            <a:ext cx="1153827" cy="257175"/>
          </a:xfrm>
          <a:prstGeom prst="rect">
            <a:avLst/>
          </a:prstGeom>
          <a:noFill/>
          <a:ln/>
        </p:spPr>
        <p:txBody>
          <a:bodyPr wrap="none" lIns="68072" tIns="68072" rIns="68072" bIns="68072"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读延迟</a:t>
            </a:r>
            <a:endParaRPr lang="en-US" sz="750" dirty="0"/>
          </a:p>
        </p:txBody>
      </p:sp>
      <p:sp>
        <p:nvSpPr>
          <p:cNvPr id="21" name="Text 17"/>
          <p:cNvSpPr/>
          <p:nvPr/>
        </p:nvSpPr>
        <p:spPr>
          <a:xfrm>
            <a:off x="1728899" y="2388133"/>
            <a:ext cx="2653792" cy="257175"/>
          </a:xfrm>
          <a:prstGeom prst="rect">
            <a:avLst/>
          </a:prstGeom>
          <a:noFill/>
          <a:ln/>
        </p:spPr>
        <p:txBody>
          <a:bodyPr wrap="square" lIns="68072" tIns="68072" rIns="68072" bIns="68072"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1 拍 (由预取寄存器吸收)</a:t>
            </a:r>
            <a:endParaRPr lang="en-US" sz="750" dirty="0"/>
          </a:p>
        </p:txBody>
      </p:sp>
      <p:sp>
        <p:nvSpPr>
          <p:cNvPr id="22" name="Shape 18"/>
          <p:cNvSpPr/>
          <p:nvPr/>
        </p:nvSpPr>
        <p:spPr>
          <a:xfrm>
            <a:off x="4614863" y="714375"/>
            <a:ext cx="4100513" cy="2259602"/>
          </a:xfrm>
          <a:prstGeom prst="rect">
            <a:avLst/>
          </a:prstGeom>
          <a:solidFill>
            <a:srgbClr val="FFFFFF"/>
          </a:solidFill>
          <a:ln/>
        </p:spPr>
        <p:txBody>
          <a:bodyPr/>
          <a:lstStyle/>
          <a:p>
            <a:endParaRPr lang="zh-CN" altLang="en-US"/>
          </a:p>
        </p:txBody>
      </p:sp>
      <p:sp>
        <p:nvSpPr>
          <p:cNvPr id="23" name="Shape 19"/>
          <p:cNvSpPr/>
          <p:nvPr/>
        </p:nvSpPr>
        <p:spPr>
          <a:xfrm>
            <a:off x="4614863" y="714375"/>
            <a:ext cx="28575" cy="2259602"/>
          </a:xfrm>
          <a:prstGeom prst="rect">
            <a:avLst/>
          </a:prstGeom>
          <a:solidFill>
            <a:srgbClr val="6CA0F6"/>
          </a:solidFill>
          <a:ln/>
        </p:spPr>
        <p:txBody>
          <a:bodyPr/>
          <a:lstStyle/>
          <a:p>
            <a:endParaRPr lang="zh-CN" altLang="en-US"/>
          </a:p>
        </p:txBody>
      </p:sp>
      <p:pic>
        <p:nvPicPr>
          <p:cNvPr id="24" name="Image 2" descr="preencoded.png"/>
          <p:cNvPicPr>
            <a:picLocks noChangeAspect="1"/>
          </p:cNvPicPr>
          <p:nvPr/>
        </p:nvPicPr>
        <p:blipFill>
          <a:blip r:embed="rId5"/>
          <a:stretch>
            <a:fillRect/>
          </a:stretch>
        </p:blipFill>
        <p:spPr>
          <a:xfrm>
            <a:off x="4757738" y="826889"/>
            <a:ext cx="178594" cy="157163"/>
          </a:xfrm>
          <a:prstGeom prst="rect">
            <a:avLst/>
          </a:prstGeom>
        </p:spPr>
      </p:pic>
      <p:sp>
        <p:nvSpPr>
          <p:cNvPr id="25" name="Text 20"/>
          <p:cNvSpPr/>
          <p:nvPr/>
        </p:nvSpPr>
        <p:spPr>
          <a:xfrm>
            <a:off x="5022056" y="800100"/>
            <a:ext cx="1100138" cy="210741"/>
          </a:xfrm>
          <a:prstGeom prst="rect">
            <a:avLst/>
          </a:prstGeom>
          <a:noFill/>
          <a:ln/>
        </p:spPr>
        <p:txBody>
          <a:bodyPr wrap="none" lIns="0" tIns="0" rIns="0" bIns="0" rtlCol="0" anchor="t">
            <a:spAutoFit/>
          </a:bodyPr>
          <a:lstStyle/>
          <a:p>
            <a:pPr marL="0" indent="0" algn="l">
              <a:buNone/>
            </a:pPr>
            <a:r>
              <a:rPr lang="en-US" sz="1100" b="1" dirty="0">
                <a:solidFill>
                  <a:srgbClr val="3253DC"/>
                </a:solidFill>
                <a:latin typeface="Arial" pitchFamily="34" charset="0"/>
                <a:ea typeface="Arial" pitchFamily="34" charset="-122"/>
                <a:cs typeface="Arial" pitchFamily="34" charset="-120"/>
              </a:rPr>
              <a:t>头尾指针寄存器</a:t>
            </a:r>
            <a:endParaRPr lang="en-US" sz="1100" dirty="0"/>
          </a:p>
        </p:txBody>
      </p:sp>
      <p:sp>
        <p:nvSpPr>
          <p:cNvPr id="26" name="Text 21"/>
          <p:cNvSpPr/>
          <p:nvPr/>
        </p:nvSpPr>
        <p:spPr>
          <a:xfrm>
            <a:off x="4757738" y="1096566"/>
            <a:ext cx="3814763" cy="209290"/>
          </a:xfrm>
          <a:prstGeom prst="rect">
            <a:avLst/>
          </a:prstGeom>
          <a:noFill/>
          <a:ln/>
        </p:spPr>
        <p:txBody>
          <a:bodyPr wrap="none" lIns="0" tIns="0" rIns="0" bIns="0" rtlCol="0" anchor="t">
            <a:spAutoFit/>
          </a:bodyPr>
          <a:lstStyle/>
          <a:p>
            <a:pPr marL="0" indent="0" algn="l">
              <a:lnSpc>
                <a:spcPct val="144000"/>
              </a:lnSpc>
              <a:buNone/>
            </a:pPr>
            <a:r>
              <a:rPr lang="en-US" sz="800" b="1" dirty="0">
                <a:solidFill>
                  <a:srgbClr val="3253DC"/>
                </a:solidFill>
                <a:latin typeface="Consolas" pitchFamily="34" charset="0"/>
                <a:ea typeface="Consolas" pitchFamily="34" charset="-122"/>
                <a:cs typeface="Consolas" pitchFamily="34" charset="-120"/>
              </a:rPr>
              <a:t>q_head[33]</a:t>
            </a:r>
            <a:r>
              <a:rPr lang="en-US" sz="850" dirty="0">
                <a:solidFill>
                  <a:srgbClr val="2E2E38"/>
                </a:solidFill>
                <a:latin typeface="Arial" pitchFamily="34" charset="0"/>
                <a:ea typeface="Arial" pitchFamily="34" charset="-122"/>
                <a:cs typeface="Arial" pitchFamily="34" charset="-120"/>
              </a:rPr>
              <a:t>：指向各队列的第一个 cell 地址。</a:t>
            </a:r>
            <a:endParaRPr lang="en-US" sz="800" dirty="0"/>
          </a:p>
        </p:txBody>
      </p:sp>
      <p:sp>
        <p:nvSpPr>
          <p:cNvPr id="27" name="Text 22"/>
          <p:cNvSpPr/>
          <p:nvPr/>
        </p:nvSpPr>
        <p:spPr>
          <a:xfrm>
            <a:off x="4757738" y="1363005"/>
            <a:ext cx="3814763" cy="209290"/>
          </a:xfrm>
          <a:prstGeom prst="rect">
            <a:avLst/>
          </a:prstGeom>
          <a:noFill/>
          <a:ln/>
        </p:spPr>
        <p:txBody>
          <a:bodyPr wrap="none" lIns="0" tIns="0" rIns="0" bIns="0" rtlCol="0" anchor="t">
            <a:spAutoFit/>
          </a:bodyPr>
          <a:lstStyle/>
          <a:p>
            <a:pPr marL="0" indent="0" algn="l">
              <a:lnSpc>
                <a:spcPct val="144000"/>
              </a:lnSpc>
              <a:buNone/>
            </a:pPr>
            <a:r>
              <a:rPr lang="en-US" sz="800" b="1" dirty="0">
                <a:solidFill>
                  <a:srgbClr val="3253DC"/>
                </a:solidFill>
                <a:latin typeface="Consolas" pitchFamily="34" charset="0"/>
                <a:ea typeface="Consolas" pitchFamily="34" charset="-122"/>
                <a:cs typeface="Consolas" pitchFamily="34" charset="-120"/>
              </a:rPr>
              <a:t>q_tail[33]</a:t>
            </a:r>
            <a:r>
              <a:rPr lang="en-US" sz="850" dirty="0">
                <a:solidFill>
                  <a:srgbClr val="2E2E38"/>
                </a:solidFill>
                <a:latin typeface="Arial" pitchFamily="34" charset="0"/>
                <a:ea typeface="Arial" pitchFamily="34" charset="-122"/>
                <a:cs typeface="Arial" pitchFamily="34" charset="-120"/>
              </a:rPr>
              <a:t>：指向各队列的最后一个 cell 地址。</a:t>
            </a:r>
            <a:endParaRPr lang="en-US" sz="800" dirty="0"/>
          </a:p>
        </p:txBody>
      </p:sp>
      <p:sp>
        <p:nvSpPr>
          <p:cNvPr id="28" name="Text 23"/>
          <p:cNvSpPr/>
          <p:nvPr/>
        </p:nvSpPr>
        <p:spPr>
          <a:xfrm>
            <a:off x="4757738" y="1629445"/>
            <a:ext cx="3814763" cy="209290"/>
          </a:xfrm>
          <a:prstGeom prst="rect">
            <a:avLst/>
          </a:prstGeom>
          <a:noFill/>
          <a:ln/>
        </p:spPr>
        <p:txBody>
          <a:bodyPr wrap="none" lIns="0" tIns="0" rIns="0" bIns="0" rtlCol="0" anchor="t">
            <a:spAutoFit/>
          </a:bodyPr>
          <a:lstStyle/>
          <a:p>
            <a:pPr marL="0" indent="0" algn="l">
              <a:lnSpc>
                <a:spcPct val="144000"/>
              </a:lnSpc>
              <a:buNone/>
            </a:pPr>
            <a:r>
              <a:rPr lang="en-US" sz="800" b="1" dirty="0">
                <a:solidFill>
                  <a:srgbClr val="3253DC"/>
                </a:solidFill>
                <a:latin typeface="Consolas" pitchFamily="34" charset="0"/>
                <a:ea typeface="Consolas" pitchFamily="34" charset="-122"/>
                <a:cs typeface="Consolas" pitchFamily="34" charset="-120"/>
              </a:rPr>
              <a:t>free_head / free_tail</a:t>
            </a:r>
            <a:r>
              <a:rPr lang="en-US" sz="850" dirty="0">
                <a:solidFill>
                  <a:srgbClr val="2E2E38"/>
                </a:solidFill>
                <a:latin typeface="Arial" pitchFamily="34" charset="0"/>
                <a:ea typeface="Arial" pitchFamily="34" charset="-122"/>
                <a:cs typeface="Arial" pitchFamily="34" charset="-120"/>
              </a:rPr>
              <a:t>：维护空闲地址池的头尾。</a:t>
            </a:r>
            <a:endParaRPr lang="en-US" sz="800" dirty="0"/>
          </a:p>
        </p:txBody>
      </p:sp>
      <p:sp>
        <p:nvSpPr>
          <p:cNvPr id="29" name="Text 24"/>
          <p:cNvSpPr/>
          <p:nvPr/>
        </p:nvSpPr>
        <p:spPr>
          <a:xfrm>
            <a:off x="4757738" y="1895884"/>
            <a:ext cx="3814763" cy="205718"/>
          </a:xfrm>
          <a:prstGeom prst="rect">
            <a:avLst/>
          </a:prstGeom>
          <a:noFill/>
          <a:ln/>
        </p:spPr>
        <p:txBody>
          <a:bodyPr wrap="non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所有指针均为寄存器实现，支持单拍访问与更新。</a:t>
            </a:r>
            <a:endParaRPr lang="en-US" sz="850" dirty="0"/>
          </a:p>
        </p:txBody>
      </p:sp>
      <p:sp>
        <p:nvSpPr>
          <p:cNvPr id="30" name="Shape 25"/>
          <p:cNvSpPr/>
          <p:nvPr/>
        </p:nvSpPr>
        <p:spPr>
          <a:xfrm>
            <a:off x="428625" y="3059702"/>
            <a:ext cx="8286750" cy="1655173"/>
          </a:xfrm>
          <a:prstGeom prst="rect">
            <a:avLst/>
          </a:prstGeom>
          <a:solidFill>
            <a:srgbClr val="FFFFFF"/>
          </a:solidFill>
          <a:ln/>
        </p:spPr>
        <p:txBody>
          <a:bodyPr/>
          <a:lstStyle/>
          <a:p>
            <a:endParaRPr lang="zh-CN" altLang="en-US"/>
          </a:p>
        </p:txBody>
      </p:sp>
      <p:sp>
        <p:nvSpPr>
          <p:cNvPr id="31" name="Shape 26"/>
          <p:cNvSpPr/>
          <p:nvPr/>
        </p:nvSpPr>
        <p:spPr>
          <a:xfrm>
            <a:off x="428625" y="3059702"/>
            <a:ext cx="28575" cy="1655173"/>
          </a:xfrm>
          <a:prstGeom prst="rect">
            <a:avLst/>
          </a:prstGeom>
          <a:solidFill>
            <a:srgbClr val="6CA0F6"/>
          </a:solidFill>
          <a:ln/>
        </p:spPr>
        <p:txBody>
          <a:bodyPr/>
          <a:lstStyle/>
          <a:p>
            <a:endParaRPr lang="zh-CN" altLang="en-US"/>
          </a:p>
        </p:txBody>
      </p:sp>
      <p:pic>
        <p:nvPicPr>
          <p:cNvPr id="32" name="Image 3" descr="preencoded.png"/>
          <p:cNvPicPr>
            <a:picLocks noChangeAspect="1"/>
          </p:cNvPicPr>
          <p:nvPr/>
        </p:nvPicPr>
        <p:blipFill>
          <a:blip r:embed="rId6"/>
          <a:stretch>
            <a:fillRect/>
          </a:stretch>
        </p:blipFill>
        <p:spPr>
          <a:xfrm>
            <a:off x="571500" y="3172216"/>
            <a:ext cx="157163" cy="157163"/>
          </a:xfrm>
          <a:prstGeom prst="rect">
            <a:avLst/>
          </a:prstGeom>
        </p:spPr>
      </p:pic>
      <p:sp>
        <p:nvSpPr>
          <p:cNvPr id="33" name="Text 27"/>
          <p:cNvSpPr/>
          <p:nvPr/>
        </p:nvSpPr>
        <p:spPr>
          <a:xfrm>
            <a:off x="814388" y="3145427"/>
            <a:ext cx="1676605" cy="210741"/>
          </a:xfrm>
          <a:prstGeom prst="rect">
            <a:avLst/>
          </a:prstGeom>
          <a:noFill/>
          <a:ln/>
        </p:spPr>
        <p:txBody>
          <a:bodyPr wrap="square" lIns="0" tIns="0" rIns="0" bIns="0" rtlCol="0" anchor="t">
            <a:spAutoFit/>
          </a:bodyPr>
          <a:lstStyle/>
          <a:p>
            <a:pPr marL="0" indent="0" algn="l">
              <a:buNone/>
            </a:pPr>
            <a:r>
              <a:rPr lang="en-US" sz="1100" b="1" dirty="0">
                <a:solidFill>
                  <a:srgbClr val="3253DC"/>
                </a:solidFill>
                <a:latin typeface="Arial" pitchFamily="34" charset="0"/>
                <a:ea typeface="Arial" pitchFamily="34" charset="-122"/>
                <a:cs typeface="Arial" pitchFamily="34" charset="-120"/>
              </a:rPr>
              <a:t>操作逻辑与 Free 链维护</a:t>
            </a:r>
            <a:endParaRPr lang="en-US" sz="1100" dirty="0"/>
          </a:p>
        </p:txBody>
      </p:sp>
      <p:sp>
        <p:nvSpPr>
          <p:cNvPr id="34" name="Text 28"/>
          <p:cNvSpPr/>
          <p:nvPr/>
        </p:nvSpPr>
        <p:spPr>
          <a:xfrm>
            <a:off x="571500" y="3477611"/>
            <a:ext cx="819131" cy="128588"/>
          </a:xfrm>
          <a:prstGeom prst="rect">
            <a:avLst/>
          </a:prstGeom>
          <a:noFill/>
          <a:ln/>
        </p:spPr>
        <p:txBody>
          <a:bodyPr wrap="none" lIns="0" tIns="0" rIns="0" bIns="0" rtlCol="0" anchor="t">
            <a:spAutoFit/>
          </a:bodyPr>
          <a:lstStyle/>
          <a:p>
            <a:pPr marL="0" indent="0" algn="l">
              <a:lnSpc>
                <a:spcPct val="144000"/>
              </a:lnSpc>
              <a:buNone/>
            </a:pPr>
            <a:r>
              <a:rPr lang="en-US" sz="800" b="1" dirty="0">
                <a:solidFill>
                  <a:srgbClr val="2E2E38"/>
                </a:solidFill>
                <a:latin typeface="Arial" pitchFamily="34" charset="0"/>
                <a:ea typeface="Arial" pitchFamily="34" charset="-122"/>
                <a:cs typeface="Arial" pitchFamily="34" charset="-120"/>
              </a:rPr>
              <a:t>入队 (Enqueue)</a:t>
            </a:r>
            <a:endParaRPr lang="en-US" sz="800" dirty="0"/>
          </a:p>
        </p:txBody>
      </p:sp>
      <p:sp>
        <p:nvSpPr>
          <p:cNvPr id="35" name="Text 29"/>
          <p:cNvSpPr/>
          <p:nvPr/>
        </p:nvSpPr>
        <p:spPr>
          <a:xfrm>
            <a:off x="571500" y="3704760"/>
            <a:ext cx="2571750" cy="418579"/>
          </a:xfrm>
          <a:prstGeom prst="rect">
            <a:avLst/>
          </a:prstGeom>
          <a:noFill/>
          <a:ln/>
        </p:spPr>
        <p:txBody>
          <a:bodyPr wrap="squar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从 </a:t>
            </a:r>
            <a:r>
              <a:rPr lang="en-US" sz="800" b="1" dirty="0">
                <a:solidFill>
                  <a:srgbClr val="3253DC"/>
                </a:solidFill>
                <a:latin typeface="Consolas" pitchFamily="34" charset="0"/>
                <a:ea typeface="Consolas" pitchFamily="34" charset="-122"/>
                <a:cs typeface="Consolas" pitchFamily="34" charset="-120"/>
              </a:rPr>
              <a:t>free_head</a:t>
            </a:r>
            <a:r>
              <a:rPr lang="en-US" sz="850" dirty="0">
                <a:solidFill>
                  <a:srgbClr val="2E2E38"/>
                </a:solidFill>
                <a:latin typeface="Arial" pitchFamily="34" charset="0"/>
                <a:ea typeface="Arial" pitchFamily="34" charset="-122"/>
                <a:cs typeface="Arial" pitchFamily="34" charset="-120"/>
              </a:rPr>
              <a:t> 弹出地址，挂载至对应队列的 </a:t>
            </a:r>
            <a:r>
              <a:rPr lang="en-US" sz="800" b="1" dirty="0">
                <a:solidFill>
                  <a:srgbClr val="3253DC"/>
                </a:solidFill>
                <a:latin typeface="Consolas" pitchFamily="34" charset="0"/>
                <a:ea typeface="Consolas" pitchFamily="34" charset="-122"/>
                <a:cs typeface="Consolas" pitchFamily="34" charset="-120"/>
              </a:rPr>
              <a:t>q_tail</a:t>
            </a:r>
            <a:r>
              <a:rPr lang="en-US" sz="850" dirty="0">
                <a:solidFill>
                  <a:srgbClr val="2E2E38"/>
                </a:solidFill>
                <a:latin typeface="Arial" pitchFamily="34" charset="0"/>
                <a:ea typeface="Arial" pitchFamily="34" charset="-122"/>
                <a:cs typeface="Arial" pitchFamily="34" charset="-120"/>
              </a:rPr>
              <a:t> 之后，并更新该队列的尾指针。</a:t>
            </a:r>
            <a:endParaRPr lang="en-US" sz="850" dirty="0"/>
          </a:p>
        </p:txBody>
      </p:sp>
      <p:sp>
        <p:nvSpPr>
          <p:cNvPr id="36" name="Text 30"/>
          <p:cNvSpPr/>
          <p:nvPr/>
        </p:nvSpPr>
        <p:spPr>
          <a:xfrm>
            <a:off x="3286125" y="3477611"/>
            <a:ext cx="819187" cy="128588"/>
          </a:xfrm>
          <a:prstGeom prst="rect">
            <a:avLst/>
          </a:prstGeom>
          <a:noFill/>
          <a:ln/>
        </p:spPr>
        <p:txBody>
          <a:bodyPr wrap="none" lIns="0" tIns="0" rIns="0" bIns="0" rtlCol="0" anchor="t">
            <a:spAutoFit/>
          </a:bodyPr>
          <a:lstStyle/>
          <a:p>
            <a:pPr marL="0" indent="0" algn="l">
              <a:lnSpc>
                <a:spcPct val="144000"/>
              </a:lnSpc>
              <a:buNone/>
            </a:pPr>
            <a:r>
              <a:rPr lang="en-US" sz="800" b="1" dirty="0">
                <a:solidFill>
                  <a:srgbClr val="2E2E38"/>
                </a:solidFill>
                <a:latin typeface="Arial" pitchFamily="34" charset="0"/>
                <a:ea typeface="Arial" pitchFamily="34" charset="-122"/>
                <a:cs typeface="Arial" pitchFamily="34" charset="-120"/>
              </a:rPr>
              <a:t>出队 (Dequeue)</a:t>
            </a:r>
            <a:endParaRPr lang="en-US" sz="800" dirty="0"/>
          </a:p>
        </p:txBody>
      </p:sp>
      <p:sp>
        <p:nvSpPr>
          <p:cNvPr id="37" name="Text 31"/>
          <p:cNvSpPr/>
          <p:nvPr/>
        </p:nvSpPr>
        <p:spPr>
          <a:xfrm>
            <a:off x="3286125" y="3704760"/>
            <a:ext cx="2571750" cy="357662"/>
          </a:xfrm>
          <a:prstGeom prst="rect">
            <a:avLst/>
          </a:prstGeom>
          <a:noFill/>
          <a:ln/>
        </p:spPr>
        <p:txBody>
          <a:bodyPr wrap="squar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从 </a:t>
            </a:r>
            <a:r>
              <a:rPr lang="en-US" sz="800" b="1" dirty="0">
                <a:solidFill>
                  <a:srgbClr val="3253DC"/>
                </a:solidFill>
                <a:latin typeface="Consolas" pitchFamily="34" charset="0"/>
                <a:ea typeface="Consolas" pitchFamily="34" charset="-122"/>
                <a:cs typeface="Consolas" pitchFamily="34" charset="-120"/>
              </a:rPr>
              <a:t>q_head</a:t>
            </a:r>
            <a:r>
              <a:rPr lang="en-US" sz="850" dirty="0">
                <a:solidFill>
                  <a:srgbClr val="2E2E38"/>
                </a:solidFill>
                <a:latin typeface="Arial" pitchFamily="34" charset="0"/>
                <a:ea typeface="Arial" pitchFamily="34" charset="-122"/>
                <a:cs typeface="Arial" pitchFamily="34" charset="-120"/>
              </a:rPr>
              <a:t> 弹出地址，更新头指针为 SRAM 中读取的 </a:t>
            </a:r>
            <a:r>
              <a:rPr lang="en-US" sz="800" b="1" dirty="0" err="1">
                <a:solidFill>
                  <a:srgbClr val="3253DC"/>
                </a:solidFill>
                <a:latin typeface="Consolas" pitchFamily="34" charset="0"/>
                <a:ea typeface="Consolas" pitchFamily="34" charset="-122"/>
                <a:cs typeface="Consolas" pitchFamily="34" charset="-120"/>
              </a:rPr>
              <a:t>next_ptr</a:t>
            </a:r>
            <a:r>
              <a:rPr lang="en-US" sz="850" dirty="0">
                <a:solidFill>
                  <a:srgbClr val="2E2E38"/>
                </a:solidFill>
                <a:latin typeface="Arial" pitchFamily="34" charset="0"/>
                <a:ea typeface="Arial" pitchFamily="34" charset="-122"/>
                <a:cs typeface="Arial" pitchFamily="34" charset="-120"/>
              </a:rPr>
              <a:t>，</a:t>
            </a:r>
            <a:r>
              <a:rPr lang="zh-CN" altLang="en-US" sz="850" dirty="0">
                <a:solidFill>
                  <a:srgbClr val="2E2E38"/>
                </a:solidFill>
                <a:latin typeface="Arial" pitchFamily="34" charset="0"/>
                <a:ea typeface="Arial" pitchFamily="34" charset="-122"/>
                <a:cs typeface="Arial" pitchFamily="34" charset="-120"/>
              </a:rPr>
              <a:t>地址回收时</a:t>
            </a:r>
            <a:r>
              <a:rPr lang="en-US" sz="850" dirty="0" err="1">
                <a:solidFill>
                  <a:srgbClr val="2E2E38"/>
                </a:solidFill>
                <a:latin typeface="Arial" pitchFamily="34" charset="0"/>
                <a:ea typeface="Arial" pitchFamily="34" charset="-122"/>
                <a:cs typeface="Arial" pitchFamily="34" charset="-120"/>
              </a:rPr>
              <a:t>弹出地址压回</a:t>
            </a:r>
            <a:r>
              <a:rPr lang="en-US" sz="850" dirty="0">
                <a:solidFill>
                  <a:srgbClr val="2E2E38"/>
                </a:solidFill>
                <a:latin typeface="Arial" pitchFamily="34" charset="0"/>
                <a:ea typeface="Arial" pitchFamily="34" charset="-122"/>
                <a:cs typeface="Arial" pitchFamily="34" charset="-120"/>
              </a:rPr>
              <a:t> </a:t>
            </a:r>
            <a:r>
              <a:rPr lang="en-US" sz="800" b="1" dirty="0">
                <a:solidFill>
                  <a:srgbClr val="3253DC"/>
                </a:solidFill>
                <a:latin typeface="Consolas" pitchFamily="34" charset="0"/>
                <a:ea typeface="Consolas" pitchFamily="34" charset="-122"/>
                <a:cs typeface="Consolas" pitchFamily="34" charset="-120"/>
              </a:rPr>
              <a:t>free_tail</a:t>
            </a:r>
            <a:r>
              <a:rPr lang="en-US" sz="850" dirty="0">
                <a:solidFill>
                  <a:srgbClr val="2E2E38"/>
                </a:solidFill>
                <a:latin typeface="Arial" pitchFamily="34" charset="0"/>
                <a:ea typeface="Arial" pitchFamily="34" charset="-122"/>
                <a:cs typeface="Arial" pitchFamily="34" charset="-120"/>
              </a:rPr>
              <a:t>。</a:t>
            </a:r>
            <a:endParaRPr lang="en-US" sz="850" dirty="0"/>
          </a:p>
        </p:txBody>
      </p:sp>
      <p:sp>
        <p:nvSpPr>
          <p:cNvPr id="38" name="Text 32"/>
          <p:cNvSpPr/>
          <p:nvPr/>
        </p:nvSpPr>
        <p:spPr>
          <a:xfrm>
            <a:off x="6000750" y="3477611"/>
            <a:ext cx="927181" cy="128588"/>
          </a:xfrm>
          <a:prstGeom prst="rect">
            <a:avLst/>
          </a:prstGeom>
          <a:noFill/>
          <a:ln/>
        </p:spPr>
        <p:txBody>
          <a:bodyPr wrap="none" lIns="0" tIns="0" rIns="0" bIns="0" rtlCol="0" anchor="t">
            <a:spAutoFit/>
          </a:bodyPr>
          <a:lstStyle/>
          <a:p>
            <a:pPr marL="0" indent="0" algn="l">
              <a:lnSpc>
                <a:spcPct val="144000"/>
              </a:lnSpc>
              <a:buNone/>
            </a:pPr>
            <a:r>
              <a:rPr lang="en-US" sz="800" b="1" dirty="0">
                <a:solidFill>
                  <a:srgbClr val="2E2E38"/>
                </a:solidFill>
                <a:latin typeface="Arial" pitchFamily="34" charset="0"/>
                <a:ea typeface="Arial" pitchFamily="34" charset="-122"/>
                <a:cs typeface="Arial" pitchFamily="34" charset="-120"/>
              </a:rPr>
              <a:t>空闲链 (Free List)</a:t>
            </a:r>
            <a:endParaRPr lang="en-US" sz="800" dirty="0"/>
          </a:p>
        </p:txBody>
      </p:sp>
      <p:sp>
        <p:nvSpPr>
          <p:cNvPr id="39" name="Text 33"/>
          <p:cNvSpPr/>
          <p:nvPr/>
        </p:nvSpPr>
        <p:spPr>
          <a:xfrm>
            <a:off x="6000750" y="3704760"/>
            <a:ext cx="2571750" cy="411435"/>
          </a:xfrm>
          <a:prstGeom prst="rect">
            <a:avLst/>
          </a:prstGeom>
          <a:noFill/>
          <a:ln/>
        </p:spPr>
        <p:txBody>
          <a:bodyPr wrap="squar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未使用的 8192 个 cell 初始状态下组织成一条单向长链，确保地址分配的 O(1) 复杂度。</a:t>
            </a:r>
            <a:endParaRPr lang="en-US" sz="850" dirty="0"/>
          </a:p>
        </p:txBody>
      </p:sp>
      <p:sp>
        <p:nvSpPr>
          <p:cNvPr id="40" name="Text 34"/>
          <p:cNvSpPr/>
          <p:nvPr/>
        </p:nvSpPr>
        <p:spPr>
          <a:xfrm>
            <a:off x="428625" y="4879181"/>
            <a:ext cx="857473"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SMMU Design Review</a:t>
            </a:r>
            <a:endParaRPr lang="en-US" sz="600" dirty="0"/>
          </a:p>
        </p:txBody>
      </p:sp>
      <p:sp>
        <p:nvSpPr>
          <p:cNvPr id="41" name="Text 35"/>
          <p:cNvSpPr/>
          <p:nvPr/>
        </p:nvSpPr>
        <p:spPr>
          <a:xfrm>
            <a:off x="8395971" y="4879181"/>
            <a:ext cx="319404"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Page 08</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71500"/>
          </a:xfrm>
          <a:prstGeom prst="rect">
            <a:avLst/>
          </a:prstGeom>
          <a:solidFill>
            <a:srgbClr val="3253DC"/>
          </a:solidFill>
          <a:ln/>
        </p:spPr>
        <p:txBody>
          <a:bodyPr/>
          <a:lstStyle/>
          <a:p>
            <a:endParaRPr lang="zh-CN" altLang="en-US"/>
          </a:p>
        </p:txBody>
      </p:sp>
      <p:sp>
        <p:nvSpPr>
          <p:cNvPr id="4" name="Text 1"/>
          <p:cNvSpPr/>
          <p:nvPr/>
        </p:nvSpPr>
        <p:spPr>
          <a:xfrm>
            <a:off x="428625" y="130373"/>
            <a:ext cx="4102298" cy="310753"/>
          </a:xfrm>
          <a:prstGeom prst="rect">
            <a:avLst/>
          </a:prstGeom>
          <a:noFill/>
          <a:ln/>
        </p:spPr>
        <p:txBody>
          <a:bodyPr wrap="square" lIns="0" tIns="0" rIns="0" bIns="0" rtlCol="0" anchor="t">
            <a:spAutoFit/>
          </a:bodyPr>
          <a:lstStyle/>
          <a:p>
            <a:pPr marL="0" indent="0" algn="l">
              <a:buNone/>
            </a:pPr>
            <a:r>
              <a:rPr lang="en-US" sz="1600" b="1" dirty="0">
                <a:solidFill>
                  <a:srgbClr val="FFFFFF"/>
                </a:solidFill>
                <a:latin typeface="Arial" pitchFamily="34" charset="0"/>
                <a:ea typeface="Arial" pitchFamily="34" charset="-122"/>
                <a:cs typeface="Arial" pitchFamily="34" charset="-120"/>
              </a:rPr>
              <a:t>缓存双池管理 (Dual Pool Management)</a:t>
            </a:r>
            <a:endParaRPr lang="en-US" sz="1600" dirty="0"/>
          </a:p>
        </p:txBody>
      </p:sp>
      <p:sp>
        <p:nvSpPr>
          <p:cNvPr id="5" name="Shape 2"/>
          <p:cNvSpPr/>
          <p:nvPr/>
        </p:nvSpPr>
        <p:spPr>
          <a:xfrm>
            <a:off x="428625" y="857250"/>
            <a:ext cx="3000375" cy="1618059"/>
          </a:xfrm>
          <a:prstGeom prst="rect">
            <a:avLst/>
          </a:prstGeom>
          <a:solidFill>
            <a:srgbClr val="FFFFFF"/>
          </a:solidFill>
          <a:ln/>
        </p:spPr>
        <p:txBody>
          <a:bodyPr/>
          <a:lstStyle/>
          <a:p>
            <a:endParaRPr lang="zh-CN" altLang="en-US"/>
          </a:p>
        </p:txBody>
      </p:sp>
      <p:sp>
        <p:nvSpPr>
          <p:cNvPr id="6" name="Shape 3"/>
          <p:cNvSpPr/>
          <p:nvPr/>
        </p:nvSpPr>
        <p:spPr>
          <a:xfrm>
            <a:off x="428625" y="857250"/>
            <a:ext cx="28575" cy="1618059"/>
          </a:xfrm>
          <a:prstGeom prst="rect">
            <a:avLst/>
          </a:prstGeom>
          <a:solidFill>
            <a:srgbClr val="6CA0F6"/>
          </a:solidFill>
          <a:ln/>
        </p:spPr>
        <p:txBody>
          <a:bodyPr/>
          <a:lstStyle/>
          <a:p>
            <a:endParaRPr lang="zh-CN" altLang="en-US"/>
          </a:p>
        </p:txBody>
      </p:sp>
      <p:sp>
        <p:nvSpPr>
          <p:cNvPr id="7" name="Text 4"/>
          <p:cNvSpPr/>
          <p:nvPr/>
        </p:nvSpPr>
        <p:spPr>
          <a:xfrm>
            <a:off x="607219" y="1000125"/>
            <a:ext cx="2643188" cy="196453"/>
          </a:xfrm>
          <a:prstGeom prst="rect">
            <a:avLst/>
          </a:prstGeom>
          <a:noFill/>
          <a:ln/>
        </p:spPr>
        <p:txBody>
          <a:bodyPr wrap="square" lIns="0" tIns="0" rIns="0" bIns="0" rtlCol="0" anchor="t">
            <a:spAutoFit/>
          </a:bodyPr>
          <a:lstStyle/>
          <a:p>
            <a:pPr marL="0" indent="0" algn="l">
              <a:buNone/>
            </a:pPr>
            <a:r>
              <a:rPr lang="en-US" sz="1000" b="1" dirty="0">
                <a:solidFill>
                  <a:srgbClr val="3253DC"/>
                </a:solidFill>
                <a:latin typeface="Arial" pitchFamily="34" charset="0"/>
                <a:ea typeface="Arial" pitchFamily="34" charset="-122"/>
                <a:cs typeface="Arial" pitchFamily="34" charset="-120"/>
              </a:rPr>
              <a:t>机制说明</a:t>
            </a:r>
            <a:endParaRPr lang="en-US" sz="1000" dirty="0"/>
          </a:p>
        </p:txBody>
      </p:sp>
      <p:sp>
        <p:nvSpPr>
          <p:cNvPr id="8" name="Text 5"/>
          <p:cNvSpPr/>
          <p:nvPr/>
        </p:nvSpPr>
        <p:spPr>
          <a:xfrm>
            <a:off x="607219" y="1303734"/>
            <a:ext cx="2643188" cy="514350"/>
          </a:xfrm>
          <a:prstGeom prst="rect">
            <a:avLst/>
          </a:prstGeom>
          <a:noFill/>
          <a:ln/>
        </p:spPr>
        <p:txBody>
          <a:bodyPr wrap="square" lIns="0" tIns="0" rIns="0" bIns="0" rtlCol="0" anchor="t">
            <a:spAutoFit/>
          </a:bodyPr>
          <a:lstStyle/>
          <a:p>
            <a:pPr marL="0" indent="0" algn="l">
              <a:lnSpc>
                <a:spcPct val="128000"/>
              </a:lnSpc>
              <a:buNone/>
            </a:pPr>
            <a:r>
              <a:rPr lang="en-US" sz="750" b="1" dirty="0">
                <a:solidFill>
                  <a:srgbClr val="2E2E38"/>
                </a:solidFill>
                <a:latin typeface="Arial" pitchFamily="34" charset="0"/>
                <a:ea typeface="Arial" pitchFamily="34" charset="-122"/>
                <a:cs typeface="Arial" pitchFamily="34" charset="-120"/>
              </a:rPr>
              <a:t>静态预留池 (Reserved Pool)</a:t>
            </a:r>
            <a:r>
              <a:rPr lang="en-US" sz="800" dirty="0">
                <a:solidFill>
                  <a:srgbClr val="2E2E38"/>
                </a:solidFill>
                <a:latin typeface="Arial" pitchFamily="34" charset="0"/>
                <a:ea typeface="Arial" pitchFamily="34" charset="-122"/>
                <a:cs typeface="Arial" pitchFamily="34" charset="-120"/>
              </a:rPr>
              <a:t>：为每个队列分配保底空间，确保在拥塞情况下各队列仍有基本转发能力，防止 QoS 饿死。</a:t>
            </a:r>
            <a:endParaRPr lang="en-US" sz="750" dirty="0"/>
          </a:p>
        </p:txBody>
      </p:sp>
      <p:sp>
        <p:nvSpPr>
          <p:cNvPr id="9" name="Text 6"/>
          <p:cNvSpPr/>
          <p:nvPr/>
        </p:nvSpPr>
        <p:spPr>
          <a:xfrm>
            <a:off x="607219" y="1889522"/>
            <a:ext cx="2643188" cy="342900"/>
          </a:xfrm>
          <a:prstGeom prst="rect">
            <a:avLst/>
          </a:prstGeom>
          <a:noFill/>
          <a:ln/>
        </p:spPr>
        <p:txBody>
          <a:bodyPr wrap="square" lIns="0" tIns="0" rIns="0" bIns="0" rtlCol="0" anchor="t">
            <a:spAutoFit/>
          </a:bodyPr>
          <a:lstStyle/>
          <a:p>
            <a:pPr marL="0" indent="0" algn="l">
              <a:lnSpc>
                <a:spcPct val="128000"/>
              </a:lnSpc>
              <a:buNone/>
            </a:pPr>
            <a:r>
              <a:rPr lang="en-US" sz="750" b="1" dirty="0">
                <a:solidFill>
                  <a:srgbClr val="2E2E38"/>
                </a:solidFill>
                <a:latin typeface="Arial" pitchFamily="34" charset="0"/>
                <a:ea typeface="Arial" pitchFamily="34" charset="-122"/>
                <a:cs typeface="Arial" pitchFamily="34" charset="-120"/>
              </a:rPr>
              <a:t>动态共享池 (Shared Pool)</a:t>
            </a:r>
            <a:r>
              <a:rPr lang="en-US" sz="800" dirty="0">
                <a:solidFill>
                  <a:srgbClr val="2E2E38"/>
                </a:solidFill>
                <a:latin typeface="Arial" pitchFamily="34" charset="0"/>
                <a:ea typeface="Arial" pitchFamily="34" charset="-122"/>
                <a:cs typeface="Arial" pitchFamily="34" charset="-120"/>
              </a:rPr>
              <a:t>：剩余缓存由所有活跃队列动态竞争，极大提升了对突发流量 (Burst) 的吸收能力。</a:t>
            </a:r>
            <a:endParaRPr lang="en-US" sz="750" dirty="0"/>
          </a:p>
        </p:txBody>
      </p:sp>
      <p:sp>
        <p:nvSpPr>
          <p:cNvPr id="10" name="Shape 7"/>
          <p:cNvSpPr/>
          <p:nvPr/>
        </p:nvSpPr>
        <p:spPr>
          <a:xfrm>
            <a:off x="428625" y="2518172"/>
            <a:ext cx="3000375" cy="1487128"/>
          </a:xfrm>
          <a:prstGeom prst="rect">
            <a:avLst/>
          </a:prstGeom>
          <a:solidFill>
            <a:srgbClr val="2E2E38"/>
          </a:solidFill>
          <a:ln/>
        </p:spPr>
        <p:txBody>
          <a:bodyPr/>
          <a:lstStyle/>
          <a:p>
            <a:endParaRPr lang="zh-CN" altLang="en-US"/>
          </a:p>
        </p:txBody>
      </p:sp>
      <p:sp>
        <p:nvSpPr>
          <p:cNvPr id="11" name="Text 8"/>
          <p:cNvSpPr/>
          <p:nvPr/>
        </p:nvSpPr>
        <p:spPr>
          <a:xfrm>
            <a:off x="607219" y="2661047"/>
            <a:ext cx="2643188" cy="157163"/>
          </a:xfrm>
          <a:prstGeom prst="rect">
            <a:avLst/>
          </a:prstGeom>
          <a:noFill/>
          <a:ln/>
        </p:spPr>
        <p:txBody>
          <a:bodyPr wrap="square" lIns="0" tIns="0" rIns="0" bIns="0" rtlCol="0" anchor="t">
            <a:spAutoFit/>
          </a:bodyPr>
          <a:lstStyle/>
          <a:p>
            <a:pPr marL="0" indent="0" algn="l">
              <a:buNone/>
            </a:pPr>
            <a:r>
              <a:rPr lang="en-US" sz="800" b="1" dirty="0">
                <a:solidFill>
                  <a:srgbClr val="00C2DE"/>
                </a:solidFill>
                <a:latin typeface="Arial" pitchFamily="34" charset="0"/>
                <a:ea typeface="Arial" pitchFamily="34" charset="-122"/>
                <a:cs typeface="Arial" pitchFamily="34" charset="-120"/>
              </a:rPr>
              <a:t>分配判决逻辑 (DECISION LOGIC)</a:t>
            </a:r>
            <a:endParaRPr lang="en-US" sz="800" dirty="0"/>
          </a:p>
        </p:txBody>
      </p:sp>
      <p:sp>
        <p:nvSpPr>
          <p:cNvPr id="12" name="Text 9"/>
          <p:cNvSpPr/>
          <p:nvPr/>
        </p:nvSpPr>
        <p:spPr>
          <a:xfrm>
            <a:off x="607219" y="2925366"/>
            <a:ext cx="2643188" cy="1079934"/>
          </a:xfrm>
          <a:prstGeom prst="rect">
            <a:avLst/>
          </a:prstGeom>
          <a:noFill/>
          <a:ln/>
        </p:spPr>
        <p:txBody>
          <a:bodyPr wrap="square" lIns="0" tIns="0" rIns="0" bIns="0" rtlCol="0" anchor="t">
            <a:spAutoFit/>
          </a:bodyPr>
          <a:lstStyle/>
          <a:p>
            <a:pPr marL="0" indent="0" algn="l">
              <a:lnSpc>
                <a:spcPct val="144000"/>
              </a:lnSpc>
              <a:buNone/>
            </a:pPr>
            <a:r>
              <a:rPr lang="en-US" sz="750" dirty="0">
                <a:solidFill>
                  <a:srgbClr val="F2F4F8"/>
                </a:solidFill>
                <a:latin typeface="Consolas" pitchFamily="34" charset="0"/>
                <a:ea typeface="Consolas" pitchFamily="34" charset="-122"/>
                <a:cs typeface="Consolas" pitchFamily="34" charset="-120"/>
              </a:rPr>
              <a:t>// 优先使用预留空间
use_reserved = (q_usage &lt; q_min);
 // 预留耗尽后申请共享空间
use_shared = (q_usage &gt;= q_min) &amp;&amp; 
(shared_usage &lt; shared_limit);</a:t>
            </a:r>
            <a:endParaRPr lang="en-US" sz="750" dirty="0"/>
          </a:p>
        </p:txBody>
      </p:sp>
      <p:sp>
        <p:nvSpPr>
          <p:cNvPr id="13" name="Text 10"/>
          <p:cNvSpPr/>
          <p:nvPr/>
        </p:nvSpPr>
        <p:spPr>
          <a:xfrm>
            <a:off x="5443538" y="857250"/>
            <a:ext cx="1543050" cy="175022"/>
          </a:xfrm>
          <a:prstGeom prst="rect">
            <a:avLst/>
          </a:prstGeom>
          <a:noFill/>
          <a:ln/>
        </p:spPr>
        <p:txBody>
          <a:bodyPr wrap="square" lIns="0" tIns="0" rIns="0" bIns="0" rtlCol="0" anchor="t">
            <a:spAutoFit/>
          </a:bodyPr>
          <a:lstStyle/>
          <a:p>
            <a:pPr marL="0" indent="0" algn="l">
              <a:buNone/>
            </a:pPr>
            <a:r>
              <a:rPr lang="en-US" sz="900" b="1" dirty="0">
                <a:solidFill>
                  <a:srgbClr val="3253DC"/>
                </a:solidFill>
                <a:latin typeface="Arial" pitchFamily="34" charset="0"/>
                <a:ea typeface="Arial" pitchFamily="34" charset="-122"/>
                <a:cs typeface="Arial" pitchFamily="34" charset="-120"/>
              </a:rPr>
              <a:t>双池水位与阈值关系示意图</a:t>
            </a:r>
            <a:endParaRPr lang="en-US" sz="900" dirty="0"/>
          </a:p>
        </p:txBody>
      </p:sp>
      <p:sp>
        <p:nvSpPr>
          <p:cNvPr id="14" name="Shape 11"/>
          <p:cNvSpPr/>
          <p:nvPr/>
        </p:nvSpPr>
        <p:spPr>
          <a:xfrm>
            <a:off x="3714750" y="1139428"/>
            <a:ext cx="5000625" cy="3286125"/>
          </a:xfrm>
          <a:prstGeom prst="rect">
            <a:avLst/>
          </a:prstGeom>
          <a:solidFill>
            <a:srgbClr val="FFFFFF"/>
          </a:solidFill>
          <a:ln/>
        </p:spPr>
        <p:txBody>
          <a:bodyPr/>
          <a:lstStyle/>
          <a:p>
            <a:endParaRPr lang="zh-CN" altLang="en-US"/>
          </a:p>
        </p:txBody>
      </p:sp>
      <p:pic>
        <p:nvPicPr>
          <p:cNvPr id="15" name="Image 1" descr="preencoded.png"/>
          <p:cNvPicPr>
            <a:picLocks noChangeAspect="1"/>
          </p:cNvPicPr>
          <p:nvPr/>
        </p:nvPicPr>
        <p:blipFill>
          <a:blip r:embed="rId4"/>
          <a:stretch>
            <a:fillRect/>
          </a:stretch>
        </p:blipFill>
        <p:spPr>
          <a:xfrm>
            <a:off x="3714750" y="1139428"/>
            <a:ext cx="5000625" cy="3286125"/>
          </a:xfrm>
          <a:prstGeom prst="rect">
            <a:avLst/>
          </a:prstGeom>
        </p:spPr>
      </p:pic>
      <p:sp>
        <p:nvSpPr>
          <p:cNvPr id="16" name="Text 12"/>
          <p:cNvSpPr/>
          <p:nvPr/>
        </p:nvSpPr>
        <p:spPr>
          <a:xfrm>
            <a:off x="4459151" y="4425553"/>
            <a:ext cx="3511823" cy="242888"/>
          </a:xfrm>
          <a:prstGeom prst="rect">
            <a:avLst/>
          </a:prstGeom>
          <a:noFill/>
          <a:ln/>
        </p:spPr>
        <p:txBody>
          <a:bodyPr wrap="square" lIns="0" tIns="127508" rIns="0" bIns="0" rtlCol="0" anchor="t">
            <a:spAutoFit/>
          </a:bodyPr>
          <a:lstStyle/>
          <a:p>
            <a:pPr marL="0" indent="0" algn="ctr">
              <a:buNone/>
            </a:pPr>
            <a:r>
              <a:rPr lang="en-US" sz="750" dirty="0">
                <a:solidFill>
                  <a:srgbClr val="6E6E7A"/>
                </a:solidFill>
                <a:latin typeface="Arial" pitchFamily="34" charset="0"/>
                <a:ea typeface="Arial" pitchFamily="34" charset="-122"/>
                <a:cs typeface="Arial" pitchFamily="34" charset="-120"/>
              </a:rPr>
              <a:t>通过配置 q_min (保底) 与 shared_limit (共享上限) 实现精细化的缓存资源调度。</a:t>
            </a:r>
            <a:endParaRPr lang="en-US" sz="750" dirty="0"/>
          </a:p>
        </p:txBody>
      </p:sp>
      <p:sp>
        <p:nvSpPr>
          <p:cNvPr id="17" name="Text 13"/>
          <p:cNvSpPr/>
          <p:nvPr/>
        </p:nvSpPr>
        <p:spPr>
          <a:xfrm>
            <a:off x="428625" y="4879181"/>
            <a:ext cx="857473"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SMMU Design Review</a:t>
            </a:r>
            <a:endParaRPr lang="en-US" sz="600" dirty="0"/>
          </a:p>
        </p:txBody>
      </p:sp>
      <p:sp>
        <p:nvSpPr>
          <p:cNvPr id="18" name="Text 14"/>
          <p:cNvSpPr/>
          <p:nvPr/>
        </p:nvSpPr>
        <p:spPr>
          <a:xfrm>
            <a:off x="8395971" y="4879181"/>
            <a:ext cx="319404"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Page 09</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71500"/>
          </a:xfrm>
          <a:prstGeom prst="rect">
            <a:avLst/>
          </a:prstGeom>
          <a:solidFill>
            <a:srgbClr val="3253DC"/>
          </a:solidFill>
          <a:ln/>
        </p:spPr>
        <p:txBody>
          <a:bodyPr/>
          <a:lstStyle/>
          <a:p>
            <a:endParaRPr lang="zh-CN" altLang="en-US"/>
          </a:p>
        </p:txBody>
      </p:sp>
      <p:sp>
        <p:nvSpPr>
          <p:cNvPr id="4" name="Text 1"/>
          <p:cNvSpPr/>
          <p:nvPr/>
        </p:nvSpPr>
        <p:spPr>
          <a:xfrm>
            <a:off x="428625" y="130373"/>
            <a:ext cx="3631927" cy="310753"/>
          </a:xfrm>
          <a:prstGeom prst="rect">
            <a:avLst/>
          </a:prstGeom>
          <a:noFill/>
          <a:ln/>
        </p:spPr>
        <p:txBody>
          <a:bodyPr wrap="square" lIns="0" tIns="0" rIns="0" bIns="0" rtlCol="0" anchor="t">
            <a:spAutoFit/>
          </a:bodyPr>
          <a:lstStyle/>
          <a:p>
            <a:pPr marL="0" indent="0" algn="l">
              <a:buNone/>
            </a:pPr>
            <a:r>
              <a:rPr lang="en-US" sz="1600" b="1" dirty="0">
                <a:solidFill>
                  <a:srgbClr val="FFFFFF"/>
                </a:solidFill>
                <a:latin typeface="Arial" pitchFamily="34" charset="0"/>
                <a:ea typeface="Arial" pitchFamily="34" charset="-122"/>
                <a:cs typeface="Arial" pitchFamily="34" charset="-120"/>
              </a:rPr>
              <a:t>流程 (1) —— 上电初始化 (Init FSM)</a:t>
            </a:r>
            <a:endParaRPr lang="en-US" sz="1600" dirty="0"/>
          </a:p>
        </p:txBody>
      </p:sp>
      <p:sp>
        <p:nvSpPr>
          <p:cNvPr id="5" name="Shape 2"/>
          <p:cNvSpPr/>
          <p:nvPr/>
        </p:nvSpPr>
        <p:spPr>
          <a:xfrm>
            <a:off x="428625" y="785813"/>
            <a:ext cx="3000375" cy="1285875"/>
          </a:xfrm>
          <a:prstGeom prst="rect">
            <a:avLst/>
          </a:prstGeom>
          <a:solidFill>
            <a:srgbClr val="FFFFFF"/>
          </a:solidFill>
          <a:ln/>
        </p:spPr>
        <p:txBody>
          <a:bodyPr/>
          <a:lstStyle/>
          <a:p>
            <a:endParaRPr lang="zh-CN" altLang="en-US"/>
          </a:p>
        </p:txBody>
      </p:sp>
      <p:sp>
        <p:nvSpPr>
          <p:cNvPr id="6" name="Shape 3"/>
          <p:cNvSpPr/>
          <p:nvPr/>
        </p:nvSpPr>
        <p:spPr>
          <a:xfrm>
            <a:off x="428625" y="785813"/>
            <a:ext cx="28575" cy="1285875"/>
          </a:xfrm>
          <a:prstGeom prst="rect">
            <a:avLst/>
          </a:prstGeom>
          <a:solidFill>
            <a:srgbClr val="6CA0F6"/>
          </a:solidFill>
          <a:ln/>
        </p:spPr>
        <p:txBody>
          <a:bodyPr/>
          <a:lstStyle/>
          <a:p>
            <a:endParaRPr lang="zh-CN" altLang="en-US"/>
          </a:p>
        </p:txBody>
      </p:sp>
      <p:sp>
        <p:nvSpPr>
          <p:cNvPr id="7" name="Text 4"/>
          <p:cNvSpPr/>
          <p:nvPr/>
        </p:nvSpPr>
        <p:spPr>
          <a:xfrm>
            <a:off x="607219" y="928688"/>
            <a:ext cx="2643188" cy="196453"/>
          </a:xfrm>
          <a:prstGeom prst="rect">
            <a:avLst/>
          </a:prstGeom>
          <a:noFill/>
          <a:ln/>
        </p:spPr>
        <p:txBody>
          <a:bodyPr wrap="square" lIns="0" tIns="0" rIns="0" bIns="0" rtlCol="0" anchor="t">
            <a:spAutoFit/>
          </a:bodyPr>
          <a:lstStyle/>
          <a:p>
            <a:pPr marL="0" indent="0" algn="l">
              <a:buNone/>
            </a:pPr>
            <a:r>
              <a:rPr lang="en-US" sz="1000" b="1" dirty="0">
                <a:solidFill>
                  <a:srgbClr val="3253DC"/>
                </a:solidFill>
                <a:latin typeface="Arial" pitchFamily="34" charset="0"/>
                <a:ea typeface="Arial" pitchFamily="34" charset="-122"/>
                <a:cs typeface="Arial" pitchFamily="34" charset="-120"/>
              </a:rPr>
              <a:t>Init FSM 状态切换</a:t>
            </a:r>
            <a:endParaRPr lang="en-US" sz="1000" dirty="0"/>
          </a:p>
        </p:txBody>
      </p:sp>
      <p:sp>
        <p:nvSpPr>
          <p:cNvPr id="8" name="Text 5"/>
          <p:cNvSpPr/>
          <p:nvPr/>
        </p:nvSpPr>
        <p:spPr>
          <a:xfrm>
            <a:off x="607219" y="1235869"/>
            <a:ext cx="67308"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a:t>
            </a:r>
            <a:endParaRPr lang="en-US" sz="800" dirty="0"/>
          </a:p>
        </p:txBody>
      </p:sp>
      <p:sp>
        <p:nvSpPr>
          <p:cNvPr id="9" name="Text 6"/>
          <p:cNvSpPr/>
          <p:nvPr/>
        </p:nvSpPr>
        <p:spPr>
          <a:xfrm>
            <a:off x="674526" y="1235869"/>
            <a:ext cx="2067874" cy="144527"/>
          </a:xfrm>
          <a:prstGeom prst="rect">
            <a:avLst/>
          </a:prstGeom>
          <a:noFill/>
          <a:ln/>
        </p:spPr>
        <p:txBody>
          <a:bodyPr wrap="none" lIns="0" tIns="0" rIns="0" bIns="0" rtlCol="0" anchor="t">
            <a:spAutoFit/>
          </a:bodyPr>
          <a:lstStyle/>
          <a:p>
            <a:pPr>
              <a:lnSpc>
                <a:spcPct val="128000"/>
              </a:lnSpc>
            </a:pPr>
            <a:r>
              <a:rPr lang="en-US" sz="800" b="1" dirty="0" err="1">
                <a:solidFill>
                  <a:srgbClr val="2E2E38"/>
                </a:solidFill>
                <a:latin typeface="Arial" pitchFamily="34" charset="0"/>
                <a:ea typeface="Arial" pitchFamily="34" charset="-122"/>
                <a:cs typeface="Arial" pitchFamily="34" charset="-120"/>
              </a:rPr>
              <a:t>IS_IDLE</a:t>
            </a:r>
            <a:r>
              <a:rPr lang="en-US" sz="800" dirty="0" err="1">
                <a:solidFill>
                  <a:srgbClr val="2E2E38"/>
                </a:solidFill>
                <a:latin typeface="Arial" pitchFamily="34" charset="0"/>
                <a:ea typeface="Arial" pitchFamily="34" charset="-122"/>
                <a:cs typeface="Arial" pitchFamily="34" charset="-120"/>
              </a:rPr>
              <a:t>：等待复位释放或</a:t>
            </a:r>
            <a:r>
              <a:rPr lang="en-US" sz="800" dirty="0">
                <a:solidFill>
                  <a:srgbClr val="2E2E38"/>
                </a:solidFill>
                <a:latin typeface="Arial" pitchFamily="34" charset="0"/>
                <a:ea typeface="Arial" pitchFamily="34" charset="-122"/>
                <a:cs typeface="Arial" pitchFamily="34" charset="-120"/>
              </a:rPr>
              <a:t> </a:t>
            </a:r>
            <a:r>
              <a:rPr lang="en-US" sz="800" dirty="0" err="1">
                <a:solidFill>
                  <a:srgbClr val="2E2E38"/>
                </a:solidFill>
                <a:latin typeface="Arial" pitchFamily="34" charset="0"/>
                <a:ea typeface="Arial" pitchFamily="34" charset="-122"/>
                <a:cs typeface="Arial" pitchFamily="34" charset="-120"/>
              </a:rPr>
              <a:t>init_start</a:t>
            </a:r>
            <a:r>
              <a:rPr lang="en-US" sz="800" dirty="0">
                <a:solidFill>
                  <a:srgbClr val="2E2E38"/>
                </a:solidFill>
                <a:latin typeface="Arial" pitchFamily="34" charset="0"/>
                <a:ea typeface="Arial" pitchFamily="34" charset="-122"/>
                <a:cs typeface="Arial" pitchFamily="34" charset="-120"/>
              </a:rPr>
              <a:t> </a:t>
            </a:r>
            <a:r>
              <a:rPr lang="en-US" sz="800" dirty="0" err="1">
                <a:solidFill>
                  <a:srgbClr val="2E2E38"/>
                </a:solidFill>
                <a:latin typeface="Arial" pitchFamily="34" charset="0"/>
                <a:ea typeface="Arial" pitchFamily="34" charset="-122"/>
                <a:cs typeface="Arial" pitchFamily="34" charset="-120"/>
              </a:rPr>
              <a:t>上升沿</a:t>
            </a:r>
            <a:r>
              <a:rPr lang="en-US" sz="800" dirty="0">
                <a:solidFill>
                  <a:srgbClr val="2E2E38"/>
                </a:solidFill>
                <a:latin typeface="Arial" pitchFamily="34" charset="0"/>
                <a:ea typeface="Arial" pitchFamily="34" charset="-122"/>
                <a:cs typeface="Arial" pitchFamily="34" charset="-120"/>
              </a:rPr>
              <a:t>。</a:t>
            </a:r>
            <a:endParaRPr lang="en-US" sz="800" dirty="0"/>
          </a:p>
        </p:txBody>
      </p:sp>
      <p:sp>
        <p:nvSpPr>
          <p:cNvPr id="13" name="Text 10"/>
          <p:cNvSpPr/>
          <p:nvPr/>
        </p:nvSpPr>
        <p:spPr>
          <a:xfrm>
            <a:off x="607219" y="1496616"/>
            <a:ext cx="67308"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a:t>
            </a:r>
            <a:endParaRPr lang="en-US" sz="800" dirty="0"/>
          </a:p>
        </p:txBody>
      </p:sp>
      <p:sp>
        <p:nvSpPr>
          <p:cNvPr id="14" name="Text 11"/>
          <p:cNvSpPr/>
          <p:nvPr/>
        </p:nvSpPr>
        <p:spPr>
          <a:xfrm>
            <a:off x="674527" y="1506938"/>
            <a:ext cx="2611599" cy="302968"/>
          </a:xfrm>
          <a:prstGeom prst="rect">
            <a:avLst/>
          </a:prstGeom>
          <a:noFill/>
          <a:ln/>
        </p:spPr>
        <p:txBody>
          <a:bodyPr wrap="square" lIns="0" tIns="0" rIns="0" bIns="0" rtlCol="0" anchor="t">
            <a:spAutoFit/>
          </a:bodyPr>
          <a:lstStyle/>
          <a:p>
            <a:pPr>
              <a:lnSpc>
                <a:spcPct val="128000"/>
              </a:lnSpc>
            </a:pPr>
            <a:r>
              <a:rPr lang="en-US" sz="800" b="1" dirty="0" err="1">
                <a:solidFill>
                  <a:srgbClr val="2E2E38"/>
                </a:solidFill>
                <a:latin typeface="Arial" pitchFamily="34" charset="0"/>
                <a:ea typeface="Arial" pitchFamily="34" charset="-122"/>
                <a:cs typeface="Arial" pitchFamily="34" charset="-120"/>
              </a:rPr>
              <a:t>IS_BUILD</a:t>
            </a:r>
            <a:r>
              <a:rPr lang="en-US" sz="800" dirty="0" err="1">
                <a:solidFill>
                  <a:srgbClr val="2E2E38"/>
                </a:solidFill>
                <a:latin typeface="Arial" pitchFamily="34" charset="0"/>
                <a:ea typeface="Arial" pitchFamily="34" charset="-122"/>
                <a:cs typeface="Arial" pitchFamily="34" charset="-120"/>
              </a:rPr>
              <a:t>：触发</a:t>
            </a:r>
            <a:r>
              <a:rPr lang="en-US" sz="800" dirty="0">
                <a:solidFill>
                  <a:srgbClr val="2E2E38"/>
                </a:solidFill>
                <a:latin typeface="Arial" pitchFamily="34" charset="0"/>
                <a:ea typeface="Arial" pitchFamily="34" charset="-122"/>
                <a:cs typeface="Arial" pitchFamily="34" charset="-120"/>
              </a:rPr>
              <a:t> LLE </a:t>
            </a:r>
            <a:r>
              <a:rPr lang="en-US" sz="800" dirty="0" err="1">
                <a:solidFill>
                  <a:srgbClr val="2E2E38"/>
                </a:solidFill>
                <a:latin typeface="Arial" pitchFamily="34" charset="0"/>
                <a:ea typeface="Arial" pitchFamily="34" charset="-122"/>
                <a:cs typeface="Arial" pitchFamily="34" charset="-120"/>
              </a:rPr>
              <a:t>启动建链</a:t>
            </a:r>
            <a:r>
              <a:rPr lang="en-US" sz="800" dirty="0">
                <a:solidFill>
                  <a:srgbClr val="2E2E38"/>
                </a:solidFill>
                <a:latin typeface="Arial" pitchFamily="34" charset="0"/>
                <a:ea typeface="Arial" pitchFamily="34" charset="-122"/>
                <a:cs typeface="Arial" pitchFamily="34" charset="-120"/>
              </a:rPr>
              <a:t> </a:t>
            </a:r>
            <a:r>
              <a:rPr lang="en-US" sz="800" dirty="0" err="1">
                <a:solidFill>
                  <a:srgbClr val="2E2E38"/>
                </a:solidFill>
                <a:latin typeface="Arial" pitchFamily="34" charset="0"/>
                <a:ea typeface="Arial" pitchFamily="34" charset="-122"/>
                <a:cs typeface="Arial" pitchFamily="34" charset="-120"/>
              </a:rPr>
              <a:t>FSM，逐拍构建</a:t>
            </a:r>
            <a:r>
              <a:rPr lang="en-US" sz="800" dirty="0">
                <a:solidFill>
                  <a:srgbClr val="2E2E38"/>
                </a:solidFill>
                <a:latin typeface="Arial" pitchFamily="34" charset="0"/>
                <a:ea typeface="Arial" pitchFamily="34" charset="-122"/>
                <a:cs typeface="Arial" pitchFamily="34" charset="-120"/>
              </a:rPr>
              <a:t> Free </a:t>
            </a:r>
            <a:r>
              <a:rPr lang="zh-CN" altLang="en-US" sz="800" dirty="0">
                <a:solidFill>
                  <a:srgbClr val="2E2E38"/>
                </a:solidFill>
                <a:latin typeface="Arial" pitchFamily="34" charset="0"/>
                <a:ea typeface="Arial" pitchFamily="34" charset="-122"/>
                <a:cs typeface="Arial" pitchFamily="34" charset="-120"/>
              </a:rPr>
              <a:t>链。</a:t>
            </a:r>
            <a:endParaRPr lang="en-US" sz="800" dirty="0"/>
          </a:p>
          <a:p>
            <a:pPr marL="0" indent="0" algn="l">
              <a:lnSpc>
                <a:spcPct val="128000"/>
              </a:lnSpc>
              <a:buNone/>
            </a:pPr>
            <a:endParaRPr lang="en-US" sz="800" dirty="0"/>
          </a:p>
        </p:txBody>
      </p:sp>
      <p:sp>
        <p:nvSpPr>
          <p:cNvPr id="17" name="Text 14"/>
          <p:cNvSpPr/>
          <p:nvPr/>
        </p:nvSpPr>
        <p:spPr>
          <a:xfrm>
            <a:off x="607219" y="1750219"/>
            <a:ext cx="67308"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a:t>
            </a:r>
            <a:endParaRPr lang="en-US" sz="800" dirty="0"/>
          </a:p>
        </p:txBody>
      </p:sp>
      <p:sp>
        <p:nvSpPr>
          <p:cNvPr id="18" name="Text 15"/>
          <p:cNvSpPr/>
          <p:nvPr/>
        </p:nvSpPr>
        <p:spPr>
          <a:xfrm>
            <a:off x="674526" y="1750219"/>
            <a:ext cx="470483" cy="117872"/>
          </a:xfrm>
          <a:prstGeom prst="rect">
            <a:avLst/>
          </a:prstGeom>
          <a:noFill/>
          <a:ln/>
        </p:spPr>
        <p:txBody>
          <a:bodyPr wrap="none" lIns="0" tIns="0" rIns="0" bIns="0" rtlCol="0" anchor="t">
            <a:spAutoFit/>
          </a:bodyPr>
          <a:lstStyle/>
          <a:p>
            <a:pPr marL="0" indent="0" algn="l">
              <a:lnSpc>
                <a:spcPct val="128000"/>
              </a:lnSpc>
              <a:buNone/>
            </a:pPr>
            <a:r>
              <a:rPr lang="en-US" sz="750" b="1" dirty="0">
                <a:solidFill>
                  <a:srgbClr val="2E2E38"/>
                </a:solidFill>
                <a:latin typeface="Arial" pitchFamily="34" charset="0"/>
                <a:ea typeface="Arial" pitchFamily="34" charset="-122"/>
                <a:cs typeface="Arial" pitchFamily="34" charset="-120"/>
              </a:rPr>
              <a:t>IS_DONE</a:t>
            </a:r>
            <a:endParaRPr lang="en-US" sz="750" dirty="0"/>
          </a:p>
        </p:txBody>
      </p:sp>
      <p:sp>
        <p:nvSpPr>
          <p:cNvPr id="19" name="Text 16"/>
          <p:cNvSpPr/>
          <p:nvPr/>
        </p:nvSpPr>
        <p:spPr>
          <a:xfrm>
            <a:off x="1145009" y="1750219"/>
            <a:ext cx="1782539" cy="302134"/>
          </a:xfrm>
          <a:prstGeom prst="rect">
            <a:avLst/>
          </a:prstGeom>
          <a:noFill/>
          <a:ln/>
        </p:spPr>
        <p:txBody>
          <a:bodyPr wrap="none" lIns="0" tIns="0" rIns="0" bIns="0" rtlCol="0" anchor="t">
            <a:spAutoFit/>
          </a:bodyPr>
          <a:lstStyle/>
          <a:p>
            <a:pPr>
              <a:lnSpc>
                <a:spcPct val="128000"/>
              </a:lnSpc>
            </a:pPr>
            <a:r>
              <a:rPr lang="en-US" sz="800" dirty="0">
                <a:solidFill>
                  <a:srgbClr val="2E2E38"/>
                </a:solidFill>
                <a:latin typeface="Arial" pitchFamily="34" charset="0"/>
                <a:ea typeface="Arial" pitchFamily="34" charset="-122"/>
                <a:cs typeface="Arial" pitchFamily="34" charset="-120"/>
              </a:rPr>
              <a:t>：</a:t>
            </a:r>
            <a:r>
              <a:rPr lang="en-US" sz="800" dirty="0" err="1">
                <a:solidFill>
                  <a:srgbClr val="2E2E38"/>
                </a:solidFill>
                <a:latin typeface="Arial" pitchFamily="34" charset="0"/>
                <a:ea typeface="Arial" pitchFamily="34" charset="-122"/>
                <a:cs typeface="Arial" pitchFamily="34" charset="-120"/>
              </a:rPr>
              <a:t>建链完成，断言</a:t>
            </a:r>
            <a:r>
              <a:rPr lang="en-US" sz="800" dirty="0">
                <a:solidFill>
                  <a:srgbClr val="2E2E38"/>
                </a:solidFill>
                <a:latin typeface="Arial" pitchFamily="34" charset="0"/>
                <a:ea typeface="Arial" pitchFamily="34" charset="-122"/>
                <a:cs typeface="Arial" pitchFamily="34" charset="-120"/>
              </a:rPr>
              <a:t> </a:t>
            </a:r>
            <a:r>
              <a:rPr lang="en-US" sz="800" dirty="0" err="1">
                <a:solidFill>
                  <a:srgbClr val="2E2E38"/>
                </a:solidFill>
                <a:latin typeface="Arial" pitchFamily="34" charset="0"/>
                <a:ea typeface="Arial" pitchFamily="34" charset="-122"/>
                <a:cs typeface="Arial" pitchFamily="34" charset="-120"/>
              </a:rPr>
              <a:t>init_done，系统进入</a:t>
            </a:r>
            <a:endParaRPr lang="en-US" sz="800" dirty="0">
              <a:solidFill>
                <a:srgbClr val="2E2E38"/>
              </a:solidFill>
              <a:latin typeface="Arial" pitchFamily="34" charset="0"/>
              <a:ea typeface="Arial" pitchFamily="34" charset="-122"/>
              <a:cs typeface="Arial" pitchFamily="34" charset="-120"/>
            </a:endParaRPr>
          </a:p>
          <a:p>
            <a:pPr>
              <a:lnSpc>
                <a:spcPct val="128000"/>
              </a:lnSpc>
            </a:pPr>
            <a:r>
              <a:rPr lang="en-US" sz="800" dirty="0">
                <a:solidFill>
                  <a:srgbClr val="2E2E38"/>
                </a:solidFill>
                <a:latin typeface="Arial" pitchFamily="34" charset="0"/>
                <a:ea typeface="Arial" pitchFamily="34" charset="-122"/>
                <a:cs typeface="Arial" pitchFamily="34" charset="-120"/>
              </a:rPr>
              <a:t>   Ready </a:t>
            </a:r>
            <a:r>
              <a:rPr lang="en-US" sz="800" dirty="0" err="1">
                <a:solidFill>
                  <a:srgbClr val="2E2E38"/>
                </a:solidFill>
                <a:latin typeface="Arial" pitchFamily="34" charset="0"/>
                <a:ea typeface="Arial" pitchFamily="34" charset="-122"/>
                <a:cs typeface="Arial" pitchFamily="34" charset="-120"/>
              </a:rPr>
              <a:t>状态</a:t>
            </a:r>
            <a:r>
              <a:rPr lang="en-US" sz="800" dirty="0">
                <a:solidFill>
                  <a:srgbClr val="2E2E38"/>
                </a:solidFill>
                <a:latin typeface="Arial" pitchFamily="34" charset="0"/>
                <a:ea typeface="Arial" pitchFamily="34" charset="-122"/>
                <a:cs typeface="Arial" pitchFamily="34" charset="-120"/>
              </a:rPr>
              <a:t>。</a:t>
            </a:r>
            <a:endParaRPr lang="en-US" sz="800" dirty="0"/>
          </a:p>
        </p:txBody>
      </p:sp>
      <p:sp>
        <p:nvSpPr>
          <p:cNvPr id="23" name="Shape 20"/>
          <p:cNvSpPr/>
          <p:nvPr/>
        </p:nvSpPr>
        <p:spPr>
          <a:xfrm>
            <a:off x="422141" y="2222532"/>
            <a:ext cx="3000375" cy="1714500"/>
          </a:xfrm>
          <a:prstGeom prst="rect">
            <a:avLst/>
          </a:prstGeom>
          <a:solidFill>
            <a:srgbClr val="FFFFFF"/>
          </a:solidFill>
          <a:ln/>
        </p:spPr>
        <p:txBody>
          <a:bodyPr/>
          <a:lstStyle/>
          <a:p>
            <a:endParaRPr lang="zh-CN" altLang="en-US"/>
          </a:p>
        </p:txBody>
      </p:sp>
      <p:sp>
        <p:nvSpPr>
          <p:cNvPr id="24" name="Shape 21"/>
          <p:cNvSpPr/>
          <p:nvPr/>
        </p:nvSpPr>
        <p:spPr>
          <a:xfrm>
            <a:off x="428625" y="2214563"/>
            <a:ext cx="28575" cy="1714500"/>
          </a:xfrm>
          <a:prstGeom prst="rect">
            <a:avLst/>
          </a:prstGeom>
          <a:solidFill>
            <a:srgbClr val="6CA0F6"/>
          </a:solidFill>
          <a:ln/>
        </p:spPr>
        <p:txBody>
          <a:bodyPr/>
          <a:lstStyle/>
          <a:p>
            <a:endParaRPr lang="zh-CN" altLang="en-US"/>
          </a:p>
        </p:txBody>
      </p:sp>
      <p:sp>
        <p:nvSpPr>
          <p:cNvPr id="25" name="Text 22"/>
          <p:cNvSpPr/>
          <p:nvPr/>
        </p:nvSpPr>
        <p:spPr>
          <a:xfrm>
            <a:off x="607219" y="2357438"/>
            <a:ext cx="2643188" cy="196453"/>
          </a:xfrm>
          <a:prstGeom prst="rect">
            <a:avLst/>
          </a:prstGeom>
          <a:noFill/>
          <a:ln/>
        </p:spPr>
        <p:txBody>
          <a:bodyPr wrap="square" lIns="0" tIns="0" rIns="0" bIns="0" rtlCol="0" anchor="t">
            <a:spAutoFit/>
          </a:bodyPr>
          <a:lstStyle/>
          <a:p>
            <a:pPr marL="0" indent="0" algn="l">
              <a:buNone/>
            </a:pPr>
            <a:r>
              <a:rPr lang="en-US" sz="1000" b="1" dirty="0">
                <a:solidFill>
                  <a:srgbClr val="3253DC"/>
                </a:solidFill>
                <a:latin typeface="Arial" pitchFamily="34" charset="0"/>
                <a:ea typeface="Arial" pitchFamily="34" charset="-122"/>
                <a:cs typeface="Arial" pitchFamily="34" charset="-120"/>
              </a:rPr>
              <a:t>LLE 自动建链机制</a:t>
            </a:r>
            <a:endParaRPr lang="en-US" sz="1000" dirty="0"/>
          </a:p>
        </p:txBody>
      </p:sp>
      <p:sp>
        <p:nvSpPr>
          <p:cNvPr id="26" name="Text 23"/>
          <p:cNvSpPr/>
          <p:nvPr/>
        </p:nvSpPr>
        <p:spPr>
          <a:xfrm>
            <a:off x="607219" y="2664619"/>
            <a:ext cx="67308"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a:t>
            </a:r>
            <a:endParaRPr lang="en-US" sz="800" dirty="0"/>
          </a:p>
        </p:txBody>
      </p:sp>
      <p:sp>
        <p:nvSpPr>
          <p:cNvPr id="27" name="Text 24"/>
          <p:cNvSpPr/>
          <p:nvPr/>
        </p:nvSpPr>
        <p:spPr>
          <a:xfrm>
            <a:off x="674526" y="2664619"/>
            <a:ext cx="428625" cy="117872"/>
          </a:xfrm>
          <a:prstGeom prst="rect">
            <a:avLst/>
          </a:prstGeom>
          <a:noFill/>
          <a:ln/>
        </p:spPr>
        <p:txBody>
          <a:bodyPr wrap="none" lIns="0" tIns="0" rIns="0" bIns="0" rtlCol="0" anchor="t">
            <a:spAutoFit/>
          </a:bodyPr>
          <a:lstStyle/>
          <a:p>
            <a:pPr marL="0" indent="0" algn="l">
              <a:lnSpc>
                <a:spcPct val="128000"/>
              </a:lnSpc>
              <a:buNone/>
            </a:pPr>
            <a:r>
              <a:rPr lang="en-US" sz="750" b="1" dirty="0">
                <a:solidFill>
                  <a:srgbClr val="2E2E38"/>
                </a:solidFill>
                <a:latin typeface="Arial" pitchFamily="34" charset="0"/>
                <a:ea typeface="Arial" pitchFamily="34" charset="-122"/>
                <a:cs typeface="Arial" pitchFamily="34" charset="-120"/>
              </a:rPr>
              <a:t>顺序写入</a:t>
            </a:r>
            <a:endParaRPr lang="en-US" sz="750" dirty="0"/>
          </a:p>
        </p:txBody>
      </p:sp>
      <p:sp>
        <p:nvSpPr>
          <p:cNvPr id="28" name="Text 25"/>
          <p:cNvSpPr/>
          <p:nvPr/>
        </p:nvSpPr>
        <p:spPr>
          <a:xfrm>
            <a:off x="1103151" y="2664619"/>
            <a:ext cx="1691169" cy="302134"/>
          </a:xfrm>
          <a:prstGeom prst="rect">
            <a:avLst/>
          </a:prstGeom>
          <a:noFill/>
          <a:ln/>
        </p:spPr>
        <p:txBody>
          <a:bodyPr wrap="none" lIns="0" tIns="0" rIns="0" bIns="0" rtlCol="0" anchor="t">
            <a:spAutoFit/>
          </a:bodyPr>
          <a:lstStyle/>
          <a:p>
            <a:pPr>
              <a:lnSpc>
                <a:spcPct val="128000"/>
              </a:lnSpc>
            </a:pPr>
            <a:r>
              <a:rPr lang="en-US" sz="800" dirty="0">
                <a:solidFill>
                  <a:srgbClr val="2E2E38"/>
                </a:solidFill>
                <a:latin typeface="Arial" pitchFamily="34" charset="0"/>
                <a:ea typeface="Arial" pitchFamily="34" charset="-122"/>
                <a:cs typeface="Arial" pitchFamily="34" charset="-120"/>
              </a:rPr>
              <a:t>：LLE </a:t>
            </a:r>
            <a:r>
              <a:rPr lang="en-US" sz="800" dirty="0" err="1">
                <a:solidFill>
                  <a:srgbClr val="2E2E38"/>
                </a:solidFill>
                <a:latin typeface="Arial" pitchFamily="34" charset="0"/>
                <a:ea typeface="Arial" pitchFamily="34" charset="-122"/>
                <a:cs typeface="Arial" pitchFamily="34" charset="-120"/>
              </a:rPr>
              <a:t>逐拍访问</a:t>
            </a:r>
            <a:r>
              <a:rPr lang="en-US" sz="800" dirty="0">
                <a:solidFill>
                  <a:srgbClr val="2E2E38"/>
                </a:solidFill>
                <a:latin typeface="Arial" pitchFamily="34" charset="0"/>
                <a:ea typeface="Arial" pitchFamily="34" charset="-122"/>
                <a:cs typeface="Arial" pitchFamily="34" charset="-120"/>
              </a:rPr>
              <a:t> Next-</a:t>
            </a:r>
            <a:r>
              <a:rPr lang="en-US" sz="800" dirty="0" err="1">
                <a:solidFill>
                  <a:srgbClr val="2E2E38"/>
                </a:solidFill>
                <a:latin typeface="Arial" pitchFamily="34" charset="0"/>
                <a:ea typeface="Arial" pitchFamily="34" charset="-122"/>
                <a:cs typeface="Arial" pitchFamily="34" charset="-120"/>
              </a:rPr>
              <a:t>Ptr</a:t>
            </a:r>
            <a:r>
              <a:rPr lang="en-US" sz="800" dirty="0">
                <a:solidFill>
                  <a:srgbClr val="2E2E38"/>
                </a:solidFill>
                <a:latin typeface="Arial" pitchFamily="34" charset="0"/>
                <a:ea typeface="Arial" pitchFamily="34" charset="-122"/>
                <a:cs typeface="Arial" pitchFamily="34" charset="-120"/>
              </a:rPr>
              <a:t> SRAM，将 </a:t>
            </a:r>
          </a:p>
          <a:p>
            <a:pPr>
              <a:lnSpc>
                <a:spcPct val="128000"/>
              </a:lnSpc>
            </a:pPr>
            <a:r>
              <a:rPr lang="en-US" sz="800" dirty="0">
                <a:solidFill>
                  <a:srgbClr val="2E2E38"/>
                </a:solidFill>
                <a:latin typeface="Arial" pitchFamily="34" charset="0"/>
                <a:ea typeface="Arial" pitchFamily="34" charset="-122"/>
                <a:cs typeface="Arial" pitchFamily="34" charset="-120"/>
              </a:rPr>
              <a:t> SRAM[</a:t>
            </a:r>
            <a:r>
              <a:rPr lang="en-US" sz="800" dirty="0" err="1">
                <a:solidFill>
                  <a:srgbClr val="2E2E38"/>
                </a:solidFill>
                <a:latin typeface="Arial" pitchFamily="34" charset="0"/>
                <a:ea typeface="Arial" pitchFamily="34" charset="-122"/>
                <a:cs typeface="Arial" pitchFamily="34" charset="-120"/>
              </a:rPr>
              <a:t>idx</a:t>
            </a:r>
            <a:r>
              <a:rPr lang="en-US" sz="800" dirty="0">
                <a:solidFill>
                  <a:srgbClr val="2E2E38"/>
                </a:solidFill>
                <a:latin typeface="Arial" pitchFamily="34" charset="0"/>
                <a:ea typeface="Arial" pitchFamily="34" charset="-122"/>
                <a:cs typeface="Arial" pitchFamily="34" charset="-120"/>
              </a:rPr>
              <a:t>].next </a:t>
            </a:r>
            <a:r>
              <a:rPr lang="en-US" sz="800" dirty="0" err="1">
                <a:solidFill>
                  <a:srgbClr val="2E2E38"/>
                </a:solidFill>
                <a:latin typeface="Arial" pitchFamily="34" charset="0"/>
                <a:ea typeface="Arial" pitchFamily="34" charset="-122"/>
                <a:cs typeface="Arial" pitchFamily="34" charset="-120"/>
              </a:rPr>
              <a:t>写入</a:t>
            </a:r>
            <a:r>
              <a:rPr lang="zh-CN" altLang="en-US" sz="800" dirty="0">
                <a:solidFill>
                  <a:srgbClr val="2E2E38"/>
                </a:solidFill>
                <a:latin typeface="Arial" pitchFamily="34" charset="0"/>
                <a:ea typeface="Arial" pitchFamily="34" charset="-122"/>
                <a:cs typeface="Arial" pitchFamily="34" charset="-120"/>
              </a:rPr>
              <a:t>为 </a:t>
            </a:r>
            <a:r>
              <a:rPr lang="en-US" sz="800" dirty="0" err="1">
                <a:solidFill>
                  <a:srgbClr val="2E2E38"/>
                </a:solidFill>
                <a:latin typeface="Arial" pitchFamily="34" charset="0"/>
                <a:ea typeface="Arial" pitchFamily="34" charset="-122"/>
                <a:cs typeface="Arial" pitchFamily="34" charset="-120"/>
              </a:rPr>
              <a:t>idx</a:t>
            </a:r>
            <a:r>
              <a:rPr lang="en-US" sz="800" dirty="0">
                <a:solidFill>
                  <a:srgbClr val="2E2E38"/>
                </a:solidFill>
                <a:latin typeface="Arial" pitchFamily="34" charset="0"/>
                <a:ea typeface="Arial" pitchFamily="34" charset="-122"/>
                <a:cs typeface="Arial" pitchFamily="34" charset="-120"/>
              </a:rPr>
              <a:t> + 1</a:t>
            </a:r>
            <a:endParaRPr lang="en-US" sz="800" dirty="0"/>
          </a:p>
        </p:txBody>
      </p:sp>
      <p:sp>
        <p:nvSpPr>
          <p:cNvPr id="33" name="Text 30"/>
          <p:cNvSpPr/>
          <p:nvPr/>
        </p:nvSpPr>
        <p:spPr>
          <a:xfrm>
            <a:off x="607219" y="3007519"/>
            <a:ext cx="67308"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a:t>
            </a:r>
            <a:endParaRPr lang="en-US" sz="800" dirty="0"/>
          </a:p>
        </p:txBody>
      </p:sp>
      <p:sp>
        <p:nvSpPr>
          <p:cNvPr id="34" name="Text 31"/>
          <p:cNvSpPr/>
          <p:nvPr/>
        </p:nvSpPr>
        <p:spPr>
          <a:xfrm>
            <a:off x="674526" y="3007519"/>
            <a:ext cx="428625" cy="117872"/>
          </a:xfrm>
          <a:prstGeom prst="rect">
            <a:avLst/>
          </a:prstGeom>
          <a:noFill/>
          <a:ln/>
        </p:spPr>
        <p:txBody>
          <a:bodyPr wrap="none" lIns="0" tIns="0" rIns="0" bIns="0" rtlCol="0" anchor="t">
            <a:spAutoFit/>
          </a:bodyPr>
          <a:lstStyle/>
          <a:p>
            <a:pPr marL="0" indent="0" algn="l">
              <a:lnSpc>
                <a:spcPct val="128000"/>
              </a:lnSpc>
              <a:buNone/>
            </a:pPr>
            <a:r>
              <a:rPr lang="en-US" sz="750" b="1" dirty="0">
                <a:solidFill>
                  <a:srgbClr val="2E2E38"/>
                </a:solidFill>
                <a:latin typeface="Arial" pitchFamily="34" charset="0"/>
                <a:ea typeface="Arial" pitchFamily="34" charset="-122"/>
                <a:cs typeface="Arial" pitchFamily="34" charset="-120"/>
              </a:rPr>
              <a:t>自指闭环</a:t>
            </a:r>
            <a:endParaRPr lang="en-US" sz="750" dirty="0"/>
          </a:p>
        </p:txBody>
      </p:sp>
      <p:sp>
        <p:nvSpPr>
          <p:cNvPr id="35" name="Text 32"/>
          <p:cNvSpPr/>
          <p:nvPr/>
        </p:nvSpPr>
        <p:spPr>
          <a:xfrm>
            <a:off x="1103151" y="3007519"/>
            <a:ext cx="2333972" cy="144527"/>
          </a:xfrm>
          <a:prstGeom prst="rect">
            <a:avLst/>
          </a:prstGeom>
          <a:noFill/>
          <a:ln/>
        </p:spPr>
        <p:txBody>
          <a:bodyPr wrap="none" lIns="0" tIns="0" rIns="0" bIns="0" rtlCol="0" anchor="t">
            <a:spAutoFit/>
          </a:bodyPr>
          <a:lstStyle/>
          <a:p>
            <a:pPr>
              <a:lnSpc>
                <a:spcPct val="128000"/>
              </a:lnSpc>
            </a:pPr>
            <a:r>
              <a:rPr lang="en-US" sz="800" dirty="0">
                <a:solidFill>
                  <a:srgbClr val="2E2E38"/>
                </a:solidFill>
                <a:latin typeface="Arial" pitchFamily="34" charset="0"/>
                <a:ea typeface="Arial" pitchFamily="34" charset="-122"/>
                <a:cs typeface="Arial" pitchFamily="34" charset="-120"/>
              </a:rPr>
              <a:t>：最后一个 Cell 的 next </a:t>
            </a:r>
            <a:r>
              <a:rPr lang="en-US" sz="800" dirty="0" err="1">
                <a:solidFill>
                  <a:srgbClr val="2E2E38"/>
                </a:solidFill>
                <a:latin typeface="Arial" pitchFamily="34" charset="0"/>
                <a:ea typeface="Arial" pitchFamily="34" charset="-122"/>
                <a:cs typeface="Arial" pitchFamily="34" charset="-120"/>
              </a:rPr>
              <a:t>指向自身，标记链表</a:t>
            </a:r>
            <a:r>
              <a:rPr lang="zh-CN" altLang="en-US" sz="800" dirty="0">
                <a:solidFill>
                  <a:srgbClr val="2E2E38"/>
                </a:solidFill>
                <a:latin typeface="Arial" pitchFamily="34" charset="0"/>
                <a:ea typeface="Arial" pitchFamily="34" charset="-122"/>
                <a:cs typeface="Arial" pitchFamily="34" charset="-120"/>
              </a:rPr>
              <a:t>末尾。</a:t>
            </a:r>
            <a:endParaRPr lang="en-US" sz="800" dirty="0"/>
          </a:p>
        </p:txBody>
      </p:sp>
      <p:sp>
        <p:nvSpPr>
          <p:cNvPr id="39" name="Text 36"/>
          <p:cNvSpPr/>
          <p:nvPr/>
        </p:nvSpPr>
        <p:spPr>
          <a:xfrm>
            <a:off x="607219" y="3350419"/>
            <a:ext cx="67308"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a:t>
            </a:r>
            <a:endParaRPr lang="en-US" sz="800" dirty="0"/>
          </a:p>
        </p:txBody>
      </p:sp>
      <p:sp>
        <p:nvSpPr>
          <p:cNvPr id="40" name="Text 37"/>
          <p:cNvSpPr/>
          <p:nvPr/>
        </p:nvSpPr>
        <p:spPr>
          <a:xfrm>
            <a:off x="674526" y="3350419"/>
            <a:ext cx="535781" cy="117872"/>
          </a:xfrm>
          <a:prstGeom prst="rect">
            <a:avLst/>
          </a:prstGeom>
          <a:noFill/>
          <a:ln/>
        </p:spPr>
        <p:txBody>
          <a:bodyPr wrap="none" lIns="0" tIns="0" rIns="0" bIns="0" rtlCol="0" anchor="t">
            <a:spAutoFit/>
          </a:bodyPr>
          <a:lstStyle/>
          <a:p>
            <a:pPr marL="0" indent="0" algn="l">
              <a:lnSpc>
                <a:spcPct val="128000"/>
              </a:lnSpc>
              <a:buNone/>
            </a:pPr>
            <a:r>
              <a:rPr lang="en-US" sz="750" b="1" dirty="0">
                <a:solidFill>
                  <a:srgbClr val="2E2E38"/>
                </a:solidFill>
                <a:latin typeface="Arial" pitchFamily="34" charset="0"/>
                <a:ea typeface="Arial" pitchFamily="34" charset="-122"/>
                <a:cs typeface="Arial" pitchFamily="34" charset="-120"/>
              </a:rPr>
              <a:t>寄存器同步</a:t>
            </a:r>
            <a:endParaRPr lang="en-US" sz="750" dirty="0"/>
          </a:p>
        </p:txBody>
      </p:sp>
      <p:sp>
        <p:nvSpPr>
          <p:cNvPr id="41" name="Text 38"/>
          <p:cNvSpPr/>
          <p:nvPr/>
        </p:nvSpPr>
        <p:spPr>
          <a:xfrm>
            <a:off x="1210308" y="3350419"/>
            <a:ext cx="2122376" cy="302390"/>
          </a:xfrm>
          <a:prstGeom prst="rect">
            <a:avLst/>
          </a:prstGeom>
          <a:noFill/>
          <a:ln/>
        </p:spPr>
        <p:txBody>
          <a:bodyPr wrap="none" lIns="0" tIns="0" rIns="0" bIns="0" rtlCol="0" anchor="t">
            <a:spAutoFit/>
          </a:bodyPr>
          <a:lstStyle/>
          <a:p>
            <a:pPr>
              <a:lnSpc>
                <a:spcPct val="128000"/>
              </a:lnSpc>
            </a:pPr>
            <a:r>
              <a:rPr lang="en-US" sz="800" dirty="0">
                <a:solidFill>
                  <a:srgbClr val="2E2E38"/>
                </a:solidFill>
                <a:latin typeface="Arial" pitchFamily="34" charset="0"/>
                <a:ea typeface="Arial" pitchFamily="34" charset="-122"/>
                <a:cs typeface="Arial" pitchFamily="34" charset="-120"/>
              </a:rPr>
              <a:t>：</a:t>
            </a:r>
            <a:r>
              <a:rPr lang="en-US" sz="800" dirty="0" err="1">
                <a:solidFill>
                  <a:srgbClr val="2E2E38"/>
                </a:solidFill>
                <a:latin typeface="Arial" pitchFamily="34" charset="0"/>
                <a:ea typeface="Arial" pitchFamily="34" charset="-122"/>
                <a:cs typeface="Arial" pitchFamily="34" charset="-120"/>
              </a:rPr>
              <a:t>初始化</a:t>
            </a:r>
            <a:r>
              <a:rPr lang="en-US" sz="800" dirty="0">
                <a:solidFill>
                  <a:srgbClr val="2E2E38"/>
                </a:solidFill>
                <a:latin typeface="Arial" pitchFamily="34" charset="0"/>
                <a:ea typeface="Arial" pitchFamily="34" charset="-122"/>
                <a:cs typeface="Arial" pitchFamily="34" charset="-120"/>
              </a:rPr>
              <a:t> </a:t>
            </a:r>
            <a:r>
              <a:rPr lang="en-US" sz="800" dirty="0" err="1">
                <a:solidFill>
                  <a:srgbClr val="2E2E38"/>
                </a:solidFill>
                <a:latin typeface="Arial" pitchFamily="34" charset="0"/>
                <a:ea typeface="Arial" pitchFamily="34" charset="-122"/>
                <a:cs typeface="Arial" pitchFamily="34" charset="-120"/>
              </a:rPr>
              <a:t>free_head、free_tail</a:t>
            </a:r>
            <a:r>
              <a:rPr lang="en-US" sz="800" dirty="0">
                <a:solidFill>
                  <a:srgbClr val="2E2E38"/>
                </a:solidFill>
                <a:latin typeface="Arial" pitchFamily="34" charset="0"/>
                <a:ea typeface="Arial" pitchFamily="34" charset="-122"/>
                <a:cs typeface="Arial" pitchFamily="34" charset="-120"/>
              </a:rPr>
              <a:t> </a:t>
            </a:r>
            <a:r>
              <a:rPr lang="en-US" sz="800" dirty="0" err="1">
                <a:solidFill>
                  <a:srgbClr val="2E2E38"/>
                </a:solidFill>
                <a:latin typeface="Arial" pitchFamily="34" charset="0"/>
                <a:ea typeface="Arial" pitchFamily="34" charset="-122"/>
                <a:cs typeface="Arial" pitchFamily="34" charset="-120"/>
              </a:rPr>
              <a:t>及预取寄存器</a:t>
            </a:r>
            <a:r>
              <a:rPr lang="en-US" sz="800" dirty="0">
                <a:solidFill>
                  <a:srgbClr val="2E2E38"/>
                </a:solidFill>
                <a:latin typeface="Arial" pitchFamily="34" charset="0"/>
                <a:ea typeface="Arial" pitchFamily="34" charset="-122"/>
                <a:cs typeface="Arial" pitchFamily="34" charset="-120"/>
              </a:rPr>
              <a:t>，</a:t>
            </a:r>
          </a:p>
          <a:p>
            <a:pPr>
              <a:lnSpc>
                <a:spcPct val="128000"/>
              </a:lnSpc>
            </a:pPr>
            <a:r>
              <a:rPr lang="en-US" sz="800" dirty="0" err="1">
                <a:solidFill>
                  <a:srgbClr val="2E2E38"/>
                </a:solidFill>
                <a:latin typeface="Arial" pitchFamily="34" charset="0"/>
                <a:ea typeface="Arial" pitchFamily="34" charset="-122"/>
                <a:cs typeface="Arial" pitchFamily="34" charset="-120"/>
              </a:rPr>
              <a:t>确保首拍即可分配</a:t>
            </a:r>
            <a:r>
              <a:rPr lang="en-US" sz="800" dirty="0">
                <a:solidFill>
                  <a:srgbClr val="2E2E38"/>
                </a:solidFill>
                <a:latin typeface="Arial" pitchFamily="34" charset="0"/>
                <a:ea typeface="Arial" pitchFamily="34" charset="-122"/>
                <a:cs typeface="Arial" pitchFamily="34" charset="-120"/>
              </a:rPr>
              <a:t>。</a:t>
            </a:r>
            <a:endParaRPr lang="en-US" sz="800" dirty="0"/>
          </a:p>
        </p:txBody>
      </p:sp>
      <p:sp>
        <p:nvSpPr>
          <p:cNvPr id="47" name="Text 44"/>
          <p:cNvSpPr/>
          <p:nvPr/>
        </p:nvSpPr>
        <p:spPr>
          <a:xfrm>
            <a:off x="5289891" y="785813"/>
            <a:ext cx="1850343" cy="175022"/>
          </a:xfrm>
          <a:prstGeom prst="rect">
            <a:avLst/>
          </a:prstGeom>
          <a:noFill/>
          <a:ln/>
        </p:spPr>
        <p:txBody>
          <a:bodyPr wrap="square" lIns="0" tIns="0" rIns="0" bIns="0" rtlCol="0" anchor="t">
            <a:spAutoFit/>
          </a:bodyPr>
          <a:lstStyle/>
          <a:p>
            <a:pPr marL="0" indent="0" algn="l">
              <a:buNone/>
            </a:pPr>
            <a:r>
              <a:rPr lang="en-US" sz="900" b="1" dirty="0">
                <a:solidFill>
                  <a:srgbClr val="3253DC"/>
                </a:solidFill>
                <a:latin typeface="Arial" pitchFamily="34" charset="0"/>
                <a:ea typeface="Arial" pitchFamily="34" charset="-122"/>
                <a:cs typeface="Arial" pitchFamily="34" charset="-120"/>
              </a:rPr>
              <a:t>Next-Ptr SRAM 自动建链示意图</a:t>
            </a:r>
            <a:endParaRPr lang="en-US" sz="900" dirty="0"/>
          </a:p>
        </p:txBody>
      </p:sp>
      <p:sp>
        <p:nvSpPr>
          <p:cNvPr id="48" name="Shape 45"/>
          <p:cNvSpPr/>
          <p:nvPr/>
        </p:nvSpPr>
        <p:spPr>
          <a:xfrm>
            <a:off x="3714750" y="1067991"/>
            <a:ext cx="5000625" cy="3286125"/>
          </a:xfrm>
          <a:prstGeom prst="rect">
            <a:avLst/>
          </a:prstGeom>
          <a:solidFill>
            <a:srgbClr val="FFFFFF"/>
          </a:solidFill>
          <a:ln/>
        </p:spPr>
        <p:txBody>
          <a:bodyPr/>
          <a:lstStyle/>
          <a:p>
            <a:endParaRPr lang="zh-CN" altLang="en-US"/>
          </a:p>
        </p:txBody>
      </p:sp>
      <p:pic>
        <p:nvPicPr>
          <p:cNvPr id="49" name="Image 1" descr="preencoded.png"/>
          <p:cNvPicPr>
            <a:picLocks noChangeAspect="1"/>
          </p:cNvPicPr>
          <p:nvPr/>
        </p:nvPicPr>
        <p:blipFill>
          <a:blip r:embed="rId4"/>
          <a:stretch>
            <a:fillRect/>
          </a:stretch>
        </p:blipFill>
        <p:spPr>
          <a:xfrm>
            <a:off x="3714750" y="1067991"/>
            <a:ext cx="5000625" cy="3286125"/>
          </a:xfrm>
          <a:prstGeom prst="rect">
            <a:avLst/>
          </a:prstGeom>
        </p:spPr>
      </p:pic>
      <p:sp>
        <p:nvSpPr>
          <p:cNvPr id="50" name="Text 46"/>
          <p:cNvSpPr/>
          <p:nvPr/>
        </p:nvSpPr>
        <p:spPr>
          <a:xfrm>
            <a:off x="4761923" y="4354116"/>
            <a:ext cx="2906223" cy="242888"/>
          </a:xfrm>
          <a:prstGeom prst="rect">
            <a:avLst/>
          </a:prstGeom>
          <a:noFill/>
          <a:ln/>
        </p:spPr>
        <p:txBody>
          <a:bodyPr wrap="square" lIns="0" tIns="127508" rIns="0" bIns="0" rtlCol="0" anchor="t">
            <a:spAutoFit/>
          </a:bodyPr>
          <a:lstStyle/>
          <a:p>
            <a:pPr marL="0" indent="0" algn="ctr">
              <a:buNone/>
            </a:pPr>
            <a:r>
              <a:rPr lang="en-US" sz="750" dirty="0">
                <a:solidFill>
                  <a:srgbClr val="6E6E7A"/>
                </a:solidFill>
                <a:latin typeface="Arial" pitchFamily="34" charset="0"/>
                <a:ea typeface="Arial" pitchFamily="34" charset="-122"/>
                <a:cs typeface="Arial" pitchFamily="34" charset="-120"/>
              </a:rPr>
              <a:t>硬件自动初始化确保了 Free 链的确定性与上电 Ready 的快速性。</a:t>
            </a:r>
            <a:endParaRPr lang="en-US" sz="750" dirty="0"/>
          </a:p>
        </p:txBody>
      </p:sp>
      <p:sp>
        <p:nvSpPr>
          <p:cNvPr id="51" name="Text 47"/>
          <p:cNvSpPr/>
          <p:nvPr/>
        </p:nvSpPr>
        <p:spPr>
          <a:xfrm>
            <a:off x="428625" y="4879181"/>
            <a:ext cx="857473"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SMMU Design Review</a:t>
            </a:r>
            <a:endParaRPr lang="en-US" sz="600" dirty="0"/>
          </a:p>
        </p:txBody>
      </p:sp>
      <p:sp>
        <p:nvSpPr>
          <p:cNvPr id="52" name="Text 48"/>
          <p:cNvSpPr/>
          <p:nvPr/>
        </p:nvSpPr>
        <p:spPr>
          <a:xfrm>
            <a:off x="8395971" y="4879181"/>
            <a:ext cx="319404"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Page 12</a:t>
            </a:r>
            <a:endParaRPr lang="en-US" sz="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71500"/>
          </a:xfrm>
          <a:prstGeom prst="rect">
            <a:avLst/>
          </a:prstGeom>
          <a:solidFill>
            <a:srgbClr val="3253DC"/>
          </a:solidFill>
          <a:ln/>
        </p:spPr>
        <p:txBody>
          <a:bodyPr/>
          <a:lstStyle/>
          <a:p>
            <a:endParaRPr lang="zh-CN" altLang="en-US"/>
          </a:p>
        </p:txBody>
      </p:sp>
      <p:sp>
        <p:nvSpPr>
          <p:cNvPr id="4" name="Text 1"/>
          <p:cNvSpPr/>
          <p:nvPr/>
        </p:nvSpPr>
        <p:spPr>
          <a:xfrm>
            <a:off x="428625" y="130373"/>
            <a:ext cx="4267274" cy="310753"/>
          </a:xfrm>
          <a:prstGeom prst="rect">
            <a:avLst/>
          </a:prstGeom>
          <a:noFill/>
          <a:ln/>
        </p:spPr>
        <p:txBody>
          <a:bodyPr wrap="square" lIns="0" tIns="0" rIns="0" bIns="0" rtlCol="0" anchor="t">
            <a:spAutoFit/>
          </a:bodyPr>
          <a:lstStyle/>
          <a:p>
            <a:pPr marL="0" indent="0" algn="l">
              <a:buNone/>
            </a:pPr>
            <a:r>
              <a:rPr lang="en-US" sz="1600" b="1" dirty="0">
                <a:solidFill>
                  <a:srgbClr val="FFFFFF"/>
                </a:solidFill>
                <a:latin typeface="Arial" pitchFamily="34" charset="0"/>
                <a:ea typeface="Arial" pitchFamily="34" charset="-122"/>
                <a:cs typeface="Arial" pitchFamily="34" charset="-120"/>
              </a:rPr>
              <a:t>流程 (2) —— 入队 / 地址分配 (1 拍命令式)</a:t>
            </a:r>
            <a:endParaRPr lang="en-US" sz="1600" dirty="0"/>
          </a:p>
        </p:txBody>
      </p:sp>
      <p:sp>
        <p:nvSpPr>
          <p:cNvPr id="5" name="Shape 2"/>
          <p:cNvSpPr/>
          <p:nvPr/>
        </p:nvSpPr>
        <p:spPr>
          <a:xfrm>
            <a:off x="428625" y="785813"/>
            <a:ext cx="3000375" cy="1285875"/>
          </a:xfrm>
          <a:prstGeom prst="rect">
            <a:avLst/>
          </a:prstGeom>
          <a:solidFill>
            <a:srgbClr val="FFFFFF"/>
          </a:solidFill>
          <a:ln/>
        </p:spPr>
        <p:txBody>
          <a:bodyPr/>
          <a:lstStyle/>
          <a:p>
            <a:endParaRPr lang="zh-CN" altLang="en-US"/>
          </a:p>
        </p:txBody>
      </p:sp>
      <p:sp>
        <p:nvSpPr>
          <p:cNvPr id="6" name="Shape 3"/>
          <p:cNvSpPr/>
          <p:nvPr/>
        </p:nvSpPr>
        <p:spPr>
          <a:xfrm>
            <a:off x="428625" y="785813"/>
            <a:ext cx="28575" cy="1285875"/>
          </a:xfrm>
          <a:prstGeom prst="rect">
            <a:avLst/>
          </a:prstGeom>
          <a:solidFill>
            <a:srgbClr val="6CA0F6"/>
          </a:solidFill>
          <a:ln/>
        </p:spPr>
        <p:txBody>
          <a:bodyPr/>
          <a:lstStyle/>
          <a:p>
            <a:endParaRPr lang="zh-CN" altLang="en-US"/>
          </a:p>
        </p:txBody>
      </p:sp>
      <p:sp>
        <p:nvSpPr>
          <p:cNvPr id="7" name="Text 4"/>
          <p:cNvSpPr/>
          <p:nvPr/>
        </p:nvSpPr>
        <p:spPr>
          <a:xfrm>
            <a:off x="607219" y="928688"/>
            <a:ext cx="2643188" cy="196453"/>
          </a:xfrm>
          <a:prstGeom prst="rect">
            <a:avLst/>
          </a:prstGeom>
          <a:noFill/>
          <a:ln/>
        </p:spPr>
        <p:txBody>
          <a:bodyPr wrap="square" lIns="0" tIns="0" rIns="0" bIns="0" rtlCol="0" anchor="t">
            <a:spAutoFit/>
          </a:bodyPr>
          <a:lstStyle/>
          <a:p>
            <a:pPr marL="0" indent="0" algn="l">
              <a:buNone/>
            </a:pPr>
            <a:r>
              <a:rPr lang="en-US" sz="1000" b="1" dirty="0">
                <a:solidFill>
                  <a:srgbClr val="3253DC"/>
                </a:solidFill>
                <a:latin typeface="Arial" pitchFamily="34" charset="0"/>
                <a:ea typeface="Arial" pitchFamily="34" charset="-122"/>
                <a:cs typeface="Arial" pitchFamily="34" charset="-120"/>
              </a:rPr>
              <a:t>T0/T1 时序与握手</a:t>
            </a:r>
            <a:endParaRPr lang="en-US" sz="1000" dirty="0"/>
          </a:p>
        </p:txBody>
      </p:sp>
      <p:sp>
        <p:nvSpPr>
          <p:cNvPr id="8" name="Text 5"/>
          <p:cNvSpPr/>
          <p:nvPr/>
        </p:nvSpPr>
        <p:spPr>
          <a:xfrm>
            <a:off x="607219" y="1235869"/>
            <a:ext cx="67308"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a:t>
            </a:r>
            <a:endParaRPr lang="en-US" sz="800" dirty="0"/>
          </a:p>
        </p:txBody>
      </p:sp>
      <p:sp>
        <p:nvSpPr>
          <p:cNvPr id="9" name="Text 6"/>
          <p:cNvSpPr/>
          <p:nvPr/>
        </p:nvSpPr>
        <p:spPr>
          <a:xfrm>
            <a:off x="674526" y="1235869"/>
            <a:ext cx="125071" cy="117872"/>
          </a:xfrm>
          <a:prstGeom prst="rect">
            <a:avLst/>
          </a:prstGeom>
          <a:noFill/>
          <a:ln/>
        </p:spPr>
        <p:txBody>
          <a:bodyPr wrap="none" lIns="0" tIns="0" rIns="0" bIns="0" rtlCol="0" anchor="t">
            <a:spAutoFit/>
          </a:bodyPr>
          <a:lstStyle/>
          <a:p>
            <a:pPr marL="0" indent="0" algn="l">
              <a:lnSpc>
                <a:spcPct val="128000"/>
              </a:lnSpc>
              <a:buNone/>
            </a:pPr>
            <a:r>
              <a:rPr lang="en-US" sz="750" b="1" dirty="0">
                <a:solidFill>
                  <a:srgbClr val="2E2E38"/>
                </a:solidFill>
                <a:latin typeface="Arial" pitchFamily="34" charset="0"/>
                <a:ea typeface="Arial" pitchFamily="34" charset="-122"/>
                <a:cs typeface="Arial" pitchFamily="34" charset="-120"/>
              </a:rPr>
              <a:t>T0</a:t>
            </a:r>
            <a:endParaRPr lang="en-US" sz="750" dirty="0"/>
          </a:p>
        </p:txBody>
      </p:sp>
      <p:sp>
        <p:nvSpPr>
          <p:cNvPr id="10" name="Text 7"/>
          <p:cNvSpPr/>
          <p:nvPr/>
        </p:nvSpPr>
        <p:spPr>
          <a:xfrm>
            <a:off x="799598" y="1235869"/>
            <a:ext cx="2287486" cy="302968"/>
          </a:xfrm>
          <a:prstGeom prst="rect">
            <a:avLst/>
          </a:prstGeom>
          <a:noFill/>
          <a:ln/>
        </p:spPr>
        <p:txBody>
          <a:bodyPr wrap="none" lIns="0" tIns="0" rIns="0" bIns="0" rtlCol="0" anchor="t">
            <a:spAutoFit/>
          </a:bodyPr>
          <a:lstStyle/>
          <a:p>
            <a:pPr>
              <a:lnSpc>
                <a:spcPct val="128000"/>
              </a:lnSpc>
            </a:pPr>
            <a:r>
              <a:rPr lang="en-US" sz="800" dirty="0">
                <a:solidFill>
                  <a:srgbClr val="2E2E38"/>
                </a:solidFill>
                <a:latin typeface="Arial" pitchFamily="34" charset="0"/>
                <a:ea typeface="Arial" pitchFamily="34" charset="-122"/>
                <a:cs typeface="Arial" pitchFamily="34" charset="-120"/>
              </a:rPr>
              <a:t>：</a:t>
            </a:r>
            <a:r>
              <a:rPr lang="en-US" sz="800" dirty="0" err="1">
                <a:solidFill>
                  <a:srgbClr val="2E2E38"/>
                </a:solidFill>
                <a:latin typeface="Arial" pitchFamily="34" charset="0"/>
                <a:ea typeface="Arial" pitchFamily="34" charset="-122"/>
                <a:cs typeface="Arial" pitchFamily="34" charset="-120"/>
              </a:rPr>
              <a:t>收enq_req，组合查</a:t>
            </a:r>
            <a:r>
              <a:rPr lang="en-US" sz="800" dirty="0">
                <a:solidFill>
                  <a:srgbClr val="2E2E38"/>
                </a:solidFill>
                <a:latin typeface="Arial" pitchFamily="34" charset="0"/>
                <a:ea typeface="Arial" pitchFamily="34" charset="-122"/>
                <a:cs typeface="Arial" pitchFamily="34" charset="-120"/>
              </a:rPr>
              <a:t> Occupancy </a:t>
            </a:r>
            <a:r>
              <a:rPr lang="en-US" sz="800" dirty="0" err="1">
                <a:solidFill>
                  <a:srgbClr val="2E2E38"/>
                </a:solidFill>
                <a:latin typeface="Arial" pitchFamily="34" charset="0"/>
                <a:ea typeface="Arial" pitchFamily="34" charset="-122"/>
                <a:cs typeface="Arial" pitchFamily="34" charset="-120"/>
              </a:rPr>
              <a:t>当拍返回判决</a:t>
            </a:r>
            <a:r>
              <a:rPr lang="en-US" sz="800" dirty="0">
                <a:solidFill>
                  <a:srgbClr val="2E2E38"/>
                </a:solidFill>
                <a:latin typeface="Arial" pitchFamily="34" charset="0"/>
                <a:ea typeface="Arial" pitchFamily="34" charset="-122"/>
                <a:cs typeface="Arial" pitchFamily="34" charset="-120"/>
              </a:rPr>
              <a:t>。</a:t>
            </a:r>
            <a:endParaRPr lang="en-US" sz="800" dirty="0"/>
          </a:p>
          <a:p>
            <a:pPr marL="0" indent="0" algn="l">
              <a:lnSpc>
                <a:spcPct val="128000"/>
              </a:lnSpc>
              <a:buNone/>
            </a:pPr>
            <a:endParaRPr lang="en-US" sz="800" dirty="0"/>
          </a:p>
        </p:txBody>
      </p:sp>
      <p:sp>
        <p:nvSpPr>
          <p:cNvPr id="16" name="Text 13"/>
          <p:cNvSpPr/>
          <p:nvPr/>
        </p:nvSpPr>
        <p:spPr>
          <a:xfrm>
            <a:off x="607219" y="1578769"/>
            <a:ext cx="67308"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a:t>
            </a:r>
            <a:endParaRPr lang="en-US" sz="800" dirty="0"/>
          </a:p>
        </p:txBody>
      </p:sp>
      <p:sp>
        <p:nvSpPr>
          <p:cNvPr id="17" name="Text 14"/>
          <p:cNvSpPr/>
          <p:nvPr/>
        </p:nvSpPr>
        <p:spPr>
          <a:xfrm>
            <a:off x="674526" y="1578769"/>
            <a:ext cx="125071" cy="117872"/>
          </a:xfrm>
          <a:prstGeom prst="rect">
            <a:avLst/>
          </a:prstGeom>
          <a:noFill/>
          <a:ln/>
        </p:spPr>
        <p:txBody>
          <a:bodyPr wrap="none" lIns="0" tIns="0" rIns="0" bIns="0" rtlCol="0" anchor="t">
            <a:spAutoFit/>
          </a:bodyPr>
          <a:lstStyle/>
          <a:p>
            <a:pPr marL="0" indent="0" algn="l">
              <a:lnSpc>
                <a:spcPct val="128000"/>
              </a:lnSpc>
              <a:buNone/>
            </a:pPr>
            <a:r>
              <a:rPr lang="en-US" sz="750" b="1" dirty="0">
                <a:solidFill>
                  <a:srgbClr val="2E2E38"/>
                </a:solidFill>
                <a:latin typeface="Arial" pitchFamily="34" charset="0"/>
                <a:ea typeface="Arial" pitchFamily="34" charset="-122"/>
                <a:cs typeface="Arial" pitchFamily="34" charset="-120"/>
              </a:rPr>
              <a:t>T1</a:t>
            </a:r>
            <a:endParaRPr lang="en-US" sz="750" dirty="0"/>
          </a:p>
        </p:txBody>
      </p:sp>
      <p:sp>
        <p:nvSpPr>
          <p:cNvPr id="18" name="Text 15"/>
          <p:cNvSpPr/>
          <p:nvPr/>
        </p:nvSpPr>
        <p:spPr>
          <a:xfrm>
            <a:off x="799598" y="1578769"/>
            <a:ext cx="2412520" cy="302134"/>
          </a:xfrm>
          <a:prstGeom prst="rect">
            <a:avLst/>
          </a:prstGeom>
          <a:noFill/>
          <a:ln/>
        </p:spPr>
        <p:txBody>
          <a:bodyPr wrap="none" lIns="0" tIns="0" rIns="0" bIns="0" rtlCol="0" anchor="t">
            <a:spAutoFit/>
          </a:bodyPr>
          <a:lstStyle/>
          <a:p>
            <a:pPr>
              <a:lnSpc>
                <a:spcPct val="128000"/>
              </a:lnSpc>
            </a:pPr>
            <a:r>
              <a:rPr lang="en-US" sz="800" dirty="0">
                <a:solidFill>
                  <a:srgbClr val="2E2E38"/>
                </a:solidFill>
                <a:latin typeface="Arial" pitchFamily="34" charset="0"/>
                <a:ea typeface="Arial" pitchFamily="34" charset="-122"/>
                <a:cs typeface="Arial" pitchFamily="34" charset="-120"/>
              </a:rPr>
              <a:t>：</a:t>
            </a:r>
            <a:r>
              <a:rPr lang="en-US" sz="800" dirty="0" err="1">
                <a:solidFill>
                  <a:srgbClr val="2E2E38"/>
                </a:solidFill>
                <a:latin typeface="Arial" pitchFamily="34" charset="0"/>
                <a:ea typeface="Arial" pitchFamily="34" charset="-122"/>
                <a:cs typeface="Arial" pitchFamily="34" charset="-120"/>
              </a:rPr>
              <a:t>寄存输出</a:t>
            </a:r>
            <a:r>
              <a:rPr lang="en-US" sz="800" dirty="0">
                <a:solidFill>
                  <a:srgbClr val="2E2E38"/>
                </a:solidFill>
                <a:latin typeface="Arial" pitchFamily="34" charset="0"/>
                <a:ea typeface="Arial" pitchFamily="34" charset="-122"/>
                <a:cs typeface="Arial" pitchFamily="34" charset="-120"/>
              </a:rPr>
              <a:t> </a:t>
            </a:r>
            <a:r>
              <a:rPr lang="en-US" sz="800" dirty="0" err="1">
                <a:solidFill>
                  <a:srgbClr val="2E2E38"/>
                </a:solidFill>
                <a:latin typeface="Arial" pitchFamily="34" charset="0"/>
                <a:ea typeface="Arial" pitchFamily="34" charset="-122"/>
                <a:cs typeface="Arial" pitchFamily="34" charset="-120"/>
              </a:rPr>
              <a:t>alloc_valid</a:t>
            </a:r>
            <a:r>
              <a:rPr lang="en-US" sz="800" dirty="0">
                <a:solidFill>
                  <a:srgbClr val="2E2E38"/>
                </a:solidFill>
                <a:latin typeface="Arial" pitchFamily="34" charset="0"/>
                <a:ea typeface="Arial" pitchFamily="34" charset="-122"/>
                <a:cs typeface="Arial" pitchFamily="34" charset="-120"/>
              </a:rPr>
              <a:t> 与 </a:t>
            </a:r>
            <a:r>
              <a:rPr lang="en-US" sz="800" dirty="0" err="1">
                <a:solidFill>
                  <a:srgbClr val="2E2E38"/>
                </a:solidFill>
                <a:latin typeface="Arial" pitchFamily="34" charset="0"/>
                <a:ea typeface="Arial" pitchFamily="34" charset="-122"/>
                <a:cs typeface="Arial" pitchFamily="34" charset="-120"/>
              </a:rPr>
              <a:t>alloc_cell_addr</a:t>
            </a:r>
            <a:r>
              <a:rPr lang="en-US" sz="800" dirty="0">
                <a:solidFill>
                  <a:srgbClr val="2E2E38"/>
                </a:solidFill>
                <a:latin typeface="Arial" pitchFamily="34" charset="0"/>
                <a:ea typeface="Arial" pitchFamily="34" charset="-122"/>
                <a:cs typeface="Arial" pitchFamily="34" charset="-120"/>
              </a:rPr>
              <a:t> 。</a:t>
            </a:r>
            <a:r>
              <a:rPr lang="en-US" sz="800" dirty="0" err="1">
                <a:solidFill>
                  <a:srgbClr val="2E2E38"/>
                </a:solidFill>
                <a:latin typeface="Arial" pitchFamily="34" charset="0"/>
                <a:ea typeface="Arial" pitchFamily="34" charset="-122"/>
                <a:cs typeface="Arial" pitchFamily="34" charset="-120"/>
              </a:rPr>
              <a:t>实现严格</a:t>
            </a:r>
            <a:endParaRPr lang="en-US" sz="800" dirty="0">
              <a:solidFill>
                <a:srgbClr val="2E2E38"/>
              </a:solidFill>
              <a:latin typeface="Arial" pitchFamily="34" charset="0"/>
              <a:ea typeface="Arial" pitchFamily="34" charset="-122"/>
              <a:cs typeface="Arial" pitchFamily="34" charset="-120"/>
            </a:endParaRPr>
          </a:p>
          <a:p>
            <a:pPr>
              <a:lnSpc>
                <a:spcPct val="128000"/>
              </a:lnSpc>
            </a:pPr>
            <a:r>
              <a:rPr lang="en-US" sz="800" dirty="0">
                <a:solidFill>
                  <a:srgbClr val="2E2E38"/>
                </a:solidFill>
                <a:latin typeface="Arial" pitchFamily="34" charset="0"/>
                <a:ea typeface="Arial" pitchFamily="34" charset="-122"/>
                <a:cs typeface="Arial" pitchFamily="34" charset="-120"/>
              </a:rPr>
              <a:t>   的 1 </a:t>
            </a:r>
            <a:r>
              <a:rPr lang="en-US" sz="800" dirty="0" err="1">
                <a:solidFill>
                  <a:srgbClr val="2E2E38"/>
                </a:solidFill>
                <a:latin typeface="Arial" pitchFamily="34" charset="0"/>
                <a:ea typeface="Arial" pitchFamily="34" charset="-122"/>
                <a:cs typeface="Arial" pitchFamily="34" charset="-120"/>
              </a:rPr>
              <a:t>拍命令式响应</a:t>
            </a:r>
            <a:r>
              <a:rPr lang="en-US" sz="800" dirty="0">
                <a:solidFill>
                  <a:srgbClr val="2E2E38"/>
                </a:solidFill>
                <a:latin typeface="Arial" pitchFamily="34" charset="0"/>
                <a:ea typeface="Arial" pitchFamily="34" charset="-122"/>
                <a:cs typeface="Arial" pitchFamily="34" charset="-120"/>
              </a:rPr>
              <a:t>。</a:t>
            </a:r>
            <a:endParaRPr lang="en-US" sz="800" dirty="0"/>
          </a:p>
        </p:txBody>
      </p:sp>
      <p:sp>
        <p:nvSpPr>
          <p:cNvPr id="24" name="Shape 21"/>
          <p:cNvSpPr/>
          <p:nvPr/>
        </p:nvSpPr>
        <p:spPr>
          <a:xfrm>
            <a:off x="428625" y="2214563"/>
            <a:ext cx="3000375" cy="1714500"/>
          </a:xfrm>
          <a:prstGeom prst="rect">
            <a:avLst/>
          </a:prstGeom>
          <a:solidFill>
            <a:srgbClr val="FFFFFF"/>
          </a:solidFill>
          <a:ln/>
        </p:spPr>
        <p:txBody>
          <a:bodyPr/>
          <a:lstStyle/>
          <a:p>
            <a:endParaRPr lang="zh-CN" altLang="en-US"/>
          </a:p>
        </p:txBody>
      </p:sp>
      <p:sp>
        <p:nvSpPr>
          <p:cNvPr id="25" name="Shape 22"/>
          <p:cNvSpPr/>
          <p:nvPr/>
        </p:nvSpPr>
        <p:spPr>
          <a:xfrm>
            <a:off x="428625" y="2214563"/>
            <a:ext cx="28575" cy="1714500"/>
          </a:xfrm>
          <a:prstGeom prst="rect">
            <a:avLst/>
          </a:prstGeom>
          <a:solidFill>
            <a:srgbClr val="6CA0F6"/>
          </a:solidFill>
          <a:ln/>
        </p:spPr>
        <p:txBody>
          <a:bodyPr/>
          <a:lstStyle/>
          <a:p>
            <a:endParaRPr lang="zh-CN" altLang="en-US"/>
          </a:p>
        </p:txBody>
      </p:sp>
      <p:sp>
        <p:nvSpPr>
          <p:cNvPr id="26" name="Text 23"/>
          <p:cNvSpPr/>
          <p:nvPr/>
        </p:nvSpPr>
        <p:spPr>
          <a:xfrm>
            <a:off x="607219" y="2357438"/>
            <a:ext cx="2643188" cy="196453"/>
          </a:xfrm>
          <a:prstGeom prst="rect">
            <a:avLst/>
          </a:prstGeom>
          <a:noFill/>
          <a:ln/>
        </p:spPr>
        <p:txBody>
          <a:bodyPr wrap="square" lIns="0" tIns="0" rIns="0" bIns="0" rtlCol="0" anchor="t">
            <a:spAutoFit/>
          </a:bodyPr>
          <a:lstStyle/>
          <a:p>
            <a:pPr marL="0" indent="0" algn="l">
              <a:buNone/>
            </a:pPr>
            <a:r>
              <a:rPr lang="en-US" sz="1000" b="1" dirty="0">
                <a:solidFill>
                  <a:srgbClr val="3253DC"/>
                </a:solidFill>
                <a:latin typeface="Arial" pitchFamily="34" charset="0"/>
                <a:ea typeface="Arial" pitchFamily="34" charset="-122"/>
                <a:cs typeface="Arial" pitchFamily="34" charset="-120"/>
              </a:rPr>
              <a:t>Tail-in-Register 挂链机制</a:t>
            </a:r>
            <a:endParaRPr lang="en-US" sz="1000" dirty="0"/>
          </a:p>
        </p:txBody>
      </p:sp>
      <p:sp>
        <p:nvSpPr>
          <p:cNvPr id="27" name="Text 24"/>
          <p:cNvSpPr/>
          <p:nvPr/>
        </p:nvSpPr>
        <p:spPr>
          <a:xfrm>
            <a:off x="607219" y="2664619"/>
            <a:ext cx="67308"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a:t>
            </a:r>
            <a:endParaRPr lang="en-US" sz="800" dirty="0"/>
          </a:p>
        </p:txBody>
      </p:sp>
      <p:sp>
        <p:nvSpPr>
          <p:cNvPr id="28" name="Text 25"/>
          <p:cNvSpPr/>
          <p:nvPr/>
        </p:nvSpPr>
        <p:spPr>
          <a:xfrm>
            <a:off x="674526" y="2664619"/>
            <a:ext cx="565696" cy="117872"/>
          </a:xfrm>
          <a:prstGeom prst="rect">
            <a:avLst/>
          </a:prstGeom>
          <a:noFill/>
          <a:ln/>
        </p:spPr>
        <p:txBody>
          <a:bodyPr wrap="none" lIns="0" tIns="0" rIns="0" bIns="0" rtlCol="0" anchor="t">
            <a:spAutoFit/>
          </a:bodyPr>
          <a:lstStyle/>
          <a:p>
            <a:pPr marL="0" indent="0" algn="l">
              <a:lnSpc>
                <a:spcPct val="128000"/>
              </a:lnSpc>
              <a:buNone/>
            </a:pPr>
            <a:r>
              <a:rPr lang="en-US" sz="750" b="1" dirty="0">
                <a:solidFill>
                  <a:srgbClr val="2E2E38"/>
                </a:solidFill>
                <a:latin typeface="Arial" pitchFamily="34" charset="0"/>
                <a:ea typeface="Arial" pitchFamily="34" charset="-122"/>
                <a:cs typeface="Arial" pitchFamily="34" charset="-120"/>
              </a:rPr>
              <a:t>延迟 Relink</a:t>
            </a:r>
            <a:endParaRPr lang="en-US" sz="750" dirty="0"/>
          </a:p>
        </p:txBody>
      </p:sp>
      <p:sp>
        <p:nvSpPr>
          <p:cNvPr id="29" name="Text 26"/>
          <p:cNvSpPr/>
          <p:nvPr/>
        </p:nvSpPr>
        <p:spPr>
          <a:xfrm>
            <a:off x="1240222" y="2664619"/>
            <a:ext cx="1930016" cy="459741"/>
          </a:xfrm>
          <a:prstGeom prst="rect">
            <a:avLst/>
          </a:prstGeom>
          <a:noFill/>
          <a:ln/>
        </p:spPr>
        <p:txBody>
          <a:bodyPr wrap="none" lIns="0" tIns="0" rIns="0" bIns="0" rtlCol="0" anchor="t">
            <a:spAutoFit/>
          </a:bodyPr>
          <a:lstStyle/>
          <a:p>
            <a:pPr>
              <a:lnSpc>
                <a:spcPct val="128000"/>
              </a:lnSpc>
            </a:pPr>
            <a:r>
              <a:rPr lang="en-US" sz="800" dirty="0">
                <a:solidFill>
                  <a:srgbClr val="2E2E38"/>
                </a:solidFill>
                <a:latin typeface="Arial" pitchFamily="34" charset="0"/>
                <a:ea typeface="Arial" pitchFamily="34" charset="-122"/>
                <a:cs typeface="Arial" pitchFamily="34" charset="-120"/>
              </a:rPr>
              <a:t>：</a:t>
            </a:r>
            <a:r>
              <a:rPr lang="en-US" sz="800" dirty="0" err="1">
                <a:solidFill>
                  <a:srgbClr val="2E2E38"/>
                </a:solidFill>
                <a:latin typeface="Arial" pitchFamily="34" charset="0"/>
                <a:ea typeface="Arial" pitchFamily="34" charset="-122"/>
                <a:cs typeface="Arial" pitchFamily="34" charset="-120"/>
              </a:rPr>
              <a:t>队尾地址q_tail_q暂存于寄存器。真正的</a:t>
            </a:r>
            <a:r>
              <a:rPr lang="en-US" sz="800" dirty="0">
                <a:solidFill>
                  <a:srgbClr val="2E2E38"/>
                </a:solidFill>
                <a:latin typeface="Arial" pitchFamily="34" charset="0"/>
                <a:ea typeface="Arial" pitchFamily="34" charset="-122"/>
                <a:cs typeface="Arial" pitchFamily="34" charset="-120"/>
              </a:rPr>
              <a:t> </a:t>
            </a:r>
          </a:p>
          <a:p>
            <a:pPr>
              <a:lnSpc>
                <a:spcPct val="128000"/>
              </a:lnSpc>
            </a:pPr>
            <a:r>
              <a:rPr lang="en-US" sz="800" dirty="0">
                <a:solidFill>
                  <a:srgbClr val="2E2E38"/>
                </a:solidFill>
                <a:latin typeface="Arial" pitchFamily="34" charset="0"/>
                <a:ea typeface="Arial" pitchFamily="34" charset="-122"/>
                <a:cs typeface="Arial" pitchFamily="34" charset="-120"/>
              </a:rPr>
              <a:t>SRAM </a:t>
            </a:r>
            <a:r>
              <a:rPr lang="en-US" sz="800" dirty="0" err="1">
                <a:solidFill>
                  <a:srgbClr val="2E2E38"/>
                </a:solidFill>
                <a:latin typeface="Arial" pitchFamily="34" charset="0"/>
                <a:ea typeface="Arial" pitchFamily="34" charset="-122"/>
                <a:cs typeface="Arial" pitchFamily="34" charset="-120"/>
              </a:rPr>
              <a:t>写入（SRAM</a:t>
            </a:r>
            <a:r>
              <a:rPr lang="en-US" sz="800" dirty="0">
                <a:solidFill>
                  <a:srgbClr val="2E2E38"/>
                </a:solidFill>
                <a:latin typeface="Arial" pitchFamily="34" charset="0"/>
                <a:ea typeface="Arial" pitchFamily="34" charset="-122"/>
                <a:cs typeface="Arial" pitchFamily="34" charset="-120"/>
              </a:rPr>
              <a:t>[</a:t>
            </a:r>
            <a:r>
              <a:rPr lang="en-US" sz="800" dirty="0" err="1">
                <a:solidFill>
                  <a:srgbClr val="2E2E38"/>
                </a:solidFill>
                <a:latin typeface="Arial" pitchFamily="34" charset="0"/>
                <a:ea typeface="Arial" pitchFamily="34" charset="-122"/>
                <a:cs typeface="Arial" pitchFamily="34" charset="-120"/>
              </a:rPr>
              <a:t>旧tail</a:t>
            </a:r>
            <a:r>
              <a:rPr lang="en-US" sz="800" dirty="0">
                <a:solidFill>
                  <a:srgbClr val="2E2E38"/>
                </a:solidFill>
                <a:latin typeface="Arial" pitchFamily="34" charset="0"/>
                <a:ea typeface="Arial" pitchFamily="34" charset="-122"/>
                <a:cs typeface="Arial" pitchFamily="34" charset="-120"/>
              </a:rPr>
              <a:t>].next = </a:t>
            </a:r>
            <a:r>
              <a:rPr lang="en-US" sz="800" dirty="0" err="1">
                <a:solidFill>
                  <a:srgbClr val="2E2E38"/>
                </a:solidFill>
                <a:latin typeface="Arial" pitchFamily="34" charset="0"/>
                <a:ea typeface="Arial" pitchFamily="34" charset="-122"/>
                <a:cs typeface="Arial" pitchFamily="34" charset="-120"/>
              </a:rPr>
              <a:t>新cell</a:t>
            </a:r>
            <a:r>
              <a:rPr lang="en-US" sz="800" dirty="0">
                <a:solidFill>
                  <a:srgbClr val="2E2E38"/>
                </a:solidFill>
                <a:latin typeface="Arial" pitchFamily="34" charset="0"/>
                <a:ea typeface="Arial" pitchFamily="34" charset="-122"/>
                <a:cs typeface="Arial" pitchFamily="34" charset="-120"/>
              </a:rPr>
              <a:t>）</a:t>
            </a:r>
          </a:p>
          <a:p>
            <a:pPr>
              <a:lnSpc>
                <a:spcPct val="128000"/>
              </a:lnSpc>
            </a:pPr>
            <a:r>
              <a:rPr lang="en-US" sz="800" dirty="0" err="1">
                <a:solidFill>
                  <a:srgbClr val="2E2E38"/>
                </a:solidFill>
                <a:latin typeface="Arial" pitchFamily="34" charset="0"/>
                <a:ea typeface="Arial" pitchFamily="34" charset="-122"/>
                <a:cs typeface="Arial" pitchFamily="34" charset="-120"/>
              </a:rPr>
              <a:t>推迟到</a:t>
            </a:r>
            <a:r>
              <a:rPr lang="en-US" sz="800" b="1" dirty="0" err="1">
                <a:solidFill>
                  <a:srgbClr val="2E2E38"/>
                </a:solidFill>
                <a:latin typeface="Arial" pitchFamily="34" charset="0"/>
                <a:ea typeface="Arial" pitchFamily="34" charset="-122"/>
                <a:cs typeface="Arial" pitchFamily="34" charset="-120"/>
              </a:rPr>
              <a:t>下一个</a:t>
            </a:r>
            <a:r>
              <a:rPr lang="en-US" sz="800" b="1" dirty="0">
                <a:solidFill>
                  <a:srgbClr val="2E2E38"/>
                </a:solidFill>
                <a:latin typeface="Arial" pitchFamily="34" charset="0"/>
                <a:ea typeface="Arial" pitchFamily="34" charset="-122"/>
                <a:cs typeface="Arial" pitchFamily="34" charset="-120"/>
              </a:rPr>
              <a:t> Cell </a:t>
            </a:r>
            <a:r>
              <a:rPr lang="en-US" sz="800" b="1" dirty="0" err="1">
                <a:solidFill>
                  <a:srgbClr val="2E2E38"/>
                </a:solidFill>
                <a:latin typeface="Arial" pitchFamily="34" charset="0"/>
                <a:ea typeface="Arial" pitchFamily="34" charset="-122"/>
                <a:cs typeface="Arial" pitchFamily="34" charset="-120"/>
              </a:rPr>
              <a:t>入队</a:t>
            </a:r>
            <a:r>
              <a:rPr lang="en-US" sz="800" dirty="0" err="1">
                <a:solidFill>
                  <a:srgbClr val="2E2E38"/>
                </a:solidFill>
                <a:latin typeface="Arial" pitchFamily="34" charset="0"/>
                <a:ea typeface="Arial" pitchFamily="34" charset="-122"/>
                <a:cs typeface="Arial" pitchFamily="34" charset="-120"/>
              </a:rPr>
              <a:t>时完成</a:t>
            </a:r>
            <a:r>
              <a:rPr lang="en-US" sz="800" dirty="0">
                <a:solidFill>
                  <a:srgbClr val="2E2E38"/>
                </a:solidFill>
                <a:latin typeface="Arial" pitchFamily="34" charset="0"/>
                <a:ea typeface="Arial" pitchFamily="34" charset="-122"/>
                <a:cs typeface="Arial" pitchFamily="34" charset="-120"/>
              </a:rPr>
              <a:t>。</a:t>
            </a:r>
            <a:endParaRPr lang="en-US" sz="800" dirty="0"/>
          </a:p>
        </p:txBody>
      </p:sp>
      <p:sp>
        <p:nvSpPr>
          <p:cNvPr id="37" name="Text 34"/>
          <p:cNvSpPr/>
          <p:nvPr/>
        </p:nvSpPr>
        <p:spPr>
          <a:xfrm>
            <a:off x="607219" y="3178969"/>
            <a:ext cx="67308"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a:t>
            </a:r>
            <a:endParaRPr lang="en-US" sz="800" dirty="0"/>
          </a:p>
        </p:txBody>
      </p:sp>
      <p:sp>
        <p:nvSpPr>
          <p:cNvPr id="38" name="Text 35"/>
          <p:cNvSpPr/>
          <p:nvPr/>
        </p:nvSpPr>
        <p:spPr>
          <a:xfrm>
            <a:off x="674526" y="3178969"/>
            <a:ext cx="428625" cy="117872"/>
          </a:xfrm>
          <a:prstGeom prst="rect">
            <a:avLst/>
          </a:prstGeom>
          <a:noFill/>
          <a:ln/>
        </p:spPr>
        <p:txBody>
          <a:bodyPr wrap="none" lIns="0" tIns="0" rIns="0" bIns="0" rtlCol="0" anchor="t">
            <a:spAutoFit/>
          </a:bodyPr>
          <a:lstStyle/>
          <a:p>
            <a:pPr marL="0" indent="0" algn="l">
              <a:lnSpc>
                <a:spcPct val="128000"/>
              </a:lnSpc>
              <a:buNone/>
            </a:pPr>
            <a:r>
              <a:rPr lang="en-US" sz="750" b="1" dirty="0">
                <a:solidFill>
                  <a:srgbClr val="2E2E38"/>
                </a:solidFill>
                <a:latin typeface="Arial" pitchFamily="34" charset="0"/>
                <a:ea typeface="Arial" pitchFamily="34" charset="-122"/>
                <a:cs typeface="Arial" pitchFamily="34" charset="-120"/>
              </a:rPr>
              <a:t>设计优势</a:t>
            </a:r>
            <a:endParaRPr lang="en-US" sz="750" dirty="0"/>
          </a:p>
        </p:txBody>
      </p:sp>
      <p:sp>
        <p:nvSpPr>
          <p:cNvPr id="39" name="Text 36"/>
          <p:cNvSpPr/>
          <p:nvPr/>
        </p:nvSpPr>
        <p:spPr>
          <a:xfrm>
            <a:off x="1103151" y="3178969"/>
            <a:ext cx="2279470" cy="775790"/>
          </a:xfrm>
          <a:prstGeom prst="rect">
            <a:avLst/>
          </a:prstGeom>
          <a:noFill/>
          <a:ln/>
        </p:spPr>
        <p:txBody>
          <a:bodyPr wrap="none" lIns="0" tIns="0" rIns="0" bIns="0" rtlCol="0" anchor="t">
            <a:spAutoFit/>
          </a:bodyPr>
          <a:lstStyle/>
          <a:p>
            <a:pPr>
              <a:lnSpc>
                <a:spcPct val="128000"/>
              </a:lnSpc>
            </a:pPr>
            <a:r>
              <a:rPr lang="en-US" sz="800" dirty="0">
                <a:solidFill>
                  <a:srgbClr val="2E2E38"/>
                </a:solidFill>
                <a:latin typeface="Arial" pitchFamily="34" charset="0"/>
                <a:ea typeface="Arial" pitchFamily="34" charset="-122"/>
                <a:cs typeface="Arial" pitchFamily="34" charset="-120"/>
              </a:rPr>
              <a:t>：① 避免空队列挂链时的 SRAM 读写；② </a:t>
            </a:r>
            <a:r>
              <a:rPr lang="en-US" sz="800" dirty="0" err="1">
                <a:solidFill>
                  <a:srgbClr val="2E2E38"/>
                </a:solidFill>
                <a:latin typeface="Arial" pitchFamily="34" charset="0"/>
                <a:ea typeface="Arial" pitchFamily="34" charset="-122"/>
                <a:cs typeface="Arial" pitchFamily="34" charset="-120"/>
              </a:rPr>
              <a:t>每拍至</a:t>
            </a:r>
            <a:endParaRPr lang="en-US" sz="800" dirty="0">
              <a:solidFill>
                <a:srgbClr val="2E2E38"/>
              </a:solidFill>
              <a:latin typeface="Arial" pitchFamily="34" charset="0"/>
              <a:ea typeface="Arial" pitchFamily="34" charset="-122"/>
              <a:cs typeface="Arial" pitchFamily="34" charset="-120"/>
            </a:endParaRPr>
          </a:p>
          <a:p>
            <a:pPr>
              <a:lnSpc>
                <a:spcPct val="128000"/>
              </a:lnSpc>
            </a:pPr>
            <a:r>
              <a:rPr lang="en-US" sz="800" dirty="0" err="1">
                <a:solidFill>
                  <a:srgbClr val="2E2E38"/>
                </a:solidFill>
                <a:latin typeface="Arial" pitchFamily="34" charset="0"/>
                <a:ea typeface="Arial" pitchFamily="34" charset="-122"/>
                <a:cs typeface="Arial" pitchFamily="34" charset="-120"/>
              </a:rPr>
              <a:t>多一次</a:t>
            </a:r>
            <a:r>
              <a:rPr lang="en-US" sz="800" dirty="0">
                <a:solidFill>
                  <a:srgbClr val="2E2E38"/>
                </a:solidFill>
                <a:latin typeface="Arial" pitchFamily="34" charset="0"/>
                <a:ea typeface="Arial" pitchFamily="34" charset="-122"/>
                <a:cs typeface="Arial" pitchFamily="34" charset="-120"/>
              </a:rPr>
              <a:t> SRAM </a:t>
            </a:r>
            <a:r>
              <a:rPr lang="en-US" sz="800" dirty="0" err="1">
                <a:solidFill>
                  <a:srgbClr val="2E2E38"/>
                </a:solidFill>
                <a:latin typeface="Arial" pitchFamily="34" charset="0"/>
                <a:ea typeface="Arial" pitchFamily="34" charset="-122"/>
                <a:cs typeface="Arial" pitchFamily="34" charset="-120"/>
              </a:rPr>
              <a:t>写，消除写口冲突</a:t>
            </a:r>
            <a:r>
              <a:rPr lang="en-US" sz="800" dirty="0">
                <a:solidFill>
                  <a:srgbClr val="2E2E38"/>
                </a:solidFill>
                <a:latin typeface="Arial" pitchFamily="34" charset="0"/>
                <a:ea typeface="Arial" pitchFamily="34" charset="-122"/>
                <a:cs typeface="Arial" pitchFamily="34" charset="-120"/>
              </a:rPr>
              <a:t>；③ </a:t>
            </a:r>
            <a:r>
              <a:rPr lang="en-US" sz="800" dirty="0" err="1">
                <a:solidFill>
                  <a:srgbClr val="2E2E38"/>
                </a:solidFill>
                <a:latin typeface="Arial" pitchFamily="34" charset="0"/>
                <a:ea typeface="Arial" pitchFamily="34" charset="-122"/>
                <a:cs typeface="Arial" pitchFamily="34" charset="-120"/>
              </a:rPr>
              <a:t>尾地址寄存</a:t>
            </a:r>
            <a:endParaRPr lang="en-US" sz="800" dirty="0">
              <a:solidFill>
                <a:srgbClr val="2E2E38"/>
              </a:solidFill>
              <a:latin typeface="Arial" pitchFamily="34" charset="0"/>
              <a:ea typeface="Arial" pitchFamily="34" charset="-122"/>
              <a:cs typeface="Arial" pitchFamily="34" charset="-120"/>
            </a:endParaRPr>
          </a:p>
          <a:p>
            <a:pPr>
              <a:lnSpc>
                <a:spcPct val="128000"/>
              </a:lnSpc>
            </a:pPr>
            <a:r>
              <a:rPr lang="en-US" sz="800" dirty="0" err="1">
                <a:solidFill>
                  <a:srgbClr val="2E2E38"/>
                </a:solidFill>
                <a:latin typeface="Arial" pitchFamily="34" charset="0"/>
                <a:ea typeface="Arial" pitchFamily="34" charset="-122"/>
                <a:cs typeface="Arial" pitchFamily="34" charset="-120"/>
              </a:rPr>
              <a:t>器实时可读，出队逻辑无需访问</a:t>
            </a:r>
            <a:r>
              <a:rPr lang="en-US" sz="800" dirty="0">
                <a:solidFill>
                  <a:srgbClr val="2E2E38"/>
                </a:solidFill>
                <a:latin typeface="Arial" pitchFamily="34" charset="0"/>
                <a:ea typeface="Arial" pitchFamily="34" charset="-122"/>
                <a:cs typeface="Arial" pitchFamily="34" charset="-120"/>
              </a:rPr>
              <a:t> SRAM。</a:t>
            </a:r>
            <a:endParaRPr lang="en-US" sz="800" dirty="0"/>
          </a:p>
          <a:p>
            <a:pPr>
              <a:lnSpc>
                <a:spcPct val="128000"/>
              </a:lnSpc>
            </a:pPr>
            <a:endParaRPr lang="en-US" sz="800" dirty="0"/>
          </a:p>
          <a:p>
            <a:pPr marL="0" indent="0" algn="l">
              <a:lnSpc>
                <a:spcPct val="128000"/>
              </a:lnSpc>
              <a:buNone/>
            </a:pPr>
            <a:endParaRPr lang="en-US" sz="800" dirty="0"/>
          </a:p>
        </p:txBody>
      </p:sp>
      <p:sp>
        <p:nvSpPr>
          <p:cNvPr id="42" name="Text 39"/>
          <p:cNvSpPr/>
          <p:nvPr/>
        </p:nvSpPr>
        <p:spPr>
          <a:xfrm>
            <a:off x="4872038" y="785813"/>
            <a:ext cx="2685994" cy="175022"/>
          </a:xfrm>
          <a:prstGeom prst="rect">
            <a:avLst/>
          </a:prstGeom>
          <a:noFill/>
          <a:ln/>
        </p:spPr>
        <p:txBody>
          <a:bodyPr wrap="square" lIns="0" tIns="0" rIns="0" bIns="0" rtlCol="0" anchor="t">
            <a:spAutoFit/>
          </a:bodyPr>
          <a:lstStyle/>
          <a:p>
            <a:pPr marL="0" indent="0" algn="l">
              <a:buNone/>
            </a:pPr>
            <a:r>
              <a:rPr lang="en-US" sz="900" b="1" dirty="0">
                <a:solidFill>
                  <a:srgbClr val="3253DC"/>
                </a:solidFill>
                <a:latin typeface="Arial" pitchFamily="34" charset="0"/>
                <a:ea typeface="Arial" pitchFamily="34" charset="-122"/>
                <a:cs typeface="Arial" pitchFamily="34" charset="-120"/>
              </a:rPr>
              <a:t>入队挂链过程 (A→B→C) 寄存器与 SRAM 演进</a:t>
            </a:r>
            <a:endParaRPr lang="en-US" sz="900" dirty="0"/>
          </a:p>
        </p:txBody>
      </p:sp>
      <p:sp>
        <p:nvSpPr>
          <p:cNvPr id="43" name="Shape 40"/>
          <p:cNvSpPr/>
          <p:nvPr/>
        </p:nvSpPr>
        <p:spPr>
          <a:xfrm>
            <a:off x="3714750" y="1067991"/>
            <a:ext cx="5000625" cy="3286125"/>
          </a:xfrm>
          <a:prstGeom prst="rect">
            <a:avLst/>
          </a:prstGeom>
          <a:solidFill>
            <a:srgbClr val="FFFFFF"/>
          </a:solidFill>
          <a:ln/>
        </p:spPr>
        <p:txBody>
          <a:bodyPr/>
          <a:lstStyle/>
          <a:p>
            <a:endParaRPr lang="zh-CN" altLang="en-US"/>
          </a:p>
        </p:txBody>
      </p:sp>
      <p:sp>
        <p:nvSpPr>
          <p:cNvPr id="45" name="Text 41"/>
          <p:cNvSpPr/>
          <p:nvPr/>
        </p:nvSpPr>
        <p:spPr>
          <a:xfrm>
            <a:off x="4589804" y="4354116"/>
            <a:ext cx="3250518" cy="242888"/>
          </a:xfrm>
          <a:prstGeom prst="rect">
            <a:avLst/>
          </a:prstGeom>
          <a:noFill/>
          <a:ln/>
        </p:spPr>
        <p:txBody>
          <a:bodyPr wrap="square" lIns="0" tIns="127508" rIns="0" bIns="0" rtlCol="0" anchor="t">
            <a:spAutoFit/>
          </a:bodyPr>
          <a:lstStyle/>
          <a:p>
            <a:pPr marL="0" indent="0" algn="ctr">
              <a:buNone/>
            </a:pPr>
            <a:r>
              <a:rPr lang="en-US" sz="750" dirty="0">
                <a:solidFill>
                  <a:srgbClr val="6E6E7A"/>
                </a:solidFill>
                <a:latin typeface="Arial" pitchFamily="34" charset="0"/>
                <a:ea typeface="Arial" pitchFamily="34" charset="-122"/>
                <a:cs typeface="Arial" pitchFamily="34" charset="-120"/>
              </a:rPr>
              <a:t>通过 Tail 寄存器缓存，实现了高效的链表追加与确定的 SRAM 访问时序。</a:t>
            </a:r>
            <a:endParaRPr lang="en-US" sz="750" dirty="0"/>
          </a:p>
        </p:txBody>
      </p:sp>
      <p:sp>
        <p:nvSpPr>
          <p:cNvPr id="46" name="Text 42"/>
          <p:cNvSpPr/>
          <p:nvPr/>
        </p:nvSpPr>
        <p:spPr>
          <a:xfrm>
            <a:off x="428625" y="4879181"/>
            <a:ext cx="857473"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SMMU Design Review</a:t>
            </a:r>
            <a:endParaRPr lang="en-US" sz="600" dirty="0"/>
          </a:p>
        </p:txBody>
      </p:sp>
      <p:sp>
        <p:nvSpPr>
          <p:cNvPr id="47" name="Text 43"/>
          <p:cNvSpPr/>
          <p:nvPr/>
        </p:nvSpPr>
        <p:spPr>
          <a:xfrm>
            <a:off x="8395971" y="4879181"/>
            <a:ext cx="319404"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Page 13</a:t>
            </a:r>
            <a:endParaRPr lang="en-US" sz="600" dirty="0"/>
          </a:p>
        </p:txBody>
      </p:sp>
      <p:pic>
        <p:nvPicPr>
          <p:cNvPr id="48" name="图片 47">
            <a:extLst>
              <a:ext uri="{FF2B5EF4-FFF2-40B4-BE49-F238E27FC236}">
                <a16:creationId xmlns:a16="http://schemas.microsoft.com/office/drawing/2014/main" id="{05A1FD04-DE2B-7E12-1181-3B208932E849}"/>
              </a:ext>
            </a:extLst>
          </p:cNvPr>
          <p:cNvPicPr>
            <a:picLocks noChangeAspect="1"/>
          </p:cNvPicPr>
          <p:nvPr/>
        </p:nvPicPr>
        <p:blipFill>
          <a:blip r:embed="rId4"/>
          <a:stretch>
            <a:fillRect/>
          </a:stretch>
        </p:blipFill>
        <p:spPr>
          <a:xfrm>
            <a:off x="3704760" y="1287660"/>
            <a:ext cx="4987403" cy="280392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71500"/>
          </a:xfrm>
          <a:prstGeom prst="rect">
            <a:avLst/>
          </a:prstGeom>
          <a:solidFill>
            <a:srgbClr val="3253DC"/>
          </a:solidFill>
          <a:ln/>
        </p:spPr>
        <p:txBody>
          <a:bodyPr/>
          <a:lstStyle/>
          <a:p>
            <a:endParaRPr lang="zh-CN" altLang="en-US"/>
          </a:p>
        </p:txBody>
      </p:sp>
      <p:sp>
        <p:nvSpPr>
          <p:cNvPr id="4" name="Text 1"/>
          <p:cNvSpPr/>
          <p:nvPr/>
        </p:nvSpPr>
        <p:spPr>
          <a:xfrm>
            <a:off x="428625" y="130373"/>
            <a:ext cx="3670325" cy="310753"/>
          </a:xfrm>
          <a:prstGeom prst="rect">
            <a:avLst/>
          </a:prstGeom>
          <a:noFill/>
          <a:ln/>
        </p:spPr>
        <p:txBody>
          <a:bodyPr wrap="square" lIns="0" tIns="0" rIns="0" bIns="0" rtlCol="0" anchor="t">
            <a:spAutoFit/>
          </a:bodyPr>
          <a:lstStyle/>
          <a:p>
            <a:pPr marL="0" indent="0" algn="l">
              <a:buNone/>
            </a:pPr>
            <a:r>
              <a:rPr lang="en-US" sz="1600" b="1" dirty="0">
                <a:solidFill>
                  <a:srgbClr val="FFFFFF"/>
                </a:solidFill>
                <a:latin typeface="Arial" pitchFamily="34" charset="0"/>
                <a:ea typeface="Arial" pitchFamily="34" charset="-122"/>
                <a:cs typeface="Arial" pitchFamily="34" charset="-120"/>
              </a:rPr>
              <a:t>工作流程 (2) —— 入队整帧丢弃机制</a:t>
            </a:r>
            <a:endParaRPr lang="en-US" sz="1600" dirty="0"/>
          </a:p>
        </p:txBody>
      </p:sp>
      <p:sp>
        <p:nvSpPr>
          <p:cNvPr id="5" name="Shape 2"/>
          <p:cNvSpPr/>
          <p:nvPr/>
        </p:nvSpPr>
        <p:spPr>
          <a:xfrm>
            <a:off x="428625" y="1000125"/>
            <a:ext cx="2619356" cy="3714750"/>
          </a:xfrm>
          <a:prstGeom prst="rect">
            <a:avLst/>
          </a:prstGeom>
          <a:solidFill>
            <a:srgbClr val="FFFFFF"/>
          </a:solidFill>
          <a:ln/>
        </p:spPr>
        <p:txBody>
          <a:bodyPr/>
          <a:lstStyle/>
          <a:p>
            <a:endParaRPr lang="zh-CN" altLang="en-US"/>
          </a:p>
        </p:txBody>
      </p:sp>
      <p:sp>
        <p:nvSpPr>
          <p:cNvPr id="6" name="Shape 3"/>
          <p:cNvSpPr/>
          <p:nvPr/>
        </p:nvSpPr>
        <p:spPr>
          <a:xfrm>
            <a:off x="428625" y="1000125"/>
            <a:ext cx="28575" cy="3714750"/>
          </a:xfrm>
          <a:prstGeom prst="rect">
            <a:avLst/>
          </a:prstGeom>
          <a:solidFill>
            <a:srgbClr val="6CA0F6"/>
          </a:solidFill>
          <a:ln/>
        </p:spPr>
        <p:txBody>
          <a:bodyPr/>
          <a:lstStyle/>
          <a:p>
            <a:endParaRPr lang="zh-CN" altLang="en-US"/>
          </a:p>
        </p:txBody>
      </p:sp>
      <p:sp>
        <p:nvSpPr>
          <p:cNvPr id="7" name="Text 4"/>
          <p:cNvSpPr/>
          <p:nvPr/>
        </p:nvSpPr>
        <p:spPr>
          <a:xfrm>
            <a:off x="607219" y="1214438"/>
            <a:ext cx="2243138" cy="210741"/>
          </a:xfrm>
          <a:prstGeom prst="rect">
            <a:avLst/>
          </a:prstGeom>
          <a:noFill/>
          <a:ln/>
        </p:spPr>
        <p:txBody>
          <a:bodyPr wrap="square" lIns="0" tIns="0" rIns="0" bIns="0" rtlCol="0" anchor="t">
            <a:spAutoFit/>
          </a:bodyPr>
          <a:lstStyle/>
          <a:p>
            <a:pPr marL="0" indent="0" algn="l">
              <a:buNone/>
            </a:pPr>
            <a:r>
              <a:rPr lang="en-US" sz="1100" b="1" dirty="0">
                <a:solidFill>
                  <a:srgbClr val="3253DC"/>
                </a:solidFill>
                <a:latin typeface="Arial" pitchFamily="34" charset="0"/>
                <a:ea typeface="Arial" pitchFamily="34" charset="-122"/>
                <a:cs typeface="Arial" pitchFamily="34" charset="-120"/>
              </a:rPr>
              <a:t>1. 水位预测逻辑</a:t>
            </a:r>
            <a:endParaRPr lang="en-US" sz="1100" dirty="0"/>
          </a:p>
        </p:txBody>
      </p:sp>
      <p:sp>
        <p:nvSpPr>
          <p:cNvPr id="8" name="Text 5"/>
          <p:cNvSpPr/>
          <p:nvPr/>
        </p:nvSpPr>
        <p:spPr>
          <a:xfrm>
            <a:off x="607219" y="1603772"/>
            <a:ext cx="2243138" cy="411435"/>
          </a:xfrm>
          <a:prstGeom prst="rect">
            <a:avLst/>
          </a:prstGeom>
          <a:noFill/>
          <a:ln/>
        </p:spPr>
        <p:txBody>
          <a:bodyPr wrap="squar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在报文首个 cell (SOF) 到达时，系统根据报文长度进行水位预测，而非逐 cell 判决。</a:t>
            </a:r>
            <a:endParaRPr lang="en-US" sz="850" dirty="0"/>
          </a:p>
        </p:txBody>
      </p:sp>
      <p:sp>
        <p:nvSpPr>
          <p:cNvPr id="9" name="Shape 6"/>
          <p:cNvSpPr/>
          <p:nvPr/>
        </p:nvSpPr>
        <p:spPr>
          <a:xfrm>
            <a:off x="607219" y="2158082"/>
            <a:ext cx="2243138" cy="500063"/>
          </a:xfrm>
          <a:prstGeom prst="rect">
            <a:avLst/>
          </a:prstGeom>
          <a:solidFill>
            <a:srgbClr val="F2F4F8"/>
          </a:solidFill>
          <a:ln w="9144">
            <a:solidFill>
              <a:srgbClr val="6CA0F6"/>
            </a:solidFill>
            <a:prstDash val="dash"/>
          </a:ln>
        </p:spPr>
        <p:txBody>
          <a:bodyPr/>
          <a:lstStyle/>
          <a:p>
            <a:endParaRPr lang="zh-CN" altLang="en-US"/>
          </a:p>
        </p:txBody>
      </p:sp>
      <p:sp>
        <p:nvSpPr>
          <p:cNvPr id="10" name="Text 7"/>
          <p:cNvSpPr/>
          <p:nvPr/>
        </p:nvSpPr>
        <p:spPr>
          <a:xfrm>
            <a:off x="607219" y="2158082"/>
            <a:ext cx="2243138" cy="500063"/>
          </a:xfrm>
          <a:prstGeom prst="rect">
            <a:avLst/>
          </a:prstGeom>
          <a:noFill/>
          <a:ln/>
        </p:spPr>
        <p:txBody>
          <a:bodyPr wrap="square" lIns="127508" tIns="127508" rIns="127508" bIns="127508" rtlCol="0" anchor="t">
            <a:spAutoFit/>
          </a:bodyPr>
          <a:lstStyle/>
          <a:p>
            <a:pPr marL="0" indent="0" algn="l">
              <a:buNone/>
            </a:pPr>
            <a:r>
              <a:rPr lang="en-US" sz="750" dirty="0">
                <a:solidFill>
                  <a:srgbClr val="3253DC"/>
                </a:solidFill>
                <a:latin typeface="Consolas" pitchFamily="34" charset="0"/>
                <a:ea typeface="Consolas" pitchFamily="34" charset="-122"/>
                <a:cs typeface="Consolas" pitchFamily="34" charset="-120"/>
              </a:rPr>
              <a:t>predict_occ = current_occ + pkt_cell_num;</a:t>
            </a:r>
            <a:endParaRPr lang="en-US" sz="750" dirty="0"/>
          </a:p>
        </p:txBody>
      </p:sp>
      <p:sp>
        <p:nvSpPr>
          <p:cNvPr id="11" name="Text 8"/>
          <p:cNvSpPr/>
          <p:nvPr/>
        </p:nvSpPr>
        <p:spPr>
          <a:xfrm>
            <a:off x="607219" y="2643857"/>
            <a:ext cx="2243138" cy="554310"/>
          </a:xfrm>
          <a:prstGeom prst="rect">
            <a:avLst/>
          </a:prstGeom>
          <a:noFill/>
          <a:ln/>
        </p:spPr>
        <p:txBody>
          <a:bodyPr wrap="square" lIns="0" tIns="170053"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这种前置预测机制能够有效避免因缓存中途耗尽导致的报文截断。</a:t>
            </a:r>
            <a:endParaRPr lang="en-US" sz="850" dirty="0"/>
          </a:p>
        </p:txBody>
      </p:sp>
      <p:sp>
        <p:nvSpPr>
          <p:cNvPr id="12" name="Shape 9"/>
          <p:cNvSpPr/>
          <p:nvPr/>
        </p:nvSpPr>
        <p:spPr>
          <a:xfrm>
            <a:off x="3243263" y="1000125"/>
            <a:ext cx="2628900" cy="3714750"/>
          </a:xfrm>
          <a:prstGeom prst="rect">
            <a:avLst/>
          </a:prstGeom>
          <a:solidFill>
            <a:srgbClr val="FFFFFF"/>
          </a:solidFill>
          <a:ln/>
        </p:spPr>
        <p:txBody>
          <a:bodyPr/>
          <a:lstStyle/>
          <a:p>
            <a:endParaRPr lang="zh-CN" altLang="en-US"/>
          </a:p>
        </p:txBody>
      </p:sp>
      <p:sp>
        <p:nvSpPr>
          <p:cNvPr id="13" name="Shape 10"/>
          <p:cNvSpPr/>
          <p:nvPr/>
        </p:nvSpPr>
        <p:spPr>
          <a:xfrm>
            <a:off x="3243263" y="1000125"/>
            <a:ext cx="28575" cy="3714750"/>
          </a:xfrm>
          <a:prstGeom prst="rect">
            <a:avLst/>
          </a:prstGeom>
          <a:solidFill>
            <a:srgbClr val="6CA0F6"/>
          </a:solidFill>
          <a:ln/>
        </p:spPr>
        <p:txBody>
          <a:bodyPr/>
          <a:lstStyle/>
          <a:p>
            <a:endParaRPr lang="zh-CN" altLang="en-US"/>
          </a:p>
        </p:txBody>
      </p:sp>
      <p:sp>
        <p:nvSpPr>
          <p:cNvPr id="14" name="Text 11"/>
          <p:cNvSpPr/>
          <p:nvPr/>
        </p:nvSpPr>
        <p:spPr>
          <a:xfrm>
            <a:off x="3431400" y="1214438"/>
            <a:ext cx="2252681" cy="210741"/>
          </a:xfrm>
          <a:prstGeom prst="rect">
            <a:avLst/>
          </a:prstGeom>
          <a:noFill/>
          <a:ln/>
        </p:spPr>
        <p:txBody>
          <a:bodyPr wrap="square" lIns="0" tIns="0" rIns="0" bIns="0" rtlCol="0" anchor="t">
            <a:spAutoFit/>
          </a:bodyPr>
          <a:lstStyle/>
          <a:p>
            <a:pPr marL="0" indent="0" algn="l">
              <a:buNone/>
            </a:pPr>
            <a:r>
              <a:rPr lang="en-US" sz="1100" b="1" dirty="0">
                <a:solidFill>
                  <a:srgbClr val="3253DC"/>
                </a:solidFill>
                <a:latin typeface="Arial" pitchFamily="34" charset="0"/>
                <a:ea typeface="Arial" pitchFamily="34" charset="-122"/>
                <a:cs typeface="Arial" pitchFamily="34" charset="-120"/>
              </a:rPr>
              <a:t>2. 整帧丢弃策略</a:t>
            </a:r>
            <a:endParaRPr lang="en-US" sz="1100" dirty="0"/>
          </a:p>
        </p:txBody>
      </p:sp>
      <p:sp>
        <p:nvSpPr>
          <p:cNvPr id="15" name="Text 12"/>
          <p:cNvSpPr/>
          <p:nvPr/>
        </p:nvSpPr>
        <p:spPr>
          <a:xfrm>
            <a:off x="3431400" y="1603772"/>
            <a:ext cx="2252681" cy="411435"/>
          </a:xfrm>
          <a:prstGeom prst="rect">
            <a:avLst/>
          </a:prstGeom>
          <a:noFill/>
          <a:ln/>
        </p:spPr>
        <p:txBody>
          <a:bodyPr wrap="squar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若预测水位超过设定阈值，系统触发 </a:t>
            </a:r>
            <a:r>
              <a:rPr lang="en-US" sz="800" b="1" dirty="0">
                <a:solidFill>
                  <a:srgbClr val="2E2E38"/>
                </a:solidFill>
                <a:latin typeface="Arial" pitchFamily="34" charset="0"/>
                <a:ea typeface="Arial" pitchFamily="34" charset="-122"/>
                <a:cs typeface="Arial" pitchFamily="34" charset="-120"/>
              </a:rPr>
              <a:t>Early Drop</a:t>
            </a:r>
            <a:r>
              <a:rPr lang="en-US" sz="850" dirty="0">
                <a:solidFill>
                  <a:srgbClr val="2E2E38"/>
                </a:solidFill>
                <a:latin typeface="Arial" pitchFamily="34" charset="0"/>
                <a:ea typeface="Arial" pitchFamily="34" charset="-122"/>
                <a:cs typeface="Arial" pitchFamily="34" charset="-120"/>
              </a:rPr>
              <a:t> 逻辑：</a:t>
            </a:r>
            <a:endParaRPr lang="en-US" sz="850" dirty="0"/>
          </a:p>
        </p:txBody>
      </p:sp>
      <p:sp>
        <p:nvSpPr>
          <p:cNvPr id="16" name="Text 13"/>
          <p:cNvSpPr/>
          <p:nvPr/>
        </p:nvSpPr>
        <p:spPr>
          <a:xfrm>
            <a:off x="3431400" y="2158082"/>
            <a:ext cx="2252681" cy="822871"/>
          </a:xfrm>
          <a:prstGeom prst="rect">
            <a:avLst/>
          </a:prstGeom>
          <a:noFill/>
          <a:ln/>
        </p:spPr>
        <p:txBody>
          <a:bodyPr wrap="squar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 </a:t>
            </a:r>
            <a:r>
              <a:rPr lang="en-US" sz="800" b="1" dirty="0">
                <a:solidFill>
                  <a:srgbClr val="2E2E38"/>
                </a:solidFill>
                <a:latin typeface="Arial" pitchFamily="34" charset="0"/>
                <a:ea typeface="Arial" pitchFamily="34" charset="-122"/>
                <a:cs typeface="Arial" pitchFamily="34" charset="-120"/>
              </a:rPr>
              <a:t>全收或全丢</a:t>
            </a:r>
            <a:r>
              <a:rPr lang="en-US" sz="850" dirty="0">
                <a:solidFill>
                  <a:srgbClr val="2E2E38"/>
                </a:solidFill>
                <a:latin typeface="Arial" pitchFamily="34" charset="0"/>
                <a:ea typeface="Arial" pitchFamily="34" charset="-122"/>
                <a:cs typeface="Arial" pitchFamily="34" charset="-120"/>
              </a:rPr>
              <a:t>：确保同一包的所有 cell 动作一致。
• </a:t>
            </a:r>
            <a:r>
              <a:rPr lang="en-US" sz="800" b="1" dirty="0">
                <a:solidFill>
                  <a:srgbClr val="2E2E38"/>
                </a:solidFill>
                <a:latin typeface="Arial" pitchFamily="34" charset="0"/>
                <a:ea typeface="Arial" pitchFamily="34" charset="-122"/>
                <a:cs typeface="Arial" pitchFamily="34" charset="-120"/>
              </a:rPr>
              <a:t>资源保护</a:t>
            </a:r>
            <a:r>
              <a:rPr lang="en-US" sz="850" dirty="0">
                <a:solidFill>
                  <a:srgbClr val="2E2E38"/>
                </a:solidFill>
                <a:latin typeface="Arial" pitchFamily="34" charset="0"/>
                <a:ea typeface="Arial" pitchFamily="34" charset="-122"/>
                <a:cs typeface="Arial" pitchFamily="34" charset="-120"/>
              </a:rPr>
              <a:t>：防止残帧（Fragmented Packet）入库占用宝贵的 SRAM 空间。</a:t>
            </a:r>
            <a:endParaRPr lang="en-US" sz="850" dirty="0"/>
          </a:p>
        </p:txBody>
      </p:sp>
      <p:sp>
        <p:nvSpPr>
          <p:cNvPr id="17" name="Shape 14"/>
          <p:cNvSpPr/>
          <p:nvPr/>
        </p:nvSpPr>
        <p:spPr>
          <a:xfrm>
            <a:off x="6076987" y="1000125"/>
            <a:ext cx="2638444" cy="3714750"/>
          </a:xfrm>
          <a:prstGeom prst="rect">
            <a:avLst/>
          </a:prstGeom>
          <a:solidFill>
            <a:srgbClr val="FFFFFF"/>
          </a:solidFill>
          <a:ln/>
        </p:spPr>
        <p:txBody>
          <a:bodyPr/>
          <a:lstStyle/>
          <a:p>
            <a:endParaRPr lang="zh-CN" altLang="en-US"/>
          </a:p>
        </p:txBody>
      </p:sp>
      <p:sp>
        <p:nvSpPr>
          <p:cNvPr id="18" name="Shape 15"/>
          <p:cNvSpPr/>
          <p:nvPr/>
        </p:nvSpPr>
        <p:spPr>
          <a:xfrm>
            <a:off x="6076987" y="1000125"/>
            <a:ext cx="28575" cy="3714750"/>
          </a:xfrm>
          <a:prstGeom prst="rect">
            <a:avLst/>
          </a:prstGeom>
          <a:solidFill>
            <a:srgbClr val="6CA0F6"/>
          </a:solidFill>
          <a:ln/>
        </p:spPr>
        <p:txBody>
          <a:bodyPr/>
          <a:lstStyle/>
          <a:p>
            <a:endParaRPr lang="zh-CN" altLang="en-US"/>
          </a:p>
        </p:txBody>
      </p:sp>
      <p:sp>
        <p:nvSpPr>
          <p:cNvPr id="19" name="Text 16"/>
          <p:cNvSpPr/>
          <p:nvPr/>
        </p:nvSpPr>
        <p:spPr>
          <a:xfrm>
            <a:off x="6274557" y="1214438"/>
            <a:ext cx="2262169" cy="210741"/>
          </a:xfrm>
          <a:prstGeom prst="rect">
            <a:avLst/>
          </a:prstGeom>
          <a:noFill/>
          <a:ln/>
        </p:spPr>
        <p:txBody>
          <a:bodyPr wrap="square" lIns="0" tIns="0" rIns="0" bIns="0" rtlCol="0" anchor="t">
            <a:spAutoFit/>
          </a:bodyPr>
          <a:lstStyle/>
          <a:p>
            <a:pPr marL="0" indent="0" algn="l">
              <a:buNone/>
            </a:pPr>
            <a:r>
              <a:rPr lang="en-US" sz="1100" b="1" dirty="0">
                <a:solidFill>
                  <a:srgbClr val="3253DC"/>
                </a:solidFill>
                <a:latin typeface="Arial" pitchFamily="34" charset="0"/>
                <a:ea typeface="Arial" pitchFamily="34" charset="-122"/>
                <a:cs typeface="Arial" pitchFamily="34" charset="-120"/>
              </a:rPr>
              <a:t>3. FSM 状态控制</a:t>
            </a:r>
            <a:endParaRPr lang="en-US" sz="1100" dirty="0"/>
          </a:p>
        </p:txBody>
      </p:sp>
      <p:sp>
        <p:nvSpPr>
          <p:cNvPr id="20" name="Text 17"/>
          <p:cNvSpPr/>
          <p:nvPr/>
        </p:nvSpPr>
        <p:spPr>
          <a:xfrm>
            <a:off x="6274557" y="1639491"/>
            <a:ext cx="660908" cy="128588"/>
          </a:xfrm>
          <a:prstGeom prst="rect">
            <a:avLst/>
          </a:prstGeom>
          <a:noFill/>
          <a:ln/>
        </p:spPr>
        <p:txBody>
          <a:bodyPr wrap="non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enqueue_ctrl</a:t>
            </a:r>
            <a:endParaRPr lang="en-US" sz="850" dirty="0"/>
          </a:p>
        </p:txBody>
      </p:sp>
      <p:sp>
        <p:nvSpPr>
          <p:cNvPr id="21" name="Text 18"/>
          <p:cNvSpPr/>
          <p:nvPr/>
        </p:nvSpPr>
        <p:spPr>
          <a:xfrm>
            <a:off x="6935465" y="1639491"/>
            <a:ext cx="1174756" cy="128588"/>
          </a:xfrm>
          <a:prstGeom prst="rect">
            <a:avLst/>
          </a:prstGeom>
          <a:noFill/>
          <a:ln/>
        </p:spPr>
        <p:txBody>
          <a:bodyPr wrap="non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模块维护入队状态机：</a:t>
            </a:r>
            <a:endParaRPr lang="en-US" sz="850" dirty="0"/>
          </a:p>
        </p:txBody>
      </p:sp>
      <p:sp>
        <p:nvSpPr>
          <p:cNvPr id="22" name="Text 19"/>
          <p:cNvSpPr/>
          <p:nvPr/>
        </p:nvSpPr>
        <p:spPr>
          <a:xfrm>
            <a:off x="6274557" y="1952365"/>
            <a:ext cx="2262169" cy="1028588"/>
          </a:xfrm>
          <a:prstGeom prst="rect">
            <a:avLst/>
          </a:prstGeom>
          <a:noFill/>
          <a:ln/>
        </p:spPr>
        <p:txBody>
          <a:bodyPr wrap="squar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 </a:t>
            </a:r>
            <a:r>
              <a:rPr lang="en-US" sz="800" b="1" dirty="0">
                <a:solidFill>
                  <a:srgbClr val="2E2E38"/>
                </a:solidFill>
                <a:latin typeface="Arial" pitchFamily="34" charset="0"/>
                <a:ea typeface="Arial" pitchFamily="34" charset="-122"/>
                <a:cs typeface="Arial" pitchFamily="34" charset="-120"/>
              </a:rPr>
              <a:t>IDLE</a:t>
            </a:r>
            <a:r>
              <a:rPr lang="en-US" sz="850" dirty="0">
                <a:solidFill>
                  <a:srgbClr val="2E2E38"/>
                </a:solidFill>
                <a:latin typeface="Arial" pitchFamily="34" charset="0"/>
                <a:ea typeface="Arial" pitchFamily="34" charset="-122"/>
                <a:cs typeface="Arial" pitchFamily="34" charset="-120"/>
              </a:rPr>
              <a:t>：等待 SOF 请求。
• </a:t>
            </a:r>
            <a:r>
              <a:rPr lang="en-US" sz="800" b="1" dirty="0">
                <a:solidFill>
                  <a:srgbClr val="2E2E38"/>
                </a:solidFill>
                <a:latin typeface="Arial" pitchFamily="34" charset="0"/>
                <a:ea typeface="Arial" pitchFamily="34" charset="-122"/>
                <a:cs typeface="Arial" pitchFamily="34" charset="-120"/>
              </a:rPr>
              <a:t>DROP</a:t>
            </a:r>
            <a:r>
              <a:rPr lang="en-US" sz="850" dirty="0">
                <a:solidFill>
                  <a:srgbClr val="2E2E38"/>
                </a:solidFill>
                <a:latin typeface="Arial" pitchFamily="34" charset="0"/>
                <a:ea typeface="Arial" pitchFamily="34" charset="-122"/>
                <a:cs typeface="Arial" pitchFamily="34" charset="-120"/>
              </a:rPr>
              <a:t>：预测失败，持续丢弃后续 cell 直至 EOF。
• </a:t>
            </a:r>
            <a:r>
              <a:rPr lang="en-US" sz="800" b="1" dirty="0">
                <a:solidFill>
                  <a:srgbClr val="2E2E38"/>
                </a:solidFill>
                <a:latin typeface="Arial" pitchFamily="34" charset="0"/>
                <a:ea typeface="Arial" pitchFamily="34" charset="-122"/>
                <a:cs typeface="Arial" pitchFamily="34" charset="-120"/>
              </a:rPr>
              <a:t>ACCEPT</a:t>
            </a:r>
            <a:r>
              <a:rPr lang="en-US" sz="850" dirty="0">
                <a:solidFill>
                  <a:srgbClr val="2E2E38"/>
                </a:solidFill>
                <a:latin typeface="Arial" pitchFamily="34" charset="0"/>
                <a:ea typeface="Arial" pitchFamily="34" charset="-122"/>
                <a:cs typeface="Arial" pitchFamily="34" charset="-120"/>
              </a:rPr>
              <a:t>：预测通过，持续接收 cell 直至 EOF。</a:t>
            </a:r>
            <a:endParaRPr lang="en-US" sz="850" dirty="0"/>
          </a:p>
        </p:txBody>
      </p:sp>
      <p:sp>
        <p:nvSpPr>
          <p:cNvPr id="23" name="Text 20"/>
          <p:cNvSpPr/>
          <p:nvPr/>
        </p:nvSpPr>
        <p:spPr>
          <a:xfrm>
            <a:off x="428625" y="4879181"/>
            <a:ext cx="857473"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SMMU Design Review</a:t>
            </a:r>
            <a:endParaRPr lang="en-US" sz="600" dirty="0"/>
          </a:p>
        </p:txBody>
      </p:sp>
      <p:sp>
        <p:nvSpPr>
          <p:cNvPr id="24" name="Text 21"/>
          <p:cNvSpPr/>
          <p:nvPr/>
        </p:nvSpPr>
        <p:spPr>
          <a:xfrm>
            <a:off x="8395971" y="4879181"/>
            <a:ext cx="319404"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Page 14</a:t>
            </a:r>
            <a:endParaRPr lang="en-US" sz="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0594" y="0"/>
            <a:ext cx="9144000" cy="5143500"/>
          </a:xfrm>
          <a:prstGeom prst="rect">
            <a:avLst/>
          </a:prstGeom>
        </p:spPr>
      </p:pic>
      <p:sp>
        <p:nvSpPr>
          <p:cNvPr id="3" name="Shape 0"/>
          <p:cNvSpPr/>
          <p:nvPr/>
        </p:nvSpPr>
        <p:spPr>
          <a:xfrm>
            <a:off x="0" y="0"/>
            <a:ext cx="9144000" cy="571500"/>
          </a:xfrm>
          <a:prstGeom prst="rect">
            <a:avLst/>
          </a:prstGeom>
          <a:solidFill>
            <a:srgbClr val="3253DC"/>
          </a:solidFill>
          <a:ln/>
        </p:spPr>
        <p:txBody>
          <a:bodyPr/>
          <a:lstStyle/>
          <a:p>
            <a:endParaRPr lang="zh-CN" altLang="en-US"/>
          </a:p>
        </p:txBody>
      </p:sp>
      <p:sp>
        <p:nvSpPr>
          <p:cNvPr id="4" name="Text 1"/>
          <p:cNvSpPr/>
          <p:nvPr/>
        </p:nvSpPr>
        <p:spPr>
          <a:xfrm>
            <a:off x="428625" y="130373"/>
            <a:ext cx="2946462" cy="310753"/>
          </a:xfrm>
          <a:prstGeom prst="rect">
            <a:avLst/>
          </a:prstGeom>
          <a:noFill/>
          <a:ln/>
        </p:spPr>
        <p:txBody>
          <a:bodyPr wrap="square" lIns="0" tIns="0" rIns="0" bIns="0" rtlCol="0" anchor="t">
            <a:spAutoFit/>
          </a:bodyPr>
          <a:lstStyle/>
          <a:p>
            <a:pPr marL="0" indent="0" algn="l">
              <a:buNone/>
            </a:pPr>
            <a:r>
              <a:rPr lang="en-US" sz="1600" b="1" dirty="0">
                <a:solidFill>
                  <a:srgbClr val="FFFFFF"/>
                </a:solidFill>
                <a:latin typeface="Arial" pitchFamily="34" charset="0"/>
                <a:ea typeface="Arial" pitchFamily="34" charset="-122"/>
                <a:cs typeface="Arial" pitchFamily="34" charset="-120"/>
              </a:rPr>
              <a:t>流程 (3) —— 出队 / 地址读取</a:t>
            </a:r>
            <a:endParaRPr lang="en-US" sz="1600" dirty="0"/>
          </a:p>
        </p:txBody>
      </p:sp>
      <p:sp>
        <p:nvSpPr>
          <p:cNvPr id="5" name="Shape 2"/>
          <p:cNvSpPr/>
          <p:nvPr/>
        </p:nvSpPr>
        <p:spPr>
          <a:xfrm>
            <a:off x="428625" y="785813"/>
            <a:ext cx="3000375" cy="1285875"/>
          </a:xfrm>
          <a:prstGeom prst="rect">
            <a:avLst/>
          </a:prstGeom>
          <a:solidFill>
            <a:srgbClr val="FFFFFF"/>
          </a:solidFill>
          <a:ln/>
        </p:spPr>
        <p:txBody>
          <a:bodyPr/>
          <a:lstStyle/>
          <a:p>
            <a:endParaRPr lang="zh-CN" altLang="en-US"/>
          </a:p>
        </p:txBody>
      </p:sp>
      <p:sp>
        <p:nvSpPr>
          <p:cNvPr id="6" name="Shape 3"/>
          <p:cNvSpPr/>
          <p:nvPr/>
        </p:nvSpPr>
        <p:spPr>
          <a:xfrm>
            <a:off x="428625" y="785813"/>
            <a:ext cx="28575" cy="1285875"/>
          </a:xfrm>
          <a:prstGeom prst="rect">
            <a:avLst/>
          </a:prstGeom>
          <a:solidFill>
            <a:srgbClr val="6CA0F6"/>
          </a:solidFill>
          <a:ln/>
        </p:spPr>
        <p:txBody>
          <a:bodyPr/>
          <a:lstStyle/>
          <a:p>
            <a:endParaRPr lang="zh-CN" altLang="en-US"/>
          </a:p>
        </p:txBody>
      </p:sp>
      <p:sp>
        <p:nvSpPr>
          <p:cNvPr id="7" name="Text 4"/>
          <p:cNvSpPr/>
          <p:nvPr/>
        </p:nvSpPr>
        <p:spPr>
          <a:xfrm>
            <a:off x="607219" y="928688"/>
            <a:ext cx="2643188" cy="196453"/>
          </a:xfrm>
          <a:prstGeom prst="rect">
            <a:avLst/>
          </a:prstGeom>
          <a:noFill/>
          <a:ln/>
        </p:spPr>
        <p:txBody>
          <a:bodyPr wrap="square" lIns="0" tIns="0" rIns="0" bIns="0" rtlCol="0" anchor="t">
            <a:spAutoFit/>
          </a:bodyPr>
          <a:lstStyle/>
          <a:p>
            <a:pPr marL="0" indent="0" algn="l">
              <a:buNone/>
            </a:pPr>
            <a:r>
              <a:rPr lang="en-US" sz="1000" b="1" dirty="0">
                <a:solidFill>
                  <a:srgbClr val="3253DC"/>
                </a:solidFill>
                <a:latin typeface="Arial" pitchFamily="34" charset="0"/>
                <a:ea typeface="Arial" pitchFamily="34" charset="-122"/>
                <a:cs typeface="Arial" pitchFamily="34" charset="-120"/>
              </a:rPr>
              <a:t>出队逻辑与握手</a:t>
            </a:r>
            <a:endParaRPr lang="en-US" sz="1000" dirty="0"/>
          </a:p>
        </p:txBody>
      </p:sp>
      <p:sp>
        <p:nvSpPr>
          <p:cNvPr id="8" name="Text 5"/>
          <p:cNvSpPr/>
          <p:nvPr/>
        </p:nvSpPr>
        <p:spPr>
          <a:xfrm>
            <a:off x="607219" y="1235869"/>
            <a:ext cx="67308"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a:t>
            </a:r>
            <a:endParaRPr lang="en-US" sz="800" dirty="0"/>
          </a:p>
        </p:txBody>
      </p:sp>
      <p:sp>
        <p:nvSpPr>
          <p:cNvPr id="9" name="Text 6"/>
          <p:cNvSpPr/>
          <p:nvPr/>
        </p:nvSpPr>
        <p:spPr>
          <a:xfrm>
            <a:off x="674526" y="1235869"/>
            <a:ext cx="125071" cy="117872"/>
          </a:xfrm>
          <a:prstGeom prst="rect">
            <a:avLst/>
          </a:prstGeom>
          <a:noFill/>
          <a:ln/>
        </p:spPr>
        <p:txBody>
          <a:bodyPr wrap="none" lIns="0" tIns="0" rIns="0" bIns="0" rtlCol="0" anchor="t">
            <a:spAutoFit/>
          </a:bodyPr>
          <a:lstStyle/>
          <a:p>
            <a:pPr marL="0" indent="0" algn="l">
              <a:lnSpc>
                <a:spcPct val="128000"/>
              </a:lnSpc>
              <a:buNone/>
            </a:pPr>
            <a:r>
              <a:rPr lang="en-US" sz="750" b="1" dirty="0">
                <a:solidFill>
                  <a:srgbClr val="2E2E38"/>
                </a:solidFill>
                <a:latin typeface="Arial" pitchFamily="34" charset="0"/>
                <a:ea typeface="Arial" pitchFamily="34" charset="-122"/>
                <a:cs typeface="Arial" pitchFamily="34" charset="-120"/>
              </a:rPr>
              <a:t>T0</a:t>
            </a:r>
            <a:endParaRPr lang="en-US" sz="750" dirty="0"/>
          </a:p>
        </p:txBody>
      </p:sp>
      <p:sp>
        <p:nvSpPr>
          <p:cNvPr id="10" name="Text 7"/>
          <p:cNvSpPr/>
          <p:nvPr/>
        </p:nvSpPr>
        <p:spPr>
          <a:xfrm>
            <a:off x="799598" y="1235869"/>
            <a:ext cx="2226572" cy="460575"/>
          </a:xfrm>
          <a:prstGeom prst="rect">
            <a:avLst/>
          </a:prstGeom>
          <a:noFill/>
          <a:ln/>
        </p:spPr>
        <p:txBody>
          <a:bodyPr wrap="none" lIns="0" tIns="0" rIns="0" bIns="0" rtlCol="0" anchor="t">
            <a:spAutoFit/>
          </a:bodyPr>
          <a:lstStyle/>
          <a:p>
            <a:pPr>
              <a:lnSpc>
                <a:spcPct val="128000"/>
              </a:lnSpc>
            </a:pPr>
            <a:r>
              <a:rPr lang="en-US" sz="800" dirty="0">
                <a:solidFill>
                  <a:srgbClr val="2E2E38"/>
                </a:solidFill>
                <a:latin typeface="Arial" pitchFamily="34" charset="0"/>
                <a:ea typeface="Arial" pitchFamily="34" charset="-122"/>
                <a:cs typeface="Arial" pitchFamily="34" charset="-120"/>
              </a:rPr>
              <a:t>：</a:t>
            </a:r>
            <a:r>
              <a:rPr lang="en-US" sz="800" dirty="0" err="1">
                <a:solidFill>
                  <a:srgbClr val="2E2E38"/>
                </a:solidFill>
                <a:latin typeface="Arial" pitchFamily="34" charset="0"/>
                <a:ea typeface="Arial" pitchFamily="34" charset="-122"/>
                <a:cs typeface="Arial" pitchFamily="34" charset="-120"/>
              </a:rPr>
              <a:t>收deq_req，检查端口背压与队列非空状态。取</a:t>
            </a:r>
            <a:endParaRPr lang="en-US" sz="800" dirty="0">
              <a:solidFill>
                <a:srgbClr val="2E2E38"/>
              </a:solidFill>
              <a:latin typeface="Arial" pitchFamily="34" charset="0"/>
              <a:ea typeface="Arial" pitchFamily="34" charset="-122"/>
              <a:cs typeface="Arial" pitchFamily="34" charset="-120"/>
            </a:endParaRPr>
          </a:p>
          <a:p>
            <a:pPr>
              <a:lnSpc>
                <a:spcPct val="128000"/>
              </a:lnSpc>
            </a:pPr>
            <a:r>
              <a:rPr lang="en-US" sz="800" dirty="0" err="1">
                <a:solidFill>
                  <a:srgbClr val="2E2E38"/>
                </a:solidFill>
                <a:latin typeface="Arial" pitchFamily="34" charset="0"/>
                <a:ea typeface="Arial" pitchFamily="34" charset="-122"/>
                <a:cs typeface="Arial" pitchFamily="34" charset="-120"/>
              </a:rPr>
              <a:t>lle_qhead（寄存器组合可读）作为出队地址</a:t>
            </a:r>
            <a:r>
              <a:rPr lang="en-US" sz="800" dirty="0">
                <a:solidFill>
                  <a:srgbClr val="2E2E38"/>
                </a:solidFill>
                <a:latin typeface="Arial" pitchFamily="34" charset="0"/>
                <a:ea typeface="Arial" pitchFamily="34" charset="-122"/>
                <a:cs typeface="Arial" pitchFamily="34" charset="-120"/>
              </a:rPr>
              <a:t>。</a:t>
            </a:r>
            <a:endParaRPr lang="en-US" sz="800" dirty="0"/>
          </a:p>
          <a:p>
            <a:pPr>
              <a:lnSpc>
                <a:spcPct val="128000"/>
              </a:lnSpc>
            </a:pPr>
            <a:endParaRPr lang="en-US" sz="800" dirty="0"/>
          </a:p>
        </p:txBody>
      </p:sp>
      <p:sp>
        <p:nvSpPr>
          <p:cNvPr id="15" name="Text 12"/>
          <p:cNvSpPr/>
          <p:nvPr/>
        </p:nvSpPr>
        <p:spPr>
          <a:xfrm>
            <a:off x="607219" y="1578769"/>
            <a:ext cx="67308"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a:t>
            </a:r>
            <a:endParaRPr lang="en-US" sz="800" dirty="0"/>
          </a:p>
        </p:txBody>
      </p:sp>
      <p:sp>
        <p:nvSpPr>
          <p:cNvPr id="16" name="Text 13"/>
          <p:cNvSpPr/>
          <p:nvPr/>
        </p:nvSpPr>
        <p:spPr>
          <a:xfrm>
            <a:off x="674526" y="1578769"/>
            <a:ext cx="125071" cy="117872"/>
          </a:xfrm>
          <a:prstGeom prst="rect">
            <a:avLst/>
          </a:prstGeom>
          <a:noFill/>
          <a:ln/>
        </p:spPr>
        <p:txBody>
          <a:bodyPr wrap="none" lIns="0" tIns="0" rIns="0" bIns="0" rtlCol="0" anchor="t">
            <a:spAutoFit/>
          </a:bodyPr>
          <a:lstStyle/>
          <a:p>
            <a:pPr marL="0" indent="0" algn="l">
              <a:lnSpc>
                <a:spcPct val="128000"/>
              </a:lnSpc>
              <a:buNone/>
            </a:pPr>
            <a:r>
              <a:rPr lang="en-US" sz="750" b="1" dirty="0">
                <a:solidFill>
                  <a:srgbClr val="2E2E38"/>
                </a:solidFill>
                <a:latin typeface="Arial" pitchFamily="34" charset="0"/>
                <a:ea typeface="Arial" pitchFamily="34" charset="-122"/>
                <a:cs typeface="Arial" pitchFamily="34" charset="-120"/>
              </a:rPr>
              <a:t>T1</a:t>
            </a:r>
            <a:endParaRPr lang="en-US" sz="750" dirty="0"/>
          </a:p>
        </p:txBody>
      </p:sp>
      <p:sp>
        <p:nvSpPr>
          <p:cNvPr id="17" name="Text 14"/>
          <p:cNvSpPr/>
          <p:nvPr/>
        </p:nvSpPr>
        <p:spPr>
          <a:xfrm>
            <a:off x="799598" y="1578769"/>
            <a:ext cx="2341988" cy="1091004"/>
          </a:xfrm>
          <a:prstGeom prst="rect">
            <a:avLst/>
          </a:prstGeom>
          <a:noFill/>
          <a:ln/>
        </p:spPr>
        <p:txBody>
          <a:bodyPr wrap="none" lIns="0" tIns="0" rIns="0" bIns="0" rtlCol="0" anchor="t">
            <a:spAutoFit/>
          </a:bodyPr>
          <a:lstStyle/>
          <a:p>
            <a:pPr>
              <a:lnSpc>
                <a:spcPct val="128000"/>
              </a:lnSpc>
            </a:pPr>
            <a:r>
              <a:rPr lang="en-US" sz="800" dirty="0">
                <a:solidFill>
                  <a:srgbClr val="2E2E38"/>
                </a:solidFill>
                <a:latin typeface="Arial" pitchFamily="34" charset="0"/>
                <a:ea typeface="Arial" pitchFamily="34" charset="-122"/>
                <a:cs typeface="Arial" pitchFamily="34" charset="-120"/>
              </a:rPr>
              <a:t>：</a:t>
            </a:r>
            <a:r>
              <a:rPr lang="en-US" sz="800" dirty="0" err="1">
                <a:solidFill>
                  <a:srgbClr val="2E2E38"/>
                </a:solidFill>
                <a:latin typeface="Arial" pitchFamily="34" charset="0"/>
                <a:ea typeface="Arial" pitchFamily="34" charset="-122"/>
                <a:cs typeface="Arial" pitchFamily="34" charset="-120"/>
              </a:rPr>
              <a:t>输出</a:t>
            </a:r>
            <a:r>
              <a:rPr lang="en-US" sz="800" dirty="0">
                <a:solidFill>
                  <a:srgbClr val="2E2E38"/>
                </a:solidFill>
                <a:latin typeface="Arial" pitchFamily="34" charset="0"/>
                <a:ea typeface="Arial" pitchFamily="34" charset="-122"/>
                <a:cs typeface="Arial" pitchFamily="34" charset="-120"/>
              </a:rPr>
              <a:t> </a:t>
            </a:r>
            <a:r>
              <a:rPr lang="en-US" sz="800" dirty="0" err="1">
                <a:solidFill>
                  <a:srgbClr val="2E2E38"/>
                </a:solidFill>
                <a:latin typeface="Arial" pitchFamily="34" charset="0"/>
                <a:ea typeface="Arial" pitchFamily="34" charset="-122"/>
                <a:cs typeface="Arial" pitchFamily="34" charset="-120"/>
              </a:rPr>
              <a:t>deq_cell_valid</a:t>
            </a:r>
            <a:r>
              <a:rPr lang="en-US" sz="800" dirty="0">
                <a:solidFill>
                  <a:srgbClr val="2E2E38"/>
                </a:solidFill>
                <a:latin typeface="Arial" pitchFamily="34" charset="0"/>
                <a:ea typeface="Arial" pitchFamily="34" charset="-122"/>
                <a:cs typeface="Arial" pitchFamily="34" charset="-120"/>
              </a:rPr>
              <a:t> 与 </a:t>
            </a:r>
            <a:r>
              <a:rPr lang="en-US" sz="800" dirty="0" err="1">
                <a:solidFill>
                  <a:srgbClr val="2E2E38"/>
                </a:solidFill>
                <a:latin typeface="Arial" pitchFamily="34" charset="0"/>
                <a:ea typeface="Arial" pitchFamily="34" charset="-122"/>
                <a:cs typeface="Arial" pitchFamily="34" charset="-120"/>
              </a:rPr>
              <a:t>deq_cell_addr</a:t>
            </a:r>
            <a:r>
              <a:rPr lang="en-US" sz="800" dirty="0">
                <a:solidFill>
                  <a:srgbClr val="2E2E38"/>
                </a:solidFill>
                <a:latin typeface="Arial" pitchFamily="34" charset="0"/>
                <a:ea typeface="Arial" pitchFamily="34" charset="-122"/>
                <a:cs typeface="Arial" pitchFamily="34" charset="-120"/>
              </a:rPr>
              <a:t> 。</a:t>
            </a:r>
            <a:r>
              <a:rPr lang="en-US" sz="800" dirty="0" err="1">
                <a:solidFill>
                  <a:srgbClr val="2E2E38"/>
                </a:solidFill>
                <a:latin typeface="Arial" pitchFamily="34" charset="0"/>
                <a:ea typeface="Arial" pitchFamily="34" charset="-122"/>
                <a:cs typeface="Arial" pitchFamily="34" charset="-120"/>
              </a:rPr>
              <a:t>实现严格</a:t>
            </a:r>
            <a:endParaRPr lang="en-US" sz="800" dirty="0">
              <a:solidFill>
                <a:srgbClr val="2E2E38"/>
              </a:solidFill>
              <a:latin typeface="Arial" pitchFamily="34" charset="0"/>
              <a:ea typeface="Arial" pitchFamily="34" charset="-122"/>
              <a:cs typeface="Arial" pitchFamily="34" charset="-120"/>
            </a:endParaRPr>
          </a:p>
          <a:p>
            <a:pPr>
              <a:lnSpc>
                <a:spcPct val="128000"/>
              </a:lnSpc>
            </a:pPr>
            <a:r>
              <a:rPr lang="en-US" sz="800" dirty="0">
                <a:solidFill>
                  <a:srgbClr val="2E2E38"/>
                </a:solidFill>
                <a:latin typeface="Arial" pitchFamily="34" charset="0"/>
                <a:ea typeface="Arial" pitchFamily="34" charset="-122"/>
                <a:cs typeface="Arial" pitchFamily="34" charset="-120"/>
              </a:rPr>
              <a:t>   的 1 </a:t>
            </a:r>
            <a:r>
              <a:rPr lang="en-US" sz="800" dirty="0" err="1">
                <a:solidFill>
                  <a:srgbClr val="2E2E38"/>
                </a:solidFill>
                <a:latin typeface="Arial" pitchFamily="34" charset="0"/>
                <a:ea typeface="Arial" pitchFamily="34" charset="-122"/>
                <a:cs typeface="Arial" pitchFamily="34" charset="-120"/>
              </a:rPr>
              <a:t>拍命令式响应</a:t>
            </a:r>
            <a:r>
              <a:rPr lang="en-US" sz="800" dirty="0">
                <a:solidFill>
                  <a:srgbClr val="2E2E38"/>
                </a:solidFill>
                <a:latin typeface="Arial" pitchFamily="34" charset="0"/>
                <a:ea typeface="Arial" pitchFamily="34" charset="-122"/>
                <a:cs typeface="Arial" pitchFamily="34" charset="-120"/>
              </a:rPr>
              <a:t>。</a:t>
            </a:r>
            <a:endParaRPr lang="en-US" sz="800" dirty="0"/>
          </a:p>
          <a:p>
            <a:pPr>
              <a:lnSpc>
                <a:spcPct val="128000"/>
              </a:lnSpc>
            </a:pPr>
            <a:endParaRPr lang="en-US" sz="800" dirty="0"/>
          </a:p>
          <a:p>
            <a:pPr>
              <a:lnSpc>
                <a:spcPct val="128000"/>
              </a:lnSpc>
            </a:pPr>
            <a:endParaRPr lang="en-US" sz="800" dirty="0"/>
          </a:p>
          <a:p>
            <a:pPr>
              <a:lnSpc>
                <a:spcPct val="128000"/>
              </a:lnSpc>
            </a:pPr>
            <a:endParaRPr lang="en-US" sz="800" dirty="0"/>
          </a:p>
          <a:p>
            <a:pPr>
              <a:lnSpc>
                <a:spcPct val="128000"/>
              </a:lnSpc>
            </a:pPr>
            <a:endParaRPr lang="en-US" sz="800" dirty="0"/>
          </a:p>
          <a:p>
            <a:pPr marL="0" indent="0" algn="l">
              <a:lnSpc>
                <a:spcPct val="128000"/>
              </a:lnSpc>
              <a:buNone/>
            </a:pPr>
            <a:endParaRPr lang="en-US" sz="800" dirty="0"/>
          </a:p>
        </p:txBody>
      </p:sp>
      <p:sp>
        <p:nvSpPr>
          <p:cNvPr id="27" name="Shape 24"/>
          <p:cNvSpPr/>
          <p:nvPr/>
        </p:nvSpPr>
        <p:spPr>
          <a:xfrm>
            <a:off x="428625" y="2214563"/>
            <a:ext cx="3000375" cy="1714500"/>
          </a:xfrm>
          <a:prstGeom prst="rect">
            <a:avLst/>
          </a:prstGeom>
          <a:solidFill>
            <a:srgbClr val="FFFFFF"/>
          </a:solidFill>
          <a:ln/>
        </p:spPr>
        <p:txBody>
          <a:bodyPr/>
          <a:lstStyle/>
          <a:p>
            <a:endParaRPr lang="zh-CN" altLang="en-US"/>
          </a:p>
        </p:txBody>
      </p:sp>
      <p:sp>
        <p:nvSpPr>
          <p:cNvPr id="28" name="Shape 25"/>
          <p:cNvSpPr/>
          <p:nvPr/>
        </p:nvSpPr>
        <p:spPr>
          <a:xfrm>
            <a:off x="428625" y="2214563"/>
            <a:ext cx="28575" cy="1714500"/>
          </a:xfrm>
          <a:prstGeom prst="rect">
            <a:avLst/>
          </a:prstGeom>
          <a:solidFill>
            <a:srgbClr val="6CA0F6"/>
          </a:solidFill>
          <a:ln/>
        </p:spPr>
        <p:txBody>
          <a:bodyPr/>
          <a:lstStyle/>
          <a:p>
            <a:endParaRPr lang="zh-CN" altLang="en-US"/>
          </a:p>
        </p:txBody>
      </p:sp>
      <p:sp>
        <p:nvSpPr>
          <p:cNvPr id="29" name="Text 26"/>
          <p:cNvSpPr/>
          <p:nvPr/>
        </p:nvSpPr>
        <p:spPr>
          <a:xfrm>
            <a:off x="607219" y="2357438"/>
            <a:ext cx="2643188" cy="196453"/>
          </a:xfrm>
          <a:prstGeom prst="rect">
            <a:avLst/>
          </a:prstGeom>
          <a:noFill/>
          <a:ln/>
        </p:spPr>
        <p:txBody>
          <a:bodyPr wrap="square" lIns="0" tIns="0" rIns="0" bIns="0" rtlCol="0" anchor="t">
            <a:spAutoFit/>
          </a:bodyPr>
          <a:lstStyle/>
          <a:p>
            <a:pPr marL="0" indent="0" algn="l">
              <a:buNone/>
            </a:pPr>
            <a:r>
              <a:rPr lang="en-US" sz="1000" b="1" dirty="0">
                <a:solidFill>
                  <a:srgbClr val="3253DC"/>
                </a:solidFill>
                <a:latin typeface="Arial" pitchFamily="34" charset="0"/>
                <a:ea typeface="Arial" pitchFamily="34" charset="-122"/>
                <a:cs typeface="Arial" pitchFamily="34" charset="-120"/>
              </a:rPr>
              <a:t>三级预取寄存器机制</a:t>
            </a:r>
            <a:endParaRPr lang="en-US" sz="1000" dirty="0"/>
          </a:p>
        </p:txBody>
      </p:sp>
      <p:sp>
        <p:nvSpPr>
          <p:cNvPr id="30" name="Text 27"/>
          <p:cNvSpPr/>
          <p:nvPr/>
        </p:nvSpPr>
        <p:spPr>
          <a:xfrm>
            <a:off x="607219" y="2664619"/>
            <a:ext cx="67308"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a:t>
            </a:r>
            <a:endParaRPr lang="en-US" sz="800" dirty="0"/>
          </a:p>
        </p:txBody>
      </p:sp>
      <p:sp>
        <p:nvSpPr>
          <p:cNvPr id="31" name="Text 28"/>
          <p:cNvSpPr/>
          <p:nvPr/>
        </p:nvSpPr>
        <p:spPr>
          <a:xfrm>
            <a:off x="674526" y="2664619"/>
            <a:ext cx="428625" cy="117872"/>
          </a:xfrm>
          <a:prstGeom prst="rect">
            <a:avLst/>
          </a:prstGeom>
          <a:noFill/>
          <a:ln/>
        </p:spPr>
        <p:txBody>
          <a:bodyPr wrap="none" lIns="0" tIns="0" rIns="0" bIns="0" rtlCol="0" anchor="t">
            <a:spAutoFit/>
          </a:bodyPr>
          <a:lstStyle/>
          <a:p>
            <a:pPr marL="0" indent="0" algn="l">
              <a:lnSpc>
                <a:spcPct val="128000"/>
              </a:lnSpc>
              <a:buNone/>
            </a:pPr>
            <a:r>
              <a:rPr lang="en-US" sz="750" b="1" dirty="0">
                <a:solidFill>
                  <a:srgbClr val="2E2E38"/>
                </a:solidFill>
                <a:latin typeface="Arial" pitchFamily="34" charset="0"/>
                <a:ea typeface="Arial" pitchFamily="34" charset="-122"/>
                <a:cs typeface="Arial" pitchFamily="34" charset="-120"/>
              </a:rPr>
              <a:t>滑动窗口</a:t>
            </a:r>
            <a:endParaRPr lang="en-US" sz="750" dirty="0"/>
          </a:p>
        </p:txBody>
      </p:sp>
      <p:sp>
        <p:nvSpPr>
          <p:cNvPr id="32" name="Text 29"/>
          <p:cNvSpPr/>
          <p:nvPr/>
        </p:nvSpPr>
        <p:spPr>
          <a:xfrm>
            <a:off x="1103151" y="2664619"/>
            <a:ext cx="2173672" cy="302134"/>
          </a:xfrm>
          <a:prstGeom prst="rect">
            <a:avLst/>
          </a:prstGeom>
          <a:noFill/>
          <a:ln/>
        </p:spPr>
        <p:txBody>
          <a:bodyPr wrap="none" lIns="0" tIns="0" rIns="0" bIns="0" rtlCol="0" anchor="t">
            <a:spAutoFit/>
          </a:bodyPr>
          <a:lstStyle/>
          <a:p>
            <a:pPr>
              <a:lnSpc>
                <a:spcPct val="128000"/>
              </a:lnSpc>
            </a:pPr>
            <a:r>
              <a:rPr lang="en-US" sz="800" dirty="0">
                <a:solidFill>
                  <a:srgbClr val="2E2E38"/>
                </a:solidFill>
                <a:latin typeface="Arial" pitchFamily="34" charset="0"/>
                <a:ea typeface="Arial" pitchFamily="34" charset="-122"/>
                <a:cs typeface="Arial" pitchFamily="34" charset="-120"/>
              </a:rPr>
              <a:t>：</a:t>
            </a:r>
            <a:r>
              <a:rPr lang="en-US" sz="800" dirty="0" err="1">
                <a:solidFill>
                  <a:srgbClr val="2E2E38"/>
                </a:solidFill>
                <a:latin typeface="Arial" pitchFamily="34" charset="0"/>
                <a:ea typeface="Arial" pitchFamily="34" charset="-122"/>
                <a:cs typeface="Arial" pitchFamily="34" charset="-120"/>
              </a:rPr>
              <a:t>队头维护head</a:t>
            </a:r>
            <a:r>
              <a:rPr lang="en-US" sz="800" dirty="0">
                <a:solidFill>
                  <a:srgbClr val="2E2E38"/>
                </a:solidFill>
                <a:latin typeface="Arial" pitchFamily="34" charset="0"/>
                <a:ea typeface="Arial" pitchFamily="34" charset="-122"/>
                <a:cs typeface="Arial" pitchFamily="34" charset="-120"/>
              </a:rPr>
              <a:t>/next/</a:t>
            </a:r>
            <a:r>
              <a:rPr lang="en-US" altLang="zh-CN" sz="800" dirty="0">
                <a:solidFill>
                  <a:srgbClr val="2E2E38"/>
                </a:solidFill>
                <a:latin typeface="Arial" pitchFamily="34" charset="0"/>
                <a:ea typeface="Arial" pitchFamily="34" charset="-122"/>
                <a:cs typeface="Arial" pitchFamily="34" charset="-120"/>
              </a:rPr>
              <a:t>next2</a:t>
            </a:r>
            <a:r>
              <a:rPr lang="en-US" sz="800" dirty="0">
                <a:solidFill>
                  <a:srgbClr val="2E2E38"/>
                </a:solidFill>
                <a:latin typeface="Arial" pitchFamily="34" charset="0"/>
                <a:ea typeface="Arial" pitchFamily="34" charset="-122"/>
                <a:cs typeface="Arial" pitchFamily="34" charset="-120"/>
              </a:rPr>
              <a:t>三级寄存器。出队时</a:t>
            </a:r>
          </a:p>
          <a:p>
            <a:pPr>
              <a:lnSpc>
                <a:spcPct val="128000"/>
              </a:lnSpc>
            </a:pPr>
            <a:r>
              <a:rPr lang="en-US" sz="800" dirty="0" err="1">
                <a:solidFill>
                  <a:srgbClr val="2E2E38"/>
                </a:solidFill>
                <a:latin typeface="Arial" pitchFamily="34" charset="0"/>
                <a:ea typeface="Arial" pitchFamily="34" charset="-122"/>
                <a:cs typeface="Arial" pitchFamily="34" charset="-120"/>
              </a:rPr>
              <a:t>head←next，窗口整体前移</a:t>
            </a:r>
            <a:r>
              <a:rPr lang="en-US" sz="800" dirty="0">
                <a:solidFill>
                  <a:srgbClr val="2E2E38"/>
                </a:solidFill>
                <a:latin typeface="Arial" pitchFamily="34" charset="0"/>
                <a:ea typeface="Arial" pitchFamily="34" charset="-122"/>
                <a:cs typeface="Arial" pitchFamily="34" charset="-120"/>
              </a:rPr>
              <a:t>。</a:t>
            </a:r>
            <a:endParaRPr lang="en-US" sz="800" dirty="0"/>
          </a:p>
        </p:txBody>
      </p:sp>
      <p:sp>
        <p:nvSpPr>
          <p:cNvPr id="44" name="Text 41"/>
          <p:cNvSpPr/>
          <p:nvPr/>
        </p:nvSpPr>
        <p:spPr>
          <a:xfrm>
            <a:off x="607219" y="3007519"/>
            <a:ext cx="67308"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a:t>
            </a:r>
            <a:endParaRPr lang="en-US" sz="800" dirty="0"/>
          </a:p>
        </p:txBody>
      </p:sp>
      <p:sp>
        <p:nvSpPr>
          <p:cNvPr id="45" name="Text 42"/>
          <p:cNvSpPr/>
          <p:nvPr/>
        </p:nvSpPr>
        <p:spPr>
          <a:xfrm>
            <a:off x="674526" y="3007519"/>
            <a:ext cx="428625" cy="117872"/>
          </a:xfrm>
          <a:prstGeom prst="rect">
            <a:avLst/>
          </a:prstGeom>
          <a:noFill/>
          <a:ln/>
        </p:spPr>
        <p:txBody>
          <a:bodyPr wrap="none" lIns="0" tIns="0" rIns="0" bIns="0" rtlCol="0" anchor="t">
            <a:spAutoFit/>
          </a:bodyPr>
          <a:lstStyle/>
          <a:p>
            <a:pPr marL="0" indent="0" algn="l">
              <a:lnSpc>
                <a:spcPct val="128000"/>
              </a:lnSpc>
              <a:buNone/>
            </a:pPr>
            <a:r>
              <a:rPr lang="en-US" sz="750" b="1" dirty="0">
                <a:solidFill>
                  <a:srgbClr val="2E2E38"/>
                </a:solidFill>
                <a:latin typeface="Arial" pitchFamily="34" charset="0"/>
                <a:ea typeface="Arial" pitchFamily="34" charset="-122"/>
                <a:cs typeface="Arial" pitchFamily="34" charset="-120"/>
              </a:rPr>
              <a:t>后台回填</a:t>
            </a:r>
            <a:endParaRPr lang="en-US" sz="750" dirty="0"/>
          </a:p>
        </p:txBody>
      </p:sp>
      <p:sp>
        <p:nvSpPr>
          <p:cNvPr id="46" name="Text 43"/>
          <p:cNvSpPr/>
          <p:nvPr/>
        </p:nvSpPr>
        <p:spPr>
          <a:xfrm>
            <a:off x="1103151" y="3007519"/>
            <a:ext cx="2146421" cy="460575"/>
          </a:xfrm>
          <a:prstGeom prst="rect">
            <a:avLst/>
          </a:prstGeom>
          <a:noFill/>
          <a:ln/>
        </p:spPr>
        <p:txBody>
          <a:bodyPr wrap="none" lIns="0" tIns="0" rIns="0" bIns="0" rtlCol="0" anchor="t">
            <a:spAutoFit/>
          </a:bodyPr>
          <a:lstStyle/>
          <a:p>
            <a:pPr>
              <a:lnSpc>
                <a:spcPct val="128000"/>
              </a:lnSpc>
            </a:pPr>
            <a:r>
              <a:rPr lang="en-US" sz="800" dirty="0">
                <a:solidFill>
                  <a:srgbClr val="2E2E38"/>
                </a:solidFill>
                <a:latin typeface="Arial" pitchFamily="34" charset="0"/>
                <a:ea typeface="Arial" pitchFamily="34" charset="-122"/>
                <a:cs typeface="Arial" pitchFamily="34" charset="-120"/>
              </a:rPr>
              <a:t>：当队列长度 ≥3 </a:t>
            </a:r>
            <a:r>
              <a:rPr lang="en-US" sz="800" dirty="0" err="1">
                <a:solidFill>
                  <a:srgbClr val="2E2E38"/>
                </a:solidFill>
                <a:latin typeface="Arial" pitchFamily="34" charset="0"/>
                <a:ea typeface="Arial" pitchFamily="34" charset="-122"/>
                <a:cs typeface="Arial" pitchFamily="34" charset="-120"/>
              </a:rPr>
              <a:t>时，LLE</a:t>
            </a:r>
            <a:r>
              <a:rPr lang="en-US" sz="800" dirty="0">
                <a:solidFill>
                  <a:srgbClr val="2E2E38"/>
                </a:solidFill>
                <a:latin typeface="Arial" pitchFamily="34" charset="0"/>
                <a:ea typeface="Arial" pitchFamily="34" charset="-122"/>
                <a:cs typeface="Arial" pitchFamily="34" charset="-120"/>
              </a:rPr>
              <a:t> </a:t>
            </a:r>
            <a:r>
              <a:rPr lang="en-US" sz="800" dirty="0" err="1">
                <a:solidFill>
                  <a:srgbClr val="2E2E38"/>
                </a:solidFill>
                <a:latin typeface="Arial" pitchFamily="34" charset="0"/>
                <a:ea typeface="Arial" pitchFamily="34" charset="-122"/>
                <a:cs typeface="Arial" pitchFamily="34" charset="-120"/>
              </a:rPr>
              <a:t>自动发起后台SRAM</a:t>
            </a:r>
            <a:r>
              <a:rPr lang="en-US" sz="800" dirty="0">
                <a:solidFill>
                  <a:srgbClr val="2E2E38"/>
                </a:solidFill>
                <a:latin typeface="Arial" pitchFamily="34" charset="0"/>
                <a:ea typeface="Arial" pitchFamily="34" charset="-122"/>
                <a:cs typeface="Arial" pitchFamily="34" charset="-120"/>
              </a:rPr>
              <a:t> </a:t>
            </a:r>
          </a:p>
          <a:p>
            <a:pPr>
              <a:lnSpc>
                <a:spcPct val="128000"/>
              </a:lnSpc>
            </a:pPr>
            <a:r>
              <a:rPr lang="en-US" sz="800" dirty="0">
                <a:solidFill>
                  <a:srgbClr val="2E2E38"/>
                </a:solidFill>
                <a:latin typeface="Arial" pitchFamily="34" charset="0"/>
                <a:ea typeface="Arial" pitchFamily="34" charset="-122"/>
                <a:cs typeface="Arial" pitchFamily="34" charset="-120"/>
              </a:rPr>
              <a:t>读请求，预取更深层的地址回填至next2</a:t>
            </a:r>
            <a:r>
              <a:rPr lang="zh-CN" altLang="en-US" sz="800" dirty="0">
                <a:solidFill>
                  <a:srgbClr val="2E2E38"/>
                </a:solidFill>
                <a:latin typeface="Arial" pitchFamily="34" charset="0"/>
                <a:ea typeface="Arial" pitchFamily="34" charset="-122"/>
                <a:cs typeface="Arial" pitchFamily="34" charset="-120"/>
              </a:rPr>
              <a:t>。</a:t>
            </a:r>
            <a:endParaRPr lang="en-US" sz="800" dirty="0"/>
          </a:p>
          <a:p>
            <a:pPr marL="0" indent="0" algn="l">
              <a:lnSpc>
                <a:spcPct val="128000"/>
              </a:lnSpc>
              <a:buNone/>
            </a:pPr>
            <a:endParaRPr lang="en-US" sz="800" dirty="0"/>
          </a:p>
        </p:txBody>
      </p:sp>
      <p:sp>
        <p:nvSpPr>
          <p:cNvPr id="50" name="Text 47"/>
          <p:cNvSpPr/>
          <p:nvPr/>
        </p:nvSpPr>
        <p:spPr>
          <a:xfrm>
            <a:off x="607219" y="3350419"/>
            <a:ext cx="67308"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a:t>
            </a:r>
            <a:endParaRPr lang="en-US" sz="800" dirty="0"/>
          </a:p>
        </p:txBody>
      </p:sp>
      <p:sp>
        <p:nvSpPr>
          <p:cNvPr id="51" name="Text 48"/>
          <p:cNvSpPr/>
          <p:nvPr/>
        </p:nvSpPr>
        <p:spPr>
          <a:xfrm>
            <a:off x="674526" y="3350419"/>
            <a:ext cx="214313" cy="117872"/>
          </a:xfrm>
          <a:prstGeom prst="rect">
            <a:avLst/>
          </a:prstGeom>
          <a:noFill/>
          <a:ln/>
        </p:spPr>
        <p:txBody>
          <a:bodyPr wrap="none" lIns="0" tIns="0" rIns="0" bIns="0" rtlCol="0" anchor="t">
            <a:spAutoFit/>
          </a:bodyPr>
          <a:lstStyle/>
          <a:p>
            <a:pPr marL="0" indent="0" algn="l">
              <a:lnSpc>
                <a:spcPct val="128000"/>
              </a:lnSpc>
              <a:buNone/>
            </a:pPr>
            <a:r>
              <a:rPr lang="en-US" sz="750" b="1" dirty="0">
                <a:solidFill>
                  <a:srgbClr val="2E2E38"/>
                </a:solidFill>
                <a:latin typeface="Arial" pitchFamily="34" charset="0"/>
                <a:ea typeface="Arial" pitchFamily="34" charset="-122"/>
                <a:cs typeface="Arial" pitchFamily="34" charset="-120"/>
              </a:rPr>
              <a:t>优势</a:t>
            </a:r>
            <a:endParaRPr lang="en-US" sz="750" dirty="0"/>
          </a:p>
        </p:txBody>
      </p:sp>
      <p:sp>
        <p:nvSpPr>
          <p:cNvPr id="52" name="Text 49"/>
          <p:cNvSpPr/>
          <p:nvPr/>
        </p:nvSpPr>
        <p:spPr>
          <a:xfrm>
            <a:off x="888839" y="3350419"/>
            <a:ext cx="2236190" cy="144527"/>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：完美吸收 SRAM </a:t>
            </a:r>
            <a:r>
              <a:rPr lang="en-US" sz="800" dirty="0" err="1">
                <a:solidFill>
                  <a:srgbClr val="2E2E38"/>
                </a:solidFill>
                <a:latin typeface="Arial" pitchFamily="34" charset="0"/>
                <a:ea typeface="Arial" pitchFamily="34" charset="-122"/>
                <a:cs typeface="Arial" pitchFamily="34" charset="-120"/>
              </a:rPr>
              <a:t>读延迟，支持背靠背线速出</a:t>
            </a:r>
            <a:r>
              <a:rPr lang="zh-CN" altLang="en-US" sz="800" dirty="0">
                <a:solidFill>
                  <a:srgbClr val="2E2E38"/>
                </a:solidFill>
                <a:latin typeface="Arial" pitchFamily="34" charset="0"/>
                <a:ea typeface="Arial" pitchFamily="34" charset="-122"/>
                <a:cs typeface="Arial" pitchFamily="34" charset="-120"/>
              </a:rPr>
              <a:t>队</a:t>
            </a:r>
            <a:endParaRPr lang="en-US" sz="800" dirty="0"/>
          </a:p>
        </p:txBody>
      </p:sp>
      <p:sp>
        <p:nvSpPr>
          <p:cNvPr id="54" name="Text 51"/>
          <p:cNvSpPr/>
          <p:nvPr/>
        </p:nvSpPr>
        <p:spPr>
          <a:xfrm>
            <a:off x="5443538" y="785813"/>
            <a:ext cx="1543050" cy="175022"/>
          </a:xfrm>
          <a:prstGeom prst="rect">
            <a:avLst/>
          </a:prstGeom>
          <a:noFill/>
          <a:ln/>
        </p:spPr>
        <p:txBody>
          <a:bodyPr wrap="square" lIns="0" tIns="0" rIns="0" bIns="0" rtlCol="0" anchor="t">
            <a:spAutoFit/>
          </a:bodyPr>
          <a:lstStyle/>
          <a:p>
            <a:pPr marL="0" indent="0" algn="l">
              <a:buNone/>
            </a:pPr>
            <a:r>
              <a:rPr lang="en-US" sz="900" b="1" dirty="0">
                <a:solidFill>
                  <a:srgbClr val="3253DC"/>
                </a:solidFill>
                <a:latin typeface="Arial" pitchFamily="34" charset="0"/>
                <a:ea typeface="Arial" pitchFamily="34" charset="-122"/>
                <a:cs typeface="Arial" pitchFamily="34" charset="-120"/>
              </a:rPr>
              <a:t>队头预取与滑动窗口示意图</a:t>
            </a:r>
            <a:endParaRPr lang="en-US" sz="900" dirty="0"/>
          </a:p>
        </p:txBody>
      </p:sp>
      <p:sp>
        <p:nvSpPr>
          <p:cNvPr id="55" name="Shape 52"/>
          <p:cNvSpPr/>
          <p:nvPr/>
        </p:nvSpPr>
        <p:spPr>
          <a:xfrm>
            <a:off x="3714750" y="1067991"/>
            <a:ext cx="5000625" cy="3286125"/>
          </a:xfrm>
          <a:prstGeom prst="rect">
            <a:avLst/>
          </a:prstGeom>
          <a:solidFill>
            <a:srgbClr val="FFFFFF"/>
          </a:solidFill>
          <a:ln/>
        </p:spPr>
        <p:txBody>
          <a:bodyPr/>
          <a:lstStyle/>
          <a:p>
            <a:endParaRPr lang="zh-CN" altLang="en-US"/>
          </a:p>
        </p:txBody>
      </p:sp>
      <p:pic>
        <p:nvPicPr>
          <p:cNvPr id="56" name="Image 1" descr="preencoded.png"/>
          <p:cNvPicPr>
            <a:picLocks noChangeAspect="1"/>
          </p:cNvPicPr>
          <p:nvPr/>
        </p:nvPicPr>
        <p:blipFill>
          <a:blip r:embed="rId4"/>
          <a:stretch>
            <a:fillRect/>
          </a:stretch>
        </p:blipFill>
        <p:spPr>
          <a:xfrm>
            <a:off x="3714750" y="1067991"/>
            <a:ext cx="5000625" cy="3286125"/>
          </a:xfrm>
          <a:prstGeom prst="rect">
            <a:avLst/>
          </a:prstGeom>
        </p:spPr>
      </p:pic>
      <p:sp>
        <p:nvSpPr>
          <p:cNvPr id="57" name="Text 53"/>
          <p:cNvSpPr/>
          <p:nvPr/>
        </p:nvSpPr>
        <p:spPr>
          <a:xfrm>
            <a:off x="4592594" y="4354116"/>
            <a:ext cx="3244937" cy="242888"/>
          </a:xfrm>
          <a:prstGeom prst="rect">
            <a:avLst/>
          </a:prstGeom>
          <a:noFill/>
          <a:ln/>
        </p:spPr>
        <p:txBody>
          <a:bodyPr wrap="square" lIns="0" tIns="127508" rIns="0" bIns="0" rtlCol="0" anchor="t">
            <a:spAutoFit/>
          </a:bodyPr>
          <a:lstStyle/>
          <a:p>
            <a:pPr marL="0" indent="0" algn="ctr">
              <a:buNone/>
            </a:pPr>
            <a:r>
              <a:rPr lang="en-US" sz="750" dirty="0">
                <a:solidFill>
                  <a:srgbClr val="6E6E7A"/>
                </a:solidFill>
                <a:latin typeface="Arial" pitchFamily="34" charset="0"/>
                <a:ea typeface="Arial" pitchFamily="34" charset="-122"/>
                <a:cs typeface="Arial" pitchFamily="34" charset="-120"/>
              </a:rPr>
              <a:t>队头在寄存器中实时可见，出队地址当拍即给，无需等待 SRAM 读返回。</a:t>
            </a:r>
            <a:endParaRPr lang="en-US" sz="750" dirty="0"/>
          </a:p>
        </p:txBody>
      </p:sp>
      <p:sp>
        <p:nvSpPr>
          <p:cNvPr id="58" name="Text 54"/>
          <p:cNvSpPr/>
          <p:nvPr/>
        </p:nvSpPr>
        <p:spPr>
          <a:xfrm>
            <a:off x="428625" y="4879181"/>
            <a:ext cx="857473"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SMMU Design Review</a:t>
            </a:r>
            <a:endParaRPr lang="en-US" sz="600" dirty="0"/>
          </a:p>
        </p:txBody>
      </p:sp>
      <p:sp>
        <p:nvSpPr>
          <p:cNvPr id="59" name="Text 55"/>
          <p:cNvSpPr/>
          <p:nvPr/>
        </p:nvSpPr>
        <p:spPr>
          <a:xfrm>
            <a:off x="8395971" y="4879181"/>
            <a:ext cx="319404"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Page 15</a:t>
            </a:r>
            <a:endParaRPr lang="en-US" sz="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71500"/>
          </a:xfrm>
          <a:prstGeom prst="rect">
            <a:avLst/>
          </a:prstGeom>
          <a:solidFill>
            <a:srgbClr val="3253DC"/>
          </a:solidFill>
          <a:ln/>
        </p:spPr>
        <p:txBody>
          <a:bodyPr/>
          <a:lstStyle/>
          <a:p>
            <a:endParaRPr lang="zh-CN" altLang="en-US"/>
          </a:p>
        </p:txBody>
      </p:sp>
      <p:sp>
        <p:nvSpPr>
          <p:cNvPr id="4" name="Text 1"/>
          <p:cNvSpPr/>
          <p:nvPr/>
        </p:nvSpPr>
        <p:spPr>
          <a:xfrm>
            <a:off x="428625" y="130373"/>
            <a:ext cx="4229323" cy="310753"/>
          </a:xfrm>
          <a:prstGeom prst="rect">
            <a:avLst/>
          </a:prstGeom>
          <a:noFill/>
          <a:ln/>
        </p:spPr>
        <p:txBody>
          <a:bodyPr wrap="square" lIns="0" tIns="0" rIns="0" bIns="0" rtlCol="0" anchor="t">
            <a:spAutoFit/>
          </a:bodyPr>
          <a:lstStyle/>
          <a:p>
            <a:pPr marL="0" indent="0" algn="l">
              <a:buNone/>
            </a:pPr>
            <a:r>
              <a:rPr lang="en-US" sz="1600" b="1" dirty="0">
                <a:solidFill>
                  <a:srgbClr val="FFFFFF"/>
                </a:solidFill>
                <a:latin typeface="Arial" pitchFamily="34" charset="0"/>
                <a:ea typeface="Arial" pitchFamily="34" charset="-122"/>
                <a:cs typeface="Arial" pitchFamily="34" charset="-120"/>
              </a:rPr>
              <a:t>关键设计 —— 两级预取寄存器 (Prefetch)</a:t>
            </a:r>
            <a:endParaRPr lang="en-US" sz="1600" dirty="0"/>
          </a:p>
        </p:txBody>
      </p:sp>
      <p:sp>
        <p:nvSpPr>
          <p:cNvPr id="5" name="Shape 2"/>
          <p:cNvSpPr/>
          <p:nvPr/>
        </p:nvSpPr>
        <p:spPr>
          <a:xfrm>
            <a:off x="428625" y="735806"/>
            <a:ext cx="3000375" cy="1285875"/>
          </a:xfrm>
          <a:prstGeom prst="rect">
            <a:avLst/>
          </a:prstGeom>
          <a:solidFill>
            <a:srgbClr val="FFFFFF"/>
          </a:solidFill>
          <a:ln/>
        </p:spPr>
        <p:txBody>
          <a:bodyPr/>
          <a:lstStyle/>
          <a:p>
            <a:endParaRPr lang="zh-CN" altLang="en-US"/>
          </a:p>
        </p:txBody>
      </p:sp>
      <p:sp>
        <p:nvSpPr>
          <p:cNvPr id="6" name="Shape 3"/>
          <p:cNvSpPr/>
          <p:nvPr/>
        </p:nvSpPr>
        <p:spPr>
          <a:xfrm>
            <a:off x="428625" y="735806"/>
            <a:ext cx="28575" cy="1285875"/>
          </a:xfrm>
          <a:prstGeom prst="rect">
            <a:avLst/>
          </a:prstGeom>
          <a:solidFill>
            <a:srgbClr val="6CA0F6"/>
          </a:solidFill>
          <a:ln/>
        </p:spPr>
        <p:txBody>
          <a:bodyPr/>
          <a:lstStyle/>
          <a:p>
            <a:endParaRPr lang="zh-CN" altLang="en-US"/>
          </a:p>
        </p:txBody>
      </p:sp>
      <p:sp>
        <p:nvSpPr>
          <p:cNvPr id="7" name="Text 4"/>
          <p:cNvSpPr/>
          <p:nvPr/>
        </p:nvSpPr>
        <p:spPr>
          <a:xfrm>
            <a:off x="607219" y="878681"/>
            <a:ext cx="2643188" cy="196453"/>
          </a:xfrm>
          <a:prstGeom prst="rect">
            <a:avLst/>
          </a:prstGeom>
          <a:noFill/>
          <a:ln/>
        </p:spPr>
        <p:txBody>
          <a:bodyPr wrap="square" lIns="0" tIns="0" rIns="0" bIns="0" rtlCol="0" anchor="t">
            <a:spAutoFit/>
          </a:bodyPr>
          <a:lstStyle/>
          <a:p>
            <a:pPr marL="0" indent="0" algn="l">
              <a:buNone/>
            </a:pPr>
            <a:r>
              <a:rPr lang="en-US" sz="1000" b="1" dirty="0">
                <a:solidFill>
                  <a:srgbClr val="3253DC"/>
                </a:solidFill>
                <a:latin typeface="Arial" pitchFamily="34" charset="0"/>
                <a:ea typeface="Arial" pitchFamily="34" charset="-122"/>
                <a:cs typeface="Arial" pitchFamily="34" charset="-120"/>
              </a:rPr>
              <a:t>设计挑战</a:t>
            </a:r>
            <a:endParaRPr lang="en-US" sz="1000" dirty="0"/>
          </a:p>
        </p:txBody>
      </p:sp>
      <p:sp>
        <p:nvSpPr>
          <p:cNvPr id="8" name="Text 5"/>
          <p:cNvSpPr/>
          <p:nvPr/>
        </p:nvSpPr>
        <p:spPr>
          <a:xfrm>
            <a:off x="607219" y="1182291"/>
            <a:ext cx="2643188" cy="548506"/>
          </a:xfrm>
          <a:prstGeom prst="rect">
            <a:avLst/>
          </a:prstGeom>
          <a:noFill/>
          <a:ln/>
        </p:spPr>
        <p:txBody>
          <a:bodyPr wrap="square" lIns="0" tIns="0" rIns="0" bIns="0" rtlCol="0" anchor="t">
            <a:spAutoFit/>
          </a:bodyPr>
          <a:lstStyle/>
          <a:p>
            <a:pPr marL="0" indent="0" algn="l">
              <a:lnSpc>
                <a:spcPct val="128000"/>
              </a:lnSpc>
              <a:buNone/>
            </a:pPr>
            <a:r>
              <a:rPr lang="en-US" sz="850" dirty="0">
                <a:solidFill>
                  <a:srgbClr val="2E2E38"/>
                </a:solidFill>
                <a:latin typeface="Arial" pitchFamily="34" charset="0"/>
                <a:ea typeface="Arial" pitchFamily="34" charset="-122"/>
                <a:cs typeface="Arial" pitchFamily="34" charset="-120"/>
              </a:rPr>
              <a:t>Next-Ptr SRAM 存在 </a:t>
            </a:r>
            <a:r>
              <a:rPr lang="en-US" sz="800" b="1" dirty="0">
                <a:solidFill>
                  <a:srgbClr val="2E2E38"/>
                </a:solidFill>
                <a:latin typeface="Arial" pitchFamily="34" charset="0"/>
                <a:ea typeface="Arial" pitchFamily="34" charset="-122"/>
                <a:cs typeface="Arial" pitchFamily="34" charset="-120"/>
              </a:rPr>
              <a:t>1 拍读延迟</a:t>
            </a:r>
            <a:r>
              <a:rPr lang="en-US" sz="850" dirty="0">
                <a:solidFill>
                  <a:srgbClr val="2E2E38"/>
                </a:solidFill>
                <a:latin typeface="Arial" pitchFamily="34" charset="0"/>
                <a:ea typeface="Arial" pitchFamily="34" charset="-122"/>
                <a:cs typeface="Arial" pitchFamily="34" charset="-120"/>
              </a:rPr>
              <a:t>。在连续出队场景下，如果等待 SRAM 返回下一个指针，会导致流水线产生空泡，无法实现满吞吐。</a:t>
            </a:r>
            <a:endParaRPr lang="en-US" sz="850" dirty="0"/>
          </a:p>
        </p:txBody>
      </p:sp>
      <p:sp>
        <p:nvSpPr>
          <p:cNvPr id="9" name="Shape 6"/>
          <p:cNvSpPr/>
          <p:nvPr/>
        </p:nvSpPr>
        <p:spPr>
          <a:xfrm>
            <a:off x="428625" y="2235994"/>
            <a:ext cx="3000375" cy="1714500"/>
          </a:xfrm>
          <a:prstGeom prst="rect">
            <a:avLst/>
          </a:prstGeom>
          <a:solidFill>
            <a:srgbClr val="FFFFFF"/>
          </a:solidFill>
          <a:ln/>
        </p:spPr>
        <p:txBody>
          <a:bodyPr/>
          <a:lstStyle/>
          <a:p>
            <a:endParaRPr lang="zh-CN" altLang="en-US"/>
          </a:p>
        </p:txBody>
      </p:sp>
      <p:sp>
        <p:nvSpPr>
          <p:cNvPr id="10" name="Shape 7"/>
          <p:cNvSpPr/>
          <p:nvPr/>
        </p:nvSpPr>
        <p:spPr>
          <a:xfrm>
            <a:off x="428625" y="2235994"/>
            <a:ext cx="28575" cy="1714500"/>
          </a:xfrm>
          <a:prstGeom prst="rect">
            <a:avLst/>
          </a:prstGeom>
          <a:solidFill>
            <a:srgbClr val="6CA0F6"/>
          </a:solidFill>
          <a:ln/>
        </p:spPr>
        <p:txBody>
          <a:bodyPr/>
          <a:lstStyle/>
          <a:p>
            <a:endParaRPr lang="zh-CN" altLang="en-US"/>
          </a:p>
        </p:txBody>
      </p:sp>
      <p:sp>
        <p:nvSpPr>
          <p:cNvPr id="11" name="Text 8"/>
          <p:cNvSpPr/>
          <p:nvPr/>
        </p:nvSpPr>
        <p:spPr>
          <a:xfrm>
            <a:off x="607219" y="2378869"/>
            <a:ext cx="2643188" cy="196453"/>
          </a:xfrm>
          <a:prstGeom prst="rect">
            <a:avLst/>
          </a:prstGeom>
          <a:noFill/>
          <a:ln/>
        </p:spPr>
        <p:txBody>
          <a:bodyPr wrap="square" lIns="0" tIns="0" rIns="0" bIns="0" rtlCol="0" anchor="t">
            <a:spAutoFit/>
          </a:bodyPr>
          <a:lstStyle/>
          <a:p>
            <a:pPr marL="0" indent="0" algn="l">
              <a:buNone/>
            </a:pPr>
            <a:r>
              <a:rPr lang="en-US" sz="1000" b="1" dirty="0">
                <a:solidFill>
                  <a:srgbClr val="3253DC"/>
                </a:solidFill>
                <a:latin typeface="Arial" pitchFamily="34" charset="0"/>
                <a:ea typeface="Arial" pitchFamily="34" charset="-122"/>
                <a:cs typeface="Arial" pitchFamily="34" charset="-120"/>
              </a:rPr>
              <a:t>解决方案</a:t>
            </a:r>
            <a:endParaRPr lang="en-US" sz="1000" dirty="0"/>
          </a:p>
        </p:txBody>
      </p:sp>
      <p:sp>
        <p:nvSpPr>
          <p:cNvPr id="12" name="Text 9"/>
          <p:cNvSpPr/>
          <p:nvPr/>
        </p:nvSpPr>
        <p:spPr>
          <a:xfrm>
            <a:off x="607219" y="2682478"/>
            <a:ext cx="2643188" cy="365671"/>
          </a:xfrm>
          <a:prstGeom prst="rect">
            <a:avLst/>
          </a:prstGeom>
          <a:noFill/>
          <a:ln/>
        </p:spPr>
        <p:txBody>
          <a:bodyPr wrap="square" lIns="0" tIns="0" rIns="0" bIns="0" rtlCol="0" anchor="t">
            <a:spAutoFit/>
          </a:bodyPr>
          <a:lstStyle/>
          <a:p>
            <a:pPr marL="0" indent="0" algn="l">
              <a:lnSpc>
                <a:spcPct val="128000"/>
              </a:lnSpc>
              <a:buNone/>
            </a:pPr>
            <a:r>
              <a:rPr lang="en-US" sz="850" dirty="0">
                <a:solidFill>
                  <a:srgbClr val="2E2E38"/>
                </a:solidFill>
                <a:latin typeface="Arial" pitchFamily="34" charset="0"/>
                <a:ea typeface="Arial" pitchFamily="34" charset="-122"/>
                <a:cs typeface="Arial" pitchFamily="34" charset="-120"/>
              </a:rPr>
              <a:t>引入 </a:t>
            </a:r>
            <a:r>
              <a:rPr lang="en-US" sz="800" b="1" dirty="0">
                <a:solidFill>
                  <a:srgbClr val="2E2E38"/>
                </a:solidFill>
                <a:latin typeface="Arial" pitchFamily="34" charset="0"/>
                <a:ea typeface="Arial" pitchFamily="34" charset="-122"/>
                <a:cs typeface="Arial" pitchFamily="34" charset="-120"/>
              </a:rPr>
              <a:t>Prefetch Reg 0</a:t>
            </a:r>
            <a:r>
              <a:rPr lang="en-US" sz="850" dirty="0">
                <a:solidFill>
                  <a:srgbClr val="2E2E38"/>
                </a:solidFill>
                <a:latin typeface="Arial" pitchFamily="34" charset="0"/>
                <a:ea typeface="Arial" pitchFamily="34" charset="-122"/>
                <a:cs typeface="Arial" pitchFamily="34" charset="-120"/>
              </a:rPr>
              <a:t> 和 </a:t>
            </a:r>
            <a:r>
              <a:rPr lang="en-US" sz="800" b="1" dirty="0">
                <a:solidFill>
                  <a:srgbClr val="2E2E38"/>
                </a:solidFill>
                <a:latin typeface="Arial" pitchFamily="34" charset="0"/>
                <a:ea typeface="Arial" pitchFamily="34" charset="-122"/>
                <a:cs typeface="Arial" pitchFamily="34" charset="-120"/>
              </a:rPr>
              <a:t>Prefetch Reg 1</a:t>
            </a:r>
            <a:r>
              <a:rPr lang="en-US" sz="850" dirty="0">
                <a:solidFill>
                  <a:srgbClr val="2E2E38"/>
                </a:solidFill>
                <a:latin typeface="Arial" pitchFamily="34" charset="0"/>
                <a:ea typeface="Arial" pitchFamily="34" charset="-122"/>
                <a:cs typeface="Arial" pitchFamily="34" charset="-120"/>
              </a:rPr>
              <a:t> 构成两级预取流水线：</a:t>
            </a:r>
            <a:endParaRPr lang="en-US" sz="850" dirty="0"/>
          </a:p>
        </p:txBody>
      </p:sp>
      <p:sp>
        <p:nvSpPr>
          <p:cNvPr id="13" name="Text 10"/>
          <p:cNvSpPr/>
          <p:nvPr/>
        </p:nvSpPr>
        <p:spPr>
          <a:xfrm>
            <a:off x="607219" y="3048149"/>
            <a:ext cx="2643188" cy="619944"/>
          </a:xfrm>
          <a:prstGeom prst="rect">
            <a:avLst/>
          </a:prstGeom>
          <a:noFill/>
          <a:ln/>
        </p:spPr>
        <p:txBody>
          <a:bodyPr wrap="square" lIns="0" tIns="85090" rIns="0" bIns="0" rtlCol="0" anchor="t">
            <a:spAutoFit/>
          </a:bodyPr>
          <a:lstStyle/>
          <a:p>
            <a:pPr marL="0" indent="0" algn="l">
              <a:lnSpc>
                <a:spcPct val="128000"/>
              </a:lnSpc>
              <a:buNone/>
            </a:pPr>
            <a:r>
              <a:rPr lang="en-US" sz="850" dirty="0">
                <a:solidFill>
                  <a:srgbClr val="2E2E38"/>
                </a:solidFill>
                <a:latin typeface="Arial" pitchFamily="34" charset="0"/>
                <a:ea typeface="Arial" pitchFamily="34" charset="-122"/>
                <a:cs typeface="Arial" pitchFamily="34" charset="-120"/>
              </a:rPr>
              <a:t>• 提前发起后续 Cell 地址的读请求。
• 寄存器缓存已读出的指针，完美吸收 SRAM 延迟。
• 支撑 </a:t>
            </a:r>
            <a:r>
              <a:rPr lang="en-US" sz="800" b="1" dirty="0">
                <a:solidFill>
                  <a:srgbClr val="2E2E38"/>
                </a:solidFill>
                <a:latin typeface="Arial" pitchFamily="34" charset="0"/>
                <a:ea typeface="Arial" pitchFamily="34" charset="-122"/>
                <a:cs typeface="Arial" pitchFamily="34" charset="-120"/>
              </a:rPr>
              <a:t>Back-to-Back</a:t>
            </a:r>
            <a:r>
              <a:rPr lang="en-US" sz="850" dirty="0">
                <a:solidFill>
                  <a:srgbClr val="2E2E38"/>
                </a:solidFill>
                <a:latin typeface="Arial" pitchFamily="34" charset="0"/>
                <a:ea typeface="Arial" pitchFamily="34" charset="-122"/>
                <a:cs typeface="Arial" pitchFamily="34" charset="-120"/>
              </a:rPr>
              <a:t> 出队性能。</a:t>
            </a:r>
            <a:endParaRPr lang="en-US" sz="850" dirty="0"/>
          </a:p>
        </p:txBody>
      </p:sp>
      <p:sp>
        <p:nvSpPr>
          <p:cNvPr id="14" name="Text 11"/>
          <p:cNvSpPr/>
          <p:nvPr/>
        </p:nvSpPr>
        <p:spPr>
          <a:xfrm>
            <a:off x="5497116" y="735806"/>
            <a:ext cx="1435894" cy="175022"/>
          </a:xfrm>
          <a:prstGeom prst="rect">
            <a:avLst/>
          </a:prstGeom>
          <a:noFill/>
          <a:ln/>
        </p:spPr>
        <p:txBody>
          <a:bodyPr wrap="square" lIns="0" tIns="0" rIns="0" bIns="0" rtlCol="0" anchor="t">
            <a:spAutoFit/>
          </a:bodyPr>
          <a:lstStyle/>
          <a:p>
            <a:pPr marL="0" indent="0" algn="l">
              <a:buNone/>
            </a:pPr>
            <a:r>
              <a:rPr lang="en-US" sz="900" b="1" dirty="0">
                <a:solidFill>
                  <a:srgbClr val="3253DC"/>
                </a:solidFill>
                <a:latin typeface="Arial" pitchFamily="34" charset="0"/>
                <a:ea typeface="Arial" pitchFamily="34" charset="-122"/>
                <a:cs typeface="Arial" pitchFamily="34" charset="-120"/>
              </a:rPr>
              <a:t>LLE 预取流水线架构示意</a:t>
            </a:r>
            <a:endParaRPr lang="en-US" sz="900" dirty="0"/>
          </a:p>
        </p:txBody>
      </p:sp>
      <p:sp>
        <p:nvSpPr>
          <p:cNvPr id="15" name="Shape 12"/>
          <p:cNvSpPr/>
          <p:nvPr/>
        </p:nvSpPr>
        <p:spPr>
          <a:xfrm>
            <a:off x="3714750" y="1017984"/>
            <a:ext cx="5000625" cy="3429000"/>
          </a:xfrm>
          <a:prstGeom prst="rect">
            <a:avLst/>
          </a:prstGeom>
          <a:solidFill>
            <a:srgbClr val="FFFFFF"/>
          </a:solidFill>
          <a:ln/>
        </p:spPr>
        <p:txBody>
          <a:bodyPr/>
          <a:lstStyle/>
          <a:p>
            <a:endParaRPr lang="zh-CN" altLang="en-US"/>
          </a:p>
        </p:txBody>
      </p:sp>
      <p:pic>
        <p:nvPicPr>
          <p:cNvPr id="16" name="Image 1" descr="preencoded.png"/>
          <p:cNvPicPr>
            <a:picLocks noChangeAspect="1"/>
          </p:cNvPicPr>
          <p:nvPr/>
        </p:nvPicPr>
        <p:blipFill>
          <a:blip r:embed="rId4"/>
          <a:stretch>
            <a:fillRect/>
          </a:stretch>
        </p:blipFill>
        <p:spPr>
          <a:xfrm>
            <a:off x="3714750" y="1017984"/>
            <a:ext cx="5000625" cy="3429000"/>
          </a:xfrm>
          <a:prstGeom prst="rect">
            <a:avLst/>
          </a:prstGeom>
        </p:spPr>
      </p:pic>
      <p:sp>
        <p:nvSpPr>
          <p:cNvPr id="17" name="Text 13"/>
          <p:cNvSpPr/>
          <p:nvPr/>
        </p:nvSpPr>
        <p:spPr>
          <a:xfrm>
            <a:off x="4714819" y="4446984"/>
            <a:ext cx="3000487" cy="242888"/>
          </a:xfrm>
          <a:prstGeom prst="rect">
            <a:avLst/>
          </a:prstGeom>
          <a:noFill/>
          <a:ln/>
        </p:spPr>
        <p:txBody>
          <a:bodyPr wrap="square" lIns="0" tIns="127508" rIns="0" bIns="0" rtlCol="0" anchor="t">
            <a:spAutoFit/>
          </a:bodyPr>
          <a:lstStyle/>
          <a:p>
            <a:pPr marL="0" indent="0" algn="ctr">
              <a:buNone/>
            </a:pPr>
            <a:r>
              <a:rPr lang="en-US" sz="750" dirty="0">
                <a:solidFill>
                  <a:srgbClr val="6E6E7A"/>
                </a:solidFill>
                <a:latin typeface="Arial" pitchFamily="34" charset="0"/>
                <a:ea typeface="Arial" pitchFamily="34" charset="-122"/>
                <a:cs typeface="Arial" pitchFamily="34" charset="-120"/>
              </a:rPr>
              <a:t>两级寄存器确保了 LLE 引擎在任何时刻都能获得“下一个”有效地址。</a:t>
            </a:r>
            <a:endParaRPr lang="en-US" sz="750" dirty="0"/>
          </a:p>
        </p:txBody>
      </p:sp>
      <p:sp>
        <p:nvSpPr>
          <p:cNvPr id="18" name="Text 14"/>
          <p:cNvSpPr/>
          <p:nvPr/>
        </p:nvSpPr>
        <p:spPr>
          <a:xfrm>
            <a:off x="428625" y="4879181"/>
            <a:ext cx="857473"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SMMU Design Review</a:t>
            </a:r>
            <a:endParaRPr lang="en-US" sz="600" dirty="0"/>
          </a:p>
        </p:txBody>
      </p:sp>
      <p:sp>
        <p:nvSpPr>
          <p:cNvPr id="19" name="Text 15"/>
          <p:cNvSpPr/>
          <p:nvPr/>
        </p:nvSpPr>
        <p:spPr>
          <a:xfrm>
            <a:off x="8395971" y="4879181"/>
            <a:ext cx="319404"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Page 15</a:t>
            </a:r>
            <a:endParaRPr lang="en-US" sz="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71500"/>
          </a:xfrm>
          <a:prstGeom prst="rect">
            <a:avLst/>
          </a:prstGeom>
          <a:solidFill>
            <a:srgbClr val="3253DC"/>
          </a:solidFill>
          <a:ln/>
        </p:spPr>
        <p:txBody>
          <a:bodyPr/>
          <a:lstStyle/>
          <a:p>
            <a:endParaRPr lang="zh-CN" altLang="en-US"/>
          </a:p>
        </p:txBody>
      </p:sp>
      <p:sp>
        <p:nvSpPr>
          <p:cNvPr id="4" name="Text 1"/>
          <p:cNvSpPr/>
          <p:nvPr/>
        </p:nvSpPr>
        <p:spPr>
          <a:xfrm>
            <a:off x="428625" y="130373"/>
            <a:ext cx="3428888" cy="310753"/>
          </a:xfrm>
          <a:prstGeom prst="rect">
            <a:avLst/>
          </a:prstGeom>
          <a:noFill/>
          <a:ln/>
        </p:spPr>
        <p:txBody>
          <a:bodyPr wrap="square" lIns="0" tIns="0" rIns="0" bIns="0" rtlCol="0" anchor="t">
            <a:spAutoFit/>
          </a:bodyPr>
          <a:lstStyle/>
          <a:p>
            <a:pPr marL="0" indent="0" algn="l">
              <a:buNone/>
            </a:pPr>
            <a:r>
              <a:rPr lang="en-US" sz="1600" b="1" dirty="0">
                <a:solidFill>
                  <a:srgbClr val="FFFFFF"/>
                </a:solidFill>
                <a:latin typeface="Arial" pitchFamily="34" charset="0"/>
                <a:ea typeface="Arial" pitchFamily="34" charset="-122"/>
                <a:cs typeface="Arial" pitchFamily="34" charset="-120"/>
              </a:rPr>
              <a:t>流程 (4) —— 地址回收 (统一还链)</a:t>
            </a:r>
            <a:endParaRPr lang="en-US" sz="1600" dirty="0"/>
          </a:p>
        </p:txBody>
      </p:sp>
      <p:sp>
        <p:nvSpPr>
          <p:cNvPr id="5" name="Shape 2"/>
          <p:cNvSpPr/>
          <p:nvPr/>
        </p:nvSpPr>
        <p:spPr>
          <a:xfrm>
            <a:off x="428625" y="785813"/>
            <a:ext cx="3000375" cy="1453753"/>
          </a:xfrm>
          <a:prstGeom prst="rect">
            <a:avLst/>
          </a:prstGeom>
          <a:solidFill>
            <a:srgbClr val="FFFFFF"/>
          </a:solidFill>
          <a:ln/>
        </p:spPr>
        <p:txBody>
          <a:bodyPr/>
          <a:lstStyle/>
          <a:p>
            <a:endParaRPr lang="zh-CN" altLang="en-US"/>
          </a:p>
        </p:txBody>
      </p:sp>
      <p:sp>
        <p:nvSpPr>
          <p:cNvPr id="6" name="Shape 3"/>
          <p:cNvSpPr/>
          <p:nvPr/>
        </p:nvSpPr>
        <p:spPr>
          <a:xfrm>
            <a:off x="428625" y="785813"/>
            <a:ext cx="28575" cy="1453753"/>
          </a:xfrm>
          <a:prstGeom prst="rect">
            <a:avLst/>
          </a:prstGeom>
          <a:solidFill>
            <a:srgbClr val="6CA0F6"/>
          </a:solidFill>
          <a:ln/>
        </p:spPr>
        <p:txBody>
          <a:bodyPr/>
          <a:lstStyle/>
          <a:p>
            <a:endParaRPr lang="zh-CN" altLang="en-US"/>
          </a:p>
        </p:txBody>
      </p:sp>
      <p:sp>
        <p:nvSpPr>
          <p:cNvPr id="7" name="Text 4"/>
          <p:cNvSpPr/>
          <p:nvPr/>
        </p:nvSpPr>
        <p:spPr>
          <a:xfrm>
            <a:off x="607219" y="928688"/>
            <a:ext cx="2643188" cy="196453"/>
          </a:xfrm>
          <a:prstGeom prst="rect">
            <a:avLst/>
          </a:prstGeom>
          <a:noFill/>
          <a:ln/>
        </p:spPr>
        <p:txBody>
          <a:bodyPr wrap="square" lIns="0" tIns="0" rIns="0" bIns="0" rtlCol="0" anchor="t">
            <a:spAutoFit/>
          </a:bodyPr>
          <a:lstStyle/>
          <a:p>
            <a:pPr marL="0" indent="0" algn="l">
              <a:buNone/>
            </a:pPr>
            <a:r>
              <a:rPr lang="en-US" sz="1000" b="1" dirty="0">
                <a:solidFill>
                  <a:srgbClr val="3253DC"/>
                </a:solidFill>
                <a:latin typeface="Arial" pitchFamily="34" charset="0"/>
                <a:ea typeface="Arial" pitchFamily="34" charset="-122"/>
                <a:cs typeface="Arial" pitchFamily="34" charset="-120"/>
              </a:rPr>
              <a:t>还链逻辑区分</a:t>
            </a:r>
            <a:endParaRPr lang="en-US" sz="1000" dirty="0"/>
          </a:p>
        </p:txBody>
      </p:sp>
      <p:sp>
        <p:nvSpPr>
          <p:cNvPr id="8" name="Text 5"/>
          <p:cNvSpPr/>
          <p:nvPr/>
        </p:nvSpPr>
        <p:spPr>
          <a:xfrm>
            <a:off x="607219" y="1235869"/>
            <a:ext cx="67308"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a:t>
            </a:r>
            <a:endParaRPr lang="en-US" sz="800" dirty="0"/>
          </a:p>
        </p:txBody>
      </p:sp>
      <p:sp>
        <p:nvSpPr>
          <p:cNvPr id="9" name="Text 6"/>
          <p:cNvSpPr/>
          <p:nvPr/>
        </p:nvSpPr>
        <p:spPr>
          <a:xfrm>
            <a:off x="674526" y="1235869"/>
            <a:ext cx="428625" cy="117872"/>
          </a:xfrm>
          <a:prstGeom prst="rect">
            <a:avLst/>
          </a:prstGeom>
          <a:noFill/>
          <a:ln/>
        </p:spPr>
        <p:txBody>
          <a:bodyPr wrap="none" lIns="0" tIns="0" rIns="0" bIns="0" rtlCol="0" anchor="t">
            <a:spAutoFit/>
          </a:bodyPr>
          <a:lstStyle/>
          <a:p>
            <a:pPr marL="0" indent="0" algn="l">
              <a:lnSpc>
                <a:spcPct val="128000"/>
              </a:lnSpc>
              <a:buNone/>
            </a:pPr>
            <a:r>
              <a:rPr lang="en-US" sz="750" b="1" dirty="0">
                <a:solidFill>
                  <a:srgbClr val="2E2E38"/>
                </a:solidFill>
                <a:latin typeface="Arial" pitchFamily="34" charset="0"/>
                <a:ea typeface="Arial" pitchFamily="34" charset="-122"/>
                <a:cs typeface="Arial" pitchFamily="34" charset="-120"/>
              </a:rPr>
              <a:t>单播还链</a:t>
            </a:r>
            <a:endParaRPr lang="en-US" sz="750" dirty="0"/>
          </a:p>
        </p:txBody>
      </p:sp>
      <p:sp>
        <p:nvSpPr>
          <p:cNvPr id="10" name="Text 7"/>
          <p:cNvSpPr/>
          <p:nvPr/>
        </p:nvSpPr>
        <p:spPr>
          <a:xfrm>
            <a:off x="1103151" y="1235869"/>
            <a:ext cx="1964810"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：直接 push 回 Free 链，对应队列计数递</a:t>
            </a:r>
            <a:endParaRPr lang="en-US" sz="800" dirty="0"/>
          </a:p>
        </p:txBody>
      </p:sp>
      <p:sp>
        <p:nvSpPr>
          <p:cNvPr id="11" name="Text 8"/>
          <p:cNvSpPr/>
          <p:nvPr/>
        </p:nvSpPr>
        <p:spPr>
          <a:xfrm>
            <a:off x="607219" y="1407319"/>
            <a:ext cx="214313"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减。</a:t>
            </a:r>
            <a:endParaRPr lang="en-US" sz="800" dirty="0"/>
          </a:p>
        </p:txBody>
      </p:sp>
      <p:sp>
        <p:nvSpPr>
          <p:cNvPr id="12" name="Text 9"/>
          <p:cNvSpPr/>
          <p:nvPr/>
        </p:nvSpPr>
        <p:spPr>
          <a:xfrm>
            <a:off x="607219" y="1578769"/>
            <a:ext cx="67308"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a:t>
            </a:r>
            <a:endParaRPr lang="en-US" sz="800" dirty="0"/>
          </a:p>
        </p:txBody>
      </p:sp>
      <p:sp>
        <p:nvSpPr>
          <p:cNvPr id="13" name="Text 10"/>
          <p:cNvSpPr/>
          <p:nvPr/>
        </p:nvSpPr>
        <p:spPr>
          <a:xfrm>
            <a:off x="674526" y="1578769"/>
            <a:ext cx="428625" cy="117872"/>
          </a:xfrm>
          <a:prstGeom prst="rect">
            <a:avLst/>
          </a:prstGeom>
          <a:noFill/>
          <a:ln/>
        </p:spPr>
        <p:txBody>
          <a:bodyPr wrap="none" lIns="0" tIns="0" rIns="0" bIns="0" rtlCol="0" anchor="t">
            <a:spAutoFit/>
          </a:bodyPr>
          <a:lstStyle/>
          <a:p>
            <a:pPr marL="0" indent="0" algn="l">
              <a:lnSpc>
                <a:spcPct val="128000"/>
              </a:lnSpc>
              <a:buNone/>
            </a:pPr>
            <a:r>
              <a:rPr lang="en-US" sz="750" b="1" dirty="0">
                <a:solidFill>
                  <a:srgbClr val="2E2E38"/>
                </a:solidFill>
                <a:latin typeface="Arial" pitchFamily="34" charset="0"/>
                <a:ea typeface="Arial" pitchFamily="34" charset="-122"/>
                <a:cs typeface="Arial" pitchFamily="34" charset="-120"/>
              </a:rPr>
              <a:t>多播还链</a:t>
            </a:r>
            <a:endParaRPr lang="en-US" sz="750" dirty="0"/>
          </a:p>
        </p:txBody>
      </p:sp>
      <p:sp>
        <p:nvSpPr>
          <p:cNvPr id="14" name="Text 11"/>
          <p:cNvSpPr/>
          <p:nvPr/>
        </p:nvSpPr>
        <p:spPr>
          <a:xfrm>
            <a:off x="1103151" y="1578769"/>
            <a:ext cx="2071967"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：基于引用计数（Ref-count），每次还链计</a:t>
            </a:r>
            <a:endParaRPr lang="en-US" sz="800" dirty="0"/>
          </a:p>
        </p:txBody>
      </p:sp>
      <p:sp>
        <p:nvSpPr>
          <p:cNvPr id="15" name="Text 12"/>
          <p:cNvSpPr/>
          <p:nvPr/>
        </p:nvSpPr>
        <p:spPr>
          <a:xfrm>
            <a:off x="607219" y="1750219"/>
            <a:ext cx="1881485"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数减 1，归零后才真正执行 push 操作。</a:t>
            </a:r>
            <a:endParaRPr lang="en-US" sz="800" dirty="0"/>
          </a:p>
        </p:txBody>
      </p:sp>
      <p:sp>
        <p:nvSpPr>
          <p:cNvPr id="16" name="Text 13"/>
          <p:cNvSpPr/>
          <p:nvPr/>
        </p:nvSpPr>
        <p:spPr>
          <a:xfrm>
            <a:off x="607219" y="1921669"/>
            <a:ext cx="67308"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a:t>
            </a:r>
            <a:endParaRPr lang="en-US" sz="800" dirty="0"/>
          </a:p>
        </p:txBody>
      </p:sp>
      <p:sp>
        <p:nvSpPr>
          <p:cNvPr id="17" name="Text 14"/>
          <p:cNvSpPr/>
          <p:nvPr/>
        </p:nvSpPr>
        <p:spPr>
          <a:xfrm>
            <a:off x="674526" y="1921669"/>
            <a:ext cx="535781" cy="117872"/>
          </a:xfrm>
          <a:prstGeom prst="rect">
            <a:avLst/>
          </a:prstGeom>
          <a:noFill/>
          <a:ln/>
        </p:spPr>
        <p:txBody>
          <a:bodyPr wrap="none" lIns="0" tIns="0" rIns="0" bIns="0" rtlCol="0" anchor="t">
            <a:spAutoFit/>
          </a:bodyPr>
          <a:lstStyle/>
          <a:p>
            <a:pPr marL="0" indent="0" algn="l">
              <a:lnSpc>
                <a:spcPct val="128000"/>
              </a:lnSpc>
              <a:buNone/>
            </a:pPr>
            <a:r>
              <a:rPr lang="en-US" sz="750" b="1" dirty="0">
                <a:solidFill>
                  <a:srgbClr val="2E2E38"/>
                </a:solidFill>
                <a:latin typeface="Arial" pitchFamily="34" charset="0"/>
                <a:ea typeface="Arial" pitchFamily="34" charset="-122"/>
                <a:cs typeface="Arial" pitchFamily="34" charset="-120"/>
              </a:rPr>
              <a:t>薄透传设计</a:t>
            </a:r>
            <a:endParaRPr lang="en-US" sz="750" dirty="0"/>
          </a:p>
        </p:txBody>
      </p:sp>
      <p:sp>
        <p:nvSpPr>
          <p:cNvPr id="18" name="Text 15"/>
          <p:cNvSpPr/>
          <p:nvPr/>
        </p:nvSpPr>
        <p:spPr>
          <a:xfrm>
            <a:off x="1210308" y="1921669"/>
            <a:ext cx="107156"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a:t>
            </a:r>
            <a:endParaRPr lang="en-US" sz="800" dirty="0"/>
          </a:p>
        </p:txBody>
      </p:sp>
      <p:sp>
        <p:nvSpPr>
          <p:cNvPr id="19" name="Text 16"/>
          <p:cNvSpPr/>
          <p:nvPr/>
        </p:nvSpPr>
        <p:spPr>
          <a:xfrm>
            <a:off x="1317464" y="1921669"/>
            <a:ext cx="541865"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recycle_ctrl</a:t>
            </a:r>
            <a:endParaRPr lang="en-US" sz="800" dirty="0"/>
          </a:p>
        </p:txBody>
      </p:sp>
      <p:sp>
        <p:nvSpPr>
          <p:cNvPr id="20" name="Text 17"/>
          <p:cNvSpPr/>
          <p:nvPr/>
        </p:nvSpPr>
        <p:spPr>
          <a:xfrm>
            <a:off x="1859328" y="1921669"/>
            <a:ext cx="1315678"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统一接口，不区分类型，由</a:t>
            </a:r>
            <a:endParaRPr lang="en-US" sz="800" dirty="0"/>
          </a:p>
        </p:txBody>
      </p:sp>
      <p:sp>
        <p:nvSpPr>
          <p:cNvPr id="21" name="Text 18"/>
          <p:cNvSpPr/>
          <p:nvPr/>
        </p:nvSpPr>
        <p:spPr>
          <a:xfrm>
            <a:off x="607219" y="2093119"/>
            <a:ext cx="970545"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LLE 内部处理差异。</a:t>
            </a:r>
            <a:endParaRPr lang="en-US" sz="800" dirty="0"/>
          </a:p>
        </p:txBody>
      </p:sp>
      <p:sp>
        <p:nvSpPr>
          <p:cNvPr id="22" name="Shape 19"/>
          <p:cNvSpPr/>
          <p:nvPr/>
        </p:nvSpPr>
        <p:spPr>
          <a:xfrm>
            <a:off x="428625" y="2382441"/>
            <a:ext cx="3000375" cy="1714500"/>
          </a:xfrm>
          <a:prstGeom prst="rect">
            <a:avLst/>
          </a:prstGeom>
          <a:solidFill>
            <a:srgbClr val="FFFFFF"/>
          </a:solidFill>
          <a:ln/>
        </p:spPr>
        <p:txBody>
          <a:bodyPr/>
          <a:lstStyle/>
          <a:p>
            <a:endParaRPr lang="zh-CN" altLang="en-US"/>
          </a:p>
        </p:txBody>
      </p:sp>
      <p:sp>
        <p:nvSpPr>
          <p:cNvPr id="23" name="Shape 20"/>
          <p:cNvSpPr/>
          <p:nvPr/>
        </p:nvSpPr>
        <p:spPr>
          <a:xfrm>
            <a:off x="428625" y="2382441"/>
            <a:ext cx="28575" cy="1714500"/>
          </a:xfrm>
          <a:prstGeom prst="rect">
            <a:avLst/>
          </a:prstGeom>
          <a:solidFill>
            <a:srgbClr val="6CA0F6"/>
          </a:solidFill>
          <a:ln/>
        </p:spPr>
        <p:txBody>
          <a:bodyPr/>
          <a:lstStyle/>
          <a:p>
            <a:endParaRPr lang="zh-CN" altLang="en-US"/>
          </a:p>
        </p:txBody>
      </p:sp>
      <p:sp>
        <p:nvSpPr>
          <p:cNvPr id="24" name="Text 21"/>
          <p:cNvSpPr/>
          <p:nvPr/>
        </p:nvSpPr>
        <p:spPr>
          <a:xfrm>
            <a:off x="607219" y="2525316"/>
            <a:ext cx="2643188" cy="196453"/>
          </a:xfrm>
          <a:prstGeom prst="rect">
            <a:avLst/>
          </a:prstGeom>
          <a:noFill/>
          <a:ln/>
        </p:spPr>
        <p:txBody>
          <a:bodyPr wrap="square" lIns="0" tIns="0" rIns="0" bIns="0" rtlCol="0" anchor="t">
            <a:spAutoFit/>
          </a:bodyPr>
          <a:lstStyle/>
          <a:p>
            <a:pPr marL="0" indent="0" algn="l">
              <a:buNone/>
            </a:pPr>
            <a:r>
              <a:rPr lang="en-US" sz="1000" b="1" dirty="0">
                <a:solidFill>
                  <a:srgbClr val="3253DC"/>
                </a:solidFill>
                <a:latin typeface="Arial" pitchFamily="34" charset="0"/>
                <a:ea typeface="Arial" pitchFamily="34" charset="-122"/>
                <a:cs typeface="Arial" pitchFamily="34" charset="-120"/>
              </a:rPr>
              <a:t>两阶段回收与对称设计</a:t>
            </a:r>
            <a:endParaRPr lang="en-US" sz="1000" dirty="0"/>
          </a:p>
        </p:txBody>
      </p:sp>
      <p:sp>
        <p:nvSpPr>
          <p:cNvPr id="25" name="Text 22"/>
          <p:cNvSpPr/>
          <p:nvPr/>
        </p:nvSpPr>
        <p:spPr>
          <a:xfrm>
            <a:off x="607219" y="2832497"/>
            <a:ext cx="67308"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a:t>
            </a:r>
            <a:endParaRPr lang="en-US" sz="800" dirty="0"/>
          </a:p>
        </p:txBody>
      </p:sp>
      <p:sp>
        <p:nvSpPr>
          <p:cNvPr id="26" name="Text 23"/>
          <p:cNvSpPr/>
          <p:nvPr/>
        </p:nvSpPr>
        <p:spPr>
          <a:xfrm>
            <a:off x="674526" y="2832497"/>
            <a:ext cx="303721" cy="117872"/>
          </a:xfrm>
          <a:prstGeom prst="rect">
            <a:avLst/>
          </a:prstGeom>
          <a:noFill/>
          <a:ln/>
        </p:spPr>
        <p:txBody>
          <a:bodyPr wrap="none" lIns="0" tIns="0" rIns="0" bIns="0" rtlCol="0" anchor="t">
            <a:spAutoFit/>
          </a:bodyPr>
          <a:lstStyle/>
          <a:p>
            <a:pPr marL="0" indent="0" algn="l">
              <a:lnSpc>
                <a:spcPct val="128000"/>
              </a:lnSpc>
              <a:buNone/>
            </a:pPr>
            <a:r>
              <a:rPr lang="en-US" sz="750" b="1" dirty="0">
                <a:solidFill>
                  <a:srgbClr val="2E2E38"/>
                </a:solidFill>
                <a:latin typeface="Arial" pitchFamily="34" charset="0"/>
                <a:ea typeface="Arial" pitchFamily="34" charset="-122"/>
                <a:cs typeface="Arial" pitchFamily="34" charset="-120"/>
              </a:rPr>
              <a:t>阶段 1</a:t>
            </a:r>
            <a:endParaRPr lang="en-US" sz="750" dirty="0"/>
          </a:p>
        </p:txBody>
      </p:sp>
      <p:sp>
        <p:nvSpPr>
          <p:cNvPr id="27" name="Text 24"/>
          <p:cNvSpPr/>
          <p:nvPr/>
        </p:nvSpPr>
        <p:spPr>
          <a:xfrm>
            <a:off x="978247" y="2832497"/>
            <a:ext cx="1131057"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：地址进入回收 FIFO，</a:t>
            </a:r>
            <a:endParaRPr lang="en-US" sz="800" dirty="0"/>
          </a:p>
        </p:txBody>
      </p:sp>
      <p:sp>
        <p:nvSpPr>
          <p:cNvPr id="28" name="Text 25"/>
          <p:cNvSpPr/>
          <p:nvPr/>
        </p:nvSpPr>
        <p:spPr>
          <a:xfrm>
            <a:off x="2109304" y="2832497"/>
            <a:ext cx="387214"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free_cnt</a:t>
            </a:r>
            <a:endParaRPr lang="en-US" sz="800" dirty="0"/>
          </a:p>
        </p:txBody>
      </p:sp>
      <p:sp>
        <p:nvSpPr>
          <p:cNvPr id="29" name="Text 26"/>
          <p:cNvSpPr/>
          <p:nvPr/>
        </p:nvSpPr>
        <p:spPr>
          <a:xfrm>
            <a:off x="2496517" y="2832497"/>
            <a:ext cx="672740"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立即增加（逻</a:t>
            </a:r>
            <a:endParaRPr lang="en-US" sz="800" dirty="0"/>
          </a:p>
        </p:txBody>
      </p:sp>
      <p:sp>
        <p:nvSpPr>
          <p:cNvPr id="30" name="Text 27"/>
          <p:cNvSpPr/>
          <p:nvPr/>
        </p:nvSpPr>
        <p:spPr>
          <a:xfrm>
            <a:off x="607219" y="3003947"/>
            <a:ext cx="642938"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辑上可用）。</a:t>
            </a:r>
            <a:endParaRPr lang="en-US" sz="800" dirty="0"/>
          </a:p>
        </p:txBody>
      </p:sp>
      <p:sp>
        <p:nvSpPr>
          <p:cNvPr id="31" name="Text 28"/>
          <p:cNvSpPr/>
          <p:nvPr/>
        </p:nvSpPr>
        <p:spPr>
          <a:xfrm>
            <a:off x="607219" y="3175397"/>
            <a:ext cx="67308"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a:t>
            </a:r>
            <a:endParaRPr lang="en-US" sz="800" dirty="0"/>
          </a:p>
        </p:txBody>
      </p:sp>
      <p:sp>
        <p:nvSpPr>
          <p:cNvPr id="32" name="Text 29"/>
          <p:cNvSpPr/>
          <p:nvPr/>
        </p:nvSpPr>
        <p:spPr>
          <a:xfrm>
            <a:off x="674526" y="3175397"/>
            <a:ext cx="303721" cy="117872"/>
          </a:xfrm>
          <a:prstGeom prst="rect">
            <a:avLst/>
          </a:prstGeom>
          <a:noFill/>
          <a:ln/>
        </p:spPr>
        <p:txBody>
          <a:bodyPr wrap="none" lIns="0" tIns="0" rIns="0" bIns="0" rtlCol="0" anchor="t">
            <a:spAutoFit/>
          </a:bodyPr>
          <a:lstStyle/>
          <a:p>
            <a:pPr marL="0" indent="0" algn="l">
              <a:lnSpc>
                <a:spcPct val="128000"/>
              </a:lnSpc>
              <a:buNone/>
            </a:pPr>
            <a:r>
              <a:rPr lang="en-US" sz="750" b="1" dirty="0">
                <a:solidFill>
                  <a:srgbClr val="2E2E38"/>
                </a:solidFill>
                <a:latin typeface="Arial" pitchFamily="34" charset="0"/>
                <a:ea typeface="Arial" pitchFamily="34" charset="-122"/>
                <a:cs typeface="Arial" pitchFamily="34" charset="-120"/>
              </a:rPr>
              <a:t>阶段 2</a:t>
            </a:r>
            <a:endParaRPr lang="en-US" sz="750" dirty="0"/>
          </a:p>
        </p:txBody>
      </p:sp>
      <p:sp>
        <p:nvSpPr>
          <p:cNvPr id="33" name="Text 30"/>
          <p:cNvSpPr/>
          <p:nvPr/>
        </p:nvSpPr>
        <p:spPr>
          <a:xfrm>
            <a:off x="978247" y="3175397"/>
            <a:ext cx="940798"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：FIFO pop 时执行</a:t>
            </a:r>
            <a:endParaRPr lang="en-US" sz="800" dirty="0"/>
          </a:p>
        </p:txBody>
      </p:sp>
      <p:sp>
        <p:nvSpPr>
          <p:cNvPr id="34" name="Text 31"/>
          <p:cNvSpPr/>
          <p:nvPr/>
        </p:nvSpPr>
        <p:spPr>
          <a:xfrm>
            <a:off x="1919046" y="3175397"/>
            <a:ext cx="1039192"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SRAM[旧tail].next = X</a:t>
            </a:r>
            <a:endParaRPr lang="en-US" sz="800" dirty="0"/>
          </a:p>
        </p:txBody>
      </p:sp>
      <p:sp>
        <p:nvSpPr>
          <p:cNvPr id="35" name="Text 32"/>
          <p:cNvSpPr/>
          <p:nvPr/>
        </p:nvSpPr>
        <p:spPr>
          <a:xfrm>
            <a:off x="2958238" y="3175397"/>
            <a:ext cx="244115"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并更</a:t>
            </a:r>
            <a:endParaRPr lang="en-US" sz="800" dirty="0"/>
          </a:p>
        </p:txBody>
      </p:sp>
      <p:sp>
        <p:nvSpPr>
          <p:cNvPr id="36" name="Text 33"/>
          <p:cNvSpPr/>
          <p:nvPr/>
        </p:nvSpPr>
        <p:spPr>
          <a:xfrm>
            <a:off x="607219" y="3346847"/>
            <a:ext cx="136959"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新</a:t>
            </a:r>
            <a:endParaRPr lang="en-US" sz="800" dirty="0"/>
          </a:p>
        </p:txBody>
      </p:sp>
      <p:sp>
        <p:nvSpPr>
          <p:cNvPr id="37" name="Text 34"/>
          <p:cNvSpPr/>
          <p:nvPr/>
        </p:nvSpPr>
        <p:spPr>
          <a:xfrm>
            <a:off x="744178" y="3346847"/>
            <a:ext cx="500453"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free_tail_q</a:t>
            </a:r>
            <a:endParaRPr lang="en-US" sz="800" dirty="0"/>
          </a:p>
        </p:txBody>
      </p:sp>
      <p:sp>
        <p:nvSpPr>
          <p:cNvPr id="38" name="Text 35"/>
          <p:cNvSpPr/>
          <p:nvPr/>
        </p:nvSpPr>
        <p:spPr>
          <a:xfrm>
            <a:off x="1244631" y="3346847"/>
            <a:ext cx="107156"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a:t>
            </a:r>
            <a:endParaRPr lang="en-US" sz="800" dirty="0"/>
          </a:p>
        </p:txBody>
      </p:sp>
      <p:sp>
        <p:nvSpPr>
          <p:cNvPr id="39" name="Text 36"/>
          <p:cNvSpPr/>
          <p:nvPr/>
        </p:nvSpPr>
        <p:spPr>
          <a:xfrm>
            <a:off x="607219" y="3518297"/>
            <a:ext cx="67308"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a:t>
            </a:r>
            <a:endParaRPr lang="en-US" sz="800" dirty="0"/>
          </a:p>
        </p:txBody>
      </p:sp>
      <p:sp>
        <p:nvSpPr>
          <p:cNvPr id="40" name="Text 37"/>
          <p:cNvSpPr/>
          <p:nvPr/>
        </p:nvSpPr>
        <p:spPr>
          <a:xfrm>
            <a:off x="674526" y="3518297"/>
            <a:ext cx="321469" cy="117872"/>
          </a:xfrm>
          <a:prstGeom prst="rect">
            <a:avLst/>
          </a:prstGeom>
          <a:noFill/>
          <a:ln/>
        </p:spPr>
        <p:txBody>
          <a:bodyPr wrap="none" lIns="0" tIns="0" rIns="0" bIns="0" rtlCol="0" anchor="t">
            <a:spAutoFit/>
          </a:bodyPr>
          <a:lstStyle/>
          <a:p>
            <a:pPr marL="0" indent="0" algn="l">
              <a:lnSpc>
                <a:spcPct val="128000"/>
              </a:lnSpc>
              <a:buNone/>
            </a:pPr>
            <a:r>
              <a:rPr lang="en-US" sz="750" b="1" dirty="0">
                <a:solidFill>
                  <a:srgbClr val="2E2E38"/>
                </a:solidFill>
                <a:latin typeface="Arial" pitchFamily="34" charset="0"/>
                <a:ea typeface="Arial" pitchFamily="34" charset="-122"/>
                <a:cs typeface="Arial" pitchFamily="34" charset="-120"/>
              </a:rPr>
              <a:t>对称性</a:t>
            </a:r>
            <a:endParaRPr lang="en-US" sz="750" dirty="0"/>
          </a:p>
        </p:txBody>
      </p:sp>
      <p:sp>
        <p:nvSpPr>
          <p:cNvPr id="41" name="Text 38"/>
          <p:cNvSpPr/>
          <p:nvPr/>
        </p:nvSpPr>
        <p:spPr>
          <a:xfrm>
            <a:off x="995995" y="3518297"/>
            <a:ext cx="2071855"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：与入队路径完全对称的“Tail-in-Register”手</a:t>
            </a:r>
            <a:endParaRPr lang="en-US" sz="800" dirty="0"/>
          </a:p>
        </p:txBody>
      </p:sp>
      <p:sp>
        <p:nvSpPr>
          <p:cNvPr id="42" name="Text 39"/>
          <p:cNvSpPr/>
          <p:nvPr/>
        </p:nvSpPr>
        <p:spPr>
          <a:xfrm>
            <a:off x="607219" y="3689747"/>
            <a:ext cx="2083687"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法，确保 SRAM 写操作的有序性与高效性。</a:t>
            </a:r>
            <a:endParaRPr lang="en-US" sz="800" dirty="0"/>
          </a:p>
        </p:txBody>
      </p:sp>
      <p:sp>
        <p:nvSpPr>
          <p:cNvPr id="43" name="Text 40"/>
          <p:cNvSpPr/>
          <p:nvPr/>
        </p:nvSpPr>
        <p:spPr>
          <a:xfrm>
            <a:off x="5443538" y="785813"/>
            <a:ext cx="1543050" cy="175022"/>
          </a:xfrm>
          <a:prstGeom prst="rect">
            <a:avLst/>
          </a:prstGeom>
          <a:noFill/>
          <a:ln/>
        </p:spPr>
        <p:txBody>
          <a:bodyPr wrap="square" lIns="0" tIns="0" rIns="0" bIns="0" rtlCol="0" anchor="t">
            <a:spAutoFit/>
          </a:bodyPr>
          <a:lstStyle/>
          <a:p>
            <a:pPr marL="0" indent="0" algn="l">
              <a:buNone/>
            </a:pPr>
            <a:r>
              <a:rPr lang="en-US" sz="900" b="1" dirty="0">
                <a:solidFill>
                  <a:srgbClr val="3253DC"/>
                </a:solidFill>
                <a:latin typeface="Arial" pitchFamily="34" charset="0"/>
                <a:ea typeface="Arial" pitchFamily="34" charset="-122"/>
                <a:cs typeface="Arial" pitchFamily="34" charset="-120"/>
              </a:rPr>
              <a:t>两阶段地址回收机制示意图</a:t>
            </a:r>
            <a:endParaRPr lang="en-US" sz="900" dirty="0"/>
          </a:p>
        </p:txBody>
      </p:sp>
      <p:sp>
        <p:nvSpPr>
          <p:cNvPr id="44" name="Shape 41"/>
          <p:cNvSpPr/>
          <p:nvPr/>
        </p:nvSpPr>
        <p:spPr>
          <a:xfrm>
            <a:off x="3714750" y="1067991"/>
            <a:ext cx="5000625" cy="3286125"/>
          </a:xfrm>
          <a:prstGeom prst="rect">
            <a:avLst/>
          </a:prstGeom>
          <a:solidFill>
            <a:srgbClr val="FFFFFF"/>
          </a:solidFill>
          <a:ln/>
        </p:spPr>
        <p:txBody>
          <a:bodyPr/>
          <a:lstStyle/>
          <a:p>
            <a:endParaRPr lang="zh-CN" altLang="en-US"/>
          </a:p>
        </p:txBody>
      </p:sp>
      <p:pic>
        <p:nvPicPr>
          <p:cNvPr id="45" name="Image 1" descr="preencoded.png"/>
          <p:cNvPicPr>
            <a:picLocks noChangeAspect="1"/>
          </p:cNvPicPr>
          <p:nvPr/>
        </p:nvPicPr>
        <p:blipFill>
          <a:blip r:embed="rId4"/>
          <a:stretch>
            <a:fillRect/>
          </a:stretch>
        </p:blipFill>
        <p:spPr>
          <a:xfrm>
            <a:off x="3714750" y="1067991"/>
            <a:ext cx="5000625" cy="3286125"/>
          </a:xfrm>
          <a:prstGeom prst="rect">
            <a:avLst/>
          </a:prstGeom>
        </p:spPr>
      </p:pic>
      <p:sp>
        <p:nvSpPr>
          <p:cNvPr id="46" name="Text 42"/>
          <p:cNvSpPr/>
          <p:nvPr/>
        </p:nvSpPr>
        <p:spPr>
          <a:xfrm>
            <a:off x="4542588" y="4354116"/>
            <a:ext cx="3344949" cy="242888"/>
          </a:xfrm>
          <a:prstGeom prst="rect">
            <a:avLst/>
          </a:prstGeom>
          <a:noFill/>
          <a:ln/>
        </p:spPr>
        <p:txBody>
          <a:bodyPr wrap="square" lIns="0" tIns="127508" rIns="0" bIns="0" rtlCol="0" anchor="t">
            <a:spAutoFit/>
          </a:bodyPr>
          <a:lstStyle/>
          <a:p>
            <a:pPr marL="0" indent="0" algn="ctr">
              <a:buNone/>
            </a:pPr>
            <a:r>
              <a:rPr lang="en-US" sz="750" dirty="0">
                <a:solidFill>
                  <a:srgbClr val="6E6E7A"/>
                </a:solidFill>
                <a:latin typeface="Arial" pitchFamily="34" charset="0"/>
                <a:ea typeface="Arial" pitchFamily="34" charset="-122"/>
                <a:cs typeface="Arial" pitchFamily="34" charset="-120"/>
              </a:rPr>
              <a:t>回收与入队共享相同的队尾寄存器处理逻辑，极大简化了 SRAM 访问仲裁。</a:t>
            </a:r>
            <a:endParaRPr lang="en-US" sz="750" dirty="0"/>
          </a:p>
        </p:txBody>
      </p:sp>
      <p:sp>
        <p:nvSpPr>
          <p:cNvPr id="47" name="Text 43"/>
          <p:cNvSpPr/>
          <p:nvPr/>
        </p:nvSpPr>
        <p:spPr>
          <a:xfrm>
            <a:off x="428625" y="4879181"/>
            <a:ext cx="857473"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SMMU Design Review</a:t>
            </a:r>
            <a:endParaRPr lang="en-US" sz="600" dirty="0"/>
          </a:p>
        </p:txBody>
      </p:sp>
      <p:sp>
        <p:nvSpPr>
          <p:cNvPr id="48" name="Text 44"/>
          <p:cNvSpPr/>
          <p:nvPr/>
        </p:nvSpPr>
        <p:spPr>
          <a:xfrm>
            <a:off x="8395971" y="4879181"/>
            <a:ext cx="319404"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Page 16</a:t>
            </a:r>
            <a:endParaRPr lang="en-US" sz="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71500"/>
          </a:xfrm>
          <a:prstGeom prst="rect">
            <a:avLst/>
          </a:prstGeom>
          <a:solidFill>
            <a:srgbClr val="3253DC"/>
          </a:solidFill>
          <a:ln/>
        </p:spPr>
        <p:txBody>
          <a:bodyPr/>
          <a:lstStyle/>
          <a:p>
            <a:endParaRPr lang="zh-CN" altLang="en-US"/>
          </a:p>
        </p:txBody>
      </p:sp>
      <p:sp>
        <p:nvSpPr>
          <p:cNvPr id="4" name="Text 1"/>
          <p:cNvSpPr/>
          <p:nvPr/>
        </p:nvSpPr>
        <p:spPr>
          <a:xfrm>
            <a:off x="428625" y="130373"/>
            <a:ext cx="4394188" cy="310753"/>
          </a:xfrm>
          <a:prstGeom prst="rect">
            <a:avLst/>
          </a:prstGeom>
          <a:noFill/>
          <a:ln/>
        </p:spPr>
        <p:txBody>
          <a:bodyPr wrap="square" lIns="0" tIns="0" rIns="0" bIns="0" rtlCol="0" anchor="t">
            <a:spAutoFit/>
          </a:bodyPr>
          <a:lstStyle/>
          <a:p>
            <a:pPr marL="0" indent="0" algn="l">
              <a:buNone/>
            </a:pPr>
            <a:r>
              <a:rPr lang="en-US" sz="1600" b="1" dirty="0">
                <a:solidFill>
                  <a:srgbClr val="FFFFFF"/>
                </a:solidFill>
                <a:latin typeface="Arial" pitchFamily="34" charset="0"/>
                <a:ea typeface="Arial" pitchFamily="34" charset="-122"/>
                <a:cs typeface="Arial" pitchFamily="34" charset="-120"/>
              </a:rPr>
              <a:t>核心引擎 —— LLE 仲裁与 SRAM 时分复用</a:t>
            </a:r>
            <a:endParaRPr lang="en-US" sz="1600" dirty="0"/>
          </a:p>
        </p:txBody>
      </p:sp>
      <p:sp>
        <p:nvSpPr>
          <p:cNvPr id="5" name="Shape 2"/>
          <p:cNvSpPr/>
          <p:nvPr/>
        </p:nvSpPr>
        <p:spPr>
          <a:xfrm>
            <a:off x="428625" y="785813"/>
            <a:ext cx="8286750" cy="312874"/>
          </a:xfrm>
          <a:prstGeom prst="rect">
            <a:avLst/>
          </a:prstGeom>
          <a:solidFill>
            <a:srgbClr val="FFFFFF"/>
          </a:solidFill>
          <a:ln/>
        </p:spPr>
        <p:txBody>
          <a:bodyPr/>
          <a:lstStyle/>
          <a:p>
            <a:endParaRPr lang="zh-CN" altLang="en-US"/>
          </a:p>
        </p:txBody>
      </p:sp>
      <p:sp>
        <p:nvSpPr>
          <p:cNvPr id="6" name="Shape 3"/>
          <p:cNvSpPr/>
          <p:nvPr/>
        </p:nvSpPr>
        <p:spPr>
          <a:xfrm>
            <a:off x="428625" y="785813"/>
            <a:ext cx="28575" cy="312874"/>
          </a:xfrm>
          <a:prstGeom prst="rect">
            <a:avLst/>
          </a:prstGeom>
          <a:solidFill>
            <a:srgbClr val="6CA0F6"/>
          </a:solidFill>
          <a:ln/>
        </p:spPr>
        <p:txBody>
          <a:bodyPr/>
          <a:lstStyle/>
          <a:p>
            <a:endParaRPr lang="zh-CN" altLang="en-US"/>
          </a:p>
        </p:txBody>
      </p:sp>
      <p:sp>
        <p:nvSpPr>
          <p:cNvPr id="7" name="Text 4"/>
          <p:cNvSpPr/>
          <p:nvPr/>
        </p:nvSpPr>
        <p:spPr>
          <a:xfrm>
            <a:off x="571500" y="892969"/>
            <a:ext cx="8001000" cy="205718"/>
          </a:xfrm>
          <a:prstGeom prst="rect">
            <a:avLst/>
          </a:prstGeom>
          <a:noFill/>
          <a:ln/>
        </p:spPr>
        <p:txBody>
          <a:bodyPr wrap="none" lIns="0" tIns="0" rIns="0" bIns="0" rtlCol="0" anchor="t">
            <a:spAutoFit/>
          </a:bodyPr>
          <a:lstStyle/>
          <a:p>
            <a:pPr marL="0" indent="0" algn="l">
              <a:lnSpc>
                <a:spcPct val="128000"/>
              </a:lnSpc>
              <a:buNone/>
            </a:pPr>
            <a:r>
              <a:rPr lang="en-US" sz="900" b="1" dirty="0">
                <a:solidFill>
                  <a:srgbClr val="2E2E38"/>
                </a:solidFill>
                <a:latin typeface="Arial" pitchFamily="34" charset="0"/>
                <a:ea typeface="Arial" pitchFamily="34" charset="-122"/>
                <a:cs typeface="Arial" pitchFamily="34" charset="-120"/>
              </a:rPr>
              <a:t>LLE (Link-List Engine) 作为唯一访问 Next-Ptr SRAM 的模块，通过高效的仲裁机制协调多个控制平面的访问请求。</a:t>
            </a:r>
            <a:endParaRPr lang="en-US" sz="900" dirty="0"/>
          </a:p>
        </p:txBody>
      </p:sp>
      <p:sp>
        <p:nvSpPr>
          <p:cNvPr id="8" name="Shape 5"/>
          <p:cNvSpPr/>
          <p:nvPr/>
        </p:nvSpPr>
        <p:spPr>
          <a:xfrm>
            <a:off x="428625" y="1241561"/>
            <a:ext cx="4036219" cy="1953816"/>
          </a:xfrm>
          <a:prstGeom prst="rect">
            <a:avLst/>
          </a:prstGeom>
          <a:solidFill>
            <a:srgbClr val="FFFFFF"/>
          </a:solidFill>
          <a:ln/>
        </p:spPr>
        <p:txBody>
          <a:bodyPr/>
          <a:lstStyle/>
          <a:p>
            <a:endParaRPr lang="zh-CN" altLang="en-US"/>
          </a:p>
        </p:txBody>
      </p:sp>
      <p:sp>
        <p:nvSpPr>
          <p:cNvPr id="9" name="Text 6"/>
          <p:cNvSpPr/>
          <p:nvPr/>
        </p:nvSpPr>
        <p:spPr>
          <a:xfrm>
            <a:off x="571500" y="1384436"/>
            <a:ext cx="3750469" cy="196453"/>
          </a:xfrm>
          <a:prstGeom prst="rect">
            <a:avLst/>
          </a:prstGeom>
          <a:noFill/>
          <a:ln/>
        </p:spPr>
        <p:txBody>
          <a:bodyPr wrap="square" lIns="0" tIns="0" rIns="0" bIns="0" rtlCol="0" anchor="t">
            <a:spAutoFit/>
          </a:bodyPr>
          <a:lstStyle/>
          <a:p>
            <a:pPr marL="0" indent="0" algn="l">
              <a:buNone/>
            </a:pPr>
            <a:r>
              <a:rPr lang="en-US" sz="1000" b="1" dirty="0">
                <a:solidFill>
                  <a:srgbClr val="3253DC"/>
                </a:solidFill>
                <a:latin typeface="Arial" pitchFamily="34" charset="0"/>
                <a:ea typeface="Arial" pitchFamily="34" charset="-122"/>
                <a:cs typeface="Arial" pitchFamily="34" charset="-120"/>
              </a:rPr>
              <a:t>仲裁优先级策略</a:t>
            </a:r>
            <a:endParaRPr lang="en-US" sz="1000" dirty="0"/>
          </a:p>
        </p:txBody>
      </p:sp>
      <p:sp>
        <p:nvSpPr>
          <p:cNvPr id="10" name="Shape 7"/>
          <p:cNvSpPr/>
          <p:nvPr/>
        </p:nvSpPr>
        <p:spPr>
          <a:xfrm>
            <a:off x="575072" y="1688046"/>
            <a:ext cx="512731" cy="282178"/>
          </a:xfrm>
          <a:prstGeom prst="rect">
            <a:avLst/>
          </a:prstGeom>
          <a:solidFill>
            <a:srgbClr val="6E6E7A"/>
          </a:solidFill>
          <a:ln/>
        </p:spPr>
        <p:txBody>
          <a:bodyPr/>
          <a:lstStyle/>
          <a:p>
            <a:endParaRPr lang="zh-CN" altLang="en-US"/>
          </a:p>
        </p:txBody>
      </p:sp>
      <p:sp>
        <p:nvSpPr>
          <p:cNvPr id="11" name="Text 8"/>
          <p:cNvSpPr/>
          <p:nvPr/>
        </p:nvSpPr>
        <p:spPr>
          <a:xfrm>
            <a:off x="575072" y="1688046"/>
            <a:ext cx="512731" cy="282178"/>
          </a:xfrm>
          <a:prstGeom prst="rect">
            <a:avLst/>
          </a:prstGeom>
          <a:noFill/>
          <a:ln/>
        </p:spPr>
        <p:txBody>
          <a:bodyPr wrap="none" lIns="85090" tIns="85090" rIns="85090" bIns="85090" rtlCol="0" anchor="ctr">
            <a:spAutoFit/>
          </a:bodyPr>
          <a:lstStyle/>
          <a:p>
            <a:pPr marL="0" indent="0" algn="l">
              <a:buNone/>
            </a:pPr>
            <a:r>
              <a:rPr lang="en-US" sz="700" b="1" dirty="0">
                <a:solidFill>
                  <a:srgbClr val="FFFFFF"/>
                </a:solidFill>
                <a:latin typeface="Arial" pitchFamily="34" charset="0"/>
                <a:ea typeface="Arial" pitchFamily="34" charset="-122"/>
                <a:cs typeface="Arial" pitchFamily="34" charset="-120"/>
              </a:rPr>
              <a:t>优先级</a:t>
            </a:r>
            <a:endParaRPr lang="en-US" sz="700" dirty="0"/>
          </a:p>
        </p:txBody>
      </p:sp>
      <p:sp>
        <p:nvSpPr>
          <p:cNvPr id="12" name="Shape 9"/>
          <p:cNvSpPr/>
          <p:nvPr/>
        </p:nvSpPr>
        <p:spPr>
          <a:xfrm>
            <a:off x="1087803" y="1688046"/>
            <a:ext cx="902568" cy="282178"/>
          </a:xfrm>
          <a:prstGeom prst="rect">
            <a:avLst/>
          </a:prstGeom>
          <a:solidFill>
            <a:srgbClr val="6E6E7A"/>
          </a:solidFill>
          <a:ln/>
        </p:spPr>
        <p:txBody>
          <a:bodyPr/>
          <a:lstStyle/>
          <a:p>
            <a:endParaRPr lang="zh-CN" altLang="en-US"/>
          </a:p>
        </p:txBody>
      </p:sp>
      <p:sp>
        <p:nvSpPr>
          <p:cNvPr id="13" name="Text 10"/>
          <p:cNvSpPr/>
          <p:nvPr/>
        </p:nvSpPr>
        <p:spPr>
          <a:xfrm>
            <a:off x="1087803" y="1688046"/>
            <a:ext cx="902568" cy="282178"/>
          </a:xfrm>
          <a:prstGeom prst="rect">
            <a:avLst/>
          </a:prstGeom>
          <a:noFill/>
          <a:ln/>
        </p:spPr>
        <p:txBody>
          <a:bodyPr wrap="none" lIns="85090" tIns="85090" rIns="85090" bIns="85090" rtlCol="0" anchor="ctr">
            <a:spAutoFit/>
          </a:bodyPr>
          <a:lstStyle/>
          <a:p>
            <a:pPr marL="0" indent="0" algn="l">
              <a:buNone/>
            </a:pPr>
            <a:r>
              <a:rPr lang="en-US" sz="700" b="1" dirty="0">
                <a:solidFill>
                  <a:srgbClr val="FFFFFF"/>
                </a:solidFill>
                <a:latin typeface="Arial" pitchFamily="34" charset="0"/>
                <a:ea typeface="Arial" pitchFamily="34" charset="-122"/>
                <a:cs typeface="Arial" pitchFamily="34" charset="-120"/>
              </a:rPr>
              <a:t>操作类型</a:t>
            </a:r>
            <a:endParaRPr lang="en-US" sz="700" dirty="0"/>
          </a:p>
        </p:txBody>
      </p:sp>
      <p:sp>
        <p:nvSpPr>
          <p:cNvPr id="14" name="Shape 11"/>
          <p:cNvSpPr/>
          <p:nvPr/>
        </p:nvSpPr>
        <p:spPr>
          <a:xfrm>
            <a:off x="1990372" y="1688046"/>
            <a:ext cx="2328025" cy="282178"/>
          </a:xfrm>
          <a:prstGeom prst="rect">
            <a:avLst/>
          </a:prstGeom>
          <a:solidFill>
            <a:srgbClr val="6E6E7A"/>
          </a:solidFill>
          <a:ln/>
        </p:spPr>
        <p:txBody>
          <a:bodyPr/>
          <a:lstStyle/>
          <a:p>
            <a:endParaRPr lang="zh-CN" altLang="en-US"/>
          </a:p>
        </p:txBody>
      </p:sp>
      <p:sp>
        <p:nvSpPr>
          <p:cNvPr id="15" name="Text 12"/>
          <p:cNvSpPr/>
          <p:nvPr/>
        </p:nvSpPr>
        <p:spPr>
          <a:xfrm>
            <a:off x="1990372" y="1688046"/>
            <a:ext cx="2328025" cy="282178"/>
          </a:xfrm>
          <a:prstGeom prst="rect">
            <a:avLst/>
          </a:prstGeom>
          <a:noFill/>
          <a:ln/>
        </p:spPr>
        <p:txBody>
          <a:bodyPr wrap="square" lIns="85090" tIns="85090" rIns="85090" bIns="85090" rtlCol="0" anchor="ctr">
            <a:spAutoFit/>
          </a:bodyPr>
          <a:lstStyle/>
          <a:p>
            <a:pPr marL="0" indent="0" algn="l">
              <a:buNone/>
            </a:pPr>
            <a:r>
              <a:rPr lang="en-US" sz="700" b="1" dirty="0">
                <a:solidFill>
                  <a:srgbClr val="FFFFFF"/>
                </a:solidFill>
                <a:latin typeface="Arial" pitchFamily="34" charset="0"/>
                <a:ea typeface="Arial" pitchFamily="34" charset="-122"/>
                <a:cs typeface="Arial" pitchFamily="34" charset="-120"/>
              </a:rPr>
              <a:t>设计考量</a:t>
            </a:r>
            <a:endParaRPr lang="en-US" sz="700" dirty="0"/>
          </a:p>
        </p:txBody>
      </p:sp>
      <p:sp>
        <p:nvSpPr>
          <p:cNvPr id="16" name="Shape 13"/>
          <p:cNvSpPr/>
          <p:nvPr/>
        </p:nvSpPr>
        <p:spPr>
          <a:xfrm>
            <a:off x="650081" y="2030946"/>
            <a:ext cx="223800" cy="264319"/>
          </a:xfrm>
          <a:prstGeom prst="rect">
            <a:avLst/>
          </a:prstGeom>
          <a:solidFill>
            <a:srgbClr val="E4002B"/>
          </a:solidFill>
          <a:ln/>
        </p:spPr>
        <p:txBody>
          <a:bodyPr/>
          <a:lstStyle/>
          <a:p>
            <a:endParaRPr lang="zh-CN" altLang="en-US"/>
          </a:p>
        </p:txBody>
      </p:sp>
      <p:sp>
        <p:nvSpPr>
          <p:cNvPr id="17" name="Text 14"/>
          <p:cNvSpPr/>
          <p:nvPr/>
        </p:nvSpPr>
        <p:spPr>
          <a:xfrm>
            <a:off x="650081" y="2030946"/>
            <a:ext cx="223800" cy="264319"/>
          </a:xfrm>
          <a:prstGeom prst="rect">
            <a:avLst/>
          </a:prstGeom>
          <a:noFill/>
          <a:ln/>
        </p:spPr>
        <p:txBody>
          <a:bodyPr wrap="none" lIns="68072" tIns="17018" rIns="68072" bIns="17018" rtlCol="0" anchor="t">
            <a:spAutoFit/>
          </a:bodyPr>
          <a:lstStyle/>
          <a:p>
            <a:pPr marL="0" indent="0" algn="l">
              <a:buNone/>
            </a:pPr>
            <a:r>
              <a:rPr lang="en-US" sz="700" b="1" dirty="0">
                <a:solidFill>
                  <a:srgbClr val="FFFFFF"/>
                </a:solidFill>
                <a:latin typeface="Arial" pitchFamily="34" charset="0"/>
                <a:ea typeface="Arial" pitchFamily="34" charset="-122"/>
                <a:cs typeface="Arial" pitchFamily="34" charset="-120"/>
              </a:rPr>
              <a:t>1 (高)</a:t>
            </a:r>
            <a:endParaRPr lang="en-US" sz="700" dirty="0"/>
          </a:p>
        </p:txBody>
      </p:sp>
      <p:sp>
        <p:nvSpPr>
          <p:cNvPr id="18" name="Text 15"/>
          <p:cNvSpPr/>
          <p:nvPr/>
        </p:nvSpPr>
        <p:spPr>
          <a:xfrm>
            <a:off x="1162813" y="2113099"/>
            <a:ext cx="716831" cy="110728"/>
          </a:xfrm>
          <a:prstGeom prst="rect">
            <a:avLst/>
          </a:prstGeom>
          <a:noFill/>
          <a:ln/>
        </p:spPr>
        <p:txBody>
          <a:bodyPr wrap="none" lIns="0" tIns="0" rIns="0" bIns="0" rtlCol="0" anchor="t">
            <a:spAutoFit/>
          </a:bodyPr>
          <a:lstStyle/>
          <a:p>
            <a:pPr marL="0" indent="0" algn="l">
              <a:buNone/>
            </a:pPr>
            <a:r>
              <a:rPr lang="en-US" sz="700" b="1" dirty="0">
                <a:solidFill>
                  <a:srgbClr val="2E2E38"/>
                </a:solidFill>
                <a:latin typeface="Arial" pitchFamily="34" charset="0"/>
                <a:ea typeface="Arial" pitchFamily="34" charset="-122"/>
                <a:cs typeface="Arial" pitchFamily="34" charset="-120"/>
              </a:rPr>
              <a:t>出队 (Dequeue)</a:t>
            </a:r>
            <a:endParaRPr lang="en-US" sz="700" dirty="0"/>
          </a:p>
        </p:txBody>
      </p:sp>
      <p:sp>
        <p:nvSpPr>
          <p:cNvPr id="19" name="Text 16"/>
          <p:cNvSpPr/>
          <p:nvPr/>
        </p:nvSpPr>
        <p:spPr>
          <a:xfrm>
            <a:off x="1990372" y="1970224"/>
            <a:ext cx="2328025" cy="400050"/>
          </a:xfrm>
          <a:prstGeom prst="rect">
            <a:avLst/>
          </a:prstGeom>
          <a:noFill/>
          <a:ln/>
        </p:spPr>
        <p:txBody>
          <a:bodyPr wrap="squar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确保发送端不因地址读取停顿，保证线速转发。</a:t>
            </a:r>
            <a:endParaRPr lang="en-US" sz="750" dirty="0"/>
          </a:p>
        </p:txBody>
      </p:sp>
      <p:sp>
        <p:nvSpPr>
          <p:cNvPr id="20" name="Shape 17"/>
          <p:cNvSpPr/>
          <p:nvPr/>
        </p:nvSpPr>
        <p:spPr>
          <a:xfrm>
            <a:off x="650081" y="2430996"/>
            <a:ext cx="223800" cy="264319"/>
          </a:xfrm>
          <a:prstGeom prst="rect">
            <a:avLst/>
          </a:prstGeom>
          <a:solidFill>
            <a:srgbClr val="6CA0F6"/>
          </a:solidFill>
          <a:ln/>
        </p:spPr>
        <p:txBody>
          <a:bodyPr/>
          <a:lstStyle/>
          <a:p>
            <a:endParaRPr lang="zh-CN" altLang="en-US"/>
          </a:p>
        </p:txBody>
      </p:sp>
      <p:sp>
        <p:nvSpPr>
          <p:cNvPr id="21" name="Text 18"/>
          <p:cNvSpPr/>
          <p:nvPr/>
        </p:nvSpPr>
        <p:spPr>
          <a:xfrm>
            <a:off x="650081" y="2430996"/>
            <a:ext cx="223800" cy="264319"/>
          </a:xfrm>
          <a:prstGeom prst="rect">
            <a:avLst/>
          </a:prstGeom>
          <a:noFill/>
          <a:ln/>
        </p:spPr>
        <p:txBody>
          <a:bodyPr wrap="none" lIns="68072" tIns="17018" rIns="68072" bIns="17018" rtlCol="0" anchor="t">
            <a:spAutoFit/>
          </a:bodyPr>
          <a:lstStyle/>
          <a:p>
            <a:pPr marL="0" indent="0" algn="l">
              <a:buNone/>
            </a:pPr>
            <a:r>
              <a:rPr lang="en-US" sz="700" b="1" dirty="0">
                <a:solidFill>
                  <a:srgbClr val="FFFFFF"/>
                </a:solidFill>
                <a:latin typeface="Arial" pitchFamily="34" charset="0"/>
                <a:ea typeface="Arial" pitchFamily="34" charset="-122"/>
                <a:cs typeface="Arial" pitchFamily="34" charset="-120"/>
              </a:rPr>
              <a:t>2 (中)</a:t>
            </a:r>
            <a:endParaRPr lang="en-US" sz="700" dirty="0"/>
          </a:p>
        </p:txBody>
      </p:sp>
      <p:sp>
        <p:nvSpPr>
          <p:cNvPr id="22" name="Text 19"/>
          <p:cNvSpPr/>
          <p:nvPr/>
        </p:nvSpPr>
        <p:spPr>
          <a:xfrm>
            <a:off x="1162813" y="2455999"/>
            <a:ext cx="483375" cy="235744"/>
          </a:xfrm>
          <a:prstGeom prst="rect">
            <a:avLst/>
          </a:prstGeom>
          <a:noFill/>
          <a:ln/>
        </p:spPr>
        <p:txBody>
          <a:bodyPr wrap="none" lIns="0" tIns="0" rIns="0" bIns="0" rtlCol="0" anchor="t">
            <a:spAutoFit/>
          </a:bodyPr>
          <a:lstStyle/>
          <a:p>
            <a:pPr marL="0" indent="0" algn="l">
              <a:buNone/>
            </a:pPr>
            <a:r>
              <a:rPr lang="en-US" sz="700" b="1" dirty="0">
                <a:solidFill>
                  <a:srgbClr val="2E2E38"/>
                </a:solidFill>
                <a:latin typeface="Arial" pitchFamily="34" charset="0"/>
                <a:ea typeface="Arial" pitchFamily="34" charset="-122"/>
                <a:cs typeface="Arial" pitchFamily="34" charset="-120"/>
              </a:rPr>
              <a:t>老化 (Age-flush)</a:t>
            </a:r>
            <a:endParaRPr lang="en-US" sz="700" dirty="0"/>
          </a:p>
        </p:txBody>
      </p:sp>
      <p:sp>
        <p:nvSpPr>
          <p:cNvPr id="23" name="Text 20"/>
          <p:cNvSpPr/>
          <p:nvPr/>
        </p:nvSpPr>
        <p:spPr>
          <a:xfrm>
            <a:off x="1990372" y="2370274"/>
            <a:ext cx="2328025" cy="400050"/>
          </a:xfrm>
          <a:prstGeom prst="rect">
            <a:avLst/>
          </a:prstGeom>
          <a:noFill/>
          <a:ln/>
        </p:spPr>
        <p:txBody>
          <a:bodyPr wrap="squar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及时清理僵尸队列，释放被占用的缓存资源。</a:t>
            </a:r>
            <a:endParaRPr lang="en-US" sz="750" dirty="0"/>
          </a:p>
        </p:txBody>
      </p:sp>
      <p:sp>
        <p:nvSpPr>
          <p:cNvPr id="24" name="Shape 21"/>
          <p:cNvSpPr/>
          <p:nvPr/>
        </p:nvSpPr>
        <p:spPr>
          <a:xfrm>
            <a:off x="650081" y="2841761"/>
            <a:ext cx="223800" cy="264319"/>
          </a:xfrm>
          <a:prstGeom prst="rect">
            <a:avLst/>
          </a:prstGeom>
          <a:solidFill>
            <a:srgbClr val="3DBB6B"/>
          </a:solidFill>
          <a:ln/>
        </p:spPr>
        <p:txBody>
          <a:bodyPr/>
          <a:lstStyle/>
          <a:p>
            <a:endParaRPr lang="zh-CN" altLang="en-US"/>
          </a:p>
        </p:txBody>
      </p:sp>
      <p:sp>
        <p:nvSpPr>
          <p:cNvPr id="25" name="Text 22"/>
          <p:cNvSpPr/>
          <p:nvPr/>
        </p:nvSpPr>
        <p:spPr>
          <a:xfrm>
            <a:off x="650081" y="2841761"/>
            <a:ext cx="223800" cy="264319"/>
          </a:xfrm>
          <a:prstGeom prst="rect">
            <a:avLst/>
          </a:prstGeom>
          <a:noFill/>
          <a:ln/>
        </p:spPr>
        <p:txBody>
          <a:bodyPr wrap="none" lIns="68072" tIns="17018" rIns="68072" bIns="17018" rtlCol="0" anchor="t">
            <a:spAutoFit/>
          </a:bodyPr>
          <a:lstStyle/>
          <a:p>
            <a:pPr marL="0" indent="0" algn="l">
              <a:buNone/>
            </a:pPr>
            <a:r>
              <a:rPr lang="en-US" sz="700" b="1" dirty="0">
                <a:solidFill>
                  <a:srgbClr val="FFFFFF"/>
                </a:solidFill>
                <a:latin typeface="Arial" pitchFamily="34" charset="0"/>
                <a:ea typeface="Arial" pitchFamily="34" charset="-122"/>
                <a:cs typeface="Arial" pitchFamily="34" charset="-120"/>
              </a:rPr>
              <a:t>3 (低)</a:t>
            </a:r>
            <a:endParaRPr lang="en-US" sz="700" dirty="0"/>
          </a:p>
        </p:txBody>
      </p:sp>
      <p:sp>
        <p:nvSpPr>
          <p:cNvPr id="26" name="Text 23"/>
          <p:cNvSpPr/>
          <p:nvPr/>
        </p:nvSpPr>
        <p:spPr>
          <a:xfrm>
            <a:off x="1162813" y="2923915"/>
            <a:ext cx="716775" cy="110728"/>
          </a:xfrm>
          <a:prstGeom prst="rect">
            <a:avLst/>
          </a:prstGeom>
          <a:noFill/>
          <a:ln/>
        </p:spPr>
        <p:txBody>
          <a:bodyPr wrap="none" lIns="0" tIns="0" rIns="0" bIns="0" rtlCol="0" anchor="t">
            <a:spAutoFit/>
          </a:bodyPr>
          <a:lstStyle/>
          <a:p>
            <a:pPr marL="0" indent="0" algn="l">
              <a:buNone/>
            </a:pPr>
            <a:r>
              <a:rPr lang="en-US" sz="700" b="1" dirty="0">
                <a:solidFill>
                  <a:srgbClr val="2E2E38"/>
                </a:solidFill>
                <a:latin typeface="Arial" pitchFamily="34" charset="0"/>
                <a:ea typeface="Arial" pitchFamily="34" charset="-122"/>
                <a:cs typeface="Arial" pitchFamily="34" charset="-120"/>
              </a:rPr>
              <a:t>入队 (Enqueue)</a:t>
            </a:r>
            <a:endParaRPr lang="en-US" sz="700" dirty="0"/>
          </a:p>
        </p:txBody>
      </p:sp>
      <p:sp>
        <p:nvSpPr>
          <p:cNvPr id="27" name="Text 24"/>
          <p:cNvSpPr/>
          <p:nvPr/>
        </p:nvSpPr>
        <p:spPr>
          <a:xfrm>
            <a:off x="1990372" y="2770324"/>
            <a:ext cx="2328025" cy="421481"/>
          </a:xfrm>
          <a:prstGeom prst="rect">
            <a:avLst/>
          </a:prstGeom>
          <a:noFill/>
          <a:ln/>
        </p:spPr>
        <p:txBody>
          <a:bodyPr wrap="square" lIns="85090" tIns="85090" rIns="85090" bIns="85090" rtlCol="0" anchor="ctr">
            <a:spAutoFit/>
          </a:bodyPr>
          <a:lstStyle/>
          <a:p>
            <a:pPr marL="0" indent="0" algn="l">
              <a:buNone/>
            </a:pPr>
            <a:r>
              <a:rPr lang="en-US" sz="750" dirty="0">
                <a:solidFill>
                  <a:srgbClr val="2E2E38"/>
                </a:solidFill>
                <a:latin typeface="Arial" pitchFamily="34" charset="0"/>
                <a:ea typeface="Arial" pitchFamily="34" charset="-122"/>
                <a:cs typeface="Arial" pitchFamily="34" charset="-120"/>
              </a:rPr>
              <a:t>利用空闲槽位写入，入队包锁定机制保证原子性。</a:t>
            </a:r>
            <a:endParaRPr lang="en-US" sz="750" dirty="0"/>
          </a:p>
        </p:txBody>
      </p:sp>
      <p:sp>
        <p:nvSpPr>
          <p:cNvPr id="28" name="Shape 25"/>
          <p:cNvSpPr/>
          <p:nvPr/>
        </p:nvSpPr>
        <p:spPr>
          <a:xfrm>
            <a:off x="4679156" y="1241561"/>
            <a:ext cx="4036219" cy="1953816"/>
          </a:xfrm>
          <a:prstGeom prst="rect">
            <a:avLst/>
          </a:prstGeom>
          <a:solidFill>
            <a:srgbClr val="FFFFFF"/>
          </a:solidFill>
          <a:ln/>
        </p:spPr>
        <p:txBody>
          <a:bodyPr/>
          <a:lstStyle/>
          <a:p>
            <a:endParaRPr lang="zh-CN" altLang="en-US"/>
          </a:p>
        </p:txBody>
      </p:sp>
      <p:sp>
        <p:nvSpPr>
          <p:cNvPr id="29" name="Text 26"/>
          <p:cNvSpPr/>
          <p:nvPr/>
        </p:nvSpPr>
        <p:spPr>
          <a:xfrm>
            <a:off x="4822031" y="1384436"/>
            <a:ext cx="3750469" cy="196453"/>
          </a:xfrm>
          <a:prstGeom prst="rect">
            <a:avLst/>
          </a:prstGeom>
          <a:noFill/>
          <a:ln/>
        </p:spPr>
        <p:txBody>
          <a:bodyPr wrap="square" lIns="0" tIns="0" rIns="0" bIns="0" rtlCol="0" anchor="t">
            <a:spAutoFit/>
          </a:bodyPr>
          <a:lstStyle/>
          <a:p>
            <a:pPr marL="0" indent="0" algn="l">
              <a:buNone/>
            </a:pPr>
            <a:r>
              <a:rPr lang="en-US" sz="1000" b="1" dirty="0">
                <a:solidFill>
                  <a:srgbClr val="3253DC"/>
                </a:solidFill>
                <a:latin typeface="Arial" pitchFamily="34" charset="0"/>
                <a:ea typeface="Arial" pitchFamily="34" charset="-122"/>
                <a:cs typeface="Arial" pitchFamily="34" charset="-120"/>
              </a:rPr>
              <a:t>SRAM 时分复用逻辑</a:t>
            </a:r>
            <a:endParaRPr lang="en-US" sz="1000" dirty="0"/>
          </a:p>
        </p:txBody>
      </p:sp>
      <p:pic>
        <p:nvPicPr>
          <p:cNvPr id="30" name="Image 1" descr="preencoded.png"/>
          <p:cNvPicPr>
            <a:picLocks noChangeAspect="1"/>
          </p:cNvPicPr>
          <p:nvPr/>
        </p:nvPicPr>
        <p:blipFill>
          <a:blip r:embed="rId4"/>
          <a:stretch>
            <a:fillRect/>
          </a:stretch>
        </p:blipFill>
        <p:spPr>
          <a:xfrm>
            <a:off x="4822031" y="1723765"/>
            <a:ext cx="107156" cy="107156"/>
          </a:xfrm>
          <a:prstGeom prst="rect">
            <a:avLst/>
          </a:prstGeom>
        </p:spPr>
      </p:pic>
      <p:sp>
        <p:nvSpPr>
          <p:cNvPr id="31" name="Text 27"/>
          <p:cNvSpPr/>
          <p:nvPr/>
        </p:nvSpPr>
        <p:spPr>
          <a:xfrm>
            <a:off x="5000625" y="1723765"/>
            <a:ext cx="910828" cy="117872"/>
          </a:xfrm>
          <a:prstGeom prst="rect">
            <a:avLst/>
          </a:prstGeom>
          <a:noFill/>
          <a:ln/>
        </p:spPr>
        <p:txBody>
          <a:bodyPr wrap="none" lIns="0" tIns="0" rIns="0" bIns="0" rtlCol="0" anchor="t">
            <a:spAutoFit/>
          </a:bodyPr>
          <a:lstStyle/>
          <a:p>
            <a:pPr marL="0" indent="0" algn="l">
              <a:lnSpc>
                <a:spcPct val="144000"/>
              </a:lnSpc>
              <a:buNone/>
            </a:pPr>
            <a:r>
              <a:rPr lang="en-US" sz="750" b="1" dirty="0">
                <a:solidFill>
                  <a:srgbClr val="2E2E38"/>
                </a:solidFill>
                <a:latin typeface="Arial" pitchFamily="34" charset="0"/>
                <a:ea typeface="Arial" pitchFamily="34" charset="-122"/>
                <a:cs typeface="Arial" pitchFamily="34" charset="-120"/>
              </a:rPr>
              <a:t>单口 SRAM 虚拟化</a:t>
            </a:r>
            <a:endParaRPr lang="en-US" sz="750" dirty="0"/>
          </a:p>
        </p:txBody>
      </p:sp>
      <p:sp>
        <p:nvSpPr>
          <p:cNvPr id="32" name="Text 28"/>
          <p:cNvSpPr/>
          <p:nvPr/>
        </p:nvSpPr>
        <p:spPr>
          <a:xfrm>
            <a:off x="5841020" y="1717412"/>
            <a:ext cx="3673004" cy="336823"/>
          </a:xfrm>
          <a:prstGeom prst="rect">
            <a:avLst/>
          </a:prstGeom>
          <a:noFill/>
          <a:ln/>
        </p:spPr>
        <p:txBody>
          <a:bodyPr wrap="square" lIns="0" tIns="0" rIns="0" bIns="0" rtlCol="0" anchor="t">
            <a:spAutoFit/>
          </a:bodyPr>
          <a:lstStyle/>
          <a:p>
            <a:pPr marL="0" indent="0" algn="l">
              <a:lnSpc>
                <a:spcPct val="144000"/>
              </a:lnSpc>
              <a:buNone/>
            </a:pPr>
            <a:r>
              <a:rPr lang="en-US" sz="800" dirty="0">
                <a:solidFill>
                  <a:srgbClr val="2E2E38"/>
                </a:solidFill>
                <a:latin typeface="Arial" pitchFamily="34" charset="0"/>
                <a:ea typeface="Arial" pitchFamily="34" charset="-122"/>
                <a:cs typeface="Arial" pitchFamily="34" charset="-120"/>
              </a:rPr>
              <a:t>：通过 TDM (时分复用) 仲裁，使单口 SRAM </a:t>
            </a:r>
            <a:r>
              <a:rPr lang="en-US" sz="800" dirty="0" err="1">
                <a:solidFill>
                  <a:srgbClr val="2E2E38"/>
                </a:solidFill>
                <a:latin typeface="Arial" pitchFamily="34" charset="0"/>
                <a:ea typeface="Arial" pitchFamily="34" charset="-122"/>
                <a:cs typeface="Arial" pitchFamily="34" charset="-120"/>
              </a:rPr>
              <a:t>在逻辑上</a:t>
            </a:r>
            <a:endParaRPr lang="en-US" sz="800" dirty="0">
              <a:solidFill>
                <a:srgbClr val="2E2E38"/>
              </a:solidFill>
              <a:latin typeface="Arial" pitchFamily="34" charset="0"/>
              <a:ea typeface="Arial" pitchFamily="34" charset="-122"/>
              <a:cs typeface="Arial" pitchFamily="34" charset="-120"/>
            </a:endParaRPr>
          </a:p>
          <a:p>
            <a:pPr marL="0" indent="0" algn="l">
              <a:lnSpc>
                <a:spcPct val="144000"/>
              </a:lnSpc>
              <a:buNone/>
            </a:pPr>
            <a:r>
              <a:rPr lang="en-US" sz="800" dirty="0">
                <a:solidFill>
                  <a:srgbClr val="2E2E38"/>
                </a:solidFill>
                <a:latin typeface="Arial" pitchFamily="34" charset="0"/>
                <a:ea typeface="Arial" pitchFamily="34" charset="-122"/>
                <a:cs typeface="Arial" pitchFamily="34" charset="-120"/>
              </a:rPr>
              <a:t>    </a:t>
            </a:r>
            <a:r>
              <a:rPr lang="en-US" sz="800" dirty="0" err="1">
                <a:solidFill>
                  <a:srgbClr val="2E2E38"/>
                </a:solidFill>
                <a:latin typeface="Arial" pitchFamily="34" charset="0"/>
                <a:ea typeface="Arial" pitchFamily="34" charset="-122"/>
                <a:cs typeface="Arial" pitchFamily="34" charset="-120"/>
              </a:rPr>
              <a:t>支持多路并发访问</a:t>
            </a:r>
            <a:r>
              <a:rPr lang="en-US" sz="800" dirty="0">
                <a:solidFill>
                  <a:srgbClr val="2E2E38"/>
                </a:solidFill>
                <a:latin typeface="Arial" pitchFamily="34" charset="0"/>
                <a:ea typeface="Arial" pitchFamily="34" charset="-122"/>
                <a:cs typeface="Arial" pitchFamily="34" charset="-120"/>
              </a:rPr>
              <a:t>。</a:t>
            </a:r>
            <a:endParaRPr lang="en-US" sz="800" dirty="0"/>
          </a:p>
        </p:txBody>
      </p:sp>
      <p:pic>
        <p:nvPicPr>
          <p:cNvPr id="33" name="Image 2" descr="preencoded.png"/>
          <p:cNvPicPr>
            <a:picLocks noChangeAspect="1"/>
          </p:cNvPicPr>
          <p:nvPr/>
        </p:nvPicPr>
        <p:blipFill>
          <a:blip r:embed="rId5"/>
          <a:stretch>
            <a:fillRect/>
          </a:stretch>
        </p:blipFill>
        <p:spPr>
          <a:xfrm>
            <a:off x="4822031" y="2180965"/>
            <a:ext cx="107156" cy="107156"/>
          </a:xfrm>
          <a:prstGeom prst="rect">
            <a:avLst/>
          </a:prstGeom>
        </p:spPr>
      </p:pic>
      <p:sp>
        <p:nvSpPr>
          <p:cNvPr id="34" name="Text 29"/>
          <p:cNvSpPr/>
          <p:nvPr/>
        </p:nvSpPr>
        <p:spPr>
          <a:xfrm>
            <a:off x="5000625" y="2180965"/>
            <a:ext cx="428625" cy="117872"/>
          </a:xfrm>
          <a:prstGeom prst="rect">
            <a:avLst/>
          </a:prstGeom>
          <a:noFill/>
          <a:ln/>
        </p:spPr>
        <p:txBody>
          <a:bodyPr wrap="none" lIns="0" tIns="0" rIns="0" bIns="0" rtlCol="0" anchor="t">
            <a:spAutoFit/>
          </a:bodyPr>
          <a:lstStyle/>
          <a:p>
            <a:pPr marL="0" indent="0" algn="l">
              <a:lnSpc>
                <a:spcPct val="144000"/>
              </a:lnSpc>
              <a:buNone/>
            </a:pPr>
            <a:r>
              <a:rPr lang="en-US" sz="750" b="1" dirty="0">
                <a:solidFill>
                  <a:srgbClr val="2E2E38"/>
                </a:solidFill>
                <a:latin typeface="Arial" pitchFamily="34" charset="0"/>
                <a:ea typeface="Arial" pitchFamily="34" charset="-122"/>
                <a:cs typeface="Arial" pitchFamily="34" charset="-120"/>
              </a:rPr>
              <a:t>冲突处理</a:t>
            </a:r>
            <a:endParaRPr lang="en-US" sz="750" dirty="0"/>
          </a:p>
        </p:txBody>
      </p:sp>
      <p:sp>
        <p:nvSpPr>
          <p:cNvPr id="35" name="Text 30"/>
          <p:cNvSpPr/>
          <p:nvPr/>
        </p:nvSpPr>
        <p:spPr>
          <a:xfrm>
            <a:off x="5397316" y="2174215"/>
            <a:ext cx="3714750" cy="336823"/>
          </a:xfrm>
          <a:prstGeom prst="rect">
            <a:avLst/>
          </a:prstGeom>
          <a:noFill/>
          <a:ln/>
        </p:spPr>
        <p:txBody>
          <a:bodyPr wrap="square" lIns="0" tIns="0" rIns="0" bIns="0" rtlCol="0" anchor="t">
            <a:spAutoFit/>
          </a:bodyPr>
          <a:lstStyle/>
          <a:p>
            <a:pPr marL="0" indent="0" algn="l">
              <a:lnSpc>
                <a:spcPct val="144000"/>
              </a:lnSpc>
              <a:buNone/>
            </a:pPr>
            <a:r>
              <a:rPr lang="en-US" sz="800" dirty="0">
                <a:solidFill>
                  <a:srgbClr val="2E2E38"/>
                </a:solidFill>
                <a:latin typeface="Arial" pitchFamily="34" charset="0"/>
                <a:ea typeface="Arial" pitchFamily="34" charset="-122"/>
                <a:cs typeface="Arial" pitchFamily="34" charset="-120"/>
              </a:rPr>
              <a:t>：</a:t>
            </a:r>
            <a:r>
              <a:rPr lang="en-US" sz="800" dirty="0" err="1">
                <a:solidFill>
                  <a:srgbClr val="2E2E38"/>
                </a:solidFill>
                <a:latin typeface="Arial" pitchFamily="34" charset="0"/>
                <a:ea typeface="Arial" pitchFamily="34" charset="-122"/>
                <a:cs typeface="Arial" pitchFamily="34" charset="-120"/>
              </a:rPr>
              <a:t>当多个请求同时到达时，仲裁器根据优先级选择胜出者，未胜出</a:t>
            </a:r>
            <a:endParaRPr lang="en-US" sz="800" dirty="0">
              <a:solidFill>
                <a:srgbClr val="2E2E38"/>
              </a:solidFill>
              <a:latin typeface="Arial" pitchFamily="34" charset="0"/>
              <a:ea typeface="Arial" pitchFamily="34" charset="-122"/>
              <a:cs typeface="Arial" pitchFamily="34" charset="-120"/>
            </a:endParaRPr>
          </a:p>
          <a:p>
            <a:pPr marL="0" indent="0" algn="l">
              <a:lnSpc>
                <a:spcPct val="144000"/>
              </a:lnSpc>
              <a:buNone/>
            </a:pPr>
            <a:r>
              <a:rPr lang="en-US" sz="800" dirty="0">
                <a:solidFill>
                  <a:srgbClr val="2E2E38"/>
                </a:solidFill>
                <a:latin typeface="Arial" pitchFamily="34" charset="0"/>
                <a:ea typeface="Arial" pitchFamily="34" charset="-122"/>
                <a:cs typeface="Arial" pitchFamily="34" charset="-120"/>
              </a:rPr>
              <a:t>    </a:t>
            </a:r>
            <a:r>
              <a:rPr lang="en-US" sz="800" dirty="0" err="1">
                <a:solidFill>
                  <a:srgbClr val="2E2E38"/>
                </a:solidFill>
                <a:latin typeface="Arial" pitchFamily="34" charset="0"/>
                <a:ea typeface="Arial" pitchFamily="34" charset="-122"/>
                <a:cs typeface="Arial" pitchFamily="34" charset="-120"/>
              </a:rPr>
              <a:t>请求在下一拍重试</a:t>
            </a:r>
            <a:r>
              <a:rPr lang="en-US" sz="800" dirty="0">
                <a:solidFill>
                  <a:srgbClr val="2E2E38"/>
                </a:solidFill>
                <a:latin typeface="Arial" pitchFamily="34" charset="0"/>
                <a:ea typeface="Arial" pitchFamily="34" charset="-122"/>
                <a:cs typeface="Arial" pitchFamily="34" charset="-120"/>
              </a:rPr>
              <a:t>。</a:t>
            </a:r>
            <a:endParaRPr lang="en-US" sz="800" dirty="0"/>
          </a:p>
        </p:txBody>
      </p:sp>
      <p:pic>
        <p:nvPicPr>
          <p:cNvPr id="36" name="Image 3" descr="preencoded.png"/>
          <p:cNvPicPr>
            <a:picLocks noChangeAspect="1"/>
          </p:cNvPicPr>
          <p:nvPr/>
        </p:nvPicPr>
        <p:blipFill>
          <a:blip r:embed="rId6"/>
          <a:stretch>
            <a:fillRect/>
          </a:stretch>
        </p:blipFill>
        <p:spPr>
          <a:xfrm>
            <a:off x="4822031" y="2638165"/>
            <a:ext cx="107156" cy="107156"/>
          </a:xfrm>
          <a:prstGeom prst="rect">
            <a:avLst/>
          </a:prstGeom>
        </p:spPr>
      </p:pic>
      <p:sp>
        <p:nvSpPr>
          <p:cNvPr id="37" name="Text 31"/>
          <p:cNvSpPr/>
          <p:nvPr/>
        </p:nvSpPr>
        <p:spPr>
          <a:xfrm>
            <a:off x="5000625" y="2638165"/>
            <a:ext cx="535781" cy="117872"/>
          </a:xfrm>
          <a:prstGeom prst="rect">
            <a:avLst/>
          </a:prstGeom>
          <a:noFill/>
          <a:ln/>
        </p:spPr>
        <p:txBody>
          <a:bodyPr wrap="none" lIns="0" tIns="0" rIns="0" bIns="0" rtlCol="0" anchor="t">
            <a:spAutoFit/>
          </a:bodyPr>
          <a:lstStyle/>
          <a:p>
            <a:pPr marL="0" indent="0" algn="l">
              <a:lnSpc>
                <a:spcPct val="144000"/>
              </a:lnSpc>
              <a:buNone/>
            </a:pPr>
            <a:r>
              <a:rPr lang="en-US" sz="750" b="1" dirty="0">
                <a:solidFill>
                  <a:srgbClr val="2E2E38"/>
                </a:solidFill>
                <a:latin typeface="Arial" pitchFamily="34" charset="0"/>
                <a:ea typeface="Arial" pitchFamily="34" charset="-122"/>
                <a:cs typeface="Arial" pitchFamily="34" charset="-120"/>
              </a:rPr>
              <a:t>流水线对齐</a:t>
            </a:r>
            <a:endParaRPr lang="en-US" sz="750" dirty="0"/>
          </a:p>
        </p:txBody>
      </p:sp>
      <p:sp>
        <p:nvSpPr>
          <p:cNvPr id="38" name="Text 32"/>
          <p:cNvSpPr/>
          <p:nvPr/>
        </p:nvSpPr>
        <p:spPr>
          <a:xfrm>
            <a:off x="5488688" y="2628929"/>
            <a:ext cx="3655312" cy="310753"/>
          </a:xfrm>
          <a:prstGeom prst="rect">
            <a:avLst/>
          </a:prstGeom>
          <a:noFill/>
          <a:ln/>
        </p:spPr>
        <p:txBody>
          <a:bodyPr wrap="square" lIns="0" tIns="0" rIns="0" bIns="0" rtlCol="0" anchor="t">
            <a:spAutoFit/>
          </a:bodyPr>
          <a:lstStyle/>
          <a:p>
            <a:pPr marL="0" indent="0" algn="l">
              <a:lnSpc>
                <a:spcPct val="144000"/>
              </a:lnSpc>
              <a:buNone/>
            </a:pPr>
            <a:r>
              <a:rPr lang="en-US" sz="800" dirty="0">
                <a:solidFill>
                  <a:srgbClr val="2E2E38"/>
                </a:solidFill>
                <a:latin typeface="Arial" pitchFamily="34" charset="0"/>
                <a:ea typeface="Arial" pitchFamily="34" charset="-122"/>
                <a:cs typeface="Arial" pitchFamily="34" charset="-120"/>
              </a:rPr>
              <a:t>：仲裁结果直接驱动 SRAM 地址线，配合预取寄存器实现无缝切换。</a:t>
            </a:r>
            <a:endParaRPr lang="en-US" sz="800" dirty="0"/>
          </a:p>
        </p:txBody>
      </p:sp>
      <p:sp>
        <p:nvSpPr>
          <p:cNvPr id="39" name="Shape 33"/>
          <p:cNvSpPr/>
          <p:nvPr/>
        </p:nvSpPr>
        <p:spPr>
          <a:xfrm>
            <a:off x="428625" y="3338252"/>
            <a:ext cx="8286750" cy="1285875"/>
          </a:xfrm>
          <a:prstGeom prst="rect">
            <a:avLst/>
          </a:prstGeom>
          <a:solidFill>
            <a:srgbClr val="FFFFFF"/>
          </a:solidFill>
          <a:ln/>
        </p:spPr>
        <p:txBody>
          <a:bodyPr/>
          <a:lstStyle/>
          <a:p>
            <a:endParaRPr lang="zh-CN" altLang="en-US"/>
          </a:p>
        </p:txBody>
      </p:sp>
      <p:pic>
        <p:nvPicPr>
          <p:cNvPr id="40" name="Image 4" descr="preencoded.png"/>
          <p:cNvPicPr>
            <a:picLocks noChangeAspect="1"/>
          </p:cNvPicPr>
          <p:nvPr/>
        </p:nvPicPr>
        <p:blipFill>
          <a:blip r:embed="rId7"/>
          <a:stretch>
            <a:fillRect/>
          </a:stretch>
        </p:blipFill>
        <p:spPr>
          <a:xfrm>
            <a:off x="2428875" y="3409690"/>
            <a:ext cx="4286250" cy="1143000"/>
          </a:xfrm>
          <a:prstGeom prst="rect">
            <a:avLst/>
          </a:prstGeom>
        </p:spPr>
      </p:pic>
      <p:sp>
        <p:nvSpPr>
          <p:cNvPr id="41" name="Text 34"/>
          <p:cNvSpPr/>
          <p:nvPr/>
        </p:nvSpPr>
        <p:spPr>
          <a:xfrm>
            <a:off x="428625" y="4879181"/>
            <a:ext cx="857473"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SMMU Design Review</a:t>
            </a:r>
            <a:endParaRPr lang="en-US" sz="600" dirty="0"/>
          </a:p>
        </p:txBody>
      </p:sp>
      <p:sp>
        <p:nvSpPr>
          <p:cNvPr id="42" name="Text 35"/>
          <p:cNvSpPr/>
          <p:nvPr/>
        </p:nvSpPr>
        <p:spPr>
          <a:xfrm>
            <a:off x="8395971" y="4879181"/>
            <a:ext cx="319404"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Page 17</a:t>
            </a:r>
            <a:endParaRPr lang="en-US" sz="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71500"/>
          </a:xfrm>
          <a:prstGeom prst="rect">
            <a:avLst/>
          </a:prstGeom>
          <a:solidFill>
            <a:srgbClr val="3253DC"/>
          </a:solidFill>
          <a:ln/>
        </p:spPr>
        <p:txBody>
          <a:bodyPr/>
          <a:lstStyle/>
          <a:p>
            <a:endParaRPr lang="zh-CN" altLang="en-US"/>
          </a:p>
        </p:txBody>
      </p:sp>
      <p:sp>
        <p:nvSpPr>
          <p:cNvPr id="4" name="Text 1"/>
          <p:cNvSpPr/>
          <p:nvPr/>
        </p:nvSpPr>
        <p:spPr>
          <a:xfrm>
            <a:off x="428625" y="130373"/>
            <a:ext cx="4402894" cy="310753"/>
          </a:xfrm>
          <a:prstGeom prst="rect">
            <a:avLst/>
          </a:prstGeom>
          <a:noFill/>
          <a:ln/>
        </p:spPr>
        <p:txBody>
          <a:bodyPr wrap="square" lIns="0" tIns="0" rIns="0" bIns="0" rtlCol="0" anchor="t">
            <a:spAutoFit/>
          </a:bodyPr>
          <a:lstStyle/>
          <a:p>
            <a:pPr marL="0" indent="0" algn="l">
              <a:buNone/>
            </a:pPr>
            <a:r>
              <a:rPr lang="en-US" sz="1600" b="1" dirty="0">
                <a:solidFill>
                  <a:srgbClr val="FFFFFF"/>
                </a:solidFill>
                <a:latin typeface="Arial" pitchFamily="34" charset="0"/>
                <a:ea typeface="Arial" pitchFamily="34" charset="-122"/>
                <a:cs typeface="Arial" pitchFamily="34" charset="-120"/>
              </a:rPr>
              <a:t>流控机制 (1) —— PAUSE 与 PFC 迟滞控制</a:t>
            </a:r>
            <a:endParaRPr lang="en-US" sz="1600" dirty="0"/>
          </a:p>
        </p:txBody>
      </p:sp>
      <p:sp>
        <p:nvSpPr>
          <p:cNvPr id="5" name="Shape 2"/>
          <p:cNvSpPr/>
          <p:nvPr/>
        </p:nvSpPr>
        <p:spPr>
          <a:xfrm>
            <a:off x="428625" y="735806"/>
            <a:ext cx="3000375" cy="1686371"/>
          </a:xfrm>
          <a:prstGeom prst="rect">
            <a:avLst/>
          </a:prstGeom>
          <a:solidFill>
            <a:srgbClr val="FFFFFF"/>
          </a:solidFill>
          <a:ln/>
        </p:spPr>
        <p:txBody>
          <a:bodyPr/>
          <a:lstStyle/>
          <a:p>
            <a:endParaRPr lang="zh-CN" altLang="en-US"/>
          </a:p>
        </p:txBody>
      </p:sp>
      <p:sp>
        <p:nvSpPr>
          <p:cNvPr id="6" name="Shape 3"/>
          <p:cNvSpPr/>
          <p:nvPr/>
        </p:nvSpPr>
        <p:spPr>
          <a:xfrm>
            <a:off x="428625" y="735806"/>
            <a:ext cx="28575" cy="1686371"/>
          </a:xfrm>
          <a:prstGeom prst="rect">
            <a:avLst/>
          </a:prstGeom>
          <a:solidFill>
            <a:srgbClr val="6CA0F6"/>
          </a:solidFill>
          <a:ln/>
        </p:spPr>
        <p:txBody>
          <a:bodyPr/>
          <a:lstStyle/>
          <a:p>
            <a:endParaRPr lang="zh-CN" altLang="en-US"/>
          </a:p>
        </p:txBody>
      </p:sp>
      <p:sp>
        <p:nvSpPr>
          <p:cNvPr id="7" name="Text 4"/>
          <p:cNvSpPr/>
          <p:nvPr/>
        </p:nvSpPr>
        <p:spPr>
          <a:xfrm>
            <a:off x="607219" y="878681"/>
            <a:ext cx="2643188" cy="196453"/>
          </a:xfrm>
          <a:prstGeom prst="rect">
            <a:avLst/>
          </a:prstGeom>
          <a:noFill/>
          <a:ln/>
        </p:spPr>
        <p:txBody>
          <a:bodyPr wrap="square" lIns="0" tIns="0" rIns="0" bIns="0" rtlCol="0" anchor="t">
            <a:spAutoFit/>
          </a:bodyPr>
          <a:lstStyle/>
          <a:p>
            <a:pPr marL="0" indent="0" algn="l">
              <a:buNone/>
            </a:pPr>
            <a:r>
              <a:rPr lang="en-US" sz="1000" b="1" dirty="0">
                <a:solidFill>
                  <a:srgbClr val="3253DC"/>
                </a:solidFill>
                <a:latin typeface="Arial" pitchFamily="34" charset="0"/>
                <a:ea typeface="Arial" pitchFamily="34" charset="-122"/>
                <a:cs typeface="Arial" pitchFamily="34" charset="-120"/>
              </a:rPr>
              <a:t>判决逻辑 (Decision Logic)</a:t>
            </a:r>
            <a:endParaRPr lang="en-US" sz="1000" dirty="0"/>
          </a:p>
        </p:txBody>
      </p:sp>
      <p:sp>
        <p:nvSpPr>
          <p:cNvPr id="8" name="Text 5"/>
          <p:cNvSpPr/>
          <p:nvPr/>
        </p:nvSpPr>
        <p:spPr>
          <a:xfrm>
            <a:off x="607219" y="1182291"/>
            <a:ext cx="2643188" cy="548506"/>
          </a:xfrm>
          <a:prstGeom prst="rect">
            <a:avLst/>
          </a:prstGeom>
          <a:noFill/>
          <a:ln/>
        </p:spPr>
        <p:txBody>
          <a:bodyPr wrap="square" lIns="0" tIns="0" rIns="0" bIns="0" rtlCol="0" anchor="t">
            <a:spAutoFit/>
          </a:bodyPr>
          <a:lstStyle/>
          <a:p>
            <a:pPr marL="0" indent="0" algn="l">
              <a:lnSpc>
                <a:spcPct val="128000"/>
              </a:lnSpc>
              <a:buNone/>
            </a:pPr>
            <a:r>
              <a:rPr lang="en-US" sz="800" b="1" dirty="0">
                <a:solidFill>
                  <a:srgbClr val="2E2E38"/>
                </a:solidFill>
                <a:latin typeface="Arial" pitchFamily="34" charset="0"/>
                <a:ea typeface="Arial" pitchFamily="34" charset="-122"/>
                <a:cs typeface="Arial" pitchFamily="34" charset="-120"/>
              </a:rPr>
              <a:t>XOFF (停止)</a:t>
            </a:r>
            <a:r>
              <a:rPr lang="en-US" sz="850" dirty="0">
                <a:solidFill>
                  <a:srgbClr val="2E2E38"/>
                </a:solidFill>
                <a:latin typeface="Arial" pitchFamily="34" charset="0"/>
                <a:ea typeface="Arial" pitchFamily="34" charset="-122"/>
                <a:cs typeface="Arial" pitchFamily="34" charset="-120"/>
              </a:rPr>
              <a:t>：当缓存占用水位上升并超过高阈值（High Threshold）时，触发 PAUSE 信号通知对端停止发送。</a:t>
            </a:r>
            <a:endParaRPr lang="en-US" sz="800" dirty="0"/>
          </a:p>
        </p:txBody>
      </p:sp>
      <p:sp>
        <p:nvSpPr>
          <p:cNvPr id="9" name="Text 6"/>
          <p:cNvSpPr/>
          <p:nvPr/>
        </p:nvSpPr>
        <p:spPr>
          <a:xfrm>
            <a:off x="607219" y="1802234"/>
            <a:ext cx="2643188" cy="548506"/>
          </a:xfrm>
          <a:prstGeom prst="rect">
            <a:avLst/>
          </a:prstGeom>
          <a:noFill/>
          <a:ln/>
        </p:spPr>
        <p:txBody>
          <a:bodyPr wrap="square" lIns="0" tIns="0" rIns="0" bIns="0" rtlCol="0" anchor="t">
            <a:spAutoFit/>
          </a:bodyPr>
          <a:lstStyle/>
          <a:p>
            <a:pPr marL="0" indent="0" algn="l">
              <a:lnSpc>
                <a:spcPct val="128000"/>
              </a:lnSpc>
              <a:buNone/>
            </a:pPr>
            <a:r>
              <a:rPr lang="en-US" sz="800" b="1" dirty="0">
                <a:solidFill>
                  <a:srgbClr val="2E2E38"/>
                </a:solidFill>
                <a:latin typeface="Arial" pitchFamily="34" charset="0"/>
                <a:ea typeface="Arial" pitchFamily="34" charset="-122"/>
                <a:cs typeface="Arial" pitchFamily="34" charset="-120"/>
              </a:rPr>
              <a:t>XON (恢复)</a:t>
            </a:r>
            <a:r>
              <a:rPr lang="en-US" sz="850" dirty="0">
                <a:solidFill>
                  <a:srgbClr val="2E2E38"/>
                </a:solidFill>
                <a:latin typeface="Arial" pitchFamily="34" charset="0"/>
                <a:ea typeface="Arial" pitchFamily="34" charset="-122"/>
                <a:cs typeface="Arial" pitchFamily="34" charset="-120"/>
              </a:rPr>
              <a:t>：只有当水位回落至低阈值（Low Threshold）以下时，才撤销 PAUSE 信号允许对端恢复发送。</a:t>
            </a:r>
            <a:endParaRPr lang="en-US" sz="800" dirty="0"/>
          </a:p>
        </p:txBody>
      </p:sp>
      <p:sp>
        <p:nvSpPr>
          <p:cNvPr id="10" name="Shape 7"/>
          <p:cNvSpPr/>
          <p:nvPr/>
        </p:nvSpPr>
        <p:spPr>
          <a:xfrm>
            <a:off x="428625" y="2522190"/>
            <a:ext cx="3000375" cy="1285875"/>
          </a:xfrm>
          <a:prstGeom prst="rect">
            <a:avLst/>
          </a:prstGeom>
          <a:solidFill>
            <a:srgbClr val="FFFFFF"/>
          </a:solidFill>
          <a:ln/>
        </p:spPr>
        <p:txBody>
          <a:bodyPr/>
          <a:lstStyle/>
          <a:p>
            <a:endParaRPr lang="zh-CN" altLang="en-US"/>
          </a:p>
        </p:txBody>
      </p:sp>
      <p:sp>
        <p:nvSpPr>
          <p:cNvPr id="11" name="Shape 8"/>
          <p:cNvSpPr/>
          <p:nvPr/>
        </p:nvSpPr>
        <p:spPr>
          <a:xfrm>
            <a:off x="428625" y="2522190"/>
            <a:ext cx="28575" cy="1285875"/>
          </a:xfrm>
          <a:prstGeom prst="rect">
            <a:avLst/>
          </a:prstGeom>
          <a:solidFill>
            <a:srgbClr val="3DBB6B"/>
          </a:solidFill>
          <a:ln/>
        </p:spPr>
        <p:txBody>
          <a:bodyPr/>
          <a:lstStyle/>
          <a:p>
            <a:endParaRPr lang="zh-CN" altLang="en-US"/>
          </a:p>
        </p:txBody>
      </p:sp>
      <p:sp>
        <p:nvSpPr>
          <p:cNvPr id="12" name="Text 9"/>
          <p:cNvSpPr/>
          <p:nvPr/>
        </p:nvSpPr>
        <p:spPr>
          <a:xfrm>
            <a:off x="607219" y="2665065"/>
            <a:ext cx="2643188" cy="196453"/>
          </a:xfrm>
          <a:prstGeom prst="rect">
            <a:avLst/>
          </a:prstGeom>
          <a:noFill/>
          <a:ln/>
        </p:spPr>
        <p:txBody>
          <a:bodyPr wrap="square" lIns="0" tIns="0" rIns="0" bIns="0" rtlCol="0" anchor="t">
            <a:spAutoFit/>
          </a:bodyPr>
          <a:lstStyle/>
          <a:p>
            <a:pPr marL="0" indent="0" algn="l">
              <a:buNone/>
            </a:pPr>
            <a:r>
              <a:rPr lang="en-US" sz="1000" b="1" dirty="0">
                <a:solidFill>
                  <a:srgbClr val="3DBB6B"/>
                </a:solidFill>
                <a:latin typeface="Arial" pitchFamily="34" charset="0"/>
                <a:ea typeface="Arial" pitchFamily="34" charset="-122"/>
                <a:cs typeface="Arial" pitchFamily="34" charset="-120"/>
              </a:rPr>
              <a:t>迟滞控制的优势</a:t>
            </a:r>
            <a:endParaRPr lang="en-US" sz="1000" dirty="0"/>
          </a:p>
        </p:txBody>
      </p:sp>
      <p:sp>
        <p:nvSpPr>
          <p:cNvPr id="13" name="Text 10"/>
          <p:cNvSpPr/>
          <p:nvPr/>
        </p:nvSpPr>
        <p:spPr>
          <a:xfrm>
            <a:off x="607219" y="2968675"/>
            <a:ext cx="2643188" cy="731341"/>
          </a:xfrm>
          <a:prstGeom prst="rect">
            <a:avLst/>
          </a:prstGeom>
          <a:noFill/>
          <a:ln/>
        </p:spPr>
        <p:txBody>
          <a:bodyPr wrap="square" lIns="0" tIns="0" rIns="0" bIns="0" rtlCol="0" anchor="t">
            <a:spAutoFit/>
          </a:bodyPr>
          <a:lstStyle/>
          <a:p>
            <a:pPr marL="0" indent="0" algn="l">
              <a:lnSpc>
                <a:spcPct val="128000"/>
              </a:lnSpc>
              <a:buNone/>
            </a:pPr>
            <a:r>
              <a:rPr lang="en-US" sz="850" dirty="0">
                <a:solidFill>
                  <a:srgbClr val="2E2E38"/>
                </a:solidFill>
                <a:latin typeface="Arial" pitchFamily="34" charset="0"/>
                <a:ea typeface="Arial" pitchFamily="34" charset="-122"/>
                <a:cs typeface="Arial" pitchFamily="34" charset="-120"/>
              </a:rPr>
              <a:t>通过设置 </a:t>
            </a:r>
            <a:r>
              <a:rPr lang="en-US" sz="800" b="1" dirty="0">
                <a:solidFill>
                  <a:srgbClr val="2E2E38"/>
                </a:solidFill>
                <a:latin typeface="Arial" pitchFamily="34" charset="0"/>
                <a:ea typeface="Arial" pitchFamily="34" charset="-122"/>
                <a:cs typeface="Arial" pitchFamily="34" charset="-120"/>
              </a:rPr>
              <a:t>XOFF &gt; XON</a:t>
            </a:r>
            <a:r>
              <a:rPr lang="en-US" sz="850" dirty="0">
                <a:solidFill>
                  <a:srgbClr val="2E2E38"/>
                </a:solidFill>
                <a:latin typeface="Arial" pitchFamily="34" charset="0"/>
                <a:ea typeface="Arial" pitchFamily="34" charset="-122"/>
                <a:cs typeface="Arial" pitchFamily="34" charset="-120"/>
              </a:rPr>
              <a:t>，在两个阈值之间形成迟滞区间（Hysteresis），有效防止了信号在阈值临界点附近的频繁震荡（Oscillation），确保了控制平面的稳定性。</a:t>
            </a:r>
            <a:endParaRPr lang="en-US" sz="850" dirty="0"/>
          </a:p>
        </p:txBody>
      </p:sp>
      <p:sp>
        <p:nvSpPr>
          <p:cNvPr id="14" name="Text 11"/>
          <p:cNvSpPr/>
          <p:nvPr/>
        </p:nvSpPr>
        <p:spPr>
          <a:xfrm>
            <a:off x="5255344" y="735806"/>
            <a:ext cx="1919436" cy="175022"/>
          </a:xfrm>
          <a:prstGeom prst="rect">
            <a:avLst/>
          </a:prstGeom>
          <a:noFill/>
          <a:ln/>
        </p:spPr>
        <p:txBody>
          <a:bodyPr wrap="square" lIns="0" tIns="0" rIns="0" bIns="0" rtlCol="0" anchor="t">
            <a:spAutoFit/>
          </a:bodyPr>
          <a:lstStyle/>
          <a:p>
            <a:pPr marL="0" indent="0" algn="l">
              <a:buNone/>
            </a:pPr>
            <a:r>
              <a:rPr lang="en-US" sz="900" b="1" dirty="0">
                <a:solidFill>
                  <a:srgbClr val="3253DC"/>
                </a:solidFill>
                <a:latin typeface="Arial" pitchFamily="34" charset="0"/>
                <a:ea typeface="Arial" pitchFamily="34" charset="-122"/>
                <a:cs typeface="Arial" pitchFamily="34" charset="-120"/>
              </a:rPr>
              <a:t>PAUSE/PFC 迟滞控制原理示意图</a:t>
            </a:r>
            <a:endParaRPr lang="en-US" sz="900" dirty="0"/>
          </a:p>
        </p:txBody>
      </p:sp>
      <p:sp>
        <p:nvSpPr>
          <p:cNvPr id="15" name="Shape 12"/>
          <p:cNvSpPr/>
          <p:nvPr/>
        </p:nvSpPr>
        <p:spPr>
          <a:xfrm>
            <a:off x="3714750" y="1017984"/>
            <a:ext cx="5000625" cy="3429000"/>
          </a:xfrm>
          <a:prstGeom prst="rect">
            <a:avLst/>
          </a:prstGeom>
          <a:solidFill>
            <a:srgbClr val="FFFFFF"/>
          </a:solidFill>
          <a:ln/>
        </p:spPr>
        <p:txBody>
          <a:bodyPr/>
          <a:lstStyle/>
          <a:p>
            <a:endParaRPr lang="zh-CN" altLang="en-US"/>
          </a:p>
        </p:txBody>
      </p:sp>
      <p:pic>
        <p:nvPicPr>
          <p:cNvPr id="16" name="Image 1" descr="preencoded.png"/>
          <p:cNvPicPr>
            <a:picLocks noChangeAspect="1"/>
          </p:cNvPicPr>
          <p:nvPr/>
        </p:nvPicPr>
        <p:blipFill>
          <a:blip r:embed="rId4"/>
          <a:stretch>
            <a:fillRect/>
          </a:stretch>
        </p:blipFill>
        <p:spPr>
          <a:xfrm>
            <a:off x="3714750" y="1017984"/>
            <a:ext cx="5000625" cy="3429000"/>
          </a:xfrm>
          <a:prstGeom prst="rect">
            <a:avLst/>
          </a:prstGeom>
        </p:spPr>
      </p:pic>
      <p:sp>
        <p:nvSpPr>
          <p:cNvPr id="17" name="Text 13"/>
          <p:cNvSpPr/>
          <p:nvPr/>
        </p:nvSpPr>
        <p:spPr>
          <a:xfrm>
            <a:off x="4614863" y="4446984"/>
            <a:ext cx="3200400" cy="242888"/>
          </a:xfrm>
          <a:prstGeom prst="rect">
            <a:avLst/>
          </a:prstGeom>
          <a:noFill/>
          <a:ln/>
        </p:spPr>
        <p:txBody>
          <a:bodyPr wrap="square" lIns="0" tIns="127508" rIns="0" bIns="0" rtlCol="0" anchor="t">
            <a:spAutoFit/>
          </a:bodyPr>
          <a:lstStyle/>
          <a:p>
            <a:pPr marL="0" indent="0" algn="ctr">
              <a:buNone/>
            </a:pPr>
            <a:r>
              <a:rPr lang="en-US" sz="750" dirty="0">
                <a:solidFill>
                  <a:srgbClr val="6E6E7A"/>
                </a:solidFill>
                <a:latin typeface="Arial" pitchFamily="34" charset="0"/>
                <a:ea typeface="Arial" pitchFamily="34" charset="-122"/>
                <a:cs typeface="Arial" pitchFamily="34" charset="-120"/>
              </a:rPr>
              <a:t>迟滞区间吸收了流量波动，减少了控制帧的发送频率，优化了链路效率。</a:t>
            </a:r>
            <a:endParaRPr lang="en-US" sz="750" dirty="0"/>
          </a:p>
        </p:txBody>
      </p:sp>
      <p:sp>
        <p:nvSpPr>
          <p:cNvPr id="18" name="Text 14"/>
          <p:cNvSpPr/>
          <p:nvPr/>
        </p:nvSpPr>
        <p:spPr>
          <a:xfrm>
            <a:off x="428625" y="4879181"/>
            <a:ext cx="857473"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SMMU Design Review</a:t>
            </a:r>
            <a:endParaRPr lang="en-US" sz="600" dirty="0"/>
          </a:p>
        </p:txBody>
      </p:sp>
      <p:sp>
        <p:nvSpPr>
          <p:cNvPr id="19" name="Text 15"/>
          <p:cNvSpPr/>
          <p:nvPr/>
        </p:nvSpPr>
        <p:spPr>
          <a:xfrm>
            <a:off x="8395971" y="4879181"/>
            <a:ext cx="319404"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Page 18</a:t>
            </a:r>
            <a:endParaRPr lang="en-US" sz="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71500"/>
          </a:xfrm>
          <a:prstGeom prst="rect">
            <a:avLst/>
          </a:prstGeom>
          <a:solidFill>
            <a:srgbClr val="3253DC"/>
          </a:solidFill>
          <a:ln/>
        </p:spPr>
        <p:txBody>
          <a:bodyPr/>
          <a:lstStyle/>
          <a:p>
            <a:endParaRPr lang="zh-CN" altLang="en-US"/>
          </a:p>
        </p:txBody>
      </p:sp>
      <p:sp>
        <p:nvSpPr>
          <p:cNvPr id="4" name="Text 1"/>
          <p:cNvSpPr/>
          <p:nvPr/>
        </p:nvSpPr>
        <p:spPr>
          <a:xfrm>
            <a:off x="428625" y="130373"/>
            <a:ext cx="3441725" cy="310753"/>
          </a:xfrm>
          <a:prstGeom prst="rect">
            <a:avLst/>
          </a:prstGeom>
          <a:noFill/>
          <a:ln/>
        </p:spPr>
        <p:txBody>
          <a:bodyPr wrap="square" lIns="0" tIns="0" rIns="0" bIns="0" rtlCol="0" anchor="t">
            <a:spAutoFit/>
          </a:bodyPr>
          <a:lstStyle/>
          <a:p>
            <a:pPr marL="0" indent="0" algn="l">
              <a:buNone/>
            </a:pPr>
            <a:r>
              <a:rPr lang="en-US" sz="1600" b="1" dirty="0">
                <a:solidFill>
                  <a:srgbClr val="FFFFFF"/>
                </a:solidFill>
                <a:latin typeface="Arial" pitchFamily="34" charset="0"/>
                <a:ea typeface="Arial" pitchFamily="34" charset="-122"/>
                <a:cs typeface="Arial" pitchFamily="34" charset="-120"/>
              </a:rPr>
              <a:t>流控机制 (2) —— 判决平面与反馈</a:t>
            </a:r>
            <a:endParaRPr lang="en-US" sz="1600" dirty="0"/>
          </a:p>
        </p:txBody>
      </p:sp>
      <p:sp>
        <p:nvSpPr>
          <p:cNvPr id="5" name="Shape 2"/>
          <p:cNvSpPr/>
          <p:nvPr/>
        </p:nvSpPr>
        <p:spPr>
          <a:xfrm>
            <a:off x="428625" y="785813"/>
            <a:ext cx="4500563" cy="714375"/>
          </a:xfrm>
          <a:prstGeom prst="rect">
            <a:avLst/>
          </a:prstGeom>
          <a:solidFill>
            <a:srgbClr val="FFFFFF"/>
          </a:solidFill>
          <a:ln/>
        </p:spPr>
        <p:txBody>
          <a:bodyPr/>
          <a:lstStyle/>
          <a:p>
            <a:endParaRPr lang="zh-CN" altLang="en-US"/>
          </a:p>
        </p:txBody>
      </p:sp>
      <p:sp>
        <p:nvSpPr>
          <p:cNvPr id="6" name="Shape 3"/>
          <p:cNvSpPr/>
          <p:nvPr/>
        </p:nvSpPr>
        <p:spPr>
          <a:xfrm>
            <a:off x="428625" y="785813"/>
            <a:ext cx="28575" cy="714375"/>
          </a:xfrm>
          <a:prstGeom prst="rect">
            <a:avLst/>
          </a:prstGeom>
          <a:solidFill>
            <a:srgbClr val="6CA0F6"/>
          </a:solidFill>
          <a:ln/>
        </p:spPr>
        <p:txBody>
          <a:bodyPr/>
          <a:lstStyle/>
          <a:p>
            <a:endParaRPr lang="zh-CN" altLang="en-US"/>
          </a:p>
        </p:txBody>
      </p:sp>
      <p:sp>
        <p:nvSpPr>
          <p:cNvPr id="7" name="Text 4"/>
          <p:cNvSpPr/>
          <p:nvPr/>
        </p:nvSpPr>
        <p:spPr>
          <a:xfrm>
            <a:off x="542925" y="871538"/>
            <a:ext cx="4271963" cy="175022"/>
          </a:xfrm>
          <a:prstGeom prst="rect">
            <a:avLst/>
          </a:prstGeom>
          <a:noFill/>
          <a:ln/>
        </p:spPr>
        <p:txBody>
          <a:bodyPr wrap="square" lIns="0" tIns="0" rIns="0" bIns="0" rtlCol="0" anchor="t">
            <a:spAutoFit/>
          </a:bodyPr>
          <a:lstStyle/>
          <a:p>
            <a:pPr marL="0" indent="0" algn="l">
              <a:buNone/>
            </a:pPr>
            <a:r>
              <a:rPr lang="en-US" sz="900" b="1" dirty="0">
                <a:solidFill>
                  <a:srgbClr val="3253DC"/>
                </a:solidFill>
                <a:latin typeface="Arial" pitchFamily="34" charset="0"/>
                <a:ea typeface="Arial" pitchFamily="34" charset="-122"/>
                <a:cs typeface="Arial" pitchFamily="34" charset="-120"/>
              </a:rPr>
              <a:t>1. 队列级反馈 (Queue Level)</a:t>
            </a:r>
            <a:endParaRPr lang="en-US" sz="900" dirty="0"/>
          </a:p>
        </p:txBody>
      </p:sp>
      <p:sp>
        <p:nvSpPr>
          <p:cNvPr id="8" name="Text 5"/>
          <p:cNvSpPr/>
          <p:nvPr/>
        </p:nvSpPr>
        <p:spPr>
          <a:xfrm>
            <a:off x="542925" y="1121569"/>
            <a:ext cx="884095" cy="110728"/>
          </a:xfrm>
          <a:prstGeom prst="rect">
            <a:avLst/>
          </a:prstGeom>
          <a:noFill/>
          <a:ln/>
        </p:spPr>
        <p:txBody>
          <a:bodyPr wrap="none" lIns="0" tIns="0" rIns="0" bIns="0" rtlCol="0" anchor="t">
            <a:spAutoFit/>
          </a:bodyPr>
          <a:lstStyle/>
          <a:p>
            <a:pPr marL="0" indent="0" algn="l">
              <a:lnSpc>
                <a:spcPct val="120000"/>
              </a:lnSpc>
              <a:buNone/>
            </a:pPr>
            <a:r>
              <a:rPr lang="en-US" sz="750" dirty="0">
                <a:solidFill>
                  <a:srgbClr val="2E2E38"/>
                </a:solidFill>
                <a:latin typeface="Arial" pitchFamily="34" charset="0"/>
                <a:ea typeface="Arial" pitchFamily="34" charset="-122"/>
                <a:cs typeface="Arial" pitchFamily="34" charset="-120"/>
              </a:rPr>
              <a:t>q_max_reached[33]</a:t>
            </a:r>
            <a:endParaRPr lang="en-US" sz="750" dirty="0"/>
          </a:p>
        </p:txBody>
      </p:sp>
      <p:sp>
        <p:nvSpPr>
          <p:cNvPr id="9" name="Text 6"/>
          <p:cNvSpPr/>
          <p:nvPr/>
        </p:nvSpPr>
        <p:spPr>
          <a:xfrm>
            <a:off x="1427020" y="1121569"/>
            <a:ext cx="3250406" cy="110728"/>
          </a:xfrm>
          <a:prstGeom prst="rect">
            <a:avLst/>
          </a:prstGeom>
          <a:noFill/>
          <a:ln/>
        </p:spPr>
        <p:txBody>
          <a:bodyPr wrap="none" lIns="0" tIns="0" rIns="0" bIns="0" rtlCol="0" anchor="t">
            <a:spAutoFit/>
          </a:bodyPr>
          <a:lstStyle/>
          <a:p>
            <a:pPr marL="0" indent="0" algn="l">
              <a:lnSpc>
                <a:spcPct val="120000"/>
              </a:lnSpc>
              <a:buNone/>
            </a:pPr>
            <a:r>
              <a:rPr lang="en-US" sz="750" dirty="0">
                <a:solidFill>
                  <a:srgbClr val="2E2E38"/>
                </a:solidFill>
                <a:latin typeface="Arial" pitchFamily="34" charset="0"/>
                <a:ea typeface="Arial" pitchFamily="34" charset="-122"/>
                <a:cs typeface="Arial" pitchFamily="34" charset="-120"/>
              </a:rPr>
              <a:t>：当队列占用超过设定阈值时触发。QM 侧据此执行 WRED 丢弃或入队门</a:t>
            </a:r>
            <a:endParaRPr lang="en-US" sz="750" dirty="0"/>
          </a:p>
        </p:txBody>
      </p:sp>
      <p:sp>
        <p:nvSpPr>
          <p:cNvPr id="10" name="Text 7"/>
          <p:cNvSpPr/>
          <p:nvPr/>
        </p:nvSpPr>
        <p:spPr>
          <a:xfrm>
            <a:off x="542925" y="1271588"/>
            <a:ext cx="1700213" cy="110728"/>
          </a:xfrm>
          <a:prstGeom prst="rect">
            <a:avLst/>
          </a:prstGeom>
          <a:noFill/>
          <a:ln/>
        </p:spPr>
        <p:txBody>
          <a:bodyPr wrap="none" lIns="0" tIns="0" rIns="0" bIns="0" rtlCol="0" anchor="t">
            <a:spAutoFit/>
          </a:bodyPr>
          <a:lstStyle/>
          <a:p>
            <a:pPr marL="0" indent="0" algn="l">
              <a:lnSpc>
                <a:spcPct val="120000"/>
              </a:lnSpc>
              <a:buNone/>
            </a:pPr>
            <a:r>
              <a:rPr lang="en-US" sz="750" dirty="0">
                <a:solidFill>
                  <a:srgbClr val="2E2E38"/>
                </a:solidFill>
                <a:latin typeface="Arial" pitchFamily="34" charset="0"/>
                <a:ea typeface="Arial" pitchFamily="34" charset="-122"/>
                <a:cs typeface="Arial" pitchFamily="34" charset="-120"/>
              </a:rPr>
              <a:t>控，防止单一队列过度挤占共享空间。</a:t>
            </a:r>
            <a:endParaRPr lang="en-US" sz="750" dirty="0"/>
          </a:p>
        </p:txBody>
      </p:sp>
      <p:sp>
        <p:nvSpPr>
          <p:cNvPr id="11" name="Shape 8"/>
          <p:cNvSpPr/>
          <p:nvPr/>
        </p:nvSpPr>
        <p:spPr>
          <a:xfrm>
            <a:off x="428625" y="1585913"/>
            <a:ext cx="4500563" cy="714375"/>
          </a:xfrm>
          <a:prstGeom prst="rect">
            <a:avLst/>
          </a:prstGeom>
          <a:solidFill>
            <a:srgbClr val="FFFFFF"/>
          </a:solidFill>
          <a:ln/>
        </p:spPr>
        <p:txBody>
          <a:bodyPr/>
          <a:lstStyle/>
          <a:p>
            <a:endParaRPr lang="zh-CN" altLang="en-US"/>
          </a:p>
        </p:txBody>
      </p:sp>
      <p:sp>
        <p:nvSpPr>
          <p:cNvPr id="12" name="Shape 9"/>
          <p:cNvSpPr/>
          <p:nvPr/>
        </p:nvSpPr>
        <p:spPr>
          <a:xfrm>
            <a:off x="428625" y="1585913"/>
            <a:ext cx="28575" cy="714375"/>
          </a:xfrm>
          <a:prstGeom prst="rect">
            <a:avLst/>
          </a:prstGeom>
          <a:solidFill>
            <a:srgbClr val="6CA0F6"/>
          </a:solidFill>
          <a:ln/>
        </p:spPr>
        <p:txBody>
          <a:bodyPr/>
          <a:lstStyle/>
          <a:p>
            <a:endParaRPr lang="zh-CN" altLang="en-US"/>
          </a:p>
        </p:txBody>
      </p:sp>
      <p:sp>
        <p:nvSpPr>
          <p:cNvPr id="13" name="Text 10"/>
          <p:cNvSpPr/>
          <p:nvPr/>
        </p:nvSpPr>
        <p:spPr>
          <a:xfrm>
            <a:off x="542925" y="1671638"/>
            <a:ext cx="4271963" cy="175022"/>
          </a:xfrm>
          <a:prstGeom prst="rect">
            <a:avLst/>
          </a:prstGeom>
          <a:noFill/>
          <a:ln/>
        </p:spPr>
        <p:txBody>
          <a:bodyPr wrap="square" lIns="0" tIns="0" rIns="0" bIns="0" rtlCol="0" anchor="t">
            <a:spAutoFit/>
          </a:bodyPr>
          <a:lstStyle/>
          <a:p>
            <a:pPr marL="0" indent="0" algn="l">
              <a:buNone/>
            </a:pPr>
            <a:r>
              <a:rPr lang="en-US" sz="900" b="1" dirty="0">
                <a:solidFill>
                  <a:srgbClr val="3253DC"/>
                </a:solidFill>
                <a:latin typeface="Arial" pitchFamily="34" charset="0"/>
                <a:ea typeface="Arial" pitchFamily="34" charset="-122"/>
                <a:cs typeface="Arial" pitchFamily="34" charset="-120"/>
              </a:rPr>
              <a:t>2. 端口级反馈 (Port Level)</a:t>
            </a:r>
            <a:endParaRPr lang="en-US" sz="900" dirty="0"/>
          </a:p>
        </p:txBody>
      </p:sp>
      <p:sp>
        <p:nvSpPr>
          <p:cNvPr id="14" name="Text 11"/>
          <p:cNvSpPr/>
          <p:nvPr/>
        </p:nvSpPr>
        <p:spPr>
          <a:xfrm>
            <a:off x="542925" y="1921669"/>
            <a:ext cx="945152" cy="110728"/>
          </a:xfrm>
          <a:prstGeom prst="rect">
            <a:avLst/>
          </a:prstGeom>
          <a:noFill/>
          <a:ln/>
        </p:spPr>
        <p:txBody>
          <a:bodyPr wrap="none" lIns="0" tIns="0" rIns="0" bIns="0" rtlCol="0" anchor="t">
            <a:spAutoFit/>
          </a:bodyPr>
          <a:lstStyle/>
          <a:p>
            <a:pPr marL="0" indent="0" algn="l">
              <a:lnSpc>
                <a:spcPct val="120000"/>
              </a:lnSpc>
              <a:buNone/>
            </a:pPr>
            <a:r>
              <a:rPr lang="en-US" sz="750" dirty="0">
                <a:solidFill>
                  <a:srgbClr val="2E2E38"/>
                </a:solidFill>
                <a:latin typeface="Arial" pitchFamily="34" charset="0"/>
                <a:ea typeface="Arial" pitchFamily="34" charset="-122"/>
                <a:cs typeface="Arial" pitchFamily="34" charset="-120"/>
              </a:rPr>
              <a:t>port_max_reached[4]</a:t>
            </a:r>
            <a:endParaRPr lang="en-US" sz="750" dirty="0"/>
          </a:p>
        </p:txBody>
      </p:sp>
      <p:sp>
        <p:nvSpPr>
          <p:cNvPr id="15" name="Text 12"/>
          <p:cNvSpPr/>
          <p:nvPr/>
        </p:nvSpPr>
        <p:spPr>
          <a:xfrm>
            <a:off x="1488077" y="1921669"/>
            <a:ext cx="3287576" cy="110728"/>
          </a:xfrm>
          <a:prstGeom prst="rect">
            <a:avLst/>
          </a:prstGeom>
          <a:noFill/>
          <a:ln/>
        </p:spPr>
        <p:txBody>
          <a:bodyPr wrap="none" lIns="0" tIns="0" rIns="0" bIns="0" rtlCol="0" anchor="t">
            <a:spAutoFit/>
          </a:bodyPr>
          <a:lstStyle/>
          <a:p>
            <a:pPr marL="0" indent="0" algn="l">
              <a:lnSpc>
                <a:spcPct val="120000"/>
              </a:lnSpc>
              <a:buNone/>
            </a:pPr>
            <a:r>
              <a:rPr lang="en-US" sz="750" dirty="0">
                <a:solidFill>
                  <a:srgbClr val="2E2E38"/>
                </a:solidFill>
                <a:latin typeface="Arial" pitchFamily="34" charset="0"/>
                <a:ea typeface="Arial" pitchFamily="34" charset="-122"/>
                <a:cs typeface="Arial" pitchFamily="34" charset="-120"/>
              </a:rPr>
              <a:t>：监控物理端口总占用。触发端口级 PAUSE 帧发送，反压对端设备停止发</a:t>
            </a:r>
            <a:endParaRPr lang="en-US" sz="750" dirty="0"/>
          </a:p>
        </p:txBody>
      </p:sp>
      <p:sp>
        <p:nvSpPr>
          <p:cNvPr id="16" name="Text 13"/>
          <p:cNvSpPr/>
          <p:nvPr/>
        </p:nvSpPr>
        <p:spPr>
          <a:xfrm>
            <a:off x="542925" y="2071688"/>
            <a:ext cx="700088" cy="110728"/>
          </a:xfrm>
          <a:prstGeom prst="rect">
            <a:avLst/>
          </a:prstGeom>
          <a:noFill/>
          <a:ln/>
        </p:spPr>
        <p:txBody>
          <a:bodyPr wrap="none" lIns="0" tIns="0" rIns="0" bIns="0" rtlCol="0" anchor="t">
            <a:spAutoFit/>
          </a:bodyPr>
          <a:lstStyle/>
          <a:p>
            <a:pPr marL="0" indent="0" algn="l">
              <a:lnSpc>
                <a:spcPct val="120000"/>
              </a:lnSpc>
              <a:buNone/>
            </a:pPr>
            <a:r>
              <a:rPr lang="en-US" sz="750" dirty="0">
                <a:solidFill>
                  <a:srgbClr val="2E2E38"/>
                </a:solidFill>
                <a:latin typeface="Arial" pitchFamily="34" charset="0"/>
                <a:ea typeface="Arial" pitchFamily="34" charset="-122"/>
                <a:cs typeface="Arial" pitchFamily="34" charset="-120"/>
              </a:rPr>
              <a:t>送该端口流量。</a:t>
            </a:r>
            <a:endParaRPr lang="en-US" sz="750" dirty="0"/>
          </a:p>
        </p:txBody>
      </p:sp>
      <p:sp>
        <p:nvSpPr>
          <p:cNvPr id="17" name="Shape 14"/>
          <p:cNvSpPr/>
          <p:nvPr/>
        </p:nvSpPr>
        <p:spPr>
          <a:xfrm>
            <a:off x="428625" y="2386013"/>
            <a:ext cx="4500563" cy="714375"/>
          </a:xfrm>
          <a:prstGeom prst="rect">
            <a:avLst/>
          </a:prstGeom>
          <a:solidFill>
            <a:srgbClr val="FFFFFF"/>
          </a:solidFill>
          <a:ln/>
        </p:spPr>
        <p:txBody>
          <a:bodyPr/>
          <a:lstStyle/>
          <a:p>
            <a:endParaRPr lang="zh-CN" altLang="en-US"/>
          </a:p>
        </p:txBody>
      </p:sp>
      <p:sp>
        <p:nvSpPr>
          <p:cNvPr id="18" name="Shape 15"/>
          <p:cNvSpPr/>
          <p:nvPr/>
        </p:nvSpPr>
        <p:spPr>
          <a:xfrm>
            <a:off x="428625" y="2386013"/>
            <a:ext cx="28575" cy="714375"/>
          </a:xfrm>
          <a:prstGeom prst="rect">
            <a:avLst/>
          </a:prstGeom>
          <a:solidFill>
            <a:srgbClr val="6CA0F6"/>
          </a:solidFill>
          <a:ln/>
        </p:spPr>
        <p:txBody>
          <a:bodyPr/>
          <a:lstStyle/>
          <a:p>
            <a:endParaRPr lang="zh-CN" altLang="en-US"/>
          </a:p>
        </p:txBody>
      </p:sp>
      <p:sp>
        <p:nvSpPr>
          <p:cNvPr id="19" name="Text 16"/>
          <p:cNvSpPr/>
          <p:nvPr/>
        </p:nvSpPr>
        <p:spPr>
          <a:xfrm>
            <a:off x="542925" y="2471738"/>
            <a:ext cx="4271963" cy="175022"/>
          </a:xfrm>
          <a:prstGeom prst="rect">
            <a:avLst/>
          </a:prstGeom>
          <a:noFill/>
          <a:ln/>
        </p:spPr>
        <p:txBody>
          <a:bodyPr wrap="square" lIns="0" tIns="0" rIns="0" bIns="0" rtlCol="0" anchor="t">
            <a:spAutoFit/>
          </a:bodyPr>
          <a:lstStyle/>
          <a:p>
            <a:pPr marL="0" indent="0" algn="l">
              <a:buNone/>
            </a:pPr>
            <a:r>
              <a:rPr lang="en-US" sz="900" b="1" dirty="0">
                <a:solidFill>
                  <a:srgbClr val="3253DC"/>
                </a:solidFill>
                <a:latin typeface="Arial" pitchFamily="34" charset="0"/>
                <a:ea typeface="Arial" pitchFamily="34" charset="-122"/>
                <a:cs typeface="Arial" pitchFamily="34" charset="-120"/>
              </a:rPr>
              <a:t>3. 全局级反馈 (Global Level)</a:t>
            </a:r>
            <a:endParaRPr lang="en-US" sz="900" dirty="0"/>
          </a:p>
        </p:txBody>
      </p:sp>
      <p:sp>
        <p:nvSpPr>
          <p:cNvPr id="20" name="Text 17"/>
          <p:cNvSpPr/>
          <p:nvPr/>
        </p:nvSpPr>
        <p:spPr>
          <a:xfrm>
            <a:off x="542925" y="2721769"/>
            <a:ext cx="928576" cy="110728"/>
          </a:xfrm>
          <a:prstGeom prst="rect">
            <a:avLst/>
          </a:prstGeom>
          <a:noFill/>
          <a:ln/>
        </p:spPr>
        <p:txBody>
          <a:bodyPr wrap="none" lIns="0" tIns="0" rIns="0" bIns="0" rtlCol="0" anchor="t">
            <a:spAutoFit/>
          </a:bodyPr>
          <a:lstStyle/>
          <a:p>
            <a:pPr marL="0" indent="0" algn="l">
              <a:lnSpc>
                <a:spcPct val="120000"/>
              </a:lnSpc>
              <a:buNone/>
            </a:pPr>
            <a:r>
              <a:rPr lang="en-US" sz="750" dirty="0">
                <a:solidFill>
                  <a:srgbClr val="2E2E38"/>
                </a:solidFill>
                <a:latin typeface="Arial" pitchFamily="34" charset="0"/>
                <a:ea typeface="Arial" pitchFamily="34" charset="-122"/>
                <a:cs typeface="Arial" pitchFamily="34" charset="-120"/>
              </a:rPr>
              <a:t>global_max_reached</a:t>
            </a:r>
            <a:endParaRPr lang="en-US" sz="750" dirty="0"/>
          </a:p>
        </p:txBody>
      </p:sp>
      <p:sp>
        <p:nvSpPr>
          <p:cNvPr id="21" name="Text 18"/>
          <p:cNvSpPr/>
          <p:nvPr/>
        </p:nvSpPr>
        <p:spPr>
          <a:xfrm>
            <a:off x="1471501" y="2721769"/>
            <a:ext cx="3204307" cy="110728"/>
          </a:xfrm>
          <a:prstGeom prst="rect">
            <a:avLst/>
          </a:prstGeom>
          <a:noFill/>
          <a:ln/>
        </p:spPr>
        <p:txBody>
          <a:bodyPr wrap="none" lIns="0" tIns="0" rIns="0" bIns="0" rtlCol="0" anchor="t">
            <a:spAutoFit/>
          </a:bodyPr>
          <a:lstStyle/>
          <a:p>
            <a:pPr marL="0" indent="0" algn="l">
              <a:lnSpc>
                <a:spcPct val="120000"/>
              </a:lnSpc>
              <a:buNone/>
            </a:pPr>
            <a:r>
              <a:rPr lang="en-US" sz="750" dirty="0">
                <a:solidFill>
                  <a:srgbClr val="2E2E38"/>
                </a:solidFill>
                <a:latin typeface="Arial" pitchFamily="34" charset="0"/>
                <a:ea typeface="Arial" pitchFamily="34" charset="-122"/>
                <a:cs typeface="Arial" pitchFamily="34" charset="-120"/>
              </a:rPr>
              <a:t>：整片 SRAM 占用告急。触发全局 PAUSE，保护芯片不因缓存溢出而崩</a:t>
            </a:r>
            <a:endParaRPr lang="en-US" sz="750" dirty="0"/>
          </a:p>
        </p:txBody>
      </p:sp>
      <p:sp>
        <p:nvSpPr>
          <p:cNvPr id="22" name="Text 19"/>
          <p:cNvSpPr/>
          <p:nvPr/>
        </p:nvSpPr>
        <p:spPr>
          <a:xfrm>
            <a:off x="542925" y="2871788"/>
            <a:ext cx="200025" cy="110728"/>
          </a:xfrm>
          <a:prstGeom prst="rect">
            <a:avLst/>
          </a:prstGeom>
          <a:noFill/>
          <a:ln/>
        </p:spPr>
        <p:txBody>
          <a:bodyPr wrap="none" lIns="0" tIns="0" rIns="0" bIns="0" rtlCol="0" anchor="t">
            <a:spAutoFit/>
          </a:bodyPr>
          <a:lstStyle/>
          <a:p>
            <a:pPr marL="0" indent="0" algn="l">
              <a:lnSpc>
                <a:spcPct val="120000"/>
              </a:lnSpc>
              <a:buNone/>
            </a:pPr>
            <a:r>
              <a:rPr lang="en-US" sz="750" dirty="0">
                <a:solidFill>
                  <a:srgbClr val="2E2E38"/>
                </a:solidFill>
                <a:latin typeface="Arial" pitchFamily="34" charset="0"/>
                <a:ea typeface="Arial" pitchFamily="34" charset="-122"/>
                <a:cs typeface="Arial" pitchFamily="34" charset="-120"/>
              </a:rPr>
              <a:t>溃。</a:t>
            </a:r>
            <a:endParaRPr lang="en-US" sz="750" dirty="0"/>
          </a:p>
        </p:txBody>
      </p:sp>
      <p:sp>
        <p:nvSpPr>
          <p:cNvPr id="23" name="Shape 20"/>
          <p:cNvSpPr/>
          <p:nvPr/>
        </p:nvSpPr>
        <p:spPr>
          <a:xfrm>
            <a:off x="428625" y="3186113"/>
            <a:ext cx="4500563" cy="714375"/>
          </a:xfrm>
          <a:prstGeom prst="rect">
            <a:avLst/>
          </a:prstGeom>
          <a:solidFill>
            <a:srgbClr val="E6F7FF"/>
          </a:solidFill>
          <a:ln/>
        </p:spPr>
        <p:txBody>
          <a:bodyPr/>
          <a:lstStyle/>
          <a:p>
            <a:endParaRPr lang="zh-CN" altLang="en-US"/>
          </a:p>
        </p:txBody>
      </p:sp>
      <p:sp>
        <p:nvSpPr>
          <p:cNvPr id="24" name="Shape 21"/>
          <p:cNvSpPr/>
          <p:nvPr/>
        </p:nvSpPr>
        <p:spPr>
          <a:xfrm>
            <a:off x="428625" y="3186113"/>
            <a:ext cx="28575" cy="714375"/>
          </a:xfrm>
          <a:prstGeom prst="rect">
            <a:avLst/>
          </a:prstGeom>
          <a:solidFill>
            <a:srgbClr val="00C2DE"/>
          </a:solidFill>
          <a:ln/>
        </p:spPr>
        <p:txBody>
          <a:bodyPr/>
          <a:lstStyle/>
          <a:p>
            <a:endParaRPr lang="zh-CN" altLang="en-US"/>
          </a:p>
        </p:txBody>
      </p:sp>
      <p:sp>
        <p:nvSpPr>
          <p:cNvPr id="25" name="Text 22"/>
          <p:cNvSpPr/>
          <p:nvPr/>
        </p:nvSpPr>
        <p:spPr>
          <a:xfrm>
            <a:off x="542925" y="3271838"/>
            <a:ext cx="4271963" cy="175022"/>
          </a:xfrm>
          <a:prstGeom prst="rect">
            <a:avLst/>
          </a:prstGeom>
          <a:noFill/>
          <a:ln/>
        </p:spPr>
        <p:txBody>
          <a:bodyPr wrap="square" lIns="0" tIns="0" rIns="0" bIns="0" rtlCol="0" anchor="t">
            <a:spAutoFit/>
          </a:bodyPr>
          <a:lstStyle/>
          <a:p>
            <a:pPr marL="0" indent="0" algn="l">
              <a:buNone/>
            </a:pPr>
            <a:r>
              <a:rPr lang="en-US" sz="900" b="1" dirty="0">
                <a:solidFill>
                  <a:srgbClr val="3253DC"/>
                </a:solidFill>
                <a:latin typeface="Arial" pitchFamily="34" charset="0"/>
                <a:ea typeface="Arial" pitchFamily="34" charset="-122"/>
                <a:cs typeface="Arial" pitchFamily="34" charset="-120"/>
              </a:rPr>
              <a:t>低延迟反馈路径 (Low Latency Path)</a:t>
            </a:r>
            <a:endParaRPr lang="en-US" sz="900" dirty="0"/>
          </a:p>
        </p:txBody>
      </p:sp>
      <p:sp>
        <p:nvSpPr>
          <p:cNvPr id="26" name="Text 23"/>
          <p:cNvSpPr/>
          <p:nvPr/>
        </p:nvSpPr>
        <p:spPr>
          <a:xfrm>
            <a:off x="542925" y="3504009"/>
            <a:ext cx="4271963" cy="300038"/>
          </a:xfrm>
          <a:prstGeom prst="rect">
            <a:avLst/>
          </a:prstGeom>
          <a:noFill/>
          <a:ln/>
        </p:spPr>
        <p:txBody>
          <a:bodyPr wrap="square" lIns="0" tIns="0" rIns="0" bIns="0" rtlCol="0" anchor="t">
            <a:spAutoFit/>
          </a:bodyPr>
          <a:lstStyle/>
          <a:p>
            <a:pPr marL="0" indent="0" algn="l">
              <a:lnSpc>
                <a:spcPct val="120000"/>
              </a:lnSpc>
              <a:buNone/>
            </a:pPr>
            <a:r>
              <a:rPr lang="en-US" sz="750" dirty="0">
                <a:solidFill>
                  <a:srgbClr val="2E2E38"/>
                </a:solidFill>
                <a:latin typeface="Arial" pitchFamily="34" charset="0"/>
                <a:ea typeface="Arial" pitchFamily="34" charset="-122"/>
                <a:cs typeface="Arial" pitchFamily="34" charset="-120"/>
              </a:rPr>
              <a:t>Occupancy 模块直接输出判决信号至 QM，绕过复杂的总线仲裁，确保流控响应在 1-2 拍内生效，最大程度减少丢包。</a:t>
            </a:r>
            <a:endParaRPr lang="en-US" sz="750" dirty="0"/>
          </a:p>
        </p:txBody>
      </p:sp>
      <p:sp>
        <p:nvSpPr>
          <p:cNvPr id="27" name="Shape 24"/>
          <p:cNvSpPr/>
          <p:nvPr/>
        </p:nvSpPr>
        <p:spPr>
          <a:xfrm>
            <a:off x="5143500" y="785813"/>
            <a:ext cx="3571875" cy="1564481"/>
          </a:xfrm>
          <a:prstGeom prst="rect">
            <a:avLst/>
          </a:prstGeom>
          <a:solidFill>
            <a:srgbClr val="FFFFFF"/>
          </a:solidFill>
          <a:ln/>
        </p:spPr>
        <p:txBody>
          <a:bodyPr/>
          <a:lstStyle/>
          <a:p>
            <a:endParaRPr lang="zh-CN" altLang="en-US"/>
          </a:p>
        </p:txBody>
      </p:sp>
      <p:sp>
        <p:nvSpPr>
          <p:cNvPr id="28" name="Text 25"/>
          <p:cNvSpPr/>
          <p:nvPr/>
        </p:nvSpPr>
        <p:spPr>
          <a:xfrm>
            <a:off x="5257800" y="871538"/>
            <a:ext cx="3343275" cy="157163"/>
          </a:xfrm>
          <a:prstGeom prst="rect">
            <a:avLst/>
          </a:prstGeom>
          <a:noFill/>
          <a:ln/>
        </p:spPr>
        <p:txBody>
          <a:bodyPr wrap="square" lIns="0" tIns="0" rIns="0" bIns="0" rtlCol="0" anchor="t">
            <a:spAutoFit/>
          </a:bodyPr>
          <a:lstStyle/>
          <a:p>
            <a:pPr marL="0" indent="0" algn="l">
              <a:buNone/>
            </a:pPr>
            <a:r>
              <a:rPr lang="en-US" sz="800" b="1" dirty="0">
                <a:solidFill>
                  <a:srgbClr val="3253DC"/>
                </a:solidFill>
                <a:latin typeface="Arial" pitchFamily="34" charset="0"/>
                <a:ea typeface="Arial" pitchFamily="34" charset="-122"/>
                <a:cs typeface="Arial" pitchFamily="34" charset="-120"/>
              </a:rPr>
              <a:t>关键反馈信号概览</a:t>
            </a:r>
            <a:endParaRPr lang="en-US" sz="800" dirty="0"/>
          </a:p>
        </p:txBody>
      </p:sp>
      <p:sp>
        <p:nvSpPr>
          <p:cNvPr id="29" name="Shape 26"/>
          <p:cNvSpPr/>
          <p:nvPr/>
        </p:nvSpPr>
        <p:spPr>
          <a:xfrm>
            <a:off x="5261372" y="1114425"/>
            <a:ext cx="1665554" cy="214313"/>
          </a:xfrm>
          <a:prstGeom prst="rect">
            <a:avLst/>
          </a:prstGeom>
          <a:solidFill>
            <a:srgbClr val="6E6E7A"/>
          </a:solidFill>
          <a:ln/>
        </p:spPr>
        <p:txBody>
          <a:bodyPr/>
          <a:lstStyle/>
          <a:p>
            <a:endParaRPr lang="zh-CN" altLang="en-US"/>
          </a:p>
        </p:txBody>
      </p:sp>
      <p:sp>
        <p:nvSpPr>
          <p:cNvPr id="30" name="Text 27"/>
          <p:cNvSpPr/>
          <p:nvPr/>
        </p:nvSpPr>
        <p:spPr>
          <a:xfrm>
            <a:off x="5261372" y="1114425"/>
            <a:ext cx="1665554" cy="214313"/>
          </a:xfrm>
          <a:prstGeom prst="rect">
            <a:avLst/>
          </a:prstGeom>
          <a:noFill/>
          <a:ln/>
        </p:spPr>
        <p:txBody>
          <a:bodyPr wrap="square" lIns="51054" tIns="51054" rIns="51054" bIns="51054" rtlCol="0" anchor="ctr">
            <a:spAutoFit/>
          </a:bodyPr>
          <a:lstStyle/>
          <a:p>
            <a:pPr marL="0" indent="0" algn="l">
              <a:buNone/>
            </a:pPr>
            <a:r>
              <a:rPr lang="en-US" sz="650" b="1" dirty="0">
                <a:solidFill>
                  <a:srgbClr val="FFFFFF"/>
                </a:solidFill>
                <a:latin typeface="Arial" pitchFamily="34" charset="0"/>
                <a:ea typeface="Arial" pitchFamily="34" charset="-122"/>
                <a:cs typeface="Arial" pitchFamily="34" charset="-120"/>
              </a:rPr>
              <a:t>信号名称</a:t>
            </a:r>
            <a:endParaRPr lang="en-US" sz="650" dirty="0"/>
          </a:p>
        </p:txBody>
      </p:sp>
      <p:sp>
        <p:nvSpPr>
          <p:cNvPr id="31" name="Shape 28"/>
          <p:cNvSpPr/>
          <p:nvPr/>
        </p:nvSpPr>
        <p:spPr>
          <a:xfrm>
            <a:off x="6926926" y="1114425"/>
            <a:ext cx="473385" cy="214313"/>
          </a:xfrm>
          <a:prstGeom prst="rect">
            <a:avLst/>
          </a:prstGeom>
          <a:solidFill>
            <a:srgbClr val="6E6E7A"/>
          </a:solidFill>
          <a:ln/>
        </p:spPr>
        <p:txBody>
          <a:bodyPr/>
          <a:lstStyle/>
          <a:p>
            <a:endParaRPr lang="zh-CN" altLang="en-US"/>
          </a:p>
        </p:txBody>
      </p:sp>
      <p:sp>
        <p:nvSpPr>
          <p:cNvPr id="32" name="Text 29"/>
          <p:cNvSpPr/>
          <p:nvPr/>
        </p:nvSpPr>
        <p:spPr>
          <a:xfrm>
            <a:off x="6926926" y="1114425"/>
            <a:ext cx="473385" cy="214313"/>
          </a:xfrm>
          <a:prstGeom prst="rect">
            <a:avLst/>
          </a:prstGeom>
          <a:noFill/>
          <a:ln/>
        </p:spPr>
        <p:txBody>
          <a:bodyPr wrap="none" lIns="51054" tIns="51054" rIns="51054" bIns="51054" rtlCol="0" anchor="ctr">
            <a:spAutoFit/>
          </a:bodyPr>
          <a:lstStyle/>
          <a:p>
            <a:pPr marL="0" indent="0" algn="l">
              <a:buNone/>
            </a:pPr>
            <a:r>
              <a:rPr lang="en-US" sz="650" b="1" dirty="0">
                <a:solidFill>
                  <a:srgbClr val="FFFFFF"/>
                </a:solidFill>
                <a:latin typeface="Arial" pitchFamily="34" charset="0"/>
                <a:ea typeface="Arial" pitchFamily="34" charset="-122"/>
                <a:cs typeface="Arial" pitchFamily="34" charset="-120"/>
              </a:rPr>
              <a:t>位宽</a:t>
            </a:r>
            <a:endParaRPr lang="en-US" sz="650" dirty="0"/>
          </a:p>
        </p:txBody>
      </p:sp>
      <p:sp>
        <p:nvSpPr>
          <p:cNvPr id="33" name="Shape 30"/>
          <p:cNvSpPr/>
          <p:nvPr/>
        </p:nvSpPr>
        <p:spPr>
          <a:xfrm>
            <a:off x="7400311" y="1114425"/>
            <a:ext cx="1197192" cy="214313"/>
          </a:xfrm>
          <a:prstGeom prst="rect">
            <a:avLst/>
          </a:prstGeom>
          <a:solidFill>
            <a:srgbClr val="6E6E7A"/>
          </a:solidFill>
          <a:ln/>
        </p:spPr>
        <p:txBody>
          <a:bodyPr/>
          <a:lstStyle/>
          <a:p>
            <a:endParaRPr lang="zh-CN" altLang="en-US"/>
          </a:p>
        </p:txBody>
      </p:sp>
      <p:sp>
        <p:nvSpPr>
          <p:cNvPr id="34" name="Text 31"/>
          <p:cNvSpPr/>
          <p:nvPr/>
        </p:nvSpPr>
        <p:spPr>
          <a:xfrm>
            <a:off x="7400311" y="1114425"/>
            <a:ext cx="1197192" cy="214313"/>
          </a:xfrm>
          <a:prstGeom prst="rect">
            <a:avLst/>
          </a:prstGeom>
          <a:noFill/>
          <a:ln/>
        </p:spPr>
        <p:txBody>
          <a:bodyPr wrap="none" lIns="51054" tIns="51054" rIns="51054" bIns="51054" rtlCol="0" anchor="ctr">
            <a:spAutoFit/>
          </a:bodyPr>
          <a:lstStyle/>
          <a:p>
            <a:pPr marL="0" indent="0" algn="l">
              <a:buNone/>
            </a:pPr>
            <a:r>
              <a:rPr lang="en-US" sz="650" b="1" dirty="0">
                <a:solidFill>
                  <a:srgbClr val="FFFFFF"/>
                </a:solidFill>
                <a:latin typeface="Arial" pitchFamily="34" charset="0"/>
                <a:ea typeface="Arial" pitchFamily="34" charset="-122"/>
                <a:cs typeface="Arial" pitchFamily="34" charset="-120"/>
              </a:rPr>
              <a:t>接收端</a:t>
            </a:r>
            <a:endParaRPr lang="en-US" sz="650" dirty="0"/>
          </a:p>
        </p:txBody>
      </p:sp>
      <p:sp>
        <p:nvSpPr>
          <p:cNvPr id="35" name="Text 32"/>
          <p:cNvSpPr/>
          <p:nvPr/>
        </p:nvSpPr>
        <p:spPr>
          <a:xfrm>
            <a:off x="5261372" y="1328738"/>
            <a:ext cx="1665554" cy="203597"/>
          </a:xfrm>
          <a:prstGeom prst="rect">
            <a:avLst/>
          </a:prstGeom>
          <a:noFill/>
          <a:ln/>
        </p:spPr>
        <p:txBody>
          <a:bodyPr wrap="square" lIns="51054" tIns="51054" rIns="51054" bIns="51054" rtlCol="0" anchor="ctr">
            <a:spAutoFit/>
          </a:bodyPr>
          <a:lstStyle/>
          <a:p>
            <a:pPr marL="0" indent="0" algn="l">
              <a:buNone/>
            </a:pPr>
            <a:r>
              <a:rPr lang="en-US" sz="650" dirty="0">
                <a:solidFill>
                  <a:srgbClr val="2E2E38"/>
                </a:solidFill>
                <a:latin typeface="Arial" pitchFamily="34" charset="0"/>
                <a:ea typeface="Arial" pitchFamily="34" charset="-122"/>
                <a:cs typeface="Arial" pitchFamily="34" charset="-120"/>
              </a:rPr>
              <a:t>q_max_reached</a:t>
            </a:r>
            <a:endParaRPr lang="en-US" sz="650" dirty="0"/>
          </a:p>
        </p:txBody>
      </p:sp>
      <p:sp>
        <p:nvSpPr>
          <p:cNvPr id="36" name="Text 33"/>
          <p:cNvSpPr/>
          <p:nvPr/>
        </p:nvSpPr>
        <p:spPr>
          <a:xfrm>
            <a:off x="6926926" y="1328738"/>
            <a:ext cx="473385" cy="203597"/>
          </a:xfrm>
          <a:prstGeom prst="rect">
            <a:avLst/>
          </a:prstGeom>
          <a:noFill/>
          <a:ln/>
        </p:spPr>
        <p:txBody>
          <a:bodyPr wrap="none" lIns="51054" tIns="51054" rIns="51054" bIns="51054" rtlCol="0" anchor="ctr">
            <a:spAutoFit/>
          </a:bodyPr>
          <a:lstStyle/>
          <a:p>
            <a:pPr marL="0" indent="0" algn="l">
              <a:buNone/>
            </a:pPr>
            <a:r>
              <a:rPr lang="en-US" sz="650" dirty="0">
                <a:solidFill>
                  <a:srgbClr val="2E2E38"/>
                </a:solidFill>
                <a:latin typeface="Arial" pitchFamily="34" charset="0"/>
                <a:ea typeface="Arial" pitchFamily="34" charset="-122"/>
                <a:cs typeface="Arial" pitchFamily="34" charset="-120"/>
              </a:rPr>
              <a:t>33</a:t>
            </a:r>
            <a:endParaRPr lang="en-US" sz="650" dirty="0"/>
          </a:p>
        </p:txBody>
      </p:sp>
      <p:sp>
        <p:nvSpPr>
          <p:cNvPr id="37" name="Text 34"/>
          <p:cNvSpPr/>
          <p:nvPr/>
        </p:nvSpPr>
        <p:spPr>
          <a:xfrm>
            <a:off x="7400311" y="1328738"/>
            <a:ext cx="1197192" cy="203597"/>
          </a:xfrm>
          <a:prstGeom prst="rect">
            <a:avLst/>
          </a:prstGeom>
          <a:noFill/>
          <a:ln/>
        </p:spPr>
        <p:txBody>
          <a:bodyPr wrap="none" lIns="51054" tIns="51054" rIns="51054" bIns="51054" rtlCol="0" anchor="ctr">
            <a:spAutoFit/>
          </a:bodyPr>
          <a:lstStyle/>
          <a:p>
            <a:pPr marL="0" indent="0" algn="l">
              <a:buNone/>
            </a:pPr>
            <a:r>
              <a:rPr lang="en-US" sz="650" dirty="0">
                <a:solidFill>
                  <a:srgbClr val="2E2E38"/>
                </a:solidFill>
                <a:latin typeface="Arial" pitchFamily="34" charset="0"/>
                <a:ea typeface="Arial" pitchFamily="34" charset="-122"/>
                <a:cs typeface="Arial" pitchFamily="34" charset="-120"/>
              </a:rPr>
              <a:t>QM</a:t>
            </a:r>
            <a:endParaRPr lang="en-US" sz="650" dirty="0"/>
          </a:p>
        </p:txBody>
      </p:sp>
      <p:sp>
        <p:nvSpPr>
          <p:cNvPr id="38" name="Text 35"/>
          <p:cNvSpPr/>
          <p:nvPr/>
        </p:nvSpPr>
        <p:spPr>
          <a:xfrm>
            <a:off x="5261372" y="1532334"/>
            <a:ext cx="1665554" cy="203597"/>
          </a:xfrm>
          <a:prstGeom prst="rect">
            <a:avLst/>
          </a:prstGeom>
          <a:noFill/>
          <a:ln/>
        </p:spPr>
        <p:txBody>
          <a:bodyPr wrap="square" lIns="51054" tIns="51054" rIns="51054" bIns="51054" rtlCol="0" anchor="ctr">
            <a:spAutoFit/>
          </a:bodyPr>
          <a:lstStyle/>
          <a:p>
            <a:pPr marL="0" indent="0" algn="l">
              <a:buNone/>
            </a:pPr>
            <a:r>
              <a:rPr lang="en-US" sz="650" dirty="0">
                <a:solidFill>
                  <a:srgbClr val="2E2E38"/>
                </a:solidFill>
                <a:latin typeface="Arial" pitchFamily="34" charset="0"/>
                <a:ea typeface="Arial" pitchFamily="34" charset="-122"/>
                <a:cs typeface="Arial" pitchFamily="34" charset="-120"/>
              </a:rPr>
              <a:t>port_max_reached</a:t>
            </a:r>
            <a:endParaRPr lang="en-US" sz="650" dirty="0"/>
          </a:p>
        </p:txBody>
      </p:sp>
      <p:sp>
        <p:nvSpPr>
          <p:cNvPr id="39" name="Text 36"/>
          <p:cNvSpPr/>
          <p:nvPr/>
        </p:nvSpPr>
        <p:spPr>
          <a:xfrm>
            <a:off x="6926926" y="1532334"/>
            <a:ext cx="473385" cy="203597"/>
          </a:xfrm>
          <a:prstGeom prst="rect">
            <a:avLst/>
          </a:prstGeom>
          <a:noFill/>
          <a:ln/>
        </p:spPr>
        <p:txBody>
          <a:bodyPr wrap="none" lIns="51054" tIns="51054" rIns="51054" bIns="51054" rtlCol="0" anchor="ctr">
            <a:spAutoFit/>
          </a:bodyPr>
          <a:lstStyle/>
          <a:p>
            <a:pPr marL="0" indent="0" algn="l">
              <a:buNone/>
            </a:pPr>
            <a:r>
              <a:rPr lang="en-US" sz="650" dirty="0">
                <a:solidFill>
                  <a:srgbClr val="2E2E38"/>
                </a:solidFill>
                <a:latin typeface="Arial" pitchFamily="34" charset="0"/>
                <a:ea typeface="Arial" pitchFamily="34" charset="-122"/>
                <a:cs typeface="Arial" pitchFamily="34" charset="-120"/>
              </a:rPr>
              <a:t>4</a:t>
            </a:r>
            <a:endParaRPr lang="en-US" sz="650" dirty="0"/>
          </a:p>
        </p:txBody>
      </p:sp>
      <p:sp>
        <p:nvSpPr>
          <p:cNvPr id="40" name="Text 37"/>
          <p:cNvSpPr/>
          <p:nvPr/>
        </p:nvSpPr>
        <p:spPr>
          <a:xfrm>
            <a:off x="7400311" y="1532334"/>
            <a:ext cx="1197192" cy="203597"/>
          </a:xfrm>
          <a:prstGeom prst="rect">
            <a:avLst/>
          </a:prstGeom>
          <a:noFill/>
          <a:ln/>
        </p:spPr>
        <p:txBody>
          <a:bodyPr wrap="none" lIns="51054" tIns="51054" rIns="51054" bIns="51054" rtlCol="0" anchor="ctr">
            <a:spAutoFit/>
          </a:bodyPr>
          <a:lstStyle/>
          <a:p>
            <a:pPr marL="0" indent="0" algn="l">
              <a:buNone/>
            </a:pPr>
            <a:r>
              <a:rPr lang="en-US" sz="650" dirty="0">
                <a:solidFill>
                  <a:srgbClr val="2E2E38"/>
                </a:solidFill>
                <a:latin typeface="Arial" pitchFamily="34" charset="0"/>
                <a:ea typeface="Arial" pitchFamily="34" charset="-122"/>
                <a:cs typeface="Arial" pitchFamily="34" charset="-120"/>
              </a:rPr>
              <a:t>QM / MAC</a:t>
            </a:r>
            <a:endParaRPr lang="en-US" sz="650" dirty="0"/>
          </a:p>
        </p:txBody>
      </p:sp>
      <p:sp>
        <p:nvSpPr>
          <p:cNvPr id="41" name="Text 38"/>
          <p:cNvSpPr/>
          <p:nvPr/>
        </p:nvSpPr>
        <p:spPr>
          <a:xfrm>
            <a:off x="5261372" y="1735931"/>
            <a:ext cx="1665554" cy="203597"/>
          </a:xfrm>
          <a:prstGeom prst="rect">
            <a:avLst/>
          </a:prstGeom>
          <a:noFill/>
          <a:ln/>
        </p:spPr>
        <p:txBody>
          <a:bodyPr wrap="square" lIns="51054" tIns="51054" rIns="51054" bIns="51054" rtlCol="0" anchor="ctr">
            <a:spAutoFit/>
          </a:bodyPr>
          <a:lstStyle/>
          <a:p>
            <a:pPr marL="0" indent="0" algn="l">
              <a:buNone/>
            </a:pPr>
            <a:r>
              <a:rPr lang="en-US" sz="650" dirty="0">
                <a:solidFill>
                  <a:srgbClr val="2E2E38"/>
                </a:solidFill>
                <a:latin typeface="Arial" pitchFamily="34" charset="0"/>
                <a:ea typeface="Arial" pitchFamily="34" charset="-122"/>
                <a:cs typeface="Arial" pitchFamily="34" charset="-120"/>
              </a:rPr>
              <a:t>global_max_reached</a:t>
            </a:r>
            <a:endParaRPr lang="en-US" sz="650" dirty="0"/>
          </a:p>
        </p:txBody>
      </p:sp>
      <p:sp>
        <p:nvSpPr>
          <p:cNvPr id="42" name="Text 39"/>
          <p:cNvSpPr/>
          <p:nvPr/>
        </p:nvSpPr>
        <p:spPr>
          <a:xfrm>
            <a:off x="6926926" y="1735931"/>
            <a:ext cx="473385" cy="203597"/>
          </a:xfrm>
          <a:prstGeom prst="rect">
            <a:avLst/>
          </a:prstGeom>
          <a:noFill/>
          <a:ln/>
        </p:spPr>
        <p:txBody>
          <a:bodyPr wrap="none" lIns="51054" tIns="51054" rIns="51054" bIns="51054" rtlCol="0" anchor="ctr">
            <a:spAutoFit/>
          </a:bodyPr>
          <a:lstStyle/>
          <a:p>
            <a:pPr marL="0" indent="0" algn="l">
              <a:buNone/>
            </a:pPr>
            <a:r>
              <a:rPr lang="en-US" sz="650" dirty="0">
                <a:solidFill>
                  <a:srgbClr val="2E2E38"/>
                </a:solidFill>
                <a:latin typeface="Arial" pitchFamily="34" charset="0"/>
                <a:ea typeface="Arial" pitchFamily="34" charset="-122"/>
                <a:cs typeface="Arial" pitchFamily="34" charset="-120"/>
              </a:rPr>
              <a:t>1</a:t>
            </a:r>
            <a:endParaRPr lang="en-US" sz="650" dirty="0"/>
          </a:p>
        </p:txBody>
      </p:sp>
      <p:sp>
        <p:nvSpPr>
          <p:cNvPr id="43" name="Text 40"/>
          <p:cNvSpPr/>
          <p:nvPr/>
        </p:nvSpPr>
        <p:spPr>
          <a:xfrm>
            <a:off x="7400311" y="1735931"/>
            <a:ext cx="1197192" cy="203597"/>
          </a:xfrm>
          <a:prstGeom prst="rect">
            <a:avLst/>
          </a:prstGeom>
          <a:noFill/>
          <a:ln/>
        </p:spPr>
        <p:txBody>
          <a:bodyPr wrap="none" lIns="51054" tIns="51054" rIns="51054" bIns="51054" rtlCol="0" anchor="ctr">
            <a:spAutoFit/>
          </a:bodyPr>
          <a:lstStyle/>
          <a:p>
            <a:pPr marL="0" indent="0" algn="l">
              <a:buNone/>
            </a:pPr>
            <a:r>
              <a:rPr lang="en-US" sz="650" dirty="0">
                <a:solidFill>
                  <a:srgbClr val="2E2E38"/>
                </a:solidFill>
                <a:latin typeface="Arial" pitchFamily="34" charset="0"/>
                <a:ea typeface="Arial" pitchFamily="34" charset="-122"/>
                <a:cs typeface="Arial" pitchFamily="34" charset="-120"/>
              </a:rPr>
              <a:t>QM / MAC</a:t>
            </a:r>
            <a:endParaRPr lang="en-US" sz="650" dirty="0"/>
          </a:p>
        </p:txBody>
      </p:sp>
      <p:sp>
        <p:nvSpPr>
          <p:cNvPr id="44" name="Text 41"/>
          <p:cNvSpPr/>
          <p:nvPr/>
        </p:nvSpPr>
        <p:spPr>
          <a:xfrm>
            <a:off x="5261372" y="1939528"/>
            <a:ext cx="1665554" cy="203597"/>
          </a:xfrm>
          <a:prstGeom prst="rect">
            <a:avLst/>
          </a:prstGeom>
          <a:noFill/>
          <a:ln/>
        </p:spPr>
        <p:txBody>
          <a:bodyPr wrap="square" lIns="51054" tIns="51054" rIns="51054" bIns="51054" rtlCol="0" anchor="ctr">
            <a:spAutoFit/>
          </a:bodyPr>
          <a:lstStyle/>
          <a:p>
            <a:pPr marL="0" indent="0" algn="l">
              <a:buNone/>
            </a:pPr>
            <a:r>
              <a:rPr lang="en-US" sz="650" dirty="0">
                <a:solidFill>
                  <a:srgbClr val="2E2E38"/>
                </a:solidFill>
                <a:latin typeface="Arial" pitchFamily="34" charset="0"/>
                <a:ea typeface="Arial" pitchFamily="34" charset="-122"/>
                <a:cs typeface="Arial" pitchFamily="34" charset="-120"/>
              </a:rPr>
              <a:t>q_empty</a:t>
            </a:r>
            <a:endParaRPr lang="en-US" sz="650" dirty="0"/>
          </a:p>
        </p:txBody>
      </p:sp>
      <p:sp>
        <p:nvSpPr>
          <p:cNvPr id="45" name="Text 42"/>
          <p:cNvSpPr/>
          <p:nvPr/>
        </p:nvSpPr>
        <p:spPr>
          <a:xfrm>
            <a:off x="6926926" y="1939528"/>
            <a:ext cx="473385" cy="203597"/>
          </a:xfrm>
          <a:prstGeom prst="rect">
            <a:avLst/>
          </a:prstGeom>
          <a:noFill/>
          <a:ln/>
        </p:spPr>
        <p:txBody>
          <a:bodyPr wrap="none" lIns="51054" tIns="51054" rIns="51054" bIns="51054" rtlCol="0" anchor="ctr">
            <a:spAutoFit/>
          </a:bodyPr>
          <a:lstStyle/>
          <a:p>
            <a:pPr marL="0" indent="0" algn="l">
              <a:buNone/>
            </a:pPr>
            <a:r>
              <a:rPr lang="en-US" sz="650" dirty="0">
                <a:solidFill>
                  <a:srgbClr val="2E2E38"/>
                </a:solidFill>
                <a:latin typeface="Arial" pitchFamily="34" charset="0"/>
                <a:ea typeface="Arial" pitchFamily="34" charset="-122"/>
                <a:cs typeface="Arial" pitchFamily="34" charset="-120"/>
              </a:rPr>
              <a:t>32</a:t>
            </a:r>
            <a:endParaRPr lang="en-US" sz="650" dirty="0"/>
          </a:p>
        </p:txBody>
      </p:sp>
      <p:sp>
        <p:nvSpPr>
          <p:cNvPr id="46" name="Text 43"/>
          <p:cNvSpPr/>
          <p:nvPr/>
        </p:nvSpPr>
        <p:spPr>
          <a:xfrm>
            <a:off x="7400311" y="1939528"/>
            <a:ext cx="1197192" cy="203597"/>
          </a:xfrm>
          <a:prstGeom prst="rect">
            <a:avLst/>
          </a:prstGeom>
          <a:noFill/>
          <a:ln/>
        </p:spPr>
        <p:txBody>
          <a:bodyPr wrap="none" lIns="51054" tIns="51054" rIns="51054" bIns="51054" rtlCol="0" anchor="ctr">
            <a:spAutoFit/>
          </a:bodyPr>
          <a:lstStyle/>
          <a:p>
            <a:pPr marL="0" indent="0" algn="l">
              <a:buNone/>
            </a:pPr>
            <a:r>
              <a:rPr lang="en-US" sz="650" dirty="0">
                <a:solidFill>
                  <a:srgbClr val="2E2E38"/>
                </a:solidFill>
                <a:latin typeface="Arial" pitchFamily="34" charset="0"/>
                <a:ea typeface="Arial" pitchFamily="34" charset="-122"/>
                <a:cs typeface="Arial" pitchFamily="34" charset="-120"/>
              </a:rPr>
              <a:t>QM Scheduler</a:t>
            </a:r>
            <a:endParaRPr lang="en-US" sz="650" dirty="0"/>
          </a:p>
        </p:txBody>
      </p:sp>
      <p:sp>
        <p:nvSpPr>
          <p:cNvPr id="47" name="Text 44"/>
          <p:cNvSpPr/>
          <p:nvPr/>
        </p:nvSpPr>
        <p:spPr>
          <a:xfrm>
            <a:off x="5261372" y="2143125"/>
            <a:ext cx="1665554" cy="203597"/>
          </a:xfrm>
          <a:prstGeom prst="rect">
            <a:avLst/>
          </a:prstGeom>
          <a:noFill/>
          <a:ln/>
        </p:spPr>
        <p:txBody>
          <a:bodyPr wrap="square" lIns="51054" tIns="51054" rIns="51054" bIns="51054" rtlCol="0" anchor="ctr">
            <a:spAutoFit/>
          </a:bodyPr>
          <a:lstStyle/>
          <a:p>
            <a:pPr marL="0" indent="0" algn="l">
              <a:buNone/>
            </a:pPr>
            <a:r>
              <a:rPr lang="en-US" sz="650" dirty="0">
                <a:solidFill>
                  <a:srgbClr val="2E2E38"/>
                </a:solidFill>
                <a:latin typeface="Arial" pitchFamily="34" charset="0"/>
                <a:ea typeface="Arial" pitchFamily="34" charset="-122"/>
                <a:cs typeface="Arial" pitchFamily="34" charset="-120"/>
              </a:rPr>
              <a:t>q_pkt_empty</a:t>
            </a:r>
            <a:endParaRPr lang="en-US" sz="650" dirty="0"/>
          </a:p>
        </p:txBody>
      </p:sp>
      <p:sp>
        <p:nvSpPr>
          <p:cNvPr id="48" name="Text 45"/>
          <p:cNvSpPr/>
          <p:nvPr/>
        </p:nvSpPr>
        <p:spPr>
          <a:xfrm>
            <a:off x="6926926" y="2143125"/>
            <a:ext cx="473385" cy="203597"/>
          </a:xfrm>
          <a:prstGeom prst="rect">
            <a:avLst/>
          </a:prstGeom>
          <a:noFill/>
          <a:ln/>
        </p:spPr>
        <p:txBody>
          <a:bodyPr wrap="none" lIns="51054" tIns="51054" rIns="51054" bIns="51054" rtlCol="0" anchor="ctr">
            <a:spAutoFit/>
          </a:bodyPr>
          <a:lstStyle/>
          <a:p>
            <a:pPr marL="0" indent="0" algn="l">
              <a:buNone/>
            </a:pPr>
            <a:r>
              <a:rPr lang="en-US" sz="650" dirty="0">
                <a:solidFill>
                  <a:srgbClr val="2E2E38"/>
                </a:solidFill>
                <a:latin typeface="Arial" pitchFamily="34" charset="0"/>
                <a:ea typeface="Arial" pitchFamily="34" charset="-122"/>
                <a:cs typeface="Arial" pitchFamily="34" charset="-120"/>
              </a:rPr>
              <a:t>32</a:t>
            </a:r>
            <a:endParaRPr lang="en-US" sz="650" dirty="0"/>
          </a:p>
        </p:txBody>
      </p:sp>
      <p:sp>
        <p:nvSpPr>
          <p:cNvPr id="49" name="Text 46"/>
          <p:cNvSpPr/>
          <p:nvPr/>
        </p:nvSpPr>
        <p:spPr>
          <a:xfrm>
            <a:off x="7400311" y="2143125"/>
            <a:ext cx="1197192" cy="203597"/>
          </a:xfrm>
          <a:prstGeom prst="rect">
            <a:avLst/>
          </a:prstGeom>
          <a:noFill/>
          <a:ln/>
        </p:spPr>
        <p:txBody>
          <a:bodyPr wrap="none" lIns="51054" tIns="51054" rIns="51054" bIns="51054" rtlCol="0" anchor="ctr">
            <a:spAutoFit/>
          </a:bodyPr>
          <a:lstStyle/>
          <a:p>
            <a:pPr marL="0" indent="0" algn="l">
              <a:buNone/>
            </a:pPr>
            <a:r>
              <a:rPr lang="en-US" sz="650" dirty="0">
                <a:solidFill>
                  <a:srgbClr val="2E2E38"/>
                </a:solidFill>
                <a:latin typeface="Arial" pitchFamily="34" charset="0"/>
                <a:ea typeface="Arial" pitchFamily="34" charset="-122"/>
                <a:cs typeface="Arial" pitchFamily="34" charset="-120"/>
              </a:rPr>
              <a:t>QM Scheduler</a:t>
            </a:r>
            <a:endParaRPr lang="en-US" sz="650" dirty="0"/>
          </a:p>
        </p:txBody>
      </p:sp>
      <p:sp>
        <p:nvSpPr>
          <p:cNvPr id="50" name="Shape 47"/>
          <p:cNvSpPr/>
          <p:nvPr/>
        </p:nvSpPr>
        <p:spPr>
          <a:xfrm>
            <a:off x="5143500" y="2493169"/>
            <a:ext cx="3571875" cy="1000125"/>
          </a:xfrm>
          <a:prstGeom prst="rect">
            <a:avLst/>
          </a:prstGeom>
          <a:solidFill>
            <a:srgbClr val="FFFFFF"/>
          </a:solidFill>
          <a:ln/>
        </p:spPr>
        <p:txBody>
          <a:bodyPr/>
          <a:lstStyle/>
          <a:p>
            <a:endParaRPr lang="zh-CN" altLang="en-US"/>
          </a:p>
        </p:txBody>
      </p:sp>
      <p:pic>
        <p:nvPicPr>
          <p:cNvPr id="51" name="Image 1" descr="preencoded.png"/>
          <p:cNvPicPr>
            <a:picLocks noChangeAspect="1"/>
          </p:cNvPicPr>
          <p:nvPr/>
        </p:nvPicPr>
        <p:blipFill>
          <a:blip r:embed="rId4"/>
          <a:stretch>
            <a:fillRect/>
          </a:stretch>
        </p:blipFill>
        <p:spPr>
          <a:xfrm>
            <a:off x="5143500" y="2493169"/>
            <a:ext cx="3571875" cy="1000125"/>
          </a:xfrm>
          <a:prstGeom prst="rect">
            <a:avLst/>
          </a:prstGeom>
        </p:spPr>
      </p:pic>
      <p:sp>
        <p:nvSpPr>
          <p:cNvPr id="52" name="Text 48"/>
          <p:cNvSpPr/>
          <p:nvPr/>
        </p:nvSpPr>
        <p:spPr>
          <a:xfrm>
            <a:off x="5143500" y="3493294"/>
            <a:ext cx="3571875" cy="171450"/>
          </a:xfrm>
          <a:prstGeom prst="rect">
            <a:avLst/>
          </a:prstGeom>
          <a:noFill/>
          <a:ln/>
        </p:spPr>
        <p:txBody>
          <a:bodyPr wrap="square" lIns="0" tIns="68072" rIns="0" bIns="0" rtlCol="0" anchor="t">
            <a:spAutoFit/>
          </a:bodyPr>
          <a:lstStyle/>
          <a:p>
            <a:pPr marL="0" indent="0" algn="ctr">
              <a:buNone/>
            </a:pPr>
            <a:r>
              <a:rPr lang="en-US" sz="600" dirty="0">
                <a:solidFill>
                  <a:srgbClr val="6E6E7A"/>
                </a:solidFill>
                <a:latin typeface="Arial" pitchFamily="34" charset="0"/>
                <a:ea typeface="Arial" pitchFamily="34" charset="-122"/>
                <a:cs typeface="Arial" pitchFamily="34" charset="-120"/>
              </a:rPr>
              <a:t>基于链表的动态共享架构需要精细的三级流控反馈来维持系统稳定性。</a:t>
            </a:r>
            <a:endParaRPr lang="en-US" sz="600" dirty="0"/>
          </a:p>
        </p:txBody>
      </p:sp>
      <p:sp>
        <p:nvSpPr>
          <p:cNvPr id="53" name="Text 49"/>
          <p:cNvSpPr/>
          <p:nvPr/>
        </p:nvSpPr>
        <p:spPr>
          <a:xfrm>
            <a:off x="428625" y="4879181"/>
            <a:ext cx="857473"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SMMU Design Review</a:t>
            </a:r>
            <a:endParaRPr lang="en-US" sz="600" dirty="0"/>
          </a:p>
        </p:txBody>
      </p:sp>
      <p:sp>
        <p:nvSpPr>
          <p:cNvPr id="54" name="Text 50"/>
          <p:cNvSpPr/>
          <p:nvPr/>
        </p:nvSpPr>
        <p:spPr>
          <a:xfrm>
            <a:off x="8395971" y="4879181"/>
            <a:ext cx="319404"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Page 19</a:t>
            </a:r>
            <a:endParaRPr lang="en-US" sz="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71500"/>
          </a:xfrm>
          <a:prstGeom prst="rect">
            <a:avLst/>
          </a:prstGeom>
          <a:solidFill>
            <a:srgbClr val="3253DC"/>
          </a:solidFill>
          <a:ln/>
        </p:spPr>
        <p:txBody>
          <a:bodyPr/>
          <a:lstStyle/>
          <a:p>
            <a:endParaRPr lang="zh-CN" altLang="en-US"/>
          </a:p>
        </p:txBody>
      </p:sp>
      <p:sp>
        <p:nvSpPr>
          <p:cNvPr id="4" name="Text 1"/>
          <p:cNvSpPr/>
          <p:nvPr/>
        </p:nvSpPr>
        <p:spPr>
          <a:xfrm>
            <a:off x="428625" y="130373"/>
            <a:ext cx="3632374" cy="246221"/>
          </a:xfrm>
          <a:prstGeom prst="rect">
            <a:avLst/>
          </a:prstGeom>
          <a:noFill/>
          <a:ln/>
        </p:spPr>
        <p:txBody>
          <a:bodyPr wrap="square" lIns="0" tIns="0" rIns="0" bIns="0" rtlCol="0" anchor="t">
            <a:spAutoFit/>
          </a:bodyPr>
          <a:lstStyle/>
          <a:p>
            <a:pPr marL="0" indent="0" algn="l">
              <a:buNone/>
            </a:pPr>
            <a:r>
              <a:rPr lang="en-US" sz="1600" b="1" dirty="0" err="1">
                <a:solidFill>
                  <a:srgbClr val="FFFFFF"/>
                </a:solidFill>
                <a:latin typeface="Arial" pitchFamily="34" charset="0"/>
                <a:ea typeface="Arial" pitchFamily="34" charset="-122"/>
                <a:cs typeface="Arial" pitchFamily="34" charset="-120"/>
              </a:rPr>
              <a:t>多播逻辑拼接</a:t>
            </a:r>
            <a:r>
              <a:rPr lang="en-US" sz="1600" b="1" dirty="0">
                <a:solidFill>
                  <a:srgbClr val="FFFFFF"/>
                </a:solidFill>
                <a:latin typeface="Arial" pitchFamily="34" charset="0"/>
                <a:ea typeface="Arial" pitchFamily="34" charset="-122"/>
                <a:cs typeface="Arial" pitchFamily="34" charset="-120"/>
              </a:rPr>
              <a:t> (1) —— 模型概述</a:t>
            </a:r>
            <a:endParaRPr lang="en-US" sz="1600" dirty="0"/>
          </a:p>
        </p:txBody>
      </p:sp>
      <p:sp>
        <p:nvSpPr>
          <p:cNvPr id="5" name="Shape 2"/>
          <p:cNvSpPr/>
          <p:nvPr/>
        </p:nvSpPr>
        <p:spPr>
          <a:xfrm>
            <a:off x="428625" y="1000125"/>
            <a:ext cx="2619356" cy="3714750"/>
          </a:xfrm>
          <a:prstGeom prst="rect">
            <a:avLst/>
          </a:prstGeom>
          <a:solidFill>
            <a:srgbClr val="FFFFFF"/>
          </a:solidFill>
          <a:ln/>
        </p:spPr>
        <p:txBody>
          <a:bodyPr/>
          <a:lstStyle/>
          <a:p>
            <a:endParaRPr lang="zh-CN" altLang="en-US"/>
          </a:p>
        </p:txBody>
      </p:sp>
      <p:sp>
        <p:nvSpPr>
          <p:cNvPr id="6" name="Shape 3"/>
          <p:cNvSpPr/>
          <p:nvPr/>
        </p:nvSpPr>
        <p:spPr>
          <a:xfrm>
            <a:off x="428625" y="1000125"/>
            <a:ext cx="28575" cy="3714750"/>
          </a:xfrm>
          <a:prstGeom prst="rect">
            <a:avLst/>
          </a:prstGeom>
          <a:solidFill>
            <a:srgbClr val="6CA0F6"/>
          </a:solidFill>
          <a:ln/>
        </p:spPr>
        <p:txBody>
          <a:bodyPr/>
          <a:lstStyle/>
          <a:p>
            <a:endParaRPr lang="zh-CN" altLang="en-US"/>
          </a:p>
        </p:txBody>
      </p:sp>
      <p:pic>
        <p:nvPicPr>
          <p:cNvPr id="7" name="Image 1" descr="preencoded.png"/>
          <p:cNvPicPr>
            <a:picLocks noChangeAspect="1"/>
          </p:cNvPicPr>
          <p:nvPr/>
        </p:nvPicPr>
        <p:blipFill>
          <a:blip r:embed="rId4"/>
          <a:stretch>
            <a:fillRect/>
          </a:stretch>
        </p:blipFill>
        <p:spPr>
          <a:xfrm>
            <a:off x="607219" y="1225153"/>
            <a:ext cx="342900" cy="342900"/>
          </a:xfrm>
          <a:prstGeom prst="rect">
            <a:avLst/>
          </a:prstGeom>
        </p:spPr>
      </p:pic>
      <p:sp>
        <p:nvSpPr>
          <p:cNvPr id="8" name="Text 4"/>
          <p:cNvSpPr/>
          <p:nvPr/>
        </p:nvSpPr>
        <p:spPr>
          <a:xfrm>
            <a:off x="607219" y="1785938"/>
            <a:ext cx="2243138" cy="228600"/>
          </a:xfrm>
          <a:prstGeom prst="rect">
            <a:avLst/>
          </a:prstGeom>
          <a:noFill/>
          <a:ln/>
        </p:spPr>
        <p:txBody>
          <a:bodyPr wrap="square" lIns="0" tIns="0" rIns="0" bIns="0" rtlCol="0" anchor="t">
            <a:spAutoFit/>
          </a:bodyPr>
          <a:lstStyle/>
          <a:p>
            <a:pPr marL="0" indent="0" algn="l">
              <a:buNone/>
            </a:pPr>
            <a:r>
              <a:rPr lang="en-US" sz="1200" b="1" dirty="0">
                <a:solidFill>
                  <a:srgbClr val="3253DC"/>
                </a:solidFill>
                <a:latin typeface="Arial" pitchFamily="34" charset="0"/>
                <a:ea typeface="Arial" pitchFamily="34" charset="-122"/>
                <a:cs typeface="Arial" pitchFamily="34" charset="-120"/>
              </a:rPr>
              <a:t>单槽模型 (Single Slot)</a:t>
            </a:r>
            <a:endParaRPr lang="en-US" sz="1200" dirty="0"/>
          </a:p>
        </p:txBody>
      </p:sp>
      <p:sp>
        <p:nvSpPr>
          <p:cNvPr id="9" name="Text 5"/>
          <p:cNvSpPr/>
          <p:nvPr/>
        </p:nvSpPr>
        <p:spPr>
          <a:xfrm>
            <a:off x="607219" y="2157413"/>
            <a:ext cx="2243138" cy="411435"/>
          </a:xfrm>
          <a:prstGeom prst="rect">
            <a:avLst/>
          </a:prstGeom>
          <a:noFill/>
          <a:ln/>
        </p:spPr>
        <p:txBody>
          <a:bodyPr wrap="squar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为了简化硬件实现复杂度，SMMU 内部采用 </a:t>
            </a:r>
            <a:r>
              <a:rPr lang="en-US" sz="800" b="1" dirty="0">
                <a:solidFill>
                  <a:srgbClr val="00C2DE"/>
                </a:solidFill>
                <a:latin typeface="Arial" pitchFamily="34" charset="0"/>
                <a:ea typeface="Arial" pitchFamily="34" charset="-122"/>
                <a:cs typeface="Arial" pitchFamily="34" charset="-120"/>
              </a:rPr>
              <a:t>单槽位</a:t>
            </a:r>
            <a:r>
              <a:rPr lang="en-US" sz="850" dirty="0">
                <a:solidFill>
                  <a:srgbClr val="2E2E38"/>
                </a:solidFill>
                <a:latin typeface="Arial" pitchFamily="34" charset="0"/>
                <a:ea typeface="Arial" pitchFamily="34" charset="-122"/>
                <a:cs typeface="Arial" pitchFamily="34" charset="-120"/>
              </a:rPr>
              <a:t> 处理机制。</a:t>
            </a:r>
            <a:endParaRPr lang="en-US" sz="850" dirty="0"/>
          </a:p>
        </p:txBody>
      </p:sp>
      <p:sp>
        <p:nvSpPr>
          <p:cNvPr id="10" name="Text 6"/>
          <p:cNvSpPr/>
          <p:nvPr/>
        </p:nvSpPr>
        <p:spPr>
          <a:xfrm>
            <a:off x="607219" y="2676004"/>
            <a:ext cx="2243138" cy="617153"/>
          </a:xfrm>
          <a:prstGeom prst="rect">
            <a:avLst/>
          </a:prstGeom>
          <a:noFill/>
          <a:ln/>
        </p:spPr>
        <p:txBody>
          <a:bodyPr wrap="squar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同一时刻，系统仅处理一帧多播报文的逻辑拼接，确保了状态机转换的确定性与高效性。</a:t>
            </a:r>
            <a:endParaRPr lang="en-US" sz="850" dirty="0"/>
          </a:p>
        </p:txBody>
      </p:sp>
      <p:sp>
        <p:nvSpPr>
          <p:cNvPr id="11" name="Shape 7"/>
          <p:cNvSpPr/>
          <p:nvPr/>
        </p:nvSpPr>
        <p:spPr>
          <a:xfrm>
            <a:off x="3243263" y="1000125"/>
            <a:ext cx="2628900" cy="3714750"/>
          </a:xfrm>
          <a:prstGeom prst="rect">
            <a:avLst/>
          </a:prstGeom>
          <a:solidFill>
            <a:srgbClr val="FFFFFF"/>
          </a:solidFill>
          <a:ln/>
        </p:spPr>
        <p:txBody>
          <a:bodyPr/>
          <a:lstStyle/>
          <a:p>
            <a:endParaRPr lang="zh-CN" altLang="en-US"/>
          </a:p>
        </p:txBody>
      </p:sp>
      <p:sp>
        <p:nvSpPr>
          <p:cNvPr id="12" name="Shape 8"/>
          <p:cNvSpPr/>
          <p:nvPr/>
        </p:nvSpPr>
        <p:spPr>
          <a:xfrm>
            <a:off x="3243263" y="1000125"/>
            <a:ext cx="28575" cy="3714750"/>
          </a:xfrm>
          <a:prstGeom prst="rect">
            <a:avLst/>
          </a:prstGeom>
          <a:solidFill>
            <a:srgbClr val="6CA0F6"/>
          </a:solidFill>
          <a:ln/>
        </p:spPr>
        <p:txBody>
          <a:bodyPr/>
          <a:lstStyle/>
          <a:p>
            <a:endParaRPr lang="zh-CN" altLang="en-US"/>
          </a:p>
        </p:txBody>
      </p:sp>
      <p:pic>
        <p:nvPicPr>
          <p:cNvPr id="13" name="Image 2" descr="preencoded.png"/>
          <p:cNvPicPr>
            <a:picLocks noChangeAspect="1"/>
          </p:cNvPicPr>
          <p:nvPr/>
        </p:nvPicPr>
        <p:blipFill>
          <a:blip r:embed="rId5"/>
          <a:stretch>
            <a:fillRect/>
          </a:stretch>
        </p:blipFill>
        <p:spPr>
          <a:xfrm>
            <a:off x="3431400" y="1225153"/>
            <a:ext cx="342900" cy="342900"/>
          </a:xfrm>
          <a:prstGeom prst="rect">
            <a:avLst/>
          </a:prstGeom>
        </p:spPr>
      </p:pic>
      <p:sp>
        <p:nvSpPr>
          <p:cNvPr id="14" name="Text 9"/>
          <p:cNvSpPr/>
          <p:nvPr/>
        </p:nvSpPr>
        <p:spPr>
          <a:xfrm>
            <a:off x="3431400" y="1785938"/>
            <a:ext cx="2252681" cy="228600"/>
          </a:xfrm>
          <a:prstGeom prst="rect">
            <a:avLst/>
          </a:prstGeom>
          <a:noFill/>
          <a:ln/>
        </p:spPr>
        <p:txBody>
          <a:bodyPr wrap="square" lIns="0" tIns="0" rIns="0" bIns="0" rtlCol="0" anchor="t">
            <a:spAutoFit/>
          </a:bodyPr>
          <a:lstStyle/>
          <a:p>
            <a:pPr marL="0" indent="0" algn="l">
              <a:buNone/>
            </a:pPr>
            <a:r>
              <a:rPr lang="en-US" sz="1200" b="1" dirty="0">
                <a:solidFill>
                  <a:srgbClr val="3253DC"/>
                </a:solidFill>
                <a:latin typeface="Arial" pitchFamily="34" charset="0"/>
                <a:ea typeface="Arial" pitchFamily="34" charset="-122"/>
                <a:cs typeface="Arial" pitchFamily="34" charset="-120"/>
              </a:rPr>
              <a:t>零复制 (Zero Copy)</a:t>
            </a:r>
            <a:endParaRPr lang="en-US" sz="1200" dirty="0"/>
          </a:p>
        </p:txBody>
      </p:sp>
      <p:sp>
        <p:nvSpPr>
          <p:cNvPr id="15" name="Text 10"/>
          <p:cNvSpPr/>
          <p:nvPr/>
        </p:nvSpPr>
        <p:spPr>
          <a:xfrm>
            <a:off x="3431400" y="2157413"/>
            <a:ext cx="2252681" cy="205718"/>
          </a:xfrm>
          <a:prstGeom prst="rect">
            <a:avLst/>
          </a:prstGeom>
          <a:noFill/>
          <a:ln/>
        </p:spPr>
        <p:txBody>
          <a:bodyPr wrap="non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核心设计目标是 </a:t>
            </a:r>
            <a:r>
              <a:rPr lang="en-US" sz="800" b="1" dirty="0">
                <a:solidFill>
                  <a:srgbClr val="00C2DE"/>
                </a:solidFill>
                <a:latin typeface="Arial" pitchFamily="34" charset="0"/>
                <a:ea typeface="Arial" pitchFamily="34" charset="-122"/>
                <a:cs typeface="Arial" pitchFamily="34" charset="-120"/>
              </a:rPr>
              <a:t>存储资源守恒</a:t>
            </a:r>
            <a:r>
              <a:rPr lang="en-US" sz="850" dirty="0">
                <a:solidFill>
                  <a:srgbClr val="2E2E38"/>
                </a:solidFill>
                <a:latin typeface="Arial" pitchFamily="34" charset="0"/>
                <a:ea typeface="Arial" pitchFamily="34" charset="-122"/>
                <a:cs typeface="Arial" pitchFamily="34" charset="-120"/>
              </a:rPr>
              <a:t>。</a:t>
            </a:r>
            <a:endParaRPr lang="en-US" sz="850" dirty="0"/>
          </a:p>
        </p:txBody>
      </p:sp>
      <p:sp>
        <p:nvSpPr>
          <p:cNvPr id="16" name="Text 11"/>
          <p:cNvSpPr/>
          <p:nvPr/>
        </p:nvSpPr>
        <p:spPr>
          <a:xfrm>
            <a:off x="3431400" y="2470286"/>
            <a:ext cx="2252681" cy="617153"/>
          </a:xfrm>
          <a:prstGeom prst="rect">
            <a:avLst/>
          </a:prstGeom>
          <a:noFill/>
          <a:ln/>
        </p:spPr>
        <p:txBody>
          <a:bodyPr wrap="squar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多播报文在 Next-Ptr SRAM 中仅存储一份物理拷贝。通过多路逻辑指针实现对同一份数据的并发读取，极大节省了缓存空间。</a:t>
            </a:r>
            <a:endParaRPr lang="en-US" sz="850" dirty="0"/>
          </a:p>
        </p:txBody>
      </p:sp>
      <p:sp>
        <p:nvSpPr>
          <p:cNvPr id="17" name="Shape 12"/>
          <p:cNvSpPr/>
          <p:nvPr/>
        </p:nvSpPr>
        <p:spPr>
          <a:xfrm>
            <a:off x="6076987" y="1000125"/>
            <a:ext cx="2638444" cy="3714750"/>
          </a:xfrm>
          <a:prstGeom prst="rect">
            <a:avLst/>
          </a:prstGeom>
          <a:solidFill>
            <a:srgbClr val="FFFFFF"/>
          </a:solidFill>
          <a:ln/>
        </p:spPr>
        <p:txBody>
          <a:bodyPr/>
          <a:lstStyle/>
          <a:p>
            <a:endParaRPr lang="zh-CN" altLang="en-US"/>
          </a:p>
        </p:txBody>
      </p:sp>
      <p:sp>
        <p:nvSpPr>
          <p:cNvPr id="18" name="Shape 13"/>
          <p:cNvSpPr/>
          <p:nvPr/>
        </p:nvSpPr>
        <p:spPr>
          <a:xfrm>
            <a:off x="6076987" y="1000125"/>
            <a:ext cx="28575" cy="3714750"/>
          </a:xfrm>
          <a:prstGeom prst="rect">
            <a:avLst/>
          </a:prstGeom>
          <a:solidFill>
            <a:srgbClr val="6CA0F6"/>
          </a:solidFill>
          <a:ln/>
        </p:spPr>
        <p:txBody>
          <a:bodyPr/>
          <a:lstStyle/>
          <a:p>
            <a:endParaRPr lang="zh-CN" altLang="en-US"/>
          </a:p>
        </p:txBody>
      </p:sp>
      <p:pic>
        <p:nvPicPr>
          <p:cNvPr id="19" name="Image 3" descr="preencoded.png"/>
          <p:cNvPicPr>
            <a:picLocks noChangeAspect="1"/>
          </p:cNvPicPr>
          <p:nvPr/>
        </p:nvPicPr>
        <p:blipFill>
          <a:blip r:embed="rId6"/>
          <a:stretch>
            <a:fillRect/>
          </a:stretch>
        </p:blipFill>
        <p:spPr>
          <a:xfrm>
            <a:off x="6274557" y="1225153"/>
            <a:ext cx="342900" cy="342900"/>
          </a:xfrm>
          <a:prstGeom prst="rect">
            <a:avLst/>
          </a:prstGeom>
        </p:spPr>
      </p:pic>
      <p:sp>
        <p:nvSpPr>
          <p:cNvPr id="20" name="Text 14"/>
          <p:cNvSpPr/>
          <p:nvPr/>
        </p:nvSpPr>
        <p:spPr>
          <a:xfrm>
            <a:off x="6274557" y="1785938"/>
            <a:ext cx="2262169" cy="228600"/>
          </a:xfrm>
          <a:prstGeom prst="rect">
            <a:avLst/>
          </a:prstGeom>
          <a:noFill/>
          <a:ln/>
        </p:spPr>
        <p:txBody>
          <a:bodyPr wrap="square" lIns="0" tIns="0" rIns="0" bIns="0" rtlCol="0" anchor="t">
            <a:spAutoFit/>
          </a:bodyPr>
          <a:lstStyle/>
          <a:p>
            <a:pPr marL="0" indent="0" algn="l">
              <a:buNone/>
            </a:pPr>
            <a:r>
              <a:rPr lang="en-US" sz="1200" b="1" dirty="0">
                <a:solidFill>
                  <a:srgbClr val="3253DC"/>
                </a:solidFill>
                <a:latin typeface="Arial" pitchFamily="34" charset="0"/>
                <a:ea typeface="Arial" pitchFamily="34" charset="-122"/>
                <a:cs typeface="Arial" pitchFamily="34" charset="-120"/>
              </a:rPr>
              <a:t>逻辑拼接 (Stitching)</a:t>
            </a:r>
            <a:endParaRPr lang="en-US" sz="1200" dirty="0"/>
          </a:p>
        </p:txBody>
      </p:sp>
      <p:sp>
        <p:nvSpPr>
          <p:cNvPr id="21" name="Text 15"/>
          <p:cNvSpPr/>
          <p:nvPr/>
        </p:nvSpPr>
        <p:spPr>
          <a:xfrm>
            <a:off x="6274557" y="2157413"/>
            <a:ext cx="2262169" cy="411435"/>
          </a:xfrm>
          <a:prstGeom prst="rect">
            <a:avLst/>
          </a:prstGeom>
          <a:noFill/>
          <a:ln/>
        </p:spPr>
        <p:txBody>
          <a:bodyPr wrap="squar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多播数据不独立建链，而是通过 </a:t>
            </a:r>
            <a:r>
              <a:rPr lang="en-US" sz="800" b="1" dirty="0">
                <a:solidFill>
                  <a:srgbClr val="00C2DE"/>
                </a:solidFill>
                <a:latin typeface="Arial" pitchFamily="34" charset="0"/>
                <a:ea typeface="Arial" pitchFamily="34" charset="-122"/>
                <a:cs typeface="Arial" pitchFamily="34" charset="-120"/>
              </a:rPr>
              <a:t>逻辑拼接</a:t>
            </a:r>
            <a:r>
              <a:rPr lang="en-US" sz="850" dirty="0">
                <a:solidFill>
                  <a:srgbClr val="2E2E38"/>
                </a:solidFill>
                <a:latin typeface="Arial" pitchFamily="34" charset="0"/>
                <a:ea typeface="Arial" pitchFamily="34" charset="-122"/>
                <a:cs typeface="Arial" pitchFamily="34" charset="-120"/>
              </a:rPr>
              <a:t> 方式嵌入单播流。</a:t>
            </a:r>
            <a:endParaRPr lang="en-US" sz="850" dirty="0"/>
          </a:p>
        </p:txBody>
      </p:sp>
      <p:sp>
        <p:nvSpPr>
          <p:cNvPr id="22" name="Text 16"/>
          <p:cNvSpPr/>
          <p:nvPr/>
        </p:nvSpPr>
        <p:spPr>
          <a:xfrm>
            <a:off x="6274557" y="2676004"/>
            <a:ext cx="2262169" cy="617153"/>
          </a:xfrm>
          <a:prstGeom prst="rect">
            <a:avLst/>
          </a:prstGeom>
          <a:noFill/>
          <a:ln/>
        </p:spPr>
        <p:txBody>
          <a:bodyPr wrap="squar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在 QM 视角下，多播报文透明地“插队”到单播队列中输出，实现了业务逻辑的无缝集成。</a:t>
            </a:r>
            <a:endParaRPr lang="en-US" sz="850" dirty="0"/>
          </a:p>
        </p:txBody>
      </p:sp>
      <p:sp>
        <p:nvSpPr>
          <p:cNvPr id="23" name="Text 17"/>
          <p:cNvSpPr/>
          <p:nvPr/>
        </p:nvSpPr>
        <p:spPr>
          <a:xfrm>
            <a:off x="428625" y="4879181"/>
            <a:ext cx="857473"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SMMU Design Review</a:t>
            </a:r>
            <a:endParaRPr lang="en-US" sz="600" dirty="0"/>
          </a:p>
        </p:txBody>
      </p:sp>
      <p:sp>
        <p:nvSpPr>
          <p:cNvPr id="24" name="Text 18"/>
          <p:cNvSpPr/>
          <p:nvPr/>
        </p:nvSpPr>
        <p:spPr>
          <a:xfrm>
            <a:off x="8395971" y="4879181"/>
            <a:ext cx="319404"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Page 20</a:t>
            </a:r>
            <a:endParaRPr lang="en-US" sz="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71500"/>
          </a:xfrm>
          <a:prstGeom prst="rect">
            <a:avLst/>
          </a:prstGeom>
          <a:solidFill>
            <a:srgbClr val="3253DC"/>
          </a:solidFill>
          <a:ln/>
        </p:spPr>
        <p:txBody>
          <a:bodyPr/>
          <a:lstStyle/>
          <a:p>
            <a:endParaRPr lang="zh-CN" altLang="en-US"/>
          </a:p>
        </p:txBody>
      </p:sp>
      <p:sp>
        <p:nvSpPr>
          <p:cNvPr id="4" name="Text 1"/>
          <p:cNvSpPr/>
          <p:nvPr/>
        </p:nvSpPr>
        <p:spPr>
          <a:xfrm>
            <a:off x="428625" y="130373"/>
            <a:ext cx="3632374" cy="246221"/>
          </a:xfrm>
          <a:prstGeom prst="rect">
            <a:avLst/>
          </a:prstGeom>
          <a:noFill/>
          <a:ln/>
        </p:spPr>
        <p:txBody>
          <a:bodyPr wrap="square" lIns="0" tIns="0" rIns="0" bIns="0" rtlCol="0" anchor="t">
            <a:spAutoFit/>
          </a:bodyPr>
          <a:lstStyle/>
          <a:p>
            <a:pPr marL="0" indent="0" algn="l">
              <a:buNone/>
            </a:pPr>
            <a:r>
              <a:rPr lang="en-US" sz="1600" b="1" dirty="0" err="1">
                <a:solidFill>
                  <a:srgbClr val="FFFFFF"/>
                </a:solidFill>
                <a:latin typeface="Arial" pitchFamily="34" charset="0"/>
                <a:ea typeface="Arial" pitchFamily="34" charset="-122"/>
                <a:cs typeface="Arial" pitchFamily="34" charset="-120"/>
              </a:rPr>
              <a:t>多播逻辑拼接</a:t>
            </a:r>
            <a:r>
              <a:rPr lang="en-US" sz="1600" b="1" dirty="0">
                <a:solidFill>
                  <a:srgbClr val="FFFFFF"/>
                </a:solidFill>
                <a:latin typeface="Arial" pitchFamily="34" charset="0"/>
                <a:ea typeface="Arial" pitchFamily="34" charset="-122"/>
                <a:cs typeface="Arial" pitchFamily="34" charset="-120"/>
              </a:rPr>
              <a:t> (2) —— 状态管理</a:t>
            </a:r>
            <a:endParaRPr lang="en-US" sz="1600" dirty="0"/>
          </a:p>
        </p:txBody>
      </p:sp>
      <p:sp>
        <p:nvSpPr>
          <p:cNvPr id="5" name="Shape 2"/>
          <p:cNvSpPr/>
          <p:nvPr/>
        </p:nvSpPr>
        <p:spPr>
          <a:xfrm>
            <a:off x="428625" y="857250"/>
            <a:ext cx="4286250" cy="3429000"/>
          </a:xfrm>
          <a:prstGeom prst="rect">
            <a:avLst/>
          </a:prstGeom>
          <a:solidFill>
            <a:srgbClr val="FFFFFF"/>
          </a:solidFill>
          <a:ln/>
        </p:spPr>
        <p:txBody>
          <a:bodyPr/>
          <a:lstStyle/>
          <a:p>
            <a:endParaRPr lang="zh-CN" altLang="en-US"/>
          </a:p>
        </p:txBody>
      </p:sp>
      <p:sp>
        <p:nvSpPr>
          <p:cNvPr id="6" name="Shape 3"/>
          <p:cNvSpPr/>
          <p:nvPr/>
        </p:nvSpPr>
        <p:spPr>
          <a:xfrm>
            <a:off x="428625" y="857250"/>
            <a:ext cx="28575" cy="3429000"/>
          </a:xfrm>
          <a:prstGeom prst="rect">
            <a:avLst/>
          </a:prstGeom>
          <a:solidFill>
            <a:srgbClr val="6CA0F6"/>
          </a:solidFill>
          <a:ln/>
        </p:spPr>
        <p:txBody>
          <a:bodyPr/>
          <a:lstStyle/>
          <a:p>
            <a:endParaRPr lang="zh-CN" altLang="en-US"/>
          </a:p>
        </p:txBody>
      </p:sp>
      <p:sp>
        <p:nvSpPr>
          <p:cNvPr id="7" name="Text 4"/>
          <p:cNvSpPr/>
          <p:nvPr/>
        </p:nvSpPr>
        <p:spPr>
          <a:xfrm>
            <a:off x="607219" y="1035844"/>
            <a:ext cx="3929063" cy="210741"/>
          </a:xfrm>
          <a:prstGeom prst="rect">
            <a:avLst/>
          </a:prstGeom>
          <a:noFill/>
          <a:ln/>
        </p:spPr>
        <p:txBody>
          <a:bodyPr wrap="square" lIns="0" tIns="0" rIns="0" bIns="0" rtlCol="0" anchor="t">
            <a:spAutoFit/>
          </a:bodyPr>
          <a:lstStyle/>
          <a:p>
            <a:pPr marL="0" indent="0" algn="l">
              <a:buNone/>
            </a:pPr>
            <a:r>
              <a:rPr lang="en-US" sz="1100" b="1" dirty="0">
                <a:solidFill>
                  <a:srgbClr val="3253DC"/>
                </a:solidFill>
                <a:latin typeface="Arial" pitchFamily="34" charset="0"/>
                <a:ea typeface="Arial" pitchFamily="34" charset="-122"/>
                <a:cs typeface="Arial" pitchFamily="34" charset="-120"/>
              </a:rPr>
              <a:t>关键状态寄存器 (State Registers)</a:t>
            </a:r>
            <a:endParaRPr lang="en-US" sz="1100" dirty="0"/>
          </a:p>
        </p:txBody>
      </p:sp>
      <p:sp>
        <p:nvSpPr>
          <p:cNvPr id="8" name="Shape 5"/>
          <p:cNvSpPr/>
          <p:nvPr/>
        </p:nvSpPr>
        <p:spPr>
          <a:xfrm>
            <a:off x="607219" y="1389459"/>
            <a:ext cx="1285875" cy="307181"/>
          </a:xfrm>
          <a:prstGeom prst="rect">
            <a:avLst/>
          </a:prstGeom>
          <a:solidFill>
            <a:srgbClr val="6E6E7A"/>
          </a:solidFill>
          <a:ln/>
        </p:spPr>
        <p:txBody>
          <a:bodyPr/>
          <a:lstStyle/>
          <a:p>
            <a:endParaRPr lang="zh-CN" altLang="en-US"/>
          </a:p>
        </p:txBody>
      </p:sp>
      <p:sp>
        <p:nvSpPr>
          <p:cNvPr id="9" name="Text 6"/>
          <p:cNvSpPr/>
          <p:nvPr/>
        </p:nvSpPr>
        <p:spPr>
          <a:xfrm>
            <a:off x="607219" y="1389459"/>
            <a:ext cx="1285875" cy="307181"/>
          </a:xfrm>
          <a:prstGeom prst="rect">
            <a:avLst/>
          </a:prstGeom>
          <a:noFill/>
          <a:ln/>
        </p:spPr>
        <p:txBody>
          <a:bodyPr wrap="none" lIns="102108" tIns="102108" rIns="102108" bIns="102108" rtlCol="0" anchor="ctr">
            <a:spAutoFit/>
          </a:bodyPr>
          <a:lstStyle/>
          <a:p>
            <a:pPr marL="0" indent="0" algn="l">
              <a:buNone/>
            </a:pPr>
            <a:r>
              <a:rPr lang="en-US" sz="700" b="1" dirty="0">
                <a:solidFill>
                  <a:srgbClr val="FFFFFF"/>
                </a:solidFill>
                <a:latin typeface="Arial" pitchFamily="34" charset="0"/>
                <a:ea typeface="Arial" pitchFamily="34" charset="-122"/>
                <a:cs typeface="Arial" pitchFamily="34" charset="-120"/>
              </a:rPr>
              <a:t>寄存器名称</a:t>
            </a:r>
            <a:endParaRPr lang="en-US" sz="700" dirty="0"/>
          </a:p>
        </p:txBody>
      </p:sp>
      <p:sp>
        <p:nvSpPr>
          <p:cNvPr id="10" name="Shape 7"/>
          <p:cNvSpPr/>
          <p:nvPr/>
        </p:nvSpPr>
        <p:spPr>
          <a:xfrm>
            <a:off x="1893094" y="1389459"/>
            <a:ext cx="2643188" cy="307181"/>
          </a:xfrm>
          <a:prstGeom prst="rect">
            <a:avLst/>
          </a:prstGeom>
          <a:solidFill>
            <a:srgbClr val="6E6E7A"/>
          </a:solidFill>
          <a:ln/>
        </p:spPr>
        <p:txBody>
          <a:bodyPr/>
          <a:lstStyle/>
          <a:p>
            <a:endParaRPr lang="zh-CN" altLang="en-US"/>
          </a:p>
        </p:txBody>
      </p:sp>
      <p:sp>
        <p:nvSpPr>
          <p:cNvPr id="11" name="Text 8"/>
          <p:cNvSpPr/>
          <p:nvPr/>
        </p:nvSpPr>
        <p:spPr>
          <a:xfrm>
            <a:off x="1893094" y="1389459"/>
            <a:ext cx="2643188" cy="307181"/>
          </a:xfrm>
          <a:prstGeom prst="rect">
            <a:avLst/>
          </a:prstGeom>
          <a:noFill/>
          <a:ln/>
        </p:spPr>
        <p:txBody>
          <a:bodyPr wrap="square" lIns="102108" tIns="102108" rIns="102108" bIns="102108" rtlCol="0" anchor="ctr">
            <a:spAutoFit/>
          </a:bodyPr>
          <a:lstStyle/>
          <a:p>
            <a:pPr marL="0" indent="0" algn="l">
              <a:buNone/>
            </a:pPr>
            <a:r>
              <a:rPr lang="en-US" sz="700" b="1" dirty="0">
                <a:solidFill>
                  <a:srgbClr val="FFFFFF"/>
                </a:solidFill>
                <a:latin typeface="Arial" pitchFamily="34" charset="0"/>
                <a:ea typeface="Arial" pitchFamily="34" charset="-122"/>
                <a:cs typeface="Arial" pitchFamily="34" charset="-120"/>
              </a:rPr>
              <a:t>功能描述</a:t>
            </a:r>
            <a:endParaRPr lang="en-US" sz="700" dirty="0"/>
          </a:p>
        </p:txBody>
      </p:sp>
      <p:sp>
        <p:nvSpPr>
          <p:cNvPr id="12" name="Text 9"/>
          <p:cNvSpPr/>
          <p:nvPr/>
        </p:nvSpPr>
        <p:spPr>
          <a:xfrm>
            <a:off x="607219" y="1696641"/>
            <a:ext cx="1285875" cy="454968"/>
          </a:xfrm>
          <a:prstGeom prst="rect">
            <a:avLst/>
          </a:prstGeom>
          <a:noFill/>
          <a:ln/>
        </p:spPr>
        <p:txBody>
          <a:bodyPr wrap="square" lIns="102108" tIns="102108" rIns="102108" bIns="102108" rtlCol="0" anchor="ctr">
            <a:spAutoFit/>
          </a:bodyPr>
          <a:lstStyle/>
          <a:p>
            <a:pPr marL="0" indent="0" algn="l">
              <a:lnSpc>
                <a:spcPct val="112000"/>
              </a:lnSpc>
              <a:buNone/>
            </a:pPr>
            <a:r>
              <a:rPr lang="en-US" sz="700" b="1" dirty="0">
                <a:solidFill>
                  <a:srgbClr val="3253DC"/>
                </a:solidFill>
                <a:latin typeface="Consolas" pitchFamily="34" charset="0"/>
                <a:ea typeface="Consolas" pitchFamily="34" charset="-122"/>
                <a:cs typeface="Consolas" pitchFamily="34" charset="-120"/>
              </a:rPr>
              <a:t>mc_valid_q</a:t>
            </a:r>
            <a:endParaRPr lang="en-US" sz="700" dirty="0"/>
          </a:p>
        </p:txBody>
      </p:sp>
      <p:sp>
        <p:nvSpPr>
          <p:cNvPr id="13" name="Text 10"/>
          <p:cNvSpPr/>
          <p:nvPr/>
        </p:nvSpPr>
        <p:spPr>
          <a:xfrm>
            <a:off x="1893094" y="1696641"/>
            <a:ext cx="2643188" cy="454968"/>
          </a:xfrm>
          <a:prstGeom prst="rect">
            <a:avLst/>
          </a:prstGeom>
          <a:noFill/>
          <a:ln/>
        </p:spPr>
        <p:txBody>
          <a:bodyPr wrap="square" lIns="102108" tIns="102108" rIns="102108" bIns="102108" rtlCol="0" anchor="ctr">
            <a:spAutoFit/>
          </a:bodyPr>
          <a:lstStyle/>
          <a:p>
            <a:pPr marL="0" indent="0" algn="l">
              <a:lnSpc>
                <a:spcPct val="112000"/>
              </a:lnSpc>
              <a:buNone/>
            </a:pPr>
            <a:r>
              <a:rPr lang="en-US" sz="750" dirty="0">
                <a:solidFill>
                  <a:srgbClr val="2E2E38"/>
                </a:solidFill>
                <a:latin typeface="Arial" pitchFamily="34" charset="0"/>
                <a:ea typeface="Arial" pitchFamily="34" charset="-122"/>
                <a:cs typeface="Arial" pitchFamily="34" charset="-120"/>
              </a:rPr>
              <a:t>多播槽位有效标志。指示当前 B2 槽位是否已被多播报文占用。</a:t>
            </a:r>
            <a:endParaRPr lang="en-US" sz="750" dirty="0"/>
          </a:p>
        </p:txBody>
      </p:sp>
      <p:sp>
        <p:nvSpPr>
          <p:cNvPr id="14" name="Text 11"/>
          <p:cNvSpPr/>
          <p:nvPr/>
        </p:nvSpPr>
        <p:spPr>
          <a:xfrm>
            <a:off x="607219" y="2151608"/>
            <a:ext cx="1285875" cy="458539"/>
          </a:xfrm>
          <a:prstGeom prst="rect">
            <a:avLst/>
          </a:prstGeom>
          <a:noFill/>
          <a:ln/>
        </p:spPr>
        <p:txBody>
          <a:bodyPr wrap="square" lIns="102108" tIns="102108" rIns="102108" bIns="102108" rtlCol="0" anchor="ctr">
            <a:spAutoFit/>
          </a:bodyPr>
          <a:lstStyle/>
          <a:p>
            <a:pPr marL="0" indent="0" algn="l">
              <a:lnSpc>
                <a:spcPct val="112000"/>
              </a:lnSpc>
              <a:buNone/>
            </a:pPr>
            <a:r>
              <a:rPr lang="en-US" sz="700" b="1" dirty="0">
                <a:solidFill>
                  <a:srgbClr val="3253DC"/>
                </a:solidFill>
                <a:latin typeface="Consolas" pitchFamily="34" charset="0"/>
                <a:ea typeface="Consolas" pitchFamily="34" charset="-122"/>
                <a:cs typeface="Consolas" pitchFamily="34" charset="-120"/>
              </a:rPr>
              <a:t>mc_dst_bitmap_q</a:t>
            </a:r>
            <a:endParaRPr lang="en-US" sz="700" dirty="0"/>
          </a:p>
        </p:txBody>
      </p:sp>
      <p:sp>
        <p:nvSpPr>
          <p:cNvPr id="15" name="Text 12"/>
          <p:cNvSpPr/>
          <p:nvPr/>
        </p:nvSpPr>
        <p:spPr>
          <a:xfrm>
            <a:off x="1893094" y="2151608"/>
            <a:ext cx="2643188" cy="458539"/>
          </a:xfrm>
          <a:prstGeom prst="rect">
            <a:avLst/>
          </a:prstGeom>
          <a:noFill/>
          <a:ln/>
        </p:spPr>
        <p:txBody>
          <a:bodyPr wrap="square" lIns="102108" tIns="102108" rIns="102108" bIns="102108" rtlCol="0" anchor="ctr">
            <a:spAutoFit/>
          </a:bodyPr>
          <a:lstStyle/>
          <a:p>
            <a:pPr marL="0" indent="0" algn="l">
              <a:lnSpc>
                <a:spcPct val="112000"/>
              </a:lnSpc>
              <a:buNone/>
            </a:pPr>
            <a:r>
              <a:rPr lang="en-US" sz="750" dirty="0">
                <a:solidFill>
                  <a:srgbClr val="2E2E38"/>
                </a:solidFill>
                <a:latin typeface="Arial" pitchFamily="34" charset="0"/>
                <a:ea typeface="Arial" pitchFamily="34" charset="-122"/>
                <a:cs typeface="Arial" pitchFamily="34" charset="-120"/>
              </a:rPr>
              <a:t>目的端口位图。记录该多播报文需要转发到的所有物理端口。</a:t>
            </a:r>
            <a:endParaRPr lang="en-US" sz="750" dirty="0"/>
          </a:p>
        </p:txBody>
      </p:sp>
      <p:sp>
        <p:nvSpPr>
          <p:cNvPr id="16" name="Text 13"/>
          <p:cNvSpPr/>
          <p:nvPr/>
        </p:nvSpPr>
        <p:spPr>
          <a:xfrm>
            <a:off x="607219" y="2610148"/>
            <a:ext cx="1285875" cy="458539"/>
          </a:xfrm>
          <a:prstGeom prst="rect">
            <a:avLst/>
          </a:prstGeom>
          <a:noFill/>
          <a:ln/>
        </p:spPr>
        <p:txBody>
          <a:bodyPr wrap="square" lIns="102108" tIns="102108" rIns="102108" bIns="102108" rtlCol="0" anchor="ctr">
            <a:spAutoFit/>
          </a:bodyPr>
          <a:lstStyle/>
          <a:p>
            <a:pPr marL="0" indent="0" algn="l">
              <a:lnSpc>
                <a:spcPct val="112000"/>
              </a:lnSpc>
              <a:buNone/>
            </a:pPr>
            <a:r>
              <a:rPr lang="en-US" sz="700" b="1" dirty="0">
                <a:solidFill>
                  <a:srgbClr val="3253DC"/>
                </a:solidFill>
                <a:latin typeface="Consolas" pitchFamily="34" charset="0"/>
                <a:ea typeface="Consolas" pitchFamily="34" charset="-122"/>
                <a:cs typeface="Consolas" pitchFamily="34" charset="-120"/>
              </a:rPr>
              <a:t>mc_cells_q[16]</a:t>
            </a:r>
            <a:endParaRPr lang="en-US" sz="700" dirty="0"/>
          </a:p>
        </p:txBody>
      </p:sp>
      <p:sp>
        <p:nvSpPr>
          <p:cNvPr id="17" name="Text 14"/>
          <p:cNvSpPr/>
          <p:nvPr/>
        </p:nvSpPr>
        <p:spPr>
          <a:xfrm>
            <a:off x="1893094" y="2610148"/>
            <a:ext cx="2643188" cy="458539"/>
          </a:xfrm>
          <a:prstGeom prst="rect">
            <a:avLst/>
          </a:prstGeom>
          <a:noFill/>
          <a:ln/>
        </p:spPr>
        <p:txBody>
          <a:bodyPr wrap="square" lIns="102108" tIns="102108" rIns="102108" bIns="102108" rtlCol="0" anchor="ctr">
            <a:spAutoFit/>
          </a:bodyPr>
          <a:lstStyle/>
          <a:p>
            <a:pPr marL="0" indent="0" algn="l">
              <a:lnSpc>
                <a:spcPct val="112000"/>
              </a:lnSpc>
              <a:buNone/>
            </a:pPr>
            <a:r>
              <a:rPr lang="en-US" sz="750" dirty="0">
                <a:solidFill>
                  <a:srgbClr val="2E2E38"/>
                </a:solidFill>
                <a:latin typeface="Arial" pitchFamily="34" charset="0"/>
                <a:ea typeface="Arial" pitchFamily="34" charset="-122"/>
                <a:cs typeface="Arial" pitchFamily="34" charset="-120"/>
              </a:rPr>
              <a:t>Cell 地址列表镜像。缓存整帧多播报文的所有 Cell 地址，供各端口读取。</a:t>
            </a:r>
            <a:endParaRPr lang="en-US" sz="750" dirty="0"/>
          </a:p>
        </p:txBody>
      </p:sp>
      <p:sp>
        <p:nvSpPr>
          <p:cNvPr id="18" name="Text 15"/>
          <p:cNvSpPr/>
          <p:nvPr/>
        </p:nvSpPr>
        <p:spPr>
          <a:xfrm>
            <a:off x="607219" y="3068687"/>
            <a:ext cx="1285875" cy="458539"/>
          </a:xfrm>
          <a:prstGeom prst="rect">
            <a:avLst/>
          </a:prstGeom>
          <a:noFill/>
          <a:ln/>
        </p:spPr>
        <p:txBody>
          <a:bodyPr wrap="square" lIns="102108" tIns="102108" rIns="102108" bIns="102108" rtlCol="0" anchor="ctr">
            <a:spAutoFit/>
          </a:bodyPr>
          <a:lstStyle/>
          <a:p>
            <a:pPr marL="0" indent="0" algn="l">
              <a:lnSpc>
                <a:spcPct val="112000"/>
              </a:lnSpc>
              <a:buNone/>
            </a:pPr>
            <a:r>
              <a:rPr lang="en-US" sz="700" b="1" dirty="0">
                <a:solidFill>
                  <a:srgbClr val="3253DC"/>
                </a:solidFill>
                <a:latin typeface="Consolas" pitchFamily="34" charset="0"/>
                <a:ea typeface="Consolas" pitchFamily="34" charset="-122"/>
                <a:cs typeface="Consolas" pitchFamily="34" charset="-120"/>
              </a:rPr>
              <a:t>mc_rd_idx_q[4]</a:t>
            </a:r>
            <a:endParaRPr lang="en-US" sz="700" dirty="0"/>
          </a:p>
        </p:txBody>
      </p:sp>
      <p:sp>
        <p:nvSpPr>
          <p:cNvPr id="19" name="Text 16"/>
          <p:cNvSpPr/>
          <p:nvPr/>
        </p:nvSpPr>
        <p:spPr>
          <a:xfrm>
            <a:off x="1978819" y="3172271"/>
            <a:ext cx="800100" cy="110728"/>
          </a:xfrm>
          <a:prstGeom prst="rect">
            <a:avLst/>
          </a:prstGeom>
          <a:noFill/>
          <a:ln/>
        </p:spPr>
        <p:txBody>
          <a:bodyPr wrap="none" lIns="0" tIns="0" rIns="0" bIns="0" rtlCol="0" anchor="t">
            <a:spAutoFit/>
          </a:bodyPr>
          <a:lstStyle/>
          <a:p>
            <a:pPr marL="0" indent="0" algn="l">
              <a:lnSpc>
                <a:spcPct val="112000"/>
              </a:lnSpc>
              <a:buNone/>
            </a:pPr>
            <a:r>
              <a:rPr lang="en-US" sz="700" b="1" dirty="0">
                <a:solidFill>
                  <a:srgbClr val="2E2E38"/>
                </a:solidFill>
                <a:latin typeface="Arial" pitchFamily="34" charset="0"/>
                <a:ea typeface="Arial" pitchFamily="34" charset="-122"/>
                <a:cs typeface="Arial" pitchFamily="34" charset="-120"/>
              </a:rPr>
              <a:t>逐端口私有读指针</a:t>
            </a:r>
            <a:endParaRPr lang="en-US" sz="700" dirty="0"/>
          </a:p>
        </p:txBody>
      </p:sp>
      <p:sp>
        <p:nvSpPr>
          <p:cNvPr id="20" name="Text 17"/>
          <p:cNvSpPr/>
          <p:nvPr/>
        </p:nvSpPr>
        <p:spPr>
          <a:xfrm>
            <a:off x="1978819" y="3172271"/>
            <a:ext cx="2400300" cy="250701"/>
          </a:xfrm>
          <a:prstGeom prst="rect">
            <a:avLst/>
          </a:prstGeom>
          <a:noFill/>
          <a:ln/>
        </p:spPr>
        <p:txBody>
          <a:bodyPr wrap="square" lIns="0" tIns="0" rIns="0" bIns="0" rtlCol="0" anchor="t">
            <a:spAutoFit/>
          </a:bodyPr>
          <a:lstStyle/>
          <a:p>
            <a:pPr marL="0" indent="0" algn="l">
              <a:lnSpc>
                <a:spcPct val="112000"/>
              </a:lnSpc>
              <a:buNone/>
            </a:pPr>
            <a:r>
              <a:rPr lang="en-US" sz="750" dirty="0">
                <a:solidFill>
                  <a:srgbClr val="2E2E38"/>
                </a:solidFill>
                <a:latin typeface="Arial" pitchFamily="34" charset="0"/>
                <a:ea typeface="Arial" pitchFamily="34" charset="-122"/>
                <a:cs typeface="Arial" pitchFamily="34" charset="-120"/>
              </a:rPr>
              <a:t>。每个端口维护独立的读取进度，互不干扰。</a:t>
            </a:r>
            <a:endParaRPr lang="en-US" sz="750" dirty="0"/>
          </a:p>
        </p:txBody>
      </p:sp>
      <p:sp>
        <p:nvSpPr>
          <p:cNvPr id="21" name="Text 18"/>
          <p:cNvSpPr/>
          <p:nvPr/>
        </p:nvSpPr>
        <p:spPr>
          <a:xfrm>
            <a:off x="607219" y="3527227"/>
            <a:ext cx="1285875" cy="458539"/>
          </a:xfrm>
          <a:prstGeom prst="rect">
            <a:avLst/>
          </a:prstGeom>
          <a:noFill/>
          <a:ln/>
        </p:spPr>
        <p:txBody>
          <a:bodyPr wrap="square" lIns="102108" tIns="102108" rIns="102108" bIns="102108" rtlCol="0" anchor="ctr">
            <a:spAutoFit/>
          </a:bodyPr>
          <a:lstStyle/>
          <a:p>
            <a:pPr marL="0" indent="0" algn="l">
              <a:lnSpc>
                <a:spcPct val="112000"/>
              </a:lnSpc>
              <a:buNone/>
            </a:pPr>
            <a:r>
              <a:rPr lang="en-US" sz="700" b="1" dirty="0">
                <a:solidFill>
                  <a:srgbClr val="3253DC"/>
                </a:solidFill>
                <a:latin typeface="Consolas" pitchFamily="34" charset="0"/>
                <a:ea typeface="Consolas" pitchFamily="34" charset="-122"/>
                <a:cs typeface="Consolas" pitchFamily="34" charset="-120"/>
              </a:rPr>
              <a:t>mc_pend_uni_q[4]</a:t>
            </a:r>
            <a:endParaRPr lang="en-US" sz="700" dirty="0"/>
          </a:p>
        </p:txBody>
      </p:sp>
      <p:sp>
        <p:nvSpPr>
          <p:cNvPr id="22" name="Text 19"/>
          <p:cNvSpPr/>
          <p:nvPr/>
        </p:nvSpPr>
        <p:spPr>
          <a:xfrm>
            <a:off x="1893094" y="3527227"/>
            <a:ext cx="2643188" cy="458539"/>
          </a:xfrm>
          <a:prstGeom prst="rect">
            <a:avLst/>
          </a:prstGeom>
          <a:noFill/>
          <a:ln/>
        </p:spPr>
        <p:txBody>
          <a:bodyPr wrap="square" lIns="102108" tIns="102108" rIns="102108" bIns="102108" rtlCol="0" anchor="ctr">
            <a:spAutoFit/>
          </a:bodyPr>
          <a:lstStyle/>
          <a:p>
            <a:pPr marL="0" indent="0" algn="l">
              <a:lnSpc>
                <a:spcPct val="112000"/>
              </a:lnSpc>
              <a:buNone/>
            </a:pPr>
            <a:r>
              <a:rPr lang="en-US" sz="750" dirty="0">
                <a:solidFill>
                  <a:srgbClr val="2E2E38"/>
                </a:solidFill>
                <a:latin typeface="Arial" pitchFamily="34" charset="0"/>
                <a:ea typeface="Arial" pitchFamily="34" charset="-122"/>
                <a:cs typeface="Arial" pitchFamily="34" charset="-120"/>
              </a:rPr>
              <a:t>端口单播挂起标志。指示该端口是否正在处理前序单播报文。</a:t>
            </a:r>
            <a:endParaRPr lang="en-US" sz="750" dirty="0"/>
          </a:p>
        </p:txBody>
      </p:sp>
      <p:sp>
        <p:nvSpPr>
          <p:cNvPr id="23" name="Text 20"/>
          <p:cNvSpPr/>
          <p:nvPr/>
        </p:nvSpPr>
        <p:spPr>
          <a:xfrm>
            <a:off x="6150769" y="857250"/>
            <a:ext cx="1414463" cy="175022"/>
          </a:xfrm>
          <a:prstGeom prst="rect">
            <a:avLst/>
          </a:prstGeom>
          <a:noFill/>
          <a:ln/>
        </p:spPr>
        <p:txBody>
          <a:bodyPr wrap="square" lIns="0" tIns="0" rIns="0" bIns="0" rtlCol="0" anchor="t">
            <a:spAutoFit/>
          </a:bodyPr>
          <a:lstStyle/>
          <a:p>
            <a:pPr marL="0" indent="0" algn="l">
              <a:buNone/>
            </a:pPr>
            <a:r>
              <a:rPr lang="en-US" sz="900" b="1" dirty="0">
                <a:solidFill>
                  <a:srgbClr val="3253DC"/>
                </a:solidFill>
                <a:latin typeface="Arial" pitchFamily="34" charset="0"/>
                <a:ea typeface="Arial" pitchFamily="34" charset="-122"/>
                <a:cs typeface="Arial" pitchFamily="34" charset="-120"/>
              </a:rPr>
              <a:t>资源背景：双池管理机制</a:t>
            </a:r>
            <a:endParaRPr lang="en-US" sz="900" dirty="0"/>
          </a:p>
        </p:txBody>
      </p:sp>
      <p:sp>
        <p:nvSpPr>
          <p:cNvPr id="24" name="Shape 21"/>
          <p:cNvSpPr/>
          <p:nvPr/>
        </p:nvSpPr>
        <p:spPr>
          <a:xfrm>
            <a:off x="5000625" y="1139428"/>
            <a:ext cx="3714750" cy="2857500"/>
          </a:xfrm>
          <a:prstGeom prst="rect">
            <a:avLst/>
          </a:prstGeom>
          <a:solidFill>
            <a:srgbClr val="FFFFFF"/>
          </a:solidFill>
          <a:ln/>
        </p:spPr>
        <p:txBody>
          <a:bodyPr/>
          <a:lstStyle/>
          <a:p>
            <a:endParaRPr lang="zh-CN" altLang="en-US"/>
          </a:p>
        </p:txBody>
      </p:sp>
      <p:pic>
        <p:nvPicPr>
          <p:cNvPr id="25" name="Image 1" descr="preencoded.png"/>
          <p:cNvPicPr>
            <a:picLocks noChangeAspect="1"/>
          </p:cNvPicPr>
          <p:nvPr/>
        </p:nvPicPr>
        <p:blipFill>
          <a:blip r:embed="rId4"/>
          <a:stretch>
            <a:fillRect/>
          </a:stretch>
        </p:blipFill>
        <p:spPr>
          <a:xfrm>
            <a:off x="5000625" y="1139428"/>
            <a:ext cx="3714750" cy="2857500"/>
          </a:xfrm>
          <a:prstGeom prst="rect">
            <a:avLst/>
          </a:prstGeom>
        </p:spPr>
      </p:pic>
      <p:sp>
        <p:nvSpPr>
          <p:cNvPr id="26" name="Text 22"/>
          <p:cNvSpPr/>
          <p:nvPr/>
        </p:nvSpPr>
        <p:spPr>
          <a:xfrm>
            <a:off x="5143500" y="3996928"/>
            <a:ext cx="3429000" cy="414338"/>
          </a:xfrm>
          <a:prstGeom prst="rect">
            <a:avLst/>
          </a:prstGeom>
          <a:noFill/>
          <a:ln/>
        </p:spPr>
        <p:txBody>
          <a:bodyPr wrap="square" lIns="0" tIns="170053" rIns="0" bIns="0" rtlCol="0" anchor="t">
            <a:spAutoFit/>
          </a:bodyPr>
          <a:lstStyle/>
          <a:p>
            <a:pPr marL="0" indent="0" algn="ctr">
              <a:buNone/>
            </a:pPr>
            <a:r>
              <a:rPr lang="en-US" sz="750" dirty="0">
                <a:solidFill>
                  <a:srgbClr val="6E6E7A"/>
                </a:solidFill>
                <a:latin typeface="Arial" pitchFamily="34" charset="0"/>
                <a:ea typeface="Arial" pitchFamily="34" charset="-122"/>
                <a:cs typeface="Arial" pitchFamily="34" charset="-120"/>
              </a:rPr>
              <a:t>多播报文同样受限于双池管理水位。在 B2 模式下，多播报文仅占用一份共享池空间，极大优化了内存利用率。</a:t>
            </a:r>
            <a:endParaRPr lang="en-US" sz="750" dirty="0"/>
          </a:p>
        </p:txBody>
      </p:sp>
      <p:sp>
        <p:nvSpPr>
          <p:cNvPr id="27" name="Text 23"/>
          <p:cNvSpPr/>
          <p:nvPr/>
        </p:nvSpPr>
        <p:spPr>
          <a:xfrm>
            <a:off x="428625" y="4879181"/>
            <a:ext cx="857473"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SMMU Design Review</a:t>
            </a:r>
            <a:endParaRPr lang="en-US" sz="600" dirty="0"/>
          </a:p>
        </p:txBody>
      </p:sp>
      <p:sp>
        <p:nvSpPr>
          <p:cNvPr id="28" name="Text 24"/>
          <p:cNvSpPr/>
          <p:nvPr/>
        </p:nvSpPr>
        <p:spPr>
          <a:xfrm>
            <a:off x="8395971" y="4879181"/>
            <a:ext cx="319404"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Page 21</a:t>
            </a:r>
            <a:endParaRPr lang="en-US" sz="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71500"/>
          </a:xfrm>
          <a:prstGeom prst="rect">
            <a:avLst/>
          </a:prstGeom>
          <a:solidFill>
            <a:srgbClr val="3253DC"/>
          </a:solidFill>
          <a:ln/>
        </p:spPr>
        <p:txBody>
          <a:bodyPr/>
          <a:lstStyle/>
          <a:p>
            <a:endParaRPr lang="zh-CN" altLang="en-US"/>
          </a:p>
        </p:txBody>
      </p:sp>
      <p:sp>
        <p:nvSpPr>
          <p:cNvPr id="4" name="Text 1"/>
          <p:cNvSpPr/>
          <p:nvPr/>
        </p:nvSpPr>
        <p:spPr>
          <a:xfrm>
            <a:off x="428625" y="130373"/>
            <a:ext cx="3860974" cy="246221"/>
          </a:xfrm>
          <a:prstGeom prst="rect">
            <a:avLst/>
          </a:prstGeom>
          <a:noFill/>
          <a:ln/>
        </p:spPr>
        <p:txBody>
          <a:bodyPr wrap="square" lIns="0" tIns="0" rIns="0" bIns="0" rtlCol="0" anchor="t">
            <a:spAutoFit/>
          </a:bodyPr>
          <a:lstStyle/>
          <a:p>
            <a:pPr marL="0" indent="0" algn="l">
              <a:buNone/>
            </a:pPr>
            <a:r>
              <a:rPr lang="en-US" sz="1600" b="1" dirty="0" err="1">
                <a:solidFill>
                  <a:srgbClr val="FFFFFF"/>
                </a:solidFill>
                <a:latin typeface="Arial" pitchFamily="34" charset="0"/>
                <a:ea typeface="Arial" pitchFamily="34" charset="-122"/>
                <a:cs typeface="Arial" pitchFamily="34" charset="-120"/>
              </a:rPr>
              <a:t>多播逻辑拼接</a:t>
            </a:r>
            <a:r>
              <a:rPr lang="en-US" sz="1600" b="1" dirty="0">
                <a:solidFill>
                  <a:srgbClr val="FFFFFF"/>
                </a:solidFill>
                <a:latin typeface="Arial" pitchFamily="34" charset="0"/>
                <a:ea typeface="Arial" pitchFamily="34" charset="-122"/>
                <a:cs typeface="Arial" pitchFamily="34" charset="-120"/>
              </a:rPr>
              <a:t> (3) —— 私有读指针</a:t>
            </a:r>
            <a:endParaRPr lang="en-US" sz="1600" dirty="0"/>
          </a:p>
        </p:txBody>
      </p:sp>
      <p:sp>
        <p:nvSpPr>
          <p:cNvPr id="5" name="Shape 2"/>
          <p:cNvSpPr/>
          <p:nvPr/>
        </p:nvSpPr>
        <p:spPr>
          <a:xfrm>
            <a:off x="428625" y="728663"/>
            <a:ext cx="3000375" cy="1571625"/>
          </a:xfrm>
          <a:prstGeom prst="rect">
            <a:avLst/>
          </a:prstGeom>
          <a:solidFill>
            <a:srgbClr val="FFFFFF"/>
          </a:solidFill>
          <a:ln/>
        </p:spPr>
        <p:txBody>
          <a:bodyPr/>
          <a:lstStyle/>
          <a:p>
            <a:endParaRPr lang="zh-CN" altLang="en-US"/>
          </a:p>
        </p:txBody>
      </p:sp>
      <p:sp>
        <p:nvSpPr>
          <p:cNvPr id="6" name="Shape 3"/>
          <p:cNvSpPr/>
          <p:nvPr/>
        </p:nvSpPr>
        <p:spPr>
          <a:xfrm>
            <a:off x="428625" y="728663"/>
            <a:ext cx="28575" cy="1571625"/>
          </a:xfrm>
          <a:prstGeom prst="rect">
            <a:avLst/>
          </a:prstGeom>
          <a:solidFill>
            <a:srgbClr val="6CA0F6"/>
          </a:solidFill>
          <a:ln/>
        </p:spPr>
        <p:txBody>
          <a:bodyPr/>
          <a:lstStyle/>
          <a:p>
            <a:endParaRPr lang="zh-CN" altLang="en-US"/>
          </a:p>
        </p:txBody>
      </p:sp>
      <p:sp>
        <p:nvSpPr>
          <p:cNvPr id="7" name="Text 4"/>
          <p:cNvSpPr/>
          <p:nvPr/>
        </p:nvSpPr>
        <p:spPr>
          <a:xfrm>
            <a:off x="607219" y="871538"/>
            <a:ext cx="2643188" cy="196453"/>
          </a:xfrm>
          <a:prstGeom prst="rect">
            <a:avLst/>
          </a:prstGeom>
          <a:noFill/>
          <a:ln/>
        </p:spPr>
        <p:txBody>
          <a:bodyPr wrap="square" lIns="0" tIns="0" rIns="0" bIns="0" rtlCol="0" anchor="t">
            <a:spAutoFit/>
          </a:bodyPr>
          <a:lstStyle/>
          <a:p>
            <a:pPr marL="0" indent="0" algn="l">
              <a:buNone/>
            </a:pPr>
            <a:r>
              <a:rPr lang="en-US" sz="1000" b="1" dirty="0">
                <a:solidFill>
                  <a:srgbClr val="3253DC"/>
                </a:solidFill>
                <a:latin typeface="Arial" pitchFamily="34" charset="0"/>
                <a:ea typeface="Arial" pitchFamily="34" charset="-122"/>
                <a:cs typeface="Arial" pitchFamily="34" charset="-120"/>
              </a:rPr>
              <a:t>机制详解</a:t>
            </a:r>
            <a:endParaRPr lang="en-US" sz="1000" dirty="0"/>
          </a:p>
        </p:txBody>
      </p:sp>
      <p:sp>
        <p:nvSpPr>
          <p:cNvPr id="8" name="Text 5"/>
          <p:cNvSpPr/>
          <p:nvPr/>
        </p:nvSpPr>
        <p:spPr>
          <a:xfrm>
            <a:off x="607219" y="1175147"/>
            <a:ext cx="2643188" cy="365671"/>
          </a:xfrm>
          <a:prstGeom prst="rect">
            <a:avLst/>
          </a:prstGeom>
          <a:noFill/>
          <a:ln/>
        </p:spPr>
        <p:txBody>
          <a:bodyPr wrap="square" lIns="0" tIns="0" rIns="0" bIns="0" rtlCol="0" anchor="t">
            <a:spAutoFit/>
          </a:bodyPr>
          <a:lstStyle/>
          <a:p>
            <a:pPr marL="0" indent="0" algn="l">
              <a:lnSpc>
                <a:spcPct val="128000"/>
              </a:lnSpc>
              <a:buNone/>
            </a:pPr>
            <a:r>
              <a:rPr lang="en-US" sz="850" dirty="0">
                <a:solidFill>
                  <a:srgbClr val="2E2E38"/>
                </a:solidFill>
                <a:latin typeface="Arial" pitchFamily="34" charset="0"/>
                <a:ea typeface="Arial" pitchFamily="34" charset="-122"/>
                <a:cs typeface="Arial" pitchFamily="34" charset="-120"/>
              </a:rPr>
              <a:t>在 B2 多播模型中，每个目的端口都分配了一个独立的 </a:t>
            </a:r>
            <a:r>
              <a:rPr lang="en-US" sz="800" b="1" dirty="0">
                <a:solidFill>
                  <a:srgbClr val="2E2E38"/>
                </a:solidFill>
                <a:latin typeface="Arial" pitchFamily="34" charset="0"/>
                <a:ea typeface="Arial" pitchFamily="34" charset="-122"/>
                <a:cs typeface="Arial" pitchFamily="34" charset="-120"/>
              </a:rPr>
              <a:t>mc_rd_idx_q[p]</a:t>
            </a:r>
            <a:r>
              <a:rPr lang="en-US" sz="850" dirty="0">
                <a:solidFill>
                  <a:srgbClr val="2E2E38"/>
                </a:solidFill>
                <a:latin typeface="Arial" pitchFamily="34" charset="0"/>
                <a:ea typeface="Arial" pitchFamily="34" charset="-122"/>
                <a:cs typeface="Arial" pitchFamily="34" charset="-120"/>
              </a:rPr>
              <a:t> 寄存器。</a:t>
            </a:r>
            <a:endParaRPr lang="en-US" sz="850" dirty="0"/>
          </a:p>
        </p:txBody>
      </p:sp>
      <p:sp>
        <p:nvSpPr>
          <p:cNvPr id="9" name="Text 6"/>
          <p:cNvSpPr/>
          <p:nvPr/>
        </p:nvSpPr>
        <p:spPr>
          <a:xfrm>
            <a:off x="607219" y="1612255"/>
            <a:ext cx="2643188" cy="548506"/>
          </a:xfrm>
          <a:prstGeom prst="rect">
            <a:avLst/>
          </a:prstGeom>
          <a:noFill/>
          <a:ln/>
        </p:spPr>
        <p:txBody>
          <a:bodyPr wrap="square" lIns="0" tIns="0" rIns="0" bIns="0" rtlCol="0" anchor="t">
            <a:spAutoFit/>
          </a:bodyPr>
          <a:lstStyle/>
          <a:p>
            <a:pPr marL="0" indent="0" algn="l">
              <a:lnSpc>
                <a:spcPct val="128000"/>
              </a:lnSpc>
              <a:buNone/>
            </a:pPr>
            <a:r>
              <a:rPr lang="en-US" sz="850" dirty="0">
                <a:solidFill>
                  <a:srgbClr val="2E2E38"/>
                </a:solidFill>
                <a:latin typeface="Arial" pitchFamily="34" charset="0"/>
                <a:ea typeface="Arial" pitchFamily="34" charset="-122"/>
                <a:cs typeface="Arial" pitchFamily="34" charset="-120"/>
              </a:rPr>
              <a:t>当端口 A 正在读取多播报文的第 2 个 Cell 时，端口 B 可能由于背压还在读取第 1 个 Cell。这种解耦设计确保了各端口的独立性。</a:t>
            </a:r>
            <a:endParaRPr lang="en-US" sz="850" dirty="0"/>
          </a:p>
        </p:txBody>
      </p:sp>
      <p:sp>
        <p:nvSpPr>
          <p:cNvPr id="10" name="Shape 7"/>
          <p:cNvSpPr/>
          <p:nvPr/>
        </p:nvSpPr>
        <p:spPr>
          <a:xfrm>
            <a:off x="428625" y="2514600"/>
            <a:ext cx="3000375" cy="1543496"/>
          </a:xfrm>
          <a:prstGeom prst="rect">
            <a:avLst/>
          </a:prstGeom>
          <a:solidFill>
            <a:srgbClr val="FFFFFF"/>
          </a:solidFill>
          <a:ln/>
        </p:spPr>
        <p:txBody>
          <a:bodyPr/>
          <a:lstStyle/>
          <a:p>
            <a:endParaRPr lang="zh-CN" altLang="en-US"/>
          </a:p>
        </p:txBody>
      </p:sp>
      <p:sp>
        <p:nvSpPr>
          <p:cNvPr id="11" name="Shape 8"/>
          <p:cNvSpPr/>
          <p:nvPr/>
        </p:nvSpPr>
        <p:spPr>
          <a:xfrm>
            <a:off x="428625" y="2514600"/>
            <a:ext cx="28575" cy="1543496"/>
          </a:xfrm>
          <a:prstGeom prst="rect">
            <a:avLst/>
          </a:prstGeom>
          <a:solidFill>
            <a:srgbClr val="00C2DE"/>
          </a:solidFill>
          <a:ln/>
        </p:spPr>
        <p:txBody>
          <a:bodyPr/>
          <a:lstStyle/>
          <a:p>
            <a:endParaRPr lang="zh-CN" altLang="en-US"/>
          </a:p>
        </p:txBody>
      </p:sp>
      <p:sp>
        <p:nvSpPr>
          <p:cNvPr id="12" name="Text 9"/>
          <p:cNvSpPr/>
          <p:nvPr/>
        </p:nvSpPr>
        <p:spPr>
          <a:xfrm>
            <a:off x="607219" y="2657475"/>
            <a:ext cx="2643188" cy="196453"/>
          </a:xfrm>
          <a:prstGeom prst="rect">
            <a:avLst/>
          </a:prstGeom>
          <a:noFill/>
          <a:ln/>
        </p:spPr>
        <p:txBody>
          <a:bodyPr wrap="square" lIns="0" tIns="0" rIns="0" bIns="0" rtlCol="0" anchor="t">
            <a:spAutoFit/>
          </a:bodyPr>
          <a:lstStyle/>
          <a:p>
            <a:pPr marL="0" indent="0" algn="l">
              <a:buNone/>
            </a:pPr>
            <a:r>
              <a:rPr lang="en-US" sz="1000" b="1" dirty="0">
                <a:solidFill>
                  <a:srgbClr val="00C2DE"/>
                </a:solidFill>
                <a:latin typeface="Arial" pitchFamily="34" charset="0"/>
                <a:ea typeface="Arial" pitchFamily="34" charset="-122"/>
                <a:cs typeface="Arial" pitchFamily="34" charset="-120"/>
              </a:rPr>
              <a:t>核心优势</a:t>
            </a:r>
            <a:endParaRPr lang="en-US" sz="1000" dirty="0"/>
          </a:p>
        </p:txBody>
      </p:sp>
      <p:sp>
        <p:nvSpPr>
          <p:cNvPr id="13" name="Text 10"/>
          <p:cNvSpPr/>
          <p:nvPr/>
        </p:nvSpPr>
        <p:spPr>
          <a:xfrm>
            <a:off x="607219" y="2961084"/>
            <a:ext cx="2643188" cy="1097012"/>
          </a:xfrm>
          <a:prstGeom prst="rect">
            <a:avLst/>
          </a:prstGeom>
          <a:noFill/>
          <a:ln/>
        </p:spPr>
        <p:txBody>
          <a:bodyPr wrap="square" lIns="0" tIns="0" rIns="0" bIns="0" rtlCol="0" anchor="t">
            <a:spAutoFit/>
          </a:bodyPr>
          <a:lstStyle/>
          <a:p>
            <a:pPr marL="0" indent="0" algn="l">
              <a:lnSpc>
                <a:spcPct val="128000"/>
              </a:lnSpc>
              <a:buNone/>
            </a:pPr>
            <a:r>
              <a:rPr lang="en-US" sz="850" dirty="0">
                <a:solidFill>
                  <a:srgbClr val="2E2E38"/>
                </a:solidFill>
                <a:latin typeface="Arial" pitchFamily="34" charset="0"/>
                <a:ea typeface="Arial" pitchFamily="34" charset="-122"/>
                <a:cs typeface="Arial" pitchFamily="34" charset="-120"/>
              </a:rPr>
              <a:t>• </a:t>
            </a:r>
            <a:r>
              <a:rPr lang="en-US" sz="800" b="1" dirty="0">
                <a:solidFill>
                  <a:srgbClr val="2E2E38"/>
                </a:solidFill>
                <a:latin typeface="Arial" pitchFamily="34" charset="0"/>
                <a:ea typeface="Arial" pitchFamily="34" charset="-122"/>
                <a:cs typeface="Arial" pitchFamily="34" charset="-120"/>
              </a:rPr>
              <a:t>一份数据，多路读取</a:t>
            </a:r>
            <a:r>
              <a:rPr lang="en-US" sz="850" dirty="0">
                <a:solidFill>
                  <a:srgbClr val="2E2E38"/>
                </a:solidFill>
                <a:latin typeface="Arial" pitchFamily="34" charset="0"/>
                <a:ea typeface="Arial" pitchFamily="34" charset="-122"/>
                <a:cs typeface="Arial" pitchFamily="34" charset="-120"/>
              </a:rPr>
              <a:t>：SRAM 中仅需存储一份报文拷贝。
• </a:t>
            </a:r>
            <a:r>
              <a:rPr lang="en-US" sz="800" b="1" dirty="0">
                <a:solidFill>
                  <a:srgbClr val="2E2E38"/>
                </a:solidFill>
                <a:latin typeface="Arial" pitchFamily="34" charset="0"/>
                <a:ea typeface="Arial" pitchFamily="34" charset="-122"/>
                <a:cs typeface="Arial" pitchFamily="34" charset="-120"/>
              </a:rPr>
              <a:t>零复制转发</a:t>
            </a:r>
            <a:r>
              <a:rPr lang="en-US" sz="850" dirty="0">
                <a:solidFill>
                  <a:srgbClr val="2E2E38"/>
                </a:solidFill>
                <a:latin typeface="Arial" pitchFamily="34" charset="0"/>
                <a:ea typeface="Arial" pitchFamily="34" charset="-122"/>
                <a:cs typeface="Arial" pitchFamily="34" charset="-120"/>
              </a:rPr>
              <a:t>：无需为每个目的端口复制数据，极大节省了内部带宽与存储资源。
• </a:t>
            </a:r>
            <a:r>
              <a:rPr lang="en-US" sz="800" b="1" dirty="0">
                <a:solidFill>
                  <a:srgbClr val="2E2E38"/>
                </a:solidFill>
                <a:latin typeface="Arial" pitchFamily="34" charset="0"/>
                <a:ea typeface="Arial" pitchFamily="34" charset="-122"/>
                <a:cs typeface="Arial" pitchFamily="34" charset="-120"/>
              </a:rPr>
              <a:t>独立步调</a:t>
            </a:r>
            <a:r>
              <a:rPr lang="en-US" sz="850" dirty="0">
                <a:solidFill>
                  <a:srgbClr val="2E2E38"/>
                </a:solidFill>
                <a:latin typeface="Arial" pitchFamily="34" charset="0"/>
                <a:ea typeface="Arial" pitchFamily="34" charset="-122"/>
                <a:cs typeface="Arial" pitchFamily="34" charset="-120"/>
              </a:rPr>
              <a:t>：慢速端口不会阻塞快速端口的读取进度。</a:t>
            </a:r>
            <a:endParaRPr lang="en-US" sz="850" dirty="0"/>
          </a:p>
        </p:txBody>
      </p:sp>
      <p:sp>
        <p:nvSpPr>
          <p:cNvPr id="14" name="Text 11"/>
          <p:cNvSpPr/>
          <p:nvPr/>
        </p:nvSpPr>
        <p:spPr>
          <a:xfrm>
            <a:off x="5343469" y="728663"/>
            <a:ext cx="1743187" cy="175022"/>
          </a:xfrm>
          <a:prstGeom prst="rect">
            <a:avLst/>
          </a:prstGeom>
          <a:noFill/>
          <a:ln/>
        </p:spPr>
        <p:txBody>
          <a:bodyPr wrap="square" lIns="0" tIns="0" rIns="0" bIns="0" rtlCol="0" anchor="t">
            <a:spAutoFit/>
          </a:bodyPr>
          <a:lstStyle/>
          <a:p>
            <a:pPr marL="0" indent="0" algn="l">
              <a:buNone/>
            </a:pPr>
            <a:r>
              <a:rPr lang="en-US" sz="900" b="1" dirty="0">
                <a:solidFill>
                  <a:srgbClr val="3253DC"/>
                </a:solidFill>
                <a:latin typeface="Arial" pitchFamily="34" charset="0"/>
                <a:ea typeface="Arial" pitchFamily="34" charset="-122"/>
                <a:cs typeface="Arial" pitchFamily="34" charset="-120"/>
              </a:rPr>
              <a:t>B2 多播私有读指针模型示意图</a:t>
            </a:r>
            <a:endParaRPr lang="en-US" sz="900" dirty="0"/>
          </a:p>
        </p:txBody>
      </p:sp>
      <p:sp>
        <p:nvSpPr>
          <p:cNvPr id="15" name="Shape 12"/>
          <p:cNvSpPr/>
          <p:nvPr/>
        </p:nvSpPr>
        <p:spPr>
          <a:xfrm>
            <a:off x="3714750" y="1010841"/>
            <a:ext cx="5000625" cy="3429000"/>
          </a:xfrm>
          <a:prstGeom prst="rect">
            <a:avLst/>
          </a:prstGeom>
          <a:solidFill>
            <a:srgbClr val="FFFFFF"/>
          </a:solidFill>
          <a:ln/>
        </p:spPr>
        <p:txBody>
          <a:bodyPr/>
          <a:lstStyle/>
          <a:p>
            <a:endParaRPr lang="zh-CN" altLang="en-US"/>
          </a:p>
        </p:txBody>
      </p:sp>
      <p:pic>
        <p:nvPicPr>
          <p:cNvPr id="16" name="Image 1" descr="preencoded.png"/>
          <p:cNvPicPr>
            <a:picLocks noChangeAspect="1"/>
          </p:cNvPicPr>
          <p:nvPr/>
        </p:nvPicPr>
        <p:blipFill>
          <a:blip r:embed="rId4"/>
          <a:stretch>
            <a:fillRect/>
          </a:stretch>
        </p:blipFill>
        <p:spPr>
          <a:xfrm>
            <a:off x="3714750" y="1010841"/>
            <a:ext cx="5000625" cy="3429000"/>
          </a:xfrm>
          <a:prstGeom prst="rect">
            <a:avLst/>
          </a:prstGeom>
        </p:spPr>
      </p:pic>
      <p:sp>
        <p:nvSpPr>
          <p:cNvPr id="17" name="Text 13"/>
          <p:cNvSpPr/>
          <p:nvPr/>
        </p:nvSpPr>
        <p:spPr>
          <a:xfrm>
            <a:off x="4514850" y="4439841"/>
            <a:ext cx="3400425" cy="242888"/>
          </a:xfrm>
          <a:prstGeom prst="rect">
            <a:avLst/>
          </a:prstGeom>
          <a:noFill/>
          <a:ln/>
        </p:spPr>
        <p:txBody>
          <a:bodyPr wrap="square" lIns="0" tIns="127508" rIns="0" bIns="0" rtlCol="0" anchor="t">
            <a:spAutoFit/>
          </a:bodyPr>
          <a:lstStyle/>
          <a:p>
            <a:pPr marL="0" indent="0" algn="ctr">
              <a:buNone/>
            </a:pPr>
            <a:r>
              <a:rPr lang="en-US" sz="750" dirty="0">
                <a:solidFill>
                  <a:srgbClr val="6E6E7A"/>
                </a:solidFill>
                <a:latin typeface="Arial" pitchFamily="34" charset="0"/>
                <a:ea typeface="Arial" pitchFamily="34" charset="-122"/>
                <a:cs typeface="Arial" pitchFamily="34" charset="-120"/>
              </a:rPr>
              <a:t>通过逐端口私有读指针，实现了逻辑上的多路并发访问与物理上的单份存储。</a:t>
            </a:r>
            <a:endParaRPr lang="en-US" sz="750" dirty="0"/>
          </a:p>
        </p:txBody>
      </p:sp>
      <p:sp>
        <p:nvSpPr>
          <p:cNvPr id="18" name="Text 14"/>
          <p:cNvSpPr/>
          <p:nvPr/>
        </p:nvSpPr>
        <p:spPr>
          <a:xfrm>
            <a:off x="428625" y="4879181"/>
            <a:ext cx="857473"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SMMU Design Review</a:t>
            </a:r>
            <a:endParaRPr lang="en-US" sz="600" dirty="0"/>
          </a:p>
        </p:txBody>
      </p:sp>
      <p:sp>
        <p:nvSpPr>
          <p:cNvPr id="19" name="Text 15"/>
          <p:cNvSpPr/>
          <p:nvPr/>
        </p:nvSpPr>
        <p:spPr>
          <a:xfrm>
            <a:off x="8395971" y="4879181"/>
            <a:ext cx="319404"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Page 22</a:t>
            </a:r>
            <a:endParaRPr lang="en-US" sz="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71500"/>
          </a:xfrm>
          <a:prstGeom prst="rect">
            <a:avLst/>
          </a:prstGeom>
          <a:solidFill>
            <a:srgbClr val="3253DC"/>
          </a:solidFill>
          <a:ln/>
        </p:spPr>
        <p:txBody>
          <a:bodyPr/>
          <a:lstStyle/>
          <a:p>
            <a:endParaRPr lang="zh-CN" altLang="en-US"/>
          </a:p>
        </p:txBody>
      </p:sp>
      <p:sp>
        <p:nvSpPr>
          <p:cNvPr id="4" name="Text 1"/>
          <p:cNvSpPr/>
          <p:nvPr/>
        </p:nvSpPr>
        <p:spPr>
          <a:xfrm>
            <a:off x="428625" y="130373"/>
            <a:ext cx="4089574" cy="246221"/>
          </a:xfrm>
          <a:prstGeom prst="rect">
            <a:avLst/>
          </a:prstGeom>
          <a:noFill/>
          <a:ln/>
        </p:spPr>
        <p:txBody>
          <a:bodyPr wrap="square" lIns="0" tIns="0" rIns="0" bIns="0" rtlCol="0" anchor="t">
            <a:spAutoFit/>
          </a:bodyPr>
          <a:lstStyle/>
          <a:p>
            <a:pPr marL="0" indent="0" algn="l">
              <a:buNone/>
            </a:pPr>
            <a:r>
              <a:rPr lang="en-US" sz="1600" b="1" dirty="0" err="1">
                <a:solidFill>
                  <a:srgbClr val="FFFFFF"/>
                </a:solidFill>
                <a:latin typeface="Arial" pitchFamily="34" charset="0"/>
                <a:ea typeface="Arial" pitchFamily="34" charset="-122"/>
                <a:cs typeface="Arial" pitchFamily="34" charset="-120"/>
              </a:rPr>
              <a:t>多播逻辑拼接</a:t>
            </a:r>
            <a:r>
              <a:rPr lang="en-US" sz="1600" b="1" dirty="0">
                <a:solidFill>
                  <a:srgbClr val="FFFFFF"/>
                </a:solidFill>
                <a:latin typeface="Arial" pitchFamily="34" charset="0"/>
                <a:ea typeface="Arial" pitchFamily="34" charset="-122"/>
                <a:cs typeface="Arial" pitchFamily="34" charset="-120"/>
              </a:rPr>
              <a:t> (4) —— 出队拼接逻辑</a:t>
            </a:r>
            <a:endParaRPr lang="en-US" sz="1600" dirty="0"/>
          </a:p>
        </p:txBody>
      </p:sp>
      <p:sp>
        <p:nvSpPr>
          <p:cNvPr id="5" name="Shape 2"/>
          <p:cNvSpPr/>
          <p:nvPr/>
        </p:nvSpPr>
        <p:spPr>
          <a:xfrm>
            <a:off x="428625" y="928688"/>
            <a:ext cx="4014788" cy="3786188"/>
          </a:xfrm>
          <a:prstGeom prst="rect">
            <a:avLst/>
          </a:prstGeom>
          <a:solidFill>
            <a:srgbClr val="FFFFFF"/>
          </a:solidFill>
          <a:ln/>
        </p:spPr>
        <p:txBody>
          <a:bodyPr/>
          <a:lstStyle/>
          <a:p>
            <a:endParaRPr lang="zh-CN" altLang="en-US"/>
          </a:p>
        </p:txBody>
      </p:sp>
      <p:sp>
        <p:nvSpPr>
          <p:cNvPr id="6" name="Shape 3"/>
          <p:cNvSpPr/>
          <p:nvPr/>
        </p:nvSpPr>
        <p:spPr>
          <a:xfrm>
            <a:off x="428625" y="928688"/>
            <a:ext cx="28575" cy="3786188"/>
          </a:xfrm>
          <a:prstGeom prst="rect">
            <a:avLst/>
          </a:prstGeom>
          <a:solidFill>
            <a:srgbClr val="6CA0F6"/>
          </a:solidFill>
          <a:ln/>
        </p:spPr>
        <p:txBody>
          <a:bodyPr/>
          <a:lstStyle/>
          <a:p>
            <a:endParaRPr lang="zh-CN" altLang="en-US"/>
          </a:p>
        </p:txBody>
      </p:sp>
      <p:sp>
        <p:nvSpPr>
          <p:cNvPr id="7" name="Text 4"/>
          <p:cNvSpPr/>
          <p:nvPr/>
        </p:nvSpPr>
        <p:spPr>
          <a:xfrm>
            <a:off x="642938" y="1143000"/>
            <a:ext cx="3571875" cy="228600"/>
          </a:xfrm>
          <a:prstGeom prst="rect">
            <a:avLst/>
          </a:prstGeom>
          <a:noFill/>
          <a:ln/>
        </p:spPr>
        <p:txBody>
          <a:bodyPr wrap="square" lIns="0" tIns="0" rIns="0" bIns="0" rtlCol="0" anchor="t">
            <a:spAutoFit/>
          </a:bodyPr>
          <a:lstStyle/>
          <a:p>
            <a:pPr marL="0" indent="0" algn="l">
              <a:buNone/>
            </a:pPr>
            <a:r>
              <a:rPr lang="en-US" sz="1200" b="1" dirty="0">
                <a:solidFill>
                  <a:srgbClr val="3253DC"/>
                </a:solidFill>
                <a:latin typeface="Arial" pitchFamily="34" charset="0"/>
                <a:ea typeface="Arial" pitchFamily="34" charset="-122"/>
                <a:cs typeface="Arial" pitchFamily="34" charset="-120"/>
              </a:rPr>
              <a:t>拼接触发条件 (Trigger)</a:t>
            </a:r>
            <a:endParaRPr lang="en-US" sz="1200" dirty="0"/>
          </a:p>
        </p:txBody>
      </p:sp>
      <p:sp>
        <p:nvSpPr>
          <p:cNvPr id="8" name="Text 5"/>
          <p:cNvSpPr/>
          <p:nvPr/>
        </p:nvSpPr>
        <p:spPr>
          <a:xfrm>
            <a:off x="642938" y="1550194"/>
            <a:ext cx="3571875" cy="175022"/>
          </a:xfrm>
          <a:prstGeom prst="rect">
            <a:avLst/>
          </a:prstGeom>
          <a:noFill/>
          <a:ln/>
        </p:spPr>
        <p:txBody>
          <a:bodyPr wrap="square" lIns="0" tIns="0" rIns="0" bIns="0" rtlCol="0" anchor="t">
            <a:spAutoFit/>
          </a:bodyPr>
          <a:lstStyle/>
          <a:p>
            <a:pPr marL="0" indent="0" algn="l">
              <a:buNone/>
            </a:pPr>
            <a:r>
              <a:rPr lang="en-US" sz="900" b="1" dirty="0">
                <a:solidFill>
                  <a:srgbClr val="2E2E38"/>
                </a:solidFill>
                <a:latin typeface="Arial" pitchFamily="34" charset="0"/>
                <a:ea typeface="Arial" pitchFamily="34" charset="-122"/>
                <a:cs typeface="Arial" pitchFamily="34" charset="-120"/>
              </a:rPr>
              <a:t>1. 单播报文出队完成</a:t>
            </a:r>
            <a:endParaRPr lang="en-US" sz="900" dirty="0"/>
          </a:p>
        </p:txBody>
      </p:sp>
      <p:sp>
        <p:nvSpPr>
          <p:cNvPr id="9" name="Text 6"/>
          <p:cNvSpPr/>
          <p:nvPr/>
        </p:nvSpPr>
        <p:spPr>
          <a:xfrm>
            <a:off x="642938" y="1796653"/>
            <a:ext cx="3571875" cy="357188"/>
          </a:xfrm>
          <a:prstGeom prst="rect">
            <a:avLst/>
          </a:prstGeom>
          <a:noFill/>
          <a:ln/>
        </p:spPr>
        <p:txBody>
          <a:bodyPr wrap="square" lIns="0" tIns="0" rIns="0" bIns="0" rtlCol="0" anchor="t">
            <a:spAutoFit/>
          </a:bodyPr>
          <a:lstStyle/>
          <a:p>
            <a:pPr marL="0" indent="0" algn="l">
              <a:lnSpc>
                <a:spcPct val="128000"/>
              </a:lnSpc>
              <a:buNone/>
            </a:pPr>
            <a:r>
              <a:rPr lang="en-US" sz="800" dirty="0">
                <a:solidFill>
                  <a:srgbClr val="6E6E7A"/>
                </a:solidFill>
                <a:latin typeface="Arial" pitchFamily="34" charset="0"/>
                <a:ea typeface="Arial" pitchFamily="34" charset="-122"/>
                <a:cs typeface="Arial" pitchFamily="34" charset="-120"/>
              </a:rPr>
              <a:t>当端口对应的单播队列前序报文已完全发送，即 </a:t>
            </a:r>
            <a:r>
              <a:rPr lang="en-US" sz="750" b="1" dirty="0">
                <a:solidFill>
                  <a:srgbClr val="3253DC"/>
                </a:solidFill>
                <a:latin typeface="Consolas" pitchFamily="34" charset="0"/>
                <a:ea typeface="Consolas" pitchFamily="34" charset="-122"/>
                <a:cs typeface="Consolas" pitchFamily="34" charset="-120"/>
              </a:rPr>
              <a:t>mc_pend_uni_q[p] == 0</a:t>
            </a:r>
            <a:r>
              <a:rPr lang="en-US" sz="800" dirty="0">
                <a:solidFill>
                  <a:srgbClr val="6E6E7A"/>
                </a:solidFill>
                <a:latin typeface="Arial" pitchFamily="34" charset="0"/>
                <a:ea typeface="Arial" pitchFamily="34" charset="-122"/>
                <a:cs typeface="Arial" pitchFamily="34" charset="-120"/>
              </a:rPr>
              <a:t> 时，触发拼接检查。</a:t>
            </a:r>
            <a:endParaRPr lang="en-US" sz="800" dirty="0"/>
          </a:p>
        </p:txBody>
      </p:sp>
      <p:sp>
        <p:nvSpPr>
          <p:cNvPr id="10" name="Text 7"/>
          <p:cNvSpPr/>
          <p:nvPr/>
        </p:nvSpPr>
        <p:spPr>
          <a:xfrm>
            <a:off x="642938" y="2332434"/>
            <a:ext cx="3571875" cy="175022"/>
          </a:xfrm>
          <a:prstGeom prst="rect">
            <a:avLst/>
          </a:prstGeom>
          <a:noFill/>
          <a:ln/>
        </p:spPr>
        <p:txBody>
          <a:bodyPr wrap="square" lIns="0" tIns="0" rIns="0" bIns="0" rtlCol="0" anchor="t">
            <a:spAutoFit/>
          </a:bodyPr>
          <a:lstStyle/>
          <a:p>
            <a:pPr marL="0" indent="0" algn="l">
              <a:buNone/>
            </a:pPr>
            <a:r>
              <a:rPr lang="en-US" sz="900" b="1" dirty="0">
                <a:solidFill>
                  <a:srgbClr val="2E2E38"/>
                </a:solidFill>
                <a:latin typeface="Arial" pitchFamily="34" charset="0"/>
                <a:ea typeface="Arial" pitchFamily="34" charset="-122"/>
                <a:cs typeface="Arial" pitchFamily="34" charset="-120"/>
              </a:rPr>
              <a:t>2. 多播槽位就绪</a:t>
            </a:r>
            <a:endParaRPr lang="en-US" sz="900" dirty="0"/>
          </a:p>
        </p:txBody>
      </p:sp>
      <p:sp>
        <p:nvSpPr>
          <p:cNvPr id="11" name="Text 8"/>
          <p:cNvSpPr/>
          <p:nvPr/>
        </p:nvSpPr>
        <p:spPr>
          <a:xfrm>
            <a:off x="642938" y="2578894"/>
            <a:ext cx="3571875" cy="357188"/>
          </a:xfrm>
          <a:prstGeom prst="rect">
            <a:avLst/>
          </a:prstGeom>
          <a:noFill/>
          <a:ln/>
        </p:spPr>
        <p:txBody>
          <a:bodyPr wrap="square" lIns="0" tIns="0" rIns="0" bIns="0" rtlCol="0" anchor="t">
            <a:spAutoFit/>
          </a:bodyPr>
          <a:lstStyle/>
          <a:p>
            <a:pPr marL="0" indent="0" algn="l">
              <a:lnSpc>
                <a:spcPct val="128000"/>
              </a:lnSpc>
              <a:buNone/>
            </a:pPr>
            <a:r>
              <a:rPr lang="en-US" sz="800" dirty="0">
                <a:solidFill>
                  <a:srgbClr val="6E6E7A"/>
                </a:solidFill>
                <a:latin typeface="Arial" pitchFamily="34" charset="0"/>
                <a:ea typeface="Arial" pitchFamily="34" charset="-122"/>
                <a:cs typeface="Arial" pitchFamily="34" charset="-120"/>
              </a:rPr>
              <a:t>多播槽位有效 </a:t>
            </a:r>
            <a:r>
              <a:rPr lang="en-US" sz="750" b="1" dirty="0">
                <a:solidFill>
                  <a:srgbClr val="3253DC"/>
                </a:solidFill>
                <a:latin typeface="Consolas" pitchFamily="34" charset="0"/>
                <a:ea typeface="Consolas" pitchFamily="34" charset="-122"/>
                <a:cs typeface="Consolas" pitchFamily="34" charset="-120"/>
              </a:rPr>
              <a:t>mc_valid_q == 1</a:t>
            </a:r>
            <a:r>
              <a:rPr lang="en-US" sz="800" dirty="0">
                <a:solidFill>
                  <a:srgbClr val="6E6E7A"/>
                </a:solidFill>
                <a:latin typeface="Arial" pitchFamily="34" charset="0"/>
                <a:ea typeface="Arial" pitchFamily="34" charset="-122"/>
                <a:cs typeface="Arial" pitchFamily="34" charset="-120"/>
              </a:rPr>
              <a:t> 且当前端口在目的位图中 </a:t>
            </a:r>
            <a:r>
              <a:rPr lang="en-US" sz="750" b="1" dirty="0">
                <a:solidFill>
                  <a:srgbClr val="3253DC"/>
                </a:solidFill>
                <a:latin typeface="Consolas" pitchFamily="34" charset="0"/>
                <a:ea typeface="Consolas" pitchFamily="34" charset="-122"/>
                <a:cs typeface="Consolas" pitchFamily="34" charset="-120"/>
              </a:rPr>
              <a:t>mc_dst_bitmap_q[p] == 1</a:t>
            </a:r>
            <a:r>
              <a:rPr lang="en-US" sz="800" dirty="0">
                <a:solidFill>
                  <a:srgbClr val="6E6E7A"/>
                </a:solidFill>
                <a:latin typeface="Arial" pitchFamily="34" charset="0"/>
                <a:ea typeface="Arial" pitchFamily="34" charset="-122"/>
                <a:cs typeface="Arial" pitchFamily="34" charset="-120"/>
              </a:rPr>
              <a:t>。</a:t>
            </a:r>
            <a:endParaRPr lang="en-US" sz="800" dirty="0"/>
          </a:p>
        </p:txBody>
      </p:sp>
      <p:sp>
        <p:nvSpPr>
          <p:cNvPr id="12" name="Text 9"/>
          <p:cNvSpPr/>
          <p:nvPr/>
        </p:nvSpPr>
        <p:spPr>
          <a:xfrm>
            <a:off x="642938" y="3114675"/>
            <a:ext cx="3571875" cy="175022"/>
          </a:xfrm>
          <a:prstGeom prst="rect">
            <a:avLst/>
          </a:prstGeom>
          <a:noFill/>
          <a:ln/>
        </p:spPr>
        <p:txBody>
          <a:bodyPr wrap="square" lIns="0" tIns="0" rIns="0" bIns="0" rtlCol="0" anchor="t">
            <a:spAutoFit/>
          </a:bodyPr>
          <a:lstStyle/>
          <a:p>
            <a:pPr marL="0" indent="0" algn="l">
              <a:buNone/>
            </a:pPr>
            <a:r>
              <a:rPr lang="en-US" sz="900" b="1" dirty="0">
                <a:solidFill>
                  <a:srgbClr val="2E2E38"/>
                </a:solidFill>
                <a:latin typeface="Arial" pitchFamily="34" charset="0"/>
                <a:ea typeface="Arial" pitchFamily="34" charset="-122"/>
                <a:cs typeface="Arial" pitchFamily="34" charset="-120"/>
              </a:rPr>
              <a:t>3. 读指针未越界</a:t>
            </a:r>
            <a:endParaRPr lang="en-US" sz="900" dirty="0"/>
          </a:p>
        </p:txBody>
      </p:sp>
      <p:sp>
        <p:nvSpPr>
          <p:cNvPr id="13" name="Text 10"/>
          <p:cNvSpPr/>
          <p:nvPr/>
        </p:nvSpPr>
        <p:spPr>
          <a:xfrm>
            <a:off x="642938" y="3361134"/>
            <a:ext cx="3571875" cy="178594"/>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6E6E7A"/>
                </a:solidFill>
                <a:latin typeface="Arial" pitchFamily="34" charset="0"/>
                <a:ea typeface="Arial" pitchFamily="34" charset="-122"/>
                <a:cs typeface="Arial" pitchFamily="34" charset="-120"/>
              </a:rPr>
              <a:t>该端口的私有读指针 </a:t>
            </a:r>
            <a:r>
              <a:rPr lang="en-US" sz="750" b="1" dirty="0">
                <a:solidFill>
                  <a:srgbClr val="3253DC"/>
                </a:solidFill>
                <a:latin typeface="Consolas" pitchFamily="34" charset="0"/>
                <a:ea typeface="Consolas" pitchFamily="34" charset="-122"/>
                <a:cs typeface="Consolas" pitchFamily="34" charset="-120"/>
              </a:rPr>
              <a:t>mc_rd_idx_q[p]</a:t>
            </a:r>
            <a:r>
              <a:rPr lang="en-US" sz="800" dirty="0">
                <a:solidFill>
                  <a:srgbClr val="6E6E7A"/>
                </a:solidFill>
                <a:latin typeface="Arial" pitchFamily="34" charset="0"/>
                <a:ea typeface="Arial" pitchFamily="34" charset="-122"/>
                <a:cs typeface="Arial" pitchFamily="34" charset="-120"/>
              </a:rPr>
              <a:t> 小于多播报文的总 Cell 数。</a:t>
            </a:r>
            <a:endParaRPr lang="en-US" sz="800" dirty="0"/>
          </a:p>
        </p:txBody>
      </p:sp>
      <p:sp>
        <p:nvSpPr>
          <p:cNvPr id="14" name="Shape 11"/>
          <p:cNvSpPr/>
          <p:nvPr/>
        </p:nvSpPr>
        <p:spPr>
          <a:xfrm>
            <a:off x="4714875" y="928688"/>
            <a:ext cx="4000500" cy="3786188"/>
          </a:xfrm>
          <a:prstGeom prst="rect">
            <a:avLst/>
          </a:prstGeom>
          <a:solidFill>
            <a:srgbClr val="2E2E38"/>
          </a:solidFill>
          <a:ln/>
        </p:spPr>
        <p:txBody>
          <a:bodyPr/>
          <a:lstStyle/>
          <a:p>
            <a:endParaRPr lang="zh-CN" altLang="en-US"/>
          </a:p>
        </p:txBody>
      </p:sp>
      <p:sp>
        <p:nvSpPr>
          <p:cNvPr id="15" name="Text 12"/>
          <p:cNvSpPr/>
          <p:nvPr/>
        </p:nvSpPr>
        <p:spPr>
          <a:xfrm>
            <a:off x="4929188" y="1143000"/>
            <a:ext cx="3571875" cy="228600"/>
          </a:xfrm>
          <a:prstGeom prst="rect">
            <a:avLst/>
          </a:prstGeom>
          <a:noFill/>
          <a:ln/>
        </p:spPr>
        <p:txBody>
          <a:bodyPr wrap="square" lIns="0" tIns="0" rIns="0" bIns="0" rtlCol="0" anchor="t">
            <a:spAutoFit/>
          </a:bodyPr>
          <a:lstStyle/>
          <a:p>
            <a:pPr marL="0" indent="0" algn="l">
              <a:buNone/>
            </a:pPr>
            <a:r>
              <a:rPr lang="en-US" sz="1200" b="1" dirty="0">
                <a:solidFill>
                  <a:srgbClr val="00C2DE"/>
                </a:solidFill>
                <a:latin typeface="Arial" pitchFamily="34" charset="0"/>
                <a:ea typeface="Arial" pitchFamily="34" charset="-122"/>
                <a:cs typeface="Arial" pitchFamily="34" charset="-120"/>
              </a:rPr>
              <a:t>QM 视角与透明处理</a:t>
            </a:r>
            <a:endParaRPr lang="en-US" sz="1200" dirty="0"/>
          </a:p>
        </p:txBody>
      </p:sp>
      <p:sp>
        <p:nvSpPr>
          <p:cNvPr id="16" name="Text 13"/>
          <p:cNvSpPr/>
          <p:nvPr/>
        </p:nvSpPr>
        <p:spPr>
          <a:xfrm>
            <a:off x="4929188" y="1550194"/>
            <a:ext cx="3571875" cy="617153"/>
          </a:xfrm>
          <a:prstGeom prst="rect">
            <a:avLst/>
          </a:prstGeom>
          <a:noFill/>
          <a:ln/>
        </p:spPr>
        <p:txBody>
          <a:bodyPr wrap="square" lIns="0" tIns="0" rIns="0" bIns="0" rtlCol="0" anchor="t">
            <a:spAutoFit/>
          </a:bodyPr>
          <a:lstStyle/>
          <a:p>
            <a:pPr marL="0" indent="0" algn="l">
              <a:lnSpc>
                <a:spcPct val="144000"/>
              </a:lnSpc>
              <a:buNone/>
            </a:pPr>
            <a:r>
              <a:rPr lang="en-US" sz="800" b="1" dirty="0">
                <a:solidFill>
                  <a:srgbClr val="FFFFFF"/>
                </a:solidFill>
                <a:latin typeface="Arial" pitchFamily="34" charset="0"/>
                <a:ea typeface="Arial" pitchFamily="34" charset="-122"/>
                <a:cs typeface="Arial" pitchFamily="34" charset="-120"/>
              </a:rPr>
              <a:t>透明化设计</a:t>
            </a:r>
            <a:r>
              <a:rPr lang="en-US" sz="850" dirty="0">
                <a:solidFill>
                  <a:srgbClr val="FFFFFF"/>
                </a:solidFill>
                <a:latin typeface="Arial" pitchFamily="34" charset="0"/>
                <a:ea typeface="Arial" pitchFamily="34" charset="-122"/>
                <a:cs typeface="Arial" pitchFamily="34" charset="-120"/>
              </a:rPr>
              <a:t>：QM (Queue Manager) 始终认为它在操作普通的单播队列。SMMU 在内部通过逻辑判断，在单播报文之间“插缝”输出多播 Cell。</a:t>
            </a:r>
            <a:endParaRPr lang="en-US" sz="800" dirty="0"/>
          </a:p>
        </p:txBody>
      </p:sp>
      <p:sp>
        <p:nvSpPr>
          <p:cNvPr id="17" name="Text 14"/>
          <p:cNvSpPr/>
          <p:nvPr/>
        </p:nvSpPr>
        <p:spPr>
          <a:xfrm>
            <a:off x="4929188" y="2310222"/>
            <a:ext cx="3571875" cy="415007"/>
          </a:xfrm>
          <a:prstGeom prst="rect">
            <a:avLst/>
          </a:prstGeom>
          <a:noFill/>
          <a:ln/>
        </p:spPr>
        <p:txBody>
          <a:bodyPr wrap="square" lIns="0" tIns="0" rIns="0" bIns="0" rtlCol="0" anchor="t">
            <a:spAutoFit/>
          </a:bodyPr>
          <a:lstStyle/>
          <a:p>
            <a:pPr marL="0" indent="0" algn="l">
              <a:lnSpc>
                <a:spcPct val="144000"/>
              </a:lnSpc>
              <a:buNone/>
            </a:pPr>
            <a:r>
              <a:rPr lang="en-US" sz="800" b="1" dirty="0">
                <a:solidFill>
                  <a:srgbClr val="FFFFFF"/>
                </a:solidFill>
                <a:latin typeface="Arial" pitchFamily="34" charset="0"/>
                <a:ea typeface="Arial" pitchFamily="34" charset="-122"/>
                <a:cs typeface="Arial" pitchFamily="34" charset="-120"/>
              </a:rPr>
              <a:t>无缝切换</a:t>
            </a:r>
            <a:r>
              <a:rPr lang="en-US" sz="850" dirty="0">
                <a:solidFill>
                  <a:srgbClr val="FFFFFF"/>
                </a:solidFill>
                <a:latin typeface="Arial" pitchFamily="34" charset="0"/>
                <a:ea typeface="Arial" pitchFamily="34" charset="-122"/>
                <a:cs typeface="Arial" pitchFamily="34" charset="-120"/>
              </a:rPr>
              <a:t>：当满足拼接条件时，LLE 引擎自动从读取 SRAM 链表切换为读取多播镜像寄存器 </a:t>
            </a:r>
            <a:r>
              <a:rPr lang="en-US" sz="800" b="1" dirty="0">
                <a:solidFill>
                  <a:srgbClr val="3253DC"/>
                </a:solidFill>
                <a:latin typeface="Consolas" pitchFamily="34" charset="0"/>
                <a:ea typeface="Consolas" pitchFamily="34" charset="-122"/>
                <a:cs typeface="Consolas" pitchFamily="34" charset="-120"/>
              </a:rPr>
              <a:t>mc_cells_q</a:t>
            </a:r>
            <a:r>
              <a:rPr lang="en-US" sz="850" dirty="0">
                <a:solidFill>
                  <a:srgbClr val="FFFFFF"/>
                </a:solidFill>
                <a:latin typeface="Arial" pitchFamily="34" charset="0"/>
                <a:ea typeface="Arial" pitchFamily="34" charset="-122"/>
                <a:cs typeface="Arial" pitchFamily="34" charset="-120"/>
              </a:rPr>
              <a:t>，实现零延迟切换。</a:t>
            </a:r>
            <a:endParaRPr lang="en-US" sz="800" dirty="0"/>
          </a:p>
        </p:txBody>
      </p:sp>
      <p:sp>
        <p:nvSpPr>
          <p:cNvPr id="18" name="Shape 15"/>
          <p:cNvSpPr/>
          <p:nvPr/>
        </p:nvSpPr>
        <p:spPr>
          <a:xfrm>
            <a:off x="4929188" y="2868104"/>
            <a:ext cx="3571875" cy="1285875"/>
          </a:xfrm>
          <a:prstGeom prst="rect">
            <a:avLst/>
          </a:prstGeom>
          <a:solidFill>
            <a:srgbClr val="FFFFFF"/>
          </a:solidFill>
          <a:ln/>
        </p:spPr>
        <p:txBody>
          <a:bodyPr/>
          <a:lstStyle/>
          <a:p>
            <a:endParaRPr lang="zh-CN" altLang="en-US"/>
          </a:p>
        </p:txBody>
      </p:sp>
      <p:pic>
        <p:nvPicPr>
          <p:cNvPr id="19" name="Image 1" descr="preencoded.png"/>
          <p:cNvPicPr>
            <a:picLocks noChangeAspect="1"/>
          </p:cNvPicPr>
          <p:nvPr/>
        </p:nvPicPr>
        <p:blipFill>
          <a:blip r:embed="rId4"/>
          <a:stretch>
            <a:fillRect/>
          </a:stretch>
        </p:blipFill>
        <p:spPr>
          <a:xfrm>
            <a:off x="4929188" y="2868104"/>
            <a:ext cx="3571875" cy="1285875"/>
          </a:xfrm>
          <a:prstGeom prst="rect">
            <a:avLst/>
          </a:prstGeom>
        </p:spPr>
      </p:pic>
      <p:sp>
        <p:nvSpPr>
          <p:cNvPr id="20" name="Text 16"/>
          <p:cNvSpPr/>
          <p:nvPr/>
        </p:nvSpPr>
        <p:spPr>
          <a:xfrm>
            <a:off x="428625" y="4879181"/>
            <a:ext cx="857473"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SMMU Design Review</a:t>
            </a:r>
            <a:endParaRPr lang="en-US" sz="600" dirty="0"/>
          </a:p>
        </p:txBody>
      </p:sp>
      <p:sp>
        <p:nvSpPr>
          <p:cNvPr id="21" name="Text 17"/>
          <p:cNvSpPr/>
          <p:nvPr/>
        </p:nvSpPr>
        <p:spPr>
          <a:xfrm>
            <a:off x="8395971" y="4879181"/>
            <a:ext cx="319404"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Page 23</a:t>
            </a:r>
            <a:endParaRPr lang="en-US" sz="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71500"/>
          </a:xfrm>
          <a:prstGeom prst="rect">
            <a:avLst/>
          </a:prstGeom>
          <a:solidFill>
            <a:srgbClr val="3253DC"/>
          </a:solidFill>
          <a:ln/>
        </p:spPr>
        <p:txBody>
          <a:bodyPr/>
          <a:lstStyle/>
          <a:p>
            <a:endParaRPr lang="zh-CN" altLang="en-US"/>
          </a:p>
        </p:txBody>
      </p:sp>
      <p:sp>
        <p:nvSpPr>
          <p:cNvPr id="4" name="Text 1"/>
          <p:cNvSpPr/>
          <p:nvPr/>
        </p:nvSpPr>
        <p:spPr>
          <a:xfrm>
            <a:off x="428625" y="130373"/>
            <a:ext cx="4089574" cy="246221"/>
          </a:xfrm>
          <a:prstGeom prst="rect">
            <a:avLst/>
          </a:prstGeom>
          <a:noFill/>
          <a:ln/>
        </p:spPr>
        <p:txBody>
          <a:bodyPr wrap="square" lIns="0" tIns="0" rIns="0" bIns="0" rtlCol="0" anchor="t">
            <a:spAutoFit/>
          </a:bodyPr>
          <a:lstStyle/>
          <a:p>
            <a:pPr marL="0" indent="0" algn="l">
              <a:buNone/>
            </a:pPr>
            <a:r>
              <a:rPr lang="en-US" sz="1600" b="1" dirty="0" err="1">
                <a:solidFill>
                  <a:srgbClr val="FFFFFF"/>
                </a:solidFill>
                <a:latin typeface="Arial" pitchFamily="34" charset="0"/>
                <a:ea typeface="Arial" pitchFamily="34" charset="-122"/>
                <a:cs typeface="Arial" pitchFamily="34" charset="-120"/>
              </a:rPr>
              <a:t>多播逻辑拼接</a:t>
            </a:r>
            <a:r>
              <a:rPr lang="en-US" sz="1600" b="1" dirty="0">
                <a:solidFill>
                  <a:srgbClr val="FFFFFF"/>
                </a:solidFill>
                <a:latin typeface="Arial" pitchFamily="34" charset="0"/>
                <a:ea typeface="Arial" pitchFamily="34" charset="-122"/>
                <a:cs typeface="Arial" pitchFamily="34" charset="-120"/>
              </a:rPr>
              <a:t> (5) —— 引用计数回收</a:t>
            </a:r>
            <a:endParaRPr lang="en-US" sz="1600" dirty="0"/>
          </a:p>
        </p:txBody>
      </p:sp>
      <p:sp>
        <p:nvSpPr>
          <p:cNvPr id="5" name="Shape 2"/>
          <p:cNvSpPr/>
          <p:nvPr/>
        </p:nvSpPr>
        <p:spPr>
          <a:xfrm>
            <a:off x="428625" y="857250"/>
            <a:ext cx="4036219" cy="2000250"/>
          </a:xfrm>
          <a:prstGeom prst="rect">
            <a:avLst/>
          </a:prstGeom>
          <a:solidFill>
            <a:srgbClr val="FFFFFF"/>
          </a:solidFill>
          <a:ln/>
        </p:spPr>
        <p:txBody>
          <a:bodyPr/>
          <a:lstStyle/>
          <a:p>
            <a:endParaRPr lang="zh-CN" altLang="en-US"/>
          </a:p>
        </p:txBody>
      </p:sp>
      <p:sp>
        <p:nvSpPr>
          <p:cNvPr id="6" name="Shape 3"/>
          <p:cNvSpPr/>
          <p:nvPr/>
        </p:nvSpPr>
        <p:spPr>
          <a:xfrm>
            <a:off x="428625" y="857250"/>
            <a:ext cx="28575" cy="2000250"/>
          </a:xfrm>
          <a:prstGeom prst="rect">
            <a:avLst/>
          </a:prstGeom>
          <a:solidFill>
            <a:srgbClr val="6CA0F6"/>
          </a:solidFill>
          <a:ln/>
        </p:spPr>
        <p:txBody>
          <a:bodyPr/>
          <a:lstStyle/>
          <a:p>
            <a:endParaRPr lang="zh-CN" altLang="en-US"/>
          </a:p>
        </p:txBody>
      </p:sp>
      <p:sp>
        <p:nvSpPr>
          <p:cNvPr id="7" name="Text 4"/>
          <p:cNvSpPr/>
          <p:nvPr/>
        </p:nvSpPr>
        <p:spPr>
          <a:xfrm>
            <a:off x="607219" y="1035844"/>
            <a:ext cx="3679031" cy="210741"/>
          </a:xfrm>
          <a:prstGeom prst="rect">
            <a:avLst/>
          </a:prstGeom>
          <a:noFill/>
          <a:ln/>
        </p:spPr>
        <p:txBody>
          <a:bodyPr wrap="square" lIns="0" tIns="0" rIns="0" bIns="0" rtlCol="0" anchor="t">
            <a:spAutoFit/>
          </a:bodyPr>
          <a:lstStyle/>
          <a:p>
            <a:pPr marL="0" indent="0" algn="l">
              <a:buNone/>
            </a:pPr>
            <a:r>
              <a:rPr lang="en-US" sz="1100" b="1" dirty="0">
                <a:solidFill>
                  <a:srgbClr val="3253DC"/>
                </a:solidFill>
                <a:latin typeface="Arial" pitchFamily="34" charset="0"/>
                <a:ea typeface="Arial" pitchFamily="34" charset="-122"/>
                <a:cs typeface="Arial" pitchFamily="34" charset="-120"/>
              </a:rPr>
              <a:t>引用计数机制 (Ref-Count)</a:t>
            </a:r>
            <a:endParaRPr lang="en-US" sz="1100" dirty="0"/>
          </a:p>
        </p:txBody>
      </p:sp>
      <p:sp>
        <p:nvSpPr>
          <p:cNvPr id="8" name="Text 5"/>
          <p:cNvSpPr/>
          <p:nvPr/>
        </p:nvSpPr>
        <p:spPr>
          <a:xfrm>
            <a:off x="607219" y="1389459"/>
            <a:ext cx="3679031" cy="411435"/>
          </a:xfrm>
          <a:prstGeom prst="rect">
            <a:avLst/>
          </a:prstGeom>
          <a:noFill/>
          <a:ln/>
        </p:spPr>
        <p:txBody>
          <a:bodyPr wrap="squar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为了支持“零复制”多播，SMMU 为每个多播 Cell 维护一个独立的引用计数器：</a:t>
            </a:r>
            <a:endParaRPr lang="en-US" sz="850" dirty="0"/>
          </a:p>
        </p:txBody>
      </p:sp>
      <p:sp>
        <p:nvSpPr>
          <p:cNvPr id="9" name="Shape 6"/>
          <p:cNvSpPr/>
          <p:nvPr/>
        </p:nvSpPr>
        <p:spPr>
          <a:xfrm>
            <a:off x="607219" y="1908051"/>
            <a:ext cx="3679031" cy="900113"/>
          </a:xfrm>
          <a:prstGeom prst="rect">
            <a:avLst/>
          </a:prstGeom>
          <a:solidFill>
            <a:srgbClr val="2E2E38"/>
          </a:solidFill>
          <a:ln/>
        </p:spPr>
        <p:txBody>
          <a:bodyPr/>
          <a:lstStyle/>
          <a:p>
            <a:endParaRPr lang="zh-CN" altLang="en-US"/>
          </a:p>
        </p:txBody>
      </p:sp>
      <p:sp>
        <p:nvSpPr>
          <p:cNvPr id="10" name="Text 7"/>
          <p:cNvSpPr/>
          <p:nvPr/>
        </p:nvSpPr>
        <p:spPr>
          <a:xfrm>
            <a:off x="607219" y="1908051"/>
            <a:ext cx="3679031" cy="900113"/>
          </a:xfrm>
          <a:prstGeom prst="rect">
            <a:avLst/>
          </a:prstGeom>
          <a:noFill/>
          <a:ln/>
        </p:spPr>
        <p:txBody>
          <a:bodyPr wrap="square" lIns="127508" tIns="127508" rIns="127508" bIns="127508" rtlCol="0" anchor="t">
            <a:spAutoFit/>
          </a:bodyPr>
          <a:lstStyle/>
          <a:p>
            <a:pPr marL="0" indent="0" algn="l">
              <a:buNone/>
            </a:pPr>
            <a:r>
              <a:rPr lang="en-US" sz="750" dirty="0">
                <a:solidFill>
                  <a:srgbClr val="00C2DE"/>
                </a:solidFill>
                <a:latin typeface="Consolas" pitchFamily="34" charset="0"/>
                <a:ea typeface="Consolas" pitchFamily="34" charset="-122"/>
                <a:cs typeface="Consolas" pitchFamily="34" charset="-120"/>
              </a:rPr>
              <a:t>// 初始化：
ref_count = count_ones(mc_dst_bitmap);
 // 端口 p 完成读取：
ref_count = ref_count - 1;</a:t>
            </a:r>
            <a:endParaRPr lang="en-US" sz="750" dirty="0"/>
          </a:p>
        </p:txBody>
      </p:sp>
      <p:sp>
        <p:nvSpPr>
          <p:cNvPr id="11" name="Shape 8"/>
          <p:cNvSpPr/>
          <p:nvPr/>
        </p:nvSpPr>
        <p:spPr>
          <a:xfrm>
            <a:off x="4679156" y="857250"/>
            <a:ext cx="4036219" cy="2000250"/>
          </a:xfrm>
          <a:prstGeom prst="rect">
            <a:avLst/>
          </a:prstGeom>
          <a:solidFill>
            <a:srgbClr val="FFFFFF"/>
          </a:solidFill>
          <a:ln/>
        </p:spPr>
        <p:txBody>
          <a:bodyPr/>
          <a:lstStyle/>
          <a:p>
            <a:endParaRPr lang="zh-CN" altLang="en-US"/>
          </a:p>
        </p:txBody>
      </p:sp>
      <p:sp>
        <p:nvSpPr>
          <p:cNvPr id="12" name="Shape 9"/>
          <p:cNvSpPr/>
          <p:nvPr/>
        </p:nvSpPr>
        <p:spPr>
          <a:xfrm>
            <a:off x="4679156" y="857250"/>
            <a:ext cx="28575" cy="2000250"/>
          </a:xfrm>
          <a:prstGeom prst="rect">
            <a:avLst/>
          </a:prstGeom>
          <a:solidFill>
            <a:srgbClr val="6CA0F6"/>
          </a:solidFill>
          <a:ln/>
        </p:spPr>
        <p:txBody>
          <a:bodyPr/>
          <a:lstStyle/>
          <a:p>
            <a:endParaRPr lang="zh-CN" altLang="en-US"/>
          </a:p>
        </p:txBody>
      </p:sp>
      <p:sp>
        <p:nvSpPr>
          <p:cNvPr id="13" name="Text 10"/>
          <p:cNvSpPr/>
          <p:nvPr/>
        </p:nvSpPr>
        <p:spPr>
          <a:xfrm>
            <a:off x="4857750" y="1035844"/>
            <a:ext cx="3679031" cy="210741"/>
          </a:xfrm>
          <a:prstGeom prst="rect">
            <a:avLst/>
          </a:prstGeom>
          <a:noFill/>
          <a:ln/>
        </p:spPr>
        <p:txBody>
          <a:bodyPr wrap="square" lIns="0" tIns="0" rIns="0" bIns="0" rtlCol="0" anchor="t">
            <a:spAutoFit/>
          </a:bodyPr>
          <a:lstStyle/>
          <a:p>
            <a:pPr marL="0" indent="0" algn="l">
              <a:buNone/>
            </a:pPr>
            <a:r>
              <a:rPr lang="en-US" sz="1100" b="1" dirty="0">
                <a:solidFill>
                  <a:srgbClr val="3253DC"/>
                </a:solidFill>
                <a:latin typeface="Arial" pitchFamily="34" charset="0"/>
                <a:ea typeface="Arial" pitchFamily="34" charset="-122"/>
                <a:cs typeface="Arial" pitchFamily="34" charset="-120"/>
              </a:rPr>
              <a:t>Cell 级回收逻辑</a:t>
            </a:r>
            <a:endParaRPr lang="en-US" sz="1100" dirty="0"/>
          </a:p>
        </p:txBody>
      </p:sp>
      <p:sp>
        <p:nvSpPr>
          <p:cNvPr id="14" name="Text 11"/>
          <p:cNvSpPr/>
          <p:nvPr/>
        </p:nvSpPr>
        <p:spPr>
          <a:xfrm>
            <a:off x="4857750" y="1389459"/>
            <a:ext cx="3679031" cy="411435"/>
          </a:xfrm>
          <a:prstGeom prst="rect">
            <a:avLst/>
          </a:prstGeom>
          <a:noFill/>
          <a:ln/>
        </p:spPr>
        <p:txBody>
          <a:bodyPr wrap="squar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回收动作发生在 Cell 级别，而非整帧级别，以实现更细粒度的资源释放：</a:t>
            </a:r>
            <a:endParaRPr lang="en-US" sz="850" dirty="0"/>
          </a:p>
        </p:txBody>
      </p:sp>
      <p:sp>
        <p:nvSpPr>
          <p:cNvPr id="15" name="Text 12"/>
          <p:cNvSpPr/>
          <p:nvPr/>
        </p:nvSpPr>
        <p:spPr>
          <a:xfrm>
            <a:off x="4857750" y="1943770"/>
            <a:ext cx="1416360" cy="128588"/>
          </a:xfrm>
          <a:prstGeom prst="rect">
            <a:avLst/>
          </a:prstGeom>
          <a:noFill/>
          <a:ln/>
        </p:spPr>
        <p:txBody>
          <a:bodyPr wrap="non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1. 端口 A 读完 Cell 0，触发</a:t>
            </a:r>
            <a:endParaRPr lang="en-US" sz="850" dirty="0"/>
          </a:p>
        </p:txBody>
      </p:sp>
      <p:sp>
        <p:nvSpPr>
          <p:cNvPr id="16" name="Text 13"/>
          <p:cNvSpPr/>
          <p:nvPr/>
        </p:nvSpPr>
        <p:spPr>
          <a:xfrm>
            <a:off x="6274110" y="1943770"/>
            <a:ext cx="679772" cy="128588"/>
          </a:xfrm>
          <a:prstGeom prst="rect">
            <a:avLst/>
          </a:prstGeom>
          <a:noFill/>
          <a:ln/>
        </p:spPr>
        <p:txBody>
          <a:bodyPr wrap="non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ref_count[0]--</a:t>
            </a:r>
            <a:endParaRPr lang="en-US" sz="850" dirty="0"/>
          </a:p>
        </p:txBody>
      </p:sp>
      <p:sp>
        <p:nvSpPr>
          <p:cNvPr id="17" name="Text 14"/>
          <p:cNvSpPr/>
          <p:nvPr/>
        </p:nvSpPr>
        <p:spPr>
          <a:xfrm>
            <a:off x="6953883" y="1943770"/>
            <a:ext cx="114300" cy="128588"/>
          </a:xfrm>
          <a:prstGeom prst="rect">
            <a:avLst/>
          </a:prstGeom>
          <a:noFill/>
          <a:ln/>
        </p:spPr>
        <p:txBody>
          <a:bodyPr wrap="non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a:t>
            </a:r>
            <a:endParaRPr lang="en-US" sz="850" dirty="0"/>
          </a:p>
        </p:txBody>
      </p:sp>
      <p:sp>
        <p:nvSpPr>
          <p:cNvPr id="18" name="Text 15"/>
          <p:cNvSpPr/>
          <p:nvPr/>
        </p:nvSpPr>
        <p:spPr>
          <a:xfrm>
            <a:off x="4857750" y="2149487"/>
            <a:ext cx="1422667" cy="128588"/>
          </a:xfrm>
          <a:prstGeom prst="rect">
            <a:avLst/>
          </a:prstGeom>
          <a:noFill/>
          <a:ln/>
        </p:spPr>
        <p:txBody>
          <a:bodyPr wrap="non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2. 端口 B 读完 Cell 0，触发</a:t>
            </a:r>
            <a:endParaRPr lang="en-US" sz="850" dirty="0"/>
          </a:p>
        </p:txBody>
      </p:sp>
      <p:sp>
        <p:nvSpPr>
          <p:cNvPr id="19" name="Text 16"/>
          <p:cNvSpPr/>
          <p:nvPr/>
        </p:nvSpPr>
        <p:spPr>
          <a:xfrm>
            <a:off x="6280417" y="2149487"/>
            <a:ext cx="679772" cy="128588"/>
          </a:xfrm>
          <a:prstGeom prst="rect">
            <a:avLst/>
          </a:prstGeom>
          <a:noFill/>
          <a:ln/>
        </p:spPr>
        <p:txBody>
          <a:bodyPr wrap="non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ref_count[0]--</a:t>
            </a:r>
            <a:endParaRPr lang="en-US" sz="850" dirty="0"/>
          </a:p>
        </p:txBody>
      </p:sp>
      <p:sp>
        <p:nvSpPr>
          <p:cNvPr id="20" name="Text 17"/>
          <p:cNvSpPr/>
          <p:nvPr/>
        </p:nvSpPr>
        <p:spPr>
          <a:xfrm>
            <a:off x="6960189" y="2149487"/>
            <a:ext cx="114300" cy="128588"/>
          </a:xfrm>
          <a:prstGeom prst="rect">
            <a:avLst/>
          </a:prstGeom>
          <a:noFill/>
          <a:ln/>
        </p:spPr>
        <p:txBody>
          <a:bodyPr wrap="non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a:t>
            </a:r>
            <a:endParaRPr lang="en-US" sz="850" dirty="0"/>
          </a:p>
        </p:txBody>
      </p:sp>
      <p:sp>
        <p:nvSpPr>
          <p:cNvPr id="21" name="Text 18"/>
          <p:cNvSpPr/>
          <p:nvPr/>
        </p:nvSpPr>
        <p:spPr>
          <a:xfrm>
            <a:off x="4857750" y="2355205"/>
            <a:ext cx="501737" cy="128588"/>
          </a:xfrm>
          <a:prstGeom prst="rect">
            <a:avLst/>
          </a:prstGeom>
          <a:noFill/>
          <a:ln/>
        </p:spPr>
        <p:txBody>
          <a:bodyPr wrap="non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3. 只有当</a:t>
            </a:r>
            <a:endParaRPr lang="en-US" sz="850" dirty="0"/>
          </a:p>
        </p:txBody>
      </p:sp>
      <p:sp>
        <p:nvSpPr>
          <p:cNvPr id="22" name="Text 19"/>
          <p:cNvSpPr/>
          <p:nvPr/>
        </p:nvSpPr>
        <p:spPr>
          <a:xfrm>
            <a:off x="5359487" y="2355205"/>
            <a:ext cx="864226" cy="128588"/>
          </a:xfrm>
          <a:prstGeom prst="rect">
            <a:avLst/>
          </a:prstGeom>
          <a:noFill/>
          <a:ln/>
        </p:spPr>
        <p:txBody>
          <a:bodyPr wrap="non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ref_count[0] == 0</a:t>
            </a:r>
            <a:endParaRPr lang="en-US" sz="850" dirty="0"/>
          </a:p>
        </p:txBody>
      </p:sp>
      <p:sp>
        <p:nvSpPr>
          <p:cNvPr id="23" name="Text 20"/>
          <p:cNvSpPr/>
          <p:nvPr/>
        </p:nvSpPr>
        <p:spPr>
          <a:xfrm>
            <a:off x="6223713" y="2355205"/>
            <a:ext cx="1682967" cy="128588"/>
          </a:xfrm>
          <a:prstGeom prst="rect">
            <a:avLst/>
          </a:prstGeom>
          <a:noFill/>
          <a:ln/>
        </p:spPr>
        <p:txBody>
          <a:bodyPr wrap="non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时，Cell 0 才真正还回 Free 链。</a:t>
            </a:r>
            <a:endParaRPr lang="en-US" sz="850" dirty="0"/>
          </a:p>
        </p:txBody>
      </p:sp>
      <p:sp>
        <p:nvSpPr>
          <p:cNvPr id="24" name="Shape 21"/>
          <p:cNvSpPr/>
          <p:nvPr/>
        </p:nvSpPr>
        <p:spPr>
          <a:xfrm>
            <a:off x="428625" y="3071813"/>
            <a:ext cx="8286750" cy="1285875"/>
          </a:xfrm>
          <a:prstGeom prst="rect">
            <a:avLst/>
          </a:prstGeom>
          <a:solidFill>
            <a:srgbClr val="FFFFFF"/>
          </a:solidFill>
          <a:ln/>
        </p:spPr>
        <p:txBody>
          <a:bodyPr/>
          <a:lstStyle/>
          <a:p>
            <a:endParaRPr lang="zh-CN" altLang="en-US"/>
          </a:p>
        </p:txBody>
      </p:sp>
      <p:sp>
        <p:nvSpPr>
          <p:cNvPr id="25" name="Shape 22"/>
          <p:cNvSpPr/>
          <p:nvPr/>
        </p:nvSpPr>
        <p:spPr>
          <a:xfrm>
            <a:off x="428625" y="3071813"/>
            <a:ext cx="28575" cy="1285875"/>
          </a:xfrm>
          <a:prstGeom prst="rect">
            <a:avLst/>
          </a:prstGeom>
          <a:solidFill>
            <a:srgbClr val="3DBB6B"/>
          </a:solidFill>
          <a:ln/>
        </p:spPr>
        <p:txBody>
          <a:bodyPr/>
          <a:lstStyle/>
          <a:p>
            <a:endParaRPr lang="zh-CN" altLang="en-US"/>
          </a:p>
        </p:txBody>
      </p:sp>
      <p:sp>
        <p:nvSpPr>
          <p:cNvPr id="26" name="Text 23"/>
          <p:cNvSpPr/>
          <p:nvPr/>
        </p:nvSpPr>
        <p:spPr>
          <a:xfrm>
            <a:off x="607219" y="3214688"/>
            <a:ext cx="7929563" cy="196453"/>
          </a:xfrm>
          <a:prstGeom prst="rect">
            <a:avLst/>
          </a:prstGeom>
          <a:noFill/>
          <a:ln/>
        </p:spPr>
        <p:txBody>
          <a:bodyPr wrap="square" lIns="0" tIns="0" rIns="0" bIns="0" rtlCol="0" anchor="t">
            <a:spAutoFit/>
          </a:bodyPr>
          <a:lstStyle/>
          <a:p>
            <a:pPr marL="0" indent="0" algn="l">
              <a:buNone/>
            </a:pPr>
            <a:r>
              <a:rPr lang="en-US" sz="1000" b="1" dirty="0">
                <a:solidFill>
                  <a:srgbClr val="3DBB6B"/>
                </a:solidFill>
                <a:latin typeface="Arial" pitchFamily="34" charset="0"/>
                <a:ea typeface="Arial" pitchFamily="34" charset="-122"/>
                <a:cs typeface="Arial" pitchFamily="34" charset="-120"/>
              </a:rPr>
              <a:t>整帧释放与槽位清空</a:t>
            </a:r>
            <a:endParaRPr lang="en-US" sz="1000" dirty="0"/>
          </a:p>
        </p:txBody>
      </p:sp>
      <p:sp>
        <p:nvSpPr>
          <p:cNvPr id="27" name="Text 24"/>
          <p:cNvSpPr/>
          <p:nvPr/>
        </p:nvSpPr>
        <p:spPr>
          <a:xfrm>
            <a:off x="607219" y="3518297"/>
            <a:ext cx="7929563" cy="209290"/>
          </a:xfrm>
          <a:prstGeom prst="rect">
            <a:avLst/>
          </a:prstGeom>
          <a:noFill/>
          <a:ln/>
        </p:spPr>
        <p:txBody>
          <a:bodyPr wrap="none" lIns="0" tIns="0" rIns="0" bIns="0" rtlCol="0" anchor="t">
            <a:spAutoFit/>
          </a:bodyPr>
          <a:lstStyle/>
          <a:p>
            <a:pPr marL="0" indent="0" algn="l">
              <a:lnSpc>
                <a:spcPct val="144000"/>
              </a:lnSpc>
              <a:buNone/>
            </a:pPr>
            <a:r>
              <a:rPr lang="en-US" sz="800" b="1" dirty="0">
                <a:solidFill>
                  <a:srgbClr val="2E2E38"/>
                </a:solidFill>
                <a:latin typeface="Arial" pitchFamily="34" charset="0"/>
                <a:ea typeface="Arial" pitchFamily="34" charset="-122"/>
                <a:cs typeface="Arial" pitchFamily="34" charset="-120"/>
              </a:rPr>
              <a:t>资源闭环</a:t>
            </a:r>
            <a:r>
              <a:rPr lang="en-US" sz="850" dirty="0">
                <a:solidFill>
                  <a:srgbClr val="2E2E38"/>
                </a:solidFill>
                <a:latin typeface="Arial" pitchFamily="34" charset="0"/>
                <a:ea typeface="Arial" pitchFamily="34" charset="-122"/>
                <a:cs typeface="Arial" pitchFamily="34" charset="-120"/>
              </a:rPr>
              <a:t>：当多播帧的所有 Cell 均被所有目的端口读取并回收后，整帧资源完全释放。</a:t>
            </a:r>
            <a:endParaRPr lang="en-US" sz="800" dirty="0"/>
          </a:p>
        </p:txBody>
      </p:sp>
      <p:sp>
        <p:nvSpPr>
          <p:cNvPr id="28" name="Text 25"/>
          <p:cNvSpPr/>
          <p:nvPr/>
        </p:nvSpPr>
        <p:spPr>
          <a:xfrm>
            <a:off x="792956" y="3766877"/>
            <a:ext cx="457200" cy="128588"/>
          </a:xfrm>
          <a:prstGeom prst="rect">
            <a:avLst/>
          </a:prstGeom>
          <a:noFill/>
          <a:ln/>
        </p:spPr>
        <p:txBody>
          <a:bodyPr wrap="none" lIns="0" tIns="0" rIns="0" bIns="0" rtlCol="0" anchor="t">
            <a:spAutoFit/>
          </a:bodyPr>
          <a:lstStyle/>
          <a:p>
            <a:pPr marL="0" indent="0" algn="l">
              <a:lnSpc>
                <a:spcPct val="144000"/>
              </a:lnSpc>
              <a:buNone/>
            </a:pPr>
            <a:r>
              <a:rPr lang="en-US" sz="800" b="1" dirty="0">
                <a:solidFill>
                  <a:srgbClr val="2E2E38"/>
                </a:solidFill>
                <a:latin typeface="Arial" pitchFamily="34" charset="0"/>
                <a:ea typeface="Arial" pitchFamily="34" charset="-122"/>
                <a:cs typeface="Arial" pitchFamily="34" charset="-120"/>
              </a:rPr>
              <a:t>槽位复位</a:t>
            </a:r>
            <a:endParaRPr lang="en-US" sz="800" dirty="0"/>
          </a:p>
        </p:txBody>
      </p:sp>
      <p:sp>
        <p:nvSpPr>
          <p:cNvPr id="29" name="Text 26"/>
          <p:cNvSpPr/>
          <p:nvPr/>
        </p:nvSpPr>
        <p:spPr>
          <a:xfrm>
            <a:off x="1250156" y="3766877"/>
            <a:ext cx="374656" cy="128588"/>
          </a:xfrm>
          <a:prstGeom prst="rect">
            <a:avLst/>
          </a:prstGeom>
          <a:noFill/>
          <a:ln/>
        </p:spPr>
        <p:txBody>
          <a:bodyPr wrap="non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：清除</a:t>
            </a:r>
            <a:endParaRPr lang="en-US" sz="850" dirty="0"/>
          </a:p>
        </p:txBody>
      </p:sp>
      <p:sp>
        <p:nvSpPr>
          <p:cNvPr id="30" name="Text 27"/>
          <p:cNvSpPr/>
          <p:nvPr/>
        </p:nvSpPr>
        <p:spPr>
          <a:xfrm>
            <a:off x="1624812" y="3766877"/>
            <a:ext cx="578141" cy="128588"/>
          </a:xfrm>
          <a:prstGeom prst="rect">
            <a:avLst/>
          </a:prstGeom>
          <a:noFill/>
          <a:ln/>
        </p:spPr>
        <p:txBody>
          <a:bodyPr wrap="non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mc_valid_q</a:t>
            </a:r>
            <a:endParaRPr lang="en-US" sz="850" dirty="0"/>
          </a:p>
        </p:txBody>
      </p:sp>
      <p:sp>
        <p:nvSpPr>
          <p:cNvPr id="31" name="Text 28"/>
          <p:cNvSpPr/>
          <p:nvPr/>
        </p:nvSpPr>
        <p:spPr>
          <a:xfrm>
            <a:off x="2202954" y="3766877"/>
            <a:ext cx="3003556" cy="128588"/>
          </a:xfrm>
          <a:prstGeom prst="rect">
            <a:avLst/>
          </a:prstGeom>
          <a:noFill/>
          <a:ln/>
        </p:spPr>
        <p:txBody>
          <a:bodyPr wrap="non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标志位，重置多播槽位状态机，准备接收下一帧多播报文。</a:t>
            </a:r>
            <a:endParaRPr lang="en-US" sz="850" dirty="0"/>
          </a:p>
        </p:txBody>
      </p:sp>
      <p:sp>
        <p:nvSpPr>
          <p:cNvPr id="32" name="Text 29"/>
          <p:cNvSpPr/>
          <p:nvPr/>
        </p:nvSpPr>
        <p:spPr>
          <a:xfrm>
            <a:off x="607219" y="3936876"/>
            <a:ext cx="7929563" cy="209290"/>
          </a:xfrm>
          <a:prstGeom prst="rect">
            <a:avLst/>
          </a:prstGeom>
          <a:noFill/>
          <a:ln/>
        </p:spPr>
        <p:txBody>
          <a:bodyPr wrap="none" lIns="0" tIns="0" rIns="0" bIns="0" rtlCol="0" anchor="t">
            <a:spAutoFit/>
          </a:bodyPr>
          <a:lstStyle/>
          <a:p>
            <a:pPr marL="0" indent="0" algn="l">
              <a:lnSpc>
                <a:spcPct val="144000"/>
              </a:lnSpc>
              <a:buNone/>
            </a:pPr>
            <a:r>
              <a:rPr lang="en-US" sz="800" b="1" dirty="0">
                <a:solidFill>
                  <a:srgbClr val="2E2E38"/>
                </a:solidFill>
                <a:latin typeface="Arial" pitchFamily="34" charset="0"/>
                <a:ea typeface="Arial" pitchFamily="34" charset="-122"/>
                <a:cs typeface="Arial" pitchFamily="34" charset="-120"/>
              </a:rPr>
              <a:t>性能优势</a:t>
            </a:r>
            <a:r>
              <a:rPr lang="en-US" sz="850" dirty="0">
                <a:solidFill>
                  <a:srgbClr val="2E2E38"/>
                </a:solidFill>
                <a:latin typeface="Arial" pitchFamily="34" charset="0"/>
                <a:ea typeface="Arial" pitchFamily="34" charset="-122"/>
                <a:cs typeface="Arial" pitchFamily="34" charset="-120"/>
              </a:rPr>
              <a:t>：这种机制确保了多播报文不会因为个别端口的背压而长时间阻塞全局缓存资源。</a:t>
            </a:r>
            <a:endParaRPr lang="en-US" sz="800" dirty="0"/>
          </a:p>
        </p:txBody>
      </p:sp>
      <p:sp>
        <p:nvSpPr>
          <p:cNvPr id="33" name="Text 30"/>
          <p:cNvSpPr/>
          <p:nvPr/>
        </p:nvSpPr>
        <p:spPr>
          <a:xfrm>
            <a:off x="428625" y="4879181"/>
            <a:ext cx="857473"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SMMU Design Review</a:t>
            </a:r>
            <a:endParaRPr lang="en-US" sz="600" dirty="0"/>
          </a:p>
        </p:txBody>
      </p:sp>
      <p:sp>
        <p:nvSpPr>
          <p:cNvPr id="34" name="Text 31"/>
          <p:cNvSpPr/>
          <p:nvPr/>
        </p:nvSpPr>
        <p:spPr>
          <a:xfrm>
            <a:off x="8395971" y="4879181"/>
            <a:ext cx="319404"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Page 24</a:t>
            </a:r>
            <a:endParaRPr lang="en-US" sz="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71500"/>
          </a:xfrm>
          <a:prstGeom prst="rect">
            <a:avLst/>
          </a:prstGeom>
          <a:solidFill>
            <a:srgbClr val="3253DC"/>
          </a:solidFill>
          <a:ln/>
        </p:spPr>
        <p:txBody>
          <a:bodyPr/>
          <a:lstStyle/>
          <a:p>
            <a:endParaRPr lang="zh-CN" altLang="en-US"/>
          </a:p>
        </p:txBody>
      </p:sp>
      <p:sp>
        <p:nvSpPr>
          <p:cNvPr id="4" name="Text 1"/>
          <p:cNvSpPr/>
          <p:nvPr/>
        </p:nvSpPr>
        <p:spPr>
          <a:xfrm>
            <a:off x="428625" y="130373"/>
            <a:ext cx="3213125" cy="310753"/>
          </a:xfrm>
          <a:prstGeom prst="rect">
            <a:avLst/>
          </a:prstGeom>
          <a:noFill/>
          <a:ln/>
        </p:spPr>
        <p:txBody>
          <a:bodyPr wrap="square" lIns="0" tIns="0" rIns="0" bIns="0" rtlCol="0" anchor="t">
            <a:spAutoFit/>
          </a:bodyPr>
          <a:lstStyle/>
          <a:p>
            <a:pPr marL="0" indent="0" algn="l">
              <a:buNone/>
            </a:pPr>
            <a:r>
              <a:rPr lang="en-US" sz="1600" b="1" dirty="0">
                <a:solidFill>
                  <a:srgbClr val="FFFFFF"/>
                </a:solidFill>
                <a:latin typeface="Arial" pitchFamily="34" charset="0"/>
                <a:ea typeface="Arial" pitchFamily="34" charset="-122"/>
                <a:cs typeface="Arial" pitchFamily="34" charset="-120"/>
              </a:rPr>
              <a:t>老化机制 (1) —— 僵尸队列清理</a:t>
            </a:r>
            <a:endParaRPr lang="en-US" sz="1600" dirty="0"/>
          </a:p>
        </p:txBody>
      </p:sp>
      <p:sp>
        <p:nvSpPr>
          <p:cNvPr id="5" name="Shape 2"/>
          <p:cNvSpPr/>
          <p:nvPr/>
        </p:nvSpPr>
        <p:spPr>
          <a:xfrm>
            <a:off x="428625" y="728663"/>
            <a:ext cx="3000375" cy="1428750"/>
          </a:xfrm>
          <a:prstGeom prst="rect">
            <a:avLst/>
          </a:prstGeom>
          <a:solidFill>
            <a:srgbClr val="FFFFFF"/>
          </a:solidFill>
          <a:ln/>
        </p:spPr>
        <p:txBody>
          <a:bodyPr/>
          <a:lstStyle/>
          <a:p>
            <a:endParaRPr lang="zh-CN" altLang="en-US"/>
          </a:p>
        </p:txBody>
      </p:sp>
      <p:sp>
        <p:nvSpPr>
          <p:cNvPr id="6" name="Shape 3"/>
          <p:cNvSpPr/>
          <p:nvPr/>
        </p:nvSpPr>
        <p:spPr>
          <a:xfrm>
            <a:off x="428625" y="728663"/>
            <a:ext cx="28575" cy="1428750"/>
          </a:xfrm>
          <a:prstGeom prst="rect">
            <a:avLst/>
          </a:prstGeom>
          <a:solidFill>
            <a:srgbClr val="6CA0F6"/>
          </a:solidFill>
          <a:ln/>
        </p:spPr>
        <p:txBody>
          <a:bodyPr/>
          <a:lstStyle/>
          <a:p>
            <a:endParaRPr lang="zh-CN" altLang="en-US"/>
          </a:p>
        </p:txBody>
      </p:sp>
      <p:sp>
        <p:nvSpPr>
          <p:cNvPr id="7" name="Text 4"/>
          <p:cNvSpPr/>
          <p:nvPr/>
        </p:nvSpPr>
        <p:spPr>
          <a:xfrm>
            <a:off x="607219" y="871538"/>
            <a:ext cx="2643188" cy="196453"/>
          </a:xfrm>
          <a:prstGeom prst="rect">
            <a:avLst/>
          </a:prstGeom>
          <a:noFill/>
          <a:ln/>
        </p:spPr>
        <p:txBody>
          <a:bodyPr wrap="square" lIns="0" tIns="0" rIns="0" bIns="0" rtlCol="0" anchor="t">
            <a:spAutoFit/>
          </a:bodyPr>
          <a:lstStyle/>
          <a:p>
            <a:pPr marL="0" indent="0" algn="l">
              <a:buNone/>
            </a:pPr>
            <a:r>
              <a:rPr lang="en-US" sz="1000" b="1" dirty="0">
                <a:solidFill>
                  <a:srgbClr val="3253DC"/>
                </a:solidFill>
                <a:latin typeface="Arial" pitchFamily="34" charset="0"/>
                <a:ea typeface="Arial" pitchFamily="34" charset="-122"/>
                <a:cs typeface="Arial" pitchFamily="34" charset="-120"/>
              </a:rPr>
              <a:t>设计背景</a:t>
            </a:r>
            <a:endParaRPr lang="en-US" sz="1000" dirty="0"/>
          </a:p>
        </p:txBody>
      </p:sp>
      <p:sp>
        <p:nvSpPr>
          <p:cNvPr id="8" name="Text 5"/>
          <p:cNvSpPr/>
          <p:nvPr/>
        </p:nvSpPr>
        <p:spPr>
          <a:xfrm>
            <a:off x="607219" y="1175147"/>
            <a:ext cx="2643188" cy="548506"/>
          </a:xfrm>
          <a:prstGeom prst="rect">
            <a:avLst/>
          </a:prstGeom>
          <a:noFill/>
          <a:ln/>
        </p:spPr>
        <p:txBody>
          <a:bodyPr wrap="square" lIns="0" tIns="0" rIns="0" bIns="0" rtlCol="0" anchor="t">
            <a:spAutoFit/>
          </a:bodyPr>
          <a:lstStyle/>
          <a:p>
            <a:pPr marL="0" indent="0" algn="l">
              <a:lnSpc>
                <a:spcPct val="128000"/>
              </a:lnSpc>
              <a:buNone/>
            </a:pPr>
            <a:r>
              <a:rPr lang="en-US" sz="850" dirty="0">
                <a:solidFill>
                  <a:srgbClr val="2E2E38"/>
                </a:solidFill>
                <a:latin typeface="Arial" pitchFamily="34" charset="0"/>
                <a:ea typeface="Arial" pitchFamily="34" charset="-122"/>
                <a:cs typeface="Arial" pitchFamily="34" charset="-120"/>
              </a:rPr>
              <a:t>在交换芯片中，某些队列可能由于异常流量、对端挂死或配置变更，导致报文残留在缓存中且长时间无出队动作，形成“僵尸队列”，挤占宝贵的 SRAM 资源。</a:t>
            </a:r>
            <a:endParaRPr lang="en-US" sz="850" dirty="0"/>
          </a:p>
        </p:txBody>
      </p:sp>
      <p:sp>
        <p:nvSpPr>
          <p:cNvPr id="9" name="Shape 6"/>
          <p:cNvSpPr/>
          <p:nvPr/>
        </p:nvSpPr>
        <p:spPr>
          <a:xfrm>
            <a:off x="428625" y="2300288"/>
            <a:ext cx="3000375" cy="1571625"/>
          </a:xfrm>
          <a:prstGeom prst="rect">
            <a:avLst/>
          </a:prstGeom>
          <a:solidFill>
            <a:srgbClr val="FFFFFF"/>
          </a:solidFill>
          <a:ln/>
        </p:spPr>
        <p:txBody>
          <a:bodyPr/>
          <a:lstStyle/>
          <a:p>
            <a:endParaRPr lang="zh-CN" altLang="en-US"/>
          </a:p>
        </p:txBody>
      </p:sp>
      <p:sp>
        <p:nvSpPr>
          <p:cNvPr id="10" name="Shape 7"/>
          <p:cNvSpPr/>
          <p:nvPr/>
        </p:nvSpPr>
        <p:spPr>
          <a:xfrm>
            <a:off x="428625" y="2300288"/>
            <a:ext cx="28575" cy="1571625"/>
          </a:xfrm>
          <a:prstGeom prst="rect">
            <a:avLst/>
          </a:prstGeom>
          <a:solidFill>
            <a:srgbClr val="6CA0F6"/>
          </a:solidFill>
          <a:ln/>
        </p:spPr>
        <p:txBody>
          <a:bodyPr/>
          <a:lstStyle/>
          <a:p>
            <a:endParaRPr lang="zh-CN" altLang="en-US"/>
          </a:p>
        </p:txBody>
      </p:sp>
      <p:sp>
        <p:nvSpPr>
          <p:cNvPr id="11" name="Text 8"/>
          <p:cNvSpPr/>
          <p:nvPr/>
        </p:nvSpPr>
        <p:spPr>
          <a:xfrm>
            <a:off x="607219" y="2443163"/>
            <a:ext cx="2643188" cy="196453"/>
          </a:xfrm>
          <a:prstGeom prst="rect">
            <a:avLst/>
          </a:prstGeom>
          <a:noFill/>
          <a:ln/>
        </p:spPr>
        <p:txBody>
          <a:bodyPr wrap="square" lIns="0" tIns="0" rIns="0" bIns="0" rtlCol="0" anchor="t">
            <a:spAutoFit/>
          </a:bodyPr>
          <a:lstStyle/>
          <a:p>
            <a:pPr marL="0" indent="0" algn="l">
              <a:buNone/>
            </a:pPr>
            <a:r>
              <a:rPr lang="en-US" sz="1000" b="1" dirty="0">
                <a:solidFill>
                  <a:srgbClr val="3253DC"/>
                </a:solidFill>
                <a:latin typeface="Arial" pitchFamily="34" charset="0"/>
                <a:ea typeface="Arial" pitchFamily="34" charset="-122"/>
                <a:cs typeface="Arial" pitchFamily="34" charset="-120"/>
              </a:rPr>
              <a:t>扫描逻辑</a:t>
            </a:r>
            <a:endParaRPr lang="en-US" sz="1000" dirty="0"/>
          </a:p>
        </p:txBody>
      </p:sp>
      <p:sp>
        <p:nvSpPr>
          <p:cNvPr id="12" name="Text 9"/>
          <p:cNvSpPr/>
          <p:nvPr/>
        </p:nvSpPr>
        <p:spPr>
          <a:xfrm>
            <a:off x="607219" y="2771775"/>
            <a:ext cx="71772" cy="128588"/>
          </a:xfrm>
          <a:prstGeom prst="rect">
            <a:avLst/>
          </a:prstGeom>
          <a:noFill/>
          <a:ln/>
        </p:spPr>
        <p:txBody>
          <a:bodyPr wrap="none" lIns="0" tIns="0" rIns="0" bIns="0" rtlCol="0" anchor="t">
            <a:spAutoFit/>
          </a:bodyPr>
          <a:lstStyle/>
          <a:p>
            <a:pPr marL="0" indent="0" algn="l">
              <a:lnSpc>
                <a:spcPct val="128000"/>
              </a:lnSpc>
              <a:buNone/>
            </a:pPr>
            <a:r>
              <a:rPr lang="en-US" sz="850" dirty="0">
                <a:solidFill>
                  <a:srgbClr val="2E2E38"/>
                </a:solidFill>
                <a:latin typeface="Arial" pitchFamily="34" charset="0"/>
                <a:ea typeface="Arial" pitchFamily="34" charset="-122"/>
                <a:cs typeface="Arial" pitchFamily="34" charset="-120"/>
              </a:rPr>
              <a:t>•</a:t>
            </a:r>
            <a:endParaRPr lang="en-US" sz="850" dirty="0"/>
          </a:p>
        </p:txBody>
      </p:sp>
      <p:sp>
        <p:nvSpPr>
          <p:cNvPr id="13" name="Text 10"/>
          <p:cNvSpPr/>
          <p:nvPr/>
        </p:nvSpPr>
        <p:spPr>
          <a:xfrm>
            <a:off x="678991" y="2771775"/>
            <a:ext cx="571500" cy="128588"/>
          </a:xfrm>
          <a:prstGeom prst="rect">
            <a:avLst/>
          </a:prstGeom>
          <a:noFill/>
          <a:ln/>
        </p:spPr>
        <p:txBody>
          <a:bodyPr wrap="none" lIns="0" tIns="0" rIns="0" bIns="0" rtlCol="0" anchor="t">
            <a:spAutoFit/>
          </a:bodyPr>
          <a:lstStyle/>
          <a:p>
            <a:pPr marL="0" indent="0" algn="l">
              <a:lnSpc>
                <a:spcPct val="128000"/>
              </a:lnSpc>
              <a:buNone/>
            </a:pPr>
            <a:r>
              <a:rPr lang="en-US" sz="800" b="1" dirty="0">
                <a:solidFill>
                  <a:srgbClr val="2E2E38"/>
                </a:solidFill>
                <a:latin typeface="Arial" pitchFamily="34" charset="0"/>
                <a:ea typeface="Arial" pitchFamily="34" charset="-122"/>
                <a:cs typeface="Arial" pitchFamily="34" charset="-120"/>
              </a:rPr>
              <a:t>定时器驱动</a:t>
            </a:r>
            <a:endParaRPr lang="en-US" sz="800" dirty="0"/>
          </a:p>
        </p:txBody>
      </p:sp>
      <p:sp>
        <p:nvSpPr>
          <p:cNvPr id="14" name="Text 11"/>
          <p:cNvSpPr/>
          <p:nvPr/>
        </p:nvSpPr>
        <p:spPr>
          <a:xfrm>
            <a:off x="1250491" y="2771775"/>
            <a:ext cx="1752563" cy="128588"/>
          </a:xfrm>
          <a:prstGeom prst="rect">
            <a:avLst/>
          </a:prstGeom>
          <a:noFill/>
          <a:ln/>
        </p:spPr>
        <p:txBody>
          <a:bodyPr wrap="none" lIns="0" tIns="0" rIns="0" bIns="0" rtlCol="0" anchor="t">
            <a:spAutoFit/>
          </a:bodyPr>
          <a:lstStyle/>
          <a:p>
            <a:pPr marL="0" indent="0" algn="l">
              <a:lnSpc>
                <a:spcPct val="128000"/>
              </a:lnSpc>
              <a:buNone/>
            </a:pPr>
            <a:r>
              <a:rPr lang="en-US" sz="850" dirty="0">
                <a:solidFill>
                  <a:srgbClr val="2E2E38"/>
                </a:solidFill>
                <a:latin typeface="Arial" pitchFamily="34" charset="0"/>
                <a:ea typeface="Arial" pitchFamily="34" charset="-122"/>
                <a:cs typeface="Arial" pitchFamily="34" charset="-120"/>
              </a:rPr>
              <a:t>：SMMU 内部维护高精度老化定时</a:t>
            </a:r>
            <a:endParaRPr lang="en-US" sz="850" dirty="0"/>
          </a:p>
        </p:txBody>
      </p:sp>
      <p:sp>
        <p:nvSpPr>
          <p:cNvPr id="15" name="Text 12"/>
          <p:cNvSpPr/>
          <p:nvPr/>
        </p:nvSpPr>
        <p:spPr>
          <a:xfrm>
            <a:off x="3003054" y="2771775"/>
            <a:ext cx="228600" cy="128588"/>
          </a:xfrm>
          <a:prstGeom prst="rect">
            <a:avLst/>
          </a:prstGeom>
          <a:noFill/>
          <a:ln/>
        </p:spPr>
        <p:txBody>
          <a:bodyPr wrap="none" lIns="0" tIns="0" rIns="0" bIns="0" rtlCol="0" anchor="t">
            <a:spAutoFit/>
          </a:bodyPr>
          <a:lstStyle/>
          <a:p>
            <a:pPr marL="0" indent="0" algn="l">
              <a:lnSpc>
                <a:spcPct val="128000"/>
              </a:lnSpc>
              <a:buNone/>
            </a:pPr>
            <a:r>
              <a:rPr lang="en-US" sz="850" dirty="0">
                <a:solidFill>
                  <a:srgbClr val="2E2E38"/>
                </a:solidFill>
                <a:latin typeface="Arial" pitchFamily="34" charset="0"/>
                <a:ea typeface="Arial" pitchFamily="34" charset="-122"/>
                <a:cs typeface="Arial" pitchFamily="34" charset="-120"/>
              </a:rPr>
              <a:t>器。</a:t>
            </a:r>
            <a:endParaRPr lang="en-US" sz="850" dirty="0"/>
          </a:p>
        </p:txBody>
      </p:sp>
      <p:sp>
        <p:nvSpPr>
          <p:cNvPr id="16" name="Text 13"/>
          <p:cNvSpPr/>
          <p:nvPr/>
        </p:nvSpPr>
        <p:spPr>
          <a:xfrm>
            <a:off x="607219" y="2954610"/>
            <a:ext cx="71772" cy="128588"/>
          </a:xfrm>
          <a:prstGeom prst="rect">
            <a:avLst/>
          </a:prstGeom>
          <a:noFill/>
          <a:ln/>
        </p:spPr>
        <p:txBody>
          <a:bodyPr wrap="none" lIns="0" tIns="0" rIns="0" bIns="0" rtlCol="0" anchor="t">
            <a:spAutoFit/>
          </a:bodyPr>
          <a:lstStyle/>
          <a:p>
            <a:pPr marL="0" indent="0" algn="l">
              <a:lnSpc>
                <a:spcPct val="128000"/>
              </a:lnSpc>
              <a:buNone/>
            </a:pPr>
            <a:r>
              <a:rPr lang="en-US" sz="850" dirty="0">
                <a:solidFill>
                  <a:srgbClr val="2E2E38"/>
                </a:solidFill>
                <a:latin typeface="Arial" pitchFamily="34" charset="0"/>
                <a:ea typeface="Arial" pitchFamily="34" charset="-122"/>
                <a:cs typeface="Arial" pitchFamily="34" charset="-120"/>
              </a:rPr>
              <a:t>•</a:t>
            </a:r>
            <a:endParaRPr lang="en-US" sz="850" dirty="0"/>
          </a:p>
        </p:txBody>
      </p:sp>
      <p:sp>
        <p:nvSpPr>
          <p:cNvPr id="17" name="Text 14"/>
          <p:cNvSpPr/>
          <p:nvPr/>
        </p:nvSpPr>
        <p:spPr>
          <a:xfrm>
            <a:off x="678991" y="2954610"/>
            <a:ext cx="457200" cy="128588"/>
          </a:xfrm>
          <a:prstGeom prst="rect">
            <a:avLst/>
          </a:prstGeom>
          <a:noFill/>
          <a:ln/>
        </p:spPr>
        <p:txBody>
          <a:bodyPr wrap="none" lIns="0" tIns="0" rIns="0" bIns="0" rtlCol="0" anchor="t">
            <a:spAutoFit/>
          </a:bodyPr>
          <a:lstStyle/>
          <a:p>
            <a:pPr marL="0" indent="0" algn="l">
              <a:lnSpc>
                <a:spcPct val="128000"/>
              </a:lnSpc>
              <a:buNone/>
            </a:pPr>
            <a:r>
              <a:rPr lang="en-US" sz="800" b="1" dirty="0">
                <a:solidFill>
                  <a:srgbClr val="2E2E38"/>
                </a:solidFill>
                <a:latin typeface="Arial" pitchFamily="34" charset="0"/>
                <a:ea typeface="Arial" pitchFamily="34" charset="-122"/>
                <a:cs typeface="Arial" pitchFamily="34" charset="-120"/>
              </a:rPr>
              <a:t>全量扫描</a:t>
            </a:r>
            <a:endParaRPr lang="en-US" sz="800" dirty="0"/>
          </a:p>
        </p:txBody>
      </p:sp>
      <p:sp>
        <p:nvSpPr>
          <p:cNvPr id="18" name="Text 15"/>
          <p:cNvSpPr/>
          <p:nvPr/>
        </p:nvSpPr>
        <p:spPr>
          <a:xfrm>
            <a:off x="1136191" y="2954610"/>
            <a:ext cx="114300" cy="128588"/>
          </a:xfrm>
          <a:prstGeom prst="rect">
            <a:avLst/>
          </a:prstGeom>
          <a:noFill/>
          <a:ln/>
        </p:spPr>
        <p:txBody>
          <a:bodyPr wrap="none" lIns="0" tIns="0" rIns="0" bIns="0" rtlCol="0" anchor="t">
            <a:spAutoFit/>
          </a:bodyPr>
          <a:lstStyle/>
          <a:p>
            <a:pPr marL="0" indent="0" algn="l">
              <a:lnSpc>
                <a:spcPct val="128000"/>
              </a:lnSpc>
              <a:buNone/>
            </a:pPr>
            <a:r>
              <a:rPr lang="en-US" sz="850" dirty="0">
                <a:solidFill>
                  <a:srgbClr val="2E2E38"/>
                </a:solidFill>
                <a:latin typeface="Arial" pitchFamily="34" charset="0"/>
                <a:ea typeface="Arial" pitchFamily="34" charset="-122"/>
                <a:cs typeface="Arial" pitchFamily="34" charset="-120"/>
              </a:rPr>
              <a:t>：</a:t>
            </a:r>
            <a:endParaRPr lang="en-US" sz="850" dirty="0"/>
          </a:p>
        </p:txBody>
      </p:sp>
      <p:sp>
        <p:nvSpPr>
          <p:cNvPr id="19" name="Text 16"/>
          <p:cNvSpPr/>
          <p:nvPr/>
        </p:nvSpPr>
        <p:spPr>
          <a:xfrm>
            <a:off x="1250491" y="2954610"/>
            <a:ext cx="495598" cy="128588"/>
          </a:xfrm>
          <a:prstGeom prst="rect">
            <a:avLst/>
          </a:prstGeom>
          <a:noFill/>
          <a:ln/>
        </p:spPr>
        <p:txBody>
          <a:bodyPr wrap="none" lIns="0" tIns="0" rIns="0" bIns="0" rtlCol="0" anchor="t">
            <a:spAutoFit/>
          </a:bodyPr>
          <a:lstStyle/>
          <a:p>
            <a:pPr marL="0" indent="0" algn="l">
              <a:lnSpc>
                <a:spcPct val="128000"/>
              </a:lnSpc>
              <a:buNone/>
            </a:pPr>
            <a:r>
              <a:rPr lang="en-US" sz="850" dirty="0">
                <a:solidFill>
                  <a:srgbClr val="2E2E38"/>
                </a:solidFill>
                <a:latin typeface="Arial" pitchFamily="34" charset="0"/>
                <a:ea typeface="Arial" pitchFamily="34" charset="-122"/>
                <a:cs typeface="Arial" pitchFamily="34" charset="-120"/>
              </a:rPr>
              <a:t>aging_ctrl</a:t>
            </a:r>
            <a:endParaRPr lang="en-US" sz="850" dirty="0"/>
          </a:p>
        </p:txBody>
      </p:sp>
      <p:sp>
        <p:nvSpPr>
          <p:cNvPr id="20" name="Text 17"/>
          <p:cNvSpPr/>
          <p:nvPr/>
        </p:nvSpPr>
        <p:spPr>
          <a:xfrm>
            <a:off x="1746089" y="2954610"/>
            <a:ext cx="1403356" cy="128588"/>
          </a:xfrm>
          <a:prstGeom prst="rect">
            <a:avLst/>
          </a:prstGeom>
          <a:noFill/>
          <a:ln/>
        </p:spPr>
        <p:txBody>
          <a:bodyPr wrap="none" lIns="0" tIns="0" rIns="0" bIns="0" rtlCol="0" anchor="t">
            <a:spAutoFit/>
          </a:bodyPr>
          <a:lstStyle/>
          <a:p>
            <a:pPr marL="0" indent="0" algn="l">
              <a:lnSpc>
                <a:spcPct val="128000"/>
              </a:lnSpc>
              <a:buNone/>
            </a:pPr>
            <a:r>
              <a:rPr lang="en-US" sz="850" dirty="0">
                <a:solidFill>
                  <a:srgbClr val="2E2E38"/>
                </a:solidFill>
                <a:latin typeface="Arial" pitchFamily="34" charset="0"/>
                <a:ea typeface="Arial" pitchFamily="34" charset="-122"/>
                <a:cs typeface="Arial" pitchFamily="34" charset="-120"/>
              </a:rPr>
              <a:t>周期性轮询所有非空队列。</a:t>
            </a:r>
            <a:endParaRPr lang="en-US" sz="850" dirty="0"/>
          </a:p>
        </p:txBody>
      </p:sp>
      <p:sp>
        <p:nvSpPr>
          <p:cNvPr id="21" name="Text 18"/>
          <p:cNvSpPr/>
          <p:nvPr/>
        </p:nvSpPr>
        <p:spPr>
          <a:xfrm>
            <a:off x="607219" y="3137446"/>
            <a:ext cx="71772" cy="128588"/>
          </a:xfrm>
          <a:prstGeom prst="rect">
            <a:avLst/>
          </a:prstGeom>
          <a:noFill/>
          <a:ln/>
        </p:spPr>
        <p:txBody>
          <a:bodyPr wrap="none" lIns="0" tIns="0" rIns="0" bIns="0" rtlCol="0" anchor="t">
            <a:spAutoFit/>
          </a:bodyPr>
          <a:lstStyle/>
          <a:p>
            <a:pPr marL="0" indent="0" algn="l">
              <a:lnSpc>
                <a:spcPct val="128000"/>
              </a:lnSpc>
              <a:buNone/>
            </a:pPr>
            <a:r>
              <a:rPr lang="en-US" sz="850" dirty="0">
                <a:solidFill>
                  <a:srgbClr val="2E2E38"/>
                </a:solidFill>
                <a:latin typeface="Arial" pitchFamily="34" charset="0"/>
                <a:ea typeface="Arial" pitchFamily="34" charset="-122"/>
                <a:cs typeface="Arial" pitchFamily="34" charset="-120"/>
              </a:rPr>
              <a:t>•</a:t>
            </a:r>
            <a:endParaRPr lang="en-US" sz="850" dirty="0"/>
          </a:p>
        </p:txBody>
      </p:sp>
      <p:sp>
        <p:nvSpPr>
          <p:cNvPr id="22" name="Text 19"/>
          <p:cNvSpPr/>
          <p:nvPr/>
        </p:nvSpPr>
        <p:spPr>
          <a:xfrm>
            <a:off x="678991" y="3137446"/>
            <a:ext cx="457200" cy="128588"/>
          </a:xfrm>
          <a:prstGeom prst="rect">
            <a:avLst/>
          </a:prstGeom>
          <a:noFill/>
          <a:ln/>
        </p:spPr>
        <p:txBody>
          <a:bodyPr wrap="none" lIns="0" tIns="0" rIns="0" bIns="0" rtlCol="0" anchor="t">
            <a:spAutoFit/>
          </a:bodyPr>
          <a:lstStyle/>
          <a:p>
            <a:pPr marL="0" indent="0" algn="l">
              <a:lnSpc>
                <a:spcPct val="128000"/>
              </a:lnSpc>
              <a:buNone/>
            </a:pPr>
            <a:r>
              <a:rPr lang="en-US" sz="800" b="1" dirty="0">
                <a:solidFill>
                  <a:srgbClr val="2E2E38"/>
                </a:solidFill>
                <a:latin typeface="Arial" pitchFamily="34" charset="0"/>
                <a:ea typeface="Arial" pitchFamily="34" charset="-122"/>
                <a:cs typeface="Arial" pitchFamily="34" charset="-120"/>
              </a:rPr>
              <a:t>状态判定</a:t>
            </a:r>
            <a:endParaRPr lang="en-US" sz="800" dirty="0"/>
          </a:p>
        </p:txBody>
      </p:sp>
      <p:sp>
        <p:nvSpPr>
          <p:cNvPr id="23" name="Text 20"/>
          <p:cNvSpPr/>
          <p:nvPr/>
        </p:nvSpPr>
        <p:spPr>
          <a:xfrm>
            <a:off x="1136191" y="3137446"/>
            <a:ext cx="2057400" cy="128588"/>
          </a:xfrm>
          <a:prstGeom prst="rect">
            <a:avLst/>
          </a:prstGeom>
          <a:noFill/>
          <a:ln/>
        </p:spPr>
        <p:txBody>
          <a:bodyPr wrap="none" lIns="0" tIns="0" rIns="0" bIns="0" rtlCol="0" anchor="t">
            <a:spAutoFit/>
          </a:bodyPr>
          <a:lstStyle/>
          <a:p>
            <a:pPr marL="0" indent="0" algn="l">
              <a:lnSpc>
                <a:spcPct val="128000"/>
              </a:lnSpc>
              <a:buNone/>
            </a:pPr>
            <a:r>
              <a:rPr lang="en-US" sz="850" dirty="0">
                <a:solidFill>
                  <a:srgbClr val="2E2E38"/>
                </a:solidFill>
                <a:latin typeface="Arial" pitchFamily="34" charset="0"/>
                <a:ea typeface="Arial" pitchFamily="34" charset="-122"/>
                <a:cs typeface="Arial" pitchFamily="34" charset="-120"/>
              </a:rPr>
              <a:t>：若队列在预设阈值时间内无任何出队活</a:t>
            </a:r>
            <a:endParaRPr lang="en-US" sz="850" dirty="0"/>
          </a:p>
        </p:txBody>
      </p:sp>
      <p:sp>
        <p:nvSpPr>
          <p:cNvPr id="24" name="Text 21"/>
          <p:cNvSpPr/>
          <p:nvPr/>
        </p:nvSpPr>
        <p:spPr>
          <a:xfrm>
            <a:off x="607219" y="3320281"/>
            <a:ext cx="2362126" cy="128588"/>
          </a:xfrm>
          <a:prstGeom prst="rect">
            <a:avLst/>
          </a:prstGeom>
          <a:noFill/>
          <a:ln/>
        </p:spPr>
        <p:txBody>
          <a:bodyPr wrap="none" lIns="0" tIns="0" rIns="0" bIns="0" rtlCol="0" anchor="t">
            <a:spAutoFit/>
          </a:bodyPr>
          <a:lstStyle/>
          <a:p>
            <a:pPr marL="0" indent="0" algn="l">
              <a:lnSpc>
                <a:spcPct val="128000"/>
              </a:lnSpc>
              <a:buNone/>
            </a:pPr>
            <a:r>
              <a:rPr lang="en-US" sz="850" dirty="0">
                <a:solidFill>
                  <a:srgbClr val="2E2E38"/>
                </a:solidFill>
                <a:latin typeface="Arial" pitchFamily="34" charset="0"/>
                <a:ea typeface="Arial" pitchFamily="34" charset="-122"/>
                <a:cs typeface="Arial" pitchFamily="34" charset="-120"/>
              </a:rPr>
              <a:t>动，则标记为“老化状态”，准备执行强制回收。</a:t>
            </a:r>
            <a:endParaRPr lang="en-US" sz="850" dirty="0"/>
          </a:p>
        </p:txBody>
      </p:sp>
      <p:sp>
        <p:nvSpPr>
          <p:cNvPr id="25" name="Text 22"/>
          <p:cNvSpPr/>
          <p:nvPr/>
        </p:nvSpPr>
        <p:spPr>
          <a:xfrm>
            <a:off x="5122125" y="728663"/>
            <a:ext cx="2185820" cy="175022"/>
          </a:xfrm>
          <a:prstGeom prst="rect">
            <a:avLst/>
          </a:prstGeom>
          <a:noFill/>
          <a:ln/>
        </p:spPr>
        <p:txBody>
          <a:bodyPr wrap="square" lIns="0" tIns="0" rIns="0" bIns="0" rtlCol="0" anchor="t">
            <a:spAutoFit/>
          </a:bodyPr>
          <a:lstStyle/>
          <a:p>
            <a:pPr marL="0" indent="0" algn="l">
              <a:buNone/>
            </a:pPr>
            <a:r>
              <a:rPr lang="en-US" sz="900" b="1" dirty="0">
                <a:solidFill>
                  <a:srgbClr val="3253DC"/>
                </a:solidFill>
                <a:latin typeface="Arial" pitchFamily="34" charset="0"/>
                <a:ea typeface="Arial" pitchFamily="34" charset="-122"/>
                <a:cs typeface="Arial" pitchFamily="34" charset="-120"/>
              </a:rPr>
              <a:t>老化冲刷 (Aging Flush) 扫描机制示意</a:t>
            </a:r>
            <a:endParaRPr lang="en-US" sz="900" dirty="0"/>
          </a:p>
        </p:txBody>
      </p:sp>
      <p:sp>
        <p:nvSpPr>
          <p:cNvPr id="26" name="Shape 23"/>
          <p:cNvSpPr/>
          <p:nvPr/>
        </p:nvSpPr>
        <p:spPr>
          <a:xfrm>
            <a:off x="3714750" y="1010841"/>
            <a:ext cx="5000625" cy="3429000"/>
          </a:xfrm>
          <a:prstGeom prst="rect">
            <a:avLst/>
          </a:prstGeom>
          <a:solidFill>
            <a:srgbClr val="FFFFFF"/>
          </a:solidFill>
          <a:ln/>
        </p:spPr>
        <p:txBody>
          <a:bodyPr/>
          <a:lstStyle/>
          <a:p>
            <a:endParaRPr lang="zh-CN" altLang="en-US"/>
          </a:p>
        </p:txBody>
      </p:sp>
      <p:pic>
        <p:nvPicPr>
          <p:cNvPr id="27" name="Image 1" descr="preencoded.png"/>
          <p:cNvPicPr>
            <a:picLocks noChangeAspect="1"/>
          </p:cNvPicPr>
          <p:nvPr/>
        </p:nvPicPr>
        <p:blipFill>
          <a:blip r:embed="rId4"/>
          <a:stretch>
            <a:fillRect/>
          </a:stretch>
        </p:blipFill>
        <p:spPr>
          <a:xfrm>
            <a:off x="3714750" y="1010841"/>
            <a:ext cx="5000625" cy="3429000"/>
          </a:xfrm>
          <a:prstGeom prst="rect">
            <a:avLst/>
          </a:prstGeom>
        </p:spPr>
      </p:pic>
      <p:sp>
        <p:nvSpPr>
          <p:cNvPr id="28" name="Text 24"/>
          <p:cNvSpPr/>
          <p:nvPr/>
        </p:nvSpPr>
        <p:spPr>
          <a:xfrm>
            <a:off x="4664869" y="4439841"/>
            <a:ext cx="3100388" cy="242888"/>
          </a:xfrm>
          <a:prstGeom prst="rect">
            <a:avLst/>
          </a:prstGeom>
          <a:noFill/>
          <a:ln/>
        </p:spPr>
        <p:txBody>
          <a:bodyPr wrap="square" lIns="0" tIns="127508" rIns="0" bIns="0" rtlCol="0" anchor="t">
            <a:spAutoFit/>
          </a:bodyPr>
          <a:lstStyle/>
          <a:p>
            <a:pPr marL="0" indent="0" algn="ctr">
              <a:buNone/>
            </a:pPr>
            <a:r>
              <a:rPr lang="en-US" sz="750" dirty="0">
                <a:solidFill>
                  <a:srgbClr val="6E6E7A"/>
                </a:solidFill>
                <a:latin typeface="Arial" pitchFamily="34" charset="0"/>
                <a:ea typeface="Arial" pitchFamily="34" charset="-122"/>
                <a:cs typeface="Arial" pitchFamily="34" charset="-120"/>
              </a:rPr>
              <a:t>通过主动扫描与识别，确保了共享缓存资源不会被死锁队列永久占用。</a:t>
            </a:r>
            <a:endParaRPr lang="en-US" sz="750" dirty="0"/>
          </a:p>
        </p:txBody>
      </p:sp>
      <p:sp>
        <p:nvSpPr>
          <p:cNvPr id="29" name="Text 25"/>
          <p:cNvSpPr/>
          <p:nvPr/>
        </p:nvSpPr>
        <p:spPr>
          <a:xfrm>
            <a:off x="428625" y="4879181"/>
            <a:ext cx="857473"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SMMU Design Review</a:t>
            </a:r>
            <a:endParaRPr lang="en-US" sz="600" dirty="0"/>
          </a:p>
        </p:txBody>
      </p:sp>
      <p:sp>
        <p:nvSpPr>
          <p:cNvPr id="30" name="Text 26"/>
          <p:cNvSpPr/>
          <p:nvPr/>
        </p:nvSpPr>
        <p:spPr>
          <a:xfrm>
            <a:off x="8395971" y="4879181"/>
            <a:ext cx="319404"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Page 25</a:t>
            </a:r>
            <a:endParaRPr lang="en-US" sz="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71500"/>
          </a:xfrm>
          <a:prstGeom prst="rect">
            <a:avLst/>
          </a:prstGeom>
          <a:solidFill>
            <a:srgbClr val="3253DC"/>
          </a:solidFill>
          <a:ln/>
        </p:spPr>
        <p:txBody>
          <a:bodyPr/>
          <a:lstStyle/>
          <a:p>
            <a:endParaRPr lang="zh-CN" altLang="en-US"/>
          </a:p>
        </p:txBody>
      </p:sp>
      <p:sp>
        <p:nvSpPr>
          <p:cNvPr id="4" name="Text 1"/>
          <p:cNvSpPr/>
          <p:nvPr/>
        </p:nvSpPr>
        <p:spPr>
          <a:xfrm>
            <a:off x="428625" y="130373"/>
            <a:ext cx="3213125" cy="310753"/>
          </a:xfrm>
          <a:prstGeom prst="rect">
            <a:avLst/>
          </a:prstGeom>
          <a:noFill/>
          <a:ln/>
        </p:spPr>
        <p:txBody>
          <a:bodyPr wrap="square" lIns="0" tIns="0" rIns="0" bIns="0" rtlCol="0" anchor="t">
            <a:spAutoFit/>
          </a:bodyPr>
          <a:lstStyle/>
          <a:p>
            <a:pPr marL="0" indent="0" algn="l">
              <a:buNone/>
            </a:pPr>
            <a:r>
              <a:rPr lang="en-US" sz="1600" b="1" dirty="0">
                <a:solidFill>
                  <a:srgbClr val="FFFFFF"/>
                </a:solidFill>
                <a:latin typeface="Arial" pitchFamily="34" charset="0"/>
                <a:ea typeface="Arial" pitchFamily="34" charset="-122"/>
                <a:cs typeface="Arial" pitchFamily="34" charset="-120"/>
              </a:rPr>
              <a:t>老化机制 (2) —— 资源强制回收</a:t>
            </a:r>
            <a:endParaRPr lang="en-US" sz="1600" dirty="0"/>
          </a:p>
        </p:txBody>
      </p:sp>
      <p:sp>
        <p:nvSpPr>
          <p:cNvPr id="5" name="Shape 2"/>
          <p:cNvSpPr/>
          <p:nvPr/>
        </p:nvSpPr>
        <p:spPr>
          <a:xfrm>
            <a:off x="428625" y="1000125"/>
            <a:ext cx="4000500" cy="3714750"/>
          </a:xfrm>
          <a:prstGeom prst="rect">
            <a:avLst/>
          </a:prstGeom>
          <a:solidFill>
            <a:srgbClr val="FFFFFF"/>
          </a:solidFill>
          <a:ln/>
        </p:spPr>
        <p:txBody>
          <a:bodyPr/>
          <a:lstStyle/>
          <a:p>
            <a:endParaRPr lang="zh-CN" altLang="en-US"/>
          </a:p>
        </p:txBody>
      </p:sp>
      <p:sp>
        <p:nvSpPr>
          <p:cNvPr id="6" name="Shape 3"/>
          <p:cNvSpPr/>
          <p:nvPr/>
        </p:nvSpPr>
        <p:spPr>
          <a:xfrm>
            <a:off x="428625" y="1000125"/>
            <a:ext cx="28575" cy="3714750"/>
          </a:xfrm>
          <a:prstGeom prst="rect">
            <a:avLst/>
          </a:prstGeom>
          <a:solidFill>
            <a:srgbClr val="6CA0F6"/>
          </a:solidFill>
          <a:ln/>
        </p:spPr>
        <p:txBody>
          <a:bodyPr/>
          <a:lstStyle/>
          <a:p>
            <a:endParaRPr lang="zh-CN" altLang="en-US"/>
          </a:p>
        </p:txBody>
      </p:sp>
      <p:sp>
        <p:nvSpPr>
          <p:cNvPr id="7" name="Text 4"/>
          <p:cNvSpPr/>
          <p:nvPr/>
        </p:nvSpPr>
        <p:spPr>
          <a:xfrm>
            <a:off x="642938" y="1214438"/>
            <a:ext cx="3557588" cy="228600"/>
          </a:xfrm>
          <a:prstGeom prst="rect">
            <a:avLst/>
          </a:prstGeom>
          <a:noFill/>
          <a:ln/>
        </p:spPr>
        <p:txBody>
          <a:bodyPr wrap="square" lIns="0" tIns="0" rIns="0" bIns="0" rtlCol="0" anchor="t">
            <a:spAutoFit/>
          </a:bodyPr>
          <a:lstStyle/>
          <a:p>
            <a:pPr marL="0" indent="0" algn="l">
              <a:buNone/>
            </a:pPr>
            <a:r>
              <a:rPr lang="en-US" sz="1200" b="1" dirty="0">
                <a:solidFill>
                  <a:srgbClr val="3253DC"/>
                </a:solidFill>
                <a:latin typeface="Arial" pitchFamily="34" charset="0"/>
                <a:ea typeface="Arial" pitchFamily="34" charset="-122"/>
                <a:cs typeface="Arial" pitchFamily="34" charset="-120"/>
              </a:rPr>
              <a:t>1. 执行过程 (Execution)</a:t>
            </a:r>
            <a:endParaRPr lang="en-US" sz="1200" dirty="0"/>
          </a:p>
        </p:txBody>
      </p:sp>
      <p:sp>
        <p:nvSpPr>
          <p:cNvPr id="8" name="Text 5"/>
          <p:cNvSpPr/>
          <p:nvPr/>
        </p:nvSpPr>
        <p:spPr>
          <a:xfrm>
            <a:off x="642938" y="1621631"/>
            <a:ext cx="3557588" cy="411435"/>
          </a:xfrm>
          <a:prstGeom prst="rect">
            <a:avLst/>
          </a:prstGeom>
          <a:noFill/>
          <a:ln/>
        </p:spPr>
        <p:txBody>
          <a:bodyPr wrap="squar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一旦队列被标记为老化，LLE 引擎将发起 </a:t>
            </a:r>
            <a:r>
              <a:rPr lang="en-US" sz="800" b="1" dirty="0">
                <a:solidFill>
                  <a:srgbClr val="3253DC"/>
                </a:solidFill>
                <a:latin typeface="Arial" pitchFamily="34" charset="0"/>
                <a:ea typeface="Arial" pitchFamily="34" charset="-122"/>
                <a:cs typeface="Arial" pitchFamily="34" charset="-120"/>
              </a:rPr>
              <a:t>强制出队 (Forced Dequeue)</a:t>
            </a:r>
            <a:r>
              <a:rPr lang="en-US" sz="850" dirty="0">
                <a:solidFill>
                  <a:srgbClr val="2E2E38"/>
                </a:solidFill>
                <a:latin typeface="Arial" pitchFamily="34" charset="0"/>
                <a:ea typeface="Arial" pitchFamily="34" charset="-122"/>
                <a:cs typeface="Arial" pitchFamily="34" charset="-120"/>
              </a:rPr>
              <a:t> 流程：</a:t>
            </a:r>
            <a:endParaRPr lang="en-US" sz="850" dirty="0"/>
          </a:p>
        </p:txBody>
      </p:sp>
      <p:sp>
        <p:nvSpPr>
          <p:cNvPr id="9" name="Text 6"/>
          <p:cNvSpPr/>
          <p:nvPr/>
        </p:nvSpPr>
        <p:spPr>
          <a:xfrm>
            <a:off x="642938" y="2175942"/>
            <a:ext cx="3557588" cy="822871"/>
          </a:xfrm>
          <a:prstGeom prst="rect">
            <a:avLst/>
          </a:prstGeom>
          <a:noFill/>
          <a:ln/>
        </p:spPr>
        <p:txBody>
          <a:bodyPr wrap="squar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 </a:t>
            </a:r>
            <a:r>
              <a:rPr lang="en-US" sz="800" b="1" dirty="0">
                <a:solidFill>
                  <a:srgbClr val="2E2E38"/>
                </a:solidFill>
                <a:latin typeface="Arial" pitchFamily="34" charset="0"/>
                <a:ea typeface="Arial" pitchFamily="34" charset="-122"/>
                <a:cs typeface="Arial" pitchFamily="34" charset="-120"/>
              </a:rPr>
              <a:t>丢弃报文</a:t>
            </a:r>
            <a:r>
              <a:rPr lang="en-US" sz="850" dirty="0">
                <a:solidFill>
                  <a:srgbClr val="2E2E38"/>
                </a:solidFill>
                <a:latin typeface="Arial" pitchFamily="34" charset="0"/>
                <a:ea typeface="Arial" pitchFamily="34" charset="-122"/>
                <a:cs typeface="Arial" pitchFamily="34" charset="-120"/>
              </a:rPr>
              <a:t>：老化报文不再送往输出端口，而是直接在 MMU 内部执行丢弃操作。
• </a:t>
            </a:r>
            <a:r>
              <a:rPr lang="en-US" sz="800" b="1" dirty="0">
                <a:solidFill>
                  <a:srgbClr val="2E2E38"/>
                </a:solidFill>
                <a:latin typeface="Arial" pitchFamily="34" charset="0"/>
                <a:ea typeface="Arial" pitchFamily="34" charset="-122"/>
                <a:cs typeface="Arial" pitchFamily="34" charset="-120"/>
              </a:rPr>
              <a:t>还回地址</a:t>
            </a:r>
            <a:r>
              <a:rPr lang="en-US" sz="850" dirty="0">
                <a:solidFill>
                  <a:srgbClr val="2E2E38"/>
                </a:solidFill>
                <a:latin typeface="Arial" pitchFamily="34" charset="0"/>
                <a:ea typeface="Arial" pitchFamily="34" charset="-122"/>
                <a:cs typeface="Arial" pitchFamily="34" charset="-120"/>
              </a:rPr>
              <a:t>：报文占用的 Cell 地址被逐个读出并挂回 </a:t>
            </a:r>
            <a:r>
              <a:rPr lang="en-US" sz="800" b="1" dirty="0">
                <a:solidFill>
                  <a:srgbClr val="3253DC"/>
                </a:solidFill>
                <a:latin typeface="Arial" pitchFamily="34" charset="0"/>
                <a:ea typeface="Arial" pitchFamily="34" charset="-122"/>
                <a:cs typeface="Arial" pitchFamily="34" charset="-120"/>
              </a:rPr>
              <a:t>Free 链</a:t>
            </a:r>
            <a:r>
              <a:rPr lang="en-US" sz="850" dirty="0">
                <a:solidFill>
                  <a:srgbClr val="2E2E38"/>
                </a:solidFill>
                <a:latin typeface="Arial" pitchFamily="34" charset="0"/>
                <a:ea typeface="Arial" pitchFamily="34" charset="-122"/>
                <a:cs typeface="Arial" pitchFamily="34" charset="-120"/>
              </a:rPr>
              <a:t> 末尾。
• </a:t>
            </a:r>
            <a:r>
              <a:rPr lang="en-US" sz="800" b="1" dirty="0">
                <a:solidFill>
                  <a:srgbClr val="2E2E38"/>
                </a:solidFill>
                <a:latin typeface="Arial" pitchFamily="34" charset="0"/>
                <a:ea typeface="Arial" pitchFamily="34" charset="-122"/>
                <a:cs typeface="Arial" pitchFamily="34" charset="-120"/>
              </a:rPr>
              <a:t>资源闭环</a:t>
            </a:r>
            <a:r>
              <a:rPr lang="en-US" sz="850" dirty="0">
                <a:solidFill>
                  <a:srgbClr val="2E2E38"/>
                </a:solidFill>
                <a:latin typeface="Arial" pitchFamily="34" charset="0"/>
                <a:ea typeface="Arial" pitchFamily="34" charset="-122"/>
                <a:cs typeface="Arial" pitchFamily="34" charset="-120"/>
              </a:rPr>
              <a:t>：确保所有被“僵死”报文占用的缓存空间重新进入可用池。</a:t>
            </a:r>
            <a:endParaRPr lang="en-US" sz="850" dirty="0"/>
          </a:p>
        </p:txBody>
      </p:sp>
      <p:sp>
        <p:nvSpPr>
          <p:cNvPr id="10" name="Shape 7"/>
          <p:cNvSpPr/>
          <p:nvPr/>
        </p:nvSpPr>
        <p:spPr>
          <a:xfrm>
            <a:off x="4700588" y="1000125"/>
            <a:ext cx="4014788" cy="3714750"/>
          </a:xfrm>
          <a:prstGeom prst="rect">
            <a:avLst/>
          </a:prstGeom>
          <a:solidFill>
            <a:srgbClr val="FFFFFF"/>
          </a:solidFill>
          <a:ln/>
        </p:spPr>
        <p:txBody>
          <a:bodyPr/>
          <a:lstStyle/>
          <a:p>
            <a:endParaRPr lang="zh-CN" altLang="en-US"/>
          </a:p>
        </p:txBody>
      </p:sp>
      <p:sp>
        <p:nvSpPr>
          <p:cNvPr id="11" name="Shape 8"/>
          <p:cNvSpPr/>
          <p:nvPr/>
        </p:nvSpPr>
        <p:spPr>
          <a:xfrm>
            <a:off x="4700588" y="1000125"/>
            <a:ext cx="28575" cy="3714750"/>
          </a:xfrm>
          <a:prstGeom prst="rect">
            <a:avLst/>
          </a:prstGeom>
          <a:solidFill>
            <a:srgbClr val="6CA0F6"/>
          </a:solidFill>
          <a:ln/>
        </p:spPr>
        <p:txBody>
          <a:bodyPr/>
          <a:lstStyle/>
          <a:p>
            <a:endParaRPr lang="zh-CN" altLang="en-US"/>
          </a:p>
        </p:txBody>
      </p:sp>
      <p:sp>
        <p:nvSpPr>
          <p:cNvPr id="12" name="Text 9"/>
          <p:cNvSpPr/>
          <p:nvPr/>
        </p:nvSpPr>
        <p:spPr>
          <a:xfrm>
            <a:off x="4929188" y="1214438"/>
            <a:ext cx="3571875" cy="228600"/>
          </a:xfrm>
          <a:prstGeom prst="rect">
            <a:avLst/>
          </a:prstGeom>
          <a:noFill/>
          <a:ln/>
        </p:spPr>
        <p:txBody>
          <a:bodyPr wrap="square" lIns="0" tIns="0" rIns="0" bIns="0" rtlCol="0" anchor="t">
            <a:spAutoFit/>
          </a:bodyPr>
          <a:lstStyle/>
          <a:p>
            <a:pPr marL="0" indent="0" algn="l">
              <a:buNone/>
            </a:pPr>
            <a:r>
              <a:rPr lang="en-US" sz="1200" b="1" dirty="0">
                <a:solidFill>
                  <a:srgbClr val="3253DC"/>
                </a:solidFill>
                <a:latin typeface="Arial" pitchFamily="34" charset="0"/>
                <a:ea typeface="Arial" pitchFamily="34" charset="-122"/>
                <a:cs typeface="Arial" pitchFamily="34" charset="-120"/>
              </a:rPr>
              <a:t>2. 安全保障 (Safety)</a:t>
            </a:r>
            <a:endParaRPr lang="en-US" sz="1200" dirty="0"/>
          </a:p>
        </p:txBody>
      </p:sp>
      <p:sp>
        <p:nvSpPr>
          <p:cNvPr id="13" name="Text 10"/>
          <p:cNvSpPr/>
          <p:nvPr/>
        </p:nvSpPr>
        <p:spPr>
          <a:xfrm>
            <a:off x="4929188" y="1621631"/>
            <a:ext cx="3571875" cy="205718"/>
          </a:xfrm>
          <a:prstGeom prst="rect">
            <a:avLst/>
          </a:prstGeom>
          <a:noFill/>
          <a:ln/>
        </p:spPr>
        <p:txBody>
          <a:bodyPr wrap="non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老化冲刷是一个敏感的资源操作过程，SMMU 引入了多重安全机制：</a:t>
            </a:r>
            <a:endParaRPr lang="en-US" sz="850" dirty="0"/>
          </a:p>
        </p:txBody>
      </p:sp>
      <p:sp>
        <p:nvSpPr>
          <p:cNvPr id="14" name="Text 11"/>
          <p:cNvSpPr/>
          <p:nvPr/>
        </p:nvSpPr>
        <p:spPr>
          <a:xfrm>
            <a:off x="4929188" y="1970224"/>
            <a:ext cx="3571875" cy="1028588"/>
          </a:xfrm>
          <a:prstGeom prst="rect">
            <a:avLst/>
          </a:prstGeom>
          <a:noFill/>
          <a:ln/>
        </p:spPr>
        <p:txBody>
          <a:bodyPr wrap="squar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 </a:t>
            </a:r>
            <a:r>
              <a:rPr lang="en-US" sz="800" b="1" dirty="0">
                <a:solidFill>
                  <a:srgbClr val="2E2E38"/>
                </a:solidFill>
                <a:latin typeface="Arial" pitchFamily="34" charset="0"/>
                <a:ea typeface="Arial" pitchFamily="34" charset="-122"/>
                <a:cs typeface="Arial" pitchFamily="34" charset="-120"/>
              </a:rPr>
              <a:t>入队加锁 (Enqueue Lock)</a:t>
            </a:r>
            <a:r>
              <a:rPr lang="en-US" sz="850" dirty="0">
                <a:solidFill>
                  <a:srgbClr val="2E2E38"/>
                </a:solidFill>
                <a:latin typeface="Arial" pitchFamily="34" charset="0"/>
                <a:ea typeface="Arial" pitchFamily="34" charset="-122"/>
                <a:cs typeface="Arial" pitchFamily="34" charset="-120"/>
              </a:rPr>
              <a:t>：老化冲刷过程中，针对该队列的入队逻辑自动加锁，防止回收过程中产生新的地址冲突。
• </a:t>
            </a:r>
            <a:r>
              <a:rPr lang="en-US" sz="800" b="1" dirty="0">
                <a:solidFill>
                  <a:srgbClr val="2E2E38"/>
                </a:solidFill>
                <a:latin typeface="Arial" pitchFamily="34" charset="0"/>
                <a:ea typeface="Arial" pitchFamily="34" charset="-122"/>
                <a:cs typeface="Arial" pitchFamily="34" charset="-120"/>
              </a:rPr>
              <a:t>原子操作</a:t>
            </a:r>
            <a:r>
              <a:rPr lang="en-US" sz="850" dirty="0">
                <a:solidFill>
                  <a:srgbClr val="2E2E38"/>
                </a:solidFill>
                <a:latin typeface="Arial" pitchFamily="34" charset="0"/>
                <a:ea typeface="Arial" pitchFamily="34" charset="-122"/>
                <a:cs typeface="Arial" pitchFamily="34" charset="-120"/>
              </a:rPr>
              <a:t>：确保整帧报文回收的原子性，防止链表结构损坏。
• </a:t>
            </a:r>
            <a:r>
              <a:rPr lang="en-US" sz="800" b="1" dirty="0">
                <a:solidFill>
                  <a:srgbClr val="2E2E38"/>
                </a:solidFill>
                <a:latin typeface="Arial" pitchFamily="34" charset="0"/>
                <a:ea typeface="Arial" pitchFamily="34" charset="-122"/>
                <a:cs typeface="Arial" pitchFamily="34" charset="-120"/>
              </a:rPr>
              <a:t>低优先级执行</a:t>
            </a:r>
            <a:r>
              <a:rPr lang="en-US" sz="850" dirty="0">
                <a:solidFill>
                  <a:srgbClr val="2E2E38"/>
                </a:solidFill>
                <a:latin typeface="Arial" pitchFamily="34" charset="0"/>
                <a:ea typeface="Arial" pitchFamily="34" charset="-122"/>
                <a:cs typeface="Arial" pitchFamily="34" charset="-120"/>
              </a:rPr>
              <a:t>：老化回收任务在 LLE 仲裁中处于中优先级，避免干扰正常的业务出队。</a:t>
            </a:r>
            <a:endParaRPr lang="en-US" sz="850" dirty="0"/>
          </a:p>
        </p:txBody>
      </p:sp>
      <p:sp>
        <p:nvSpPr>
          <p:cNvPr id="15" name="Text 12"/>
          <p:cNvSpPr/>
          <p:nvPr/>
        </p:nvSpPr>
        <p:spPr>
          <a:xfrm>
            <a:off x="428625" y="4879181"/>
            <a:ext cx="857473"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SMMU Design Review</a:t>
            </a:r>
            <a:endParaRPr lang="en-US" sz="600" dirty="0"/>
          </a:p>
        </p:txBody>
      </p:sp>
      <p:sp>
        <p:nvSpPr>
          <p:cNvPr id="16" name="Text 13"/>
          <p:cNvSpPr/>
          <p:nvPr/>
        </p:nvSpPr>
        <p:spPr>
          <a:xfrm>
            <a:off x="8395971" y="4879181"/>
            <a:ext cx="319404"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Page 26</a:t>
            </a:r>
            <a:endParaRPr lang="en-US" sz="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71500"/>
          </a:xfrm>
          <a:prstGeom prst="rect">
            <a:avLst/>
          </a:prstGeom>
          <a:solidFill>
            <a:srgbClr val="3253DC"/>
          </a:solidFill>
          <a:ln/>
        </p:spPr>
        <p:txBody>
          <a:bodyPr/>
          <a:lstStyle/>
          <a:p>
            <a:endParaRPr lang="zh-CN" altLang="en-US"/>
          </a:p>
        </p:txBody>
      </p:sp>
      <p:sp>
        <p:nvSpPr>
          <p:cNvPr id="4" name="Text 1"/>
          <p:cNvSpPr/>
          <p:nvPr/>
        </p:nvSpPr>
        <p:spPr>
          <a:xfrm>
            <a:off x="428625" y="130373"/>
            <a:ext cx="3149724" cy="310753"/>
          </a:xfrm>
          <a:prstGeom prst="rect">
            <a:avLst/>
          </a:prstGeom>
          <a:noFill/>
          <a:ln/>
        </p:spPr>
        <p:txBody>
          <a:bodyPr wrap="square" lIns="0" tIns="0" rIns="0" bIns="0" rtlCol="0" anchor="t">
            <a:spAutoFit/>
          </a:bodyPr>
          <a:lstStyle/>
          <a:p>
            <a:pPr marL="0" indent="0" algn="l">
              <a:buNone/>
            </a:pPr>
            <a:r>
              <a:rPr lang="en-US" sz="1600" b="1" dirty="0">
                <a:solidFill>
                  <a:srgbClr val="FFFFFF"/>
                </a:solidFill>
                <a:latin typeface="Arial" pitchFamily="34" charset="0"/>
                <a:ea typeface="Arial" pitchFamily="34" charset="-122"/>
                <a:cs typeface="Arial" pitchFamily="34" charset="-120"/>
              </a:rPr>
              <a:t>配置采样与统计 (CSR &amp; Stats)</a:t>
            </a:r>
            <a:endParaRPr lang="en-US" sz="1600" dirty="0"/>
          </a:p>
        </p:txBody>
      </p:sp>
      <p:sp>
        <p:nvSpPr>
          <p:cNvPr id="5" name="Shape 2"/>
          <p:cNvSpPr/>
          <p:nvPr/>
        </p:nvSpPr>
        <p:spPr>
          <a:xfrm>
            <a:off x="428625" y="857250"/>
            <a:ext cx="3000375" cy="1143000"/>
          </a:xfrm>
          <a:prstGeom prst="rect">
            <a:avLst/>
          </a:prstGeom>
          <a:solidFill>
            <a:srgbClr val="FFFFFF"/>
          </a:solidFill>
          <a:ln/>
        </p:spPr>
        <p:txBody>
          <a:bodyPr/>
          <a:lstStyle/>
          <a:p>
            <a:endParaRPr lang="zh-CN" altLang="en-US"/>
          </a:p>
        </p:txBody>
      </p:sp>
      <p:sp>
        <p:nvSpPr>
          <p:cNvPr id="6" name="Shape 3"/>
          <p:cNvSpPr/>
          <p:nvPr/>
        </p:nvSpPr>
        <p:spPr>
          <a:xfrm>
            <a:off x="428625" y="857250"/>
            <a:ext cx="28575" cy="1143000"/>
          </a:xfrm>
          <a:prstGeom prst="rect">
            <a:avLst/>
          </a:prstGeom>
          <a:solidFill>
            <a:srgbClr val="6CA0F6"/>
          </a:solidFill>
          <a:ln/>
        </p:spPr>
        <p:txBody>
          <a:bodyPr/>
          <a:lstStyle/>
          <a:p>
            <a:endParaRPr lang="zh-CN" altLang="en-US"/>
          </a:p>
        </p:txBody>
      </p:sp>
      <p:sp>
        <p:nvSpPr>
          <p:cNvPr id="7" name="Text 4"/>
          <p:cNvSpPr/>
          <p:nvPr/>
        </p:nvSpPr>
        <p:spPr>
          <a:xfrm>
            <a:off x="607219" y="1000125"/>
            <a:ext cx="2643188" cy="196453"/>
          </a:xfrm>
          <a:prstGeom prst="rect">
            <a:avLst/>
          </a:prstGeom>
          <a:noFill/>
          <a:ln/>
        </p:spPr>
        <p:txBody>
          <a:bodyPr wrap="square" lIns="0" tIns="0" rIns="0" bIns="0" rtlCol="0" anchor="t">
            <a:spAutoFit/>
          </a:bodyPr>
          <a:lstStyle/>
          <a:p>
            <a:pPr marL="0" indent="0" algn="l">
              <a:buNone/>
            </a:pPr>
            <a:r>
              <a:rPr lang="en-US" sz="1000" b="1" dirty="0">
                <a:solidFill>
                  <a:srgbClr val="3253DC"/>
                </a:solidFill>
                <a:latin typeface="Arial" pitchFamily="34" charset="0"/>
                <a:ea typeface="Arial" pitchFamily="34" charset="-122"/>
                <a:cs typeface="Arial" pitchFamily="34" charset="-120"/>
              </a:rPr>
              <a:t>CSR 配置接口</a:t>
            </a:r>
            <a:endParaRPr lang="en-US" sz="1000" dirty="0"/>
          </a:p>
        </p:txBody>
      </p:sp>
      <p:sp>
        <p:nvSpPr>
          <p:cNvPr id="8" name="Text 5"/>
          <p:cNvSpPr/>
          <p:nvPr/>
        </p:nvSpPr>
        <p:spPr>
          <a:xfrm>
            <a:off x="607219" y="1303734"/>
            <a:ext cx="2643188" cy="548506"/>
          </a:xfrm>
          <a:prstGeom prst="rect">
            <a:avLst/>
          </a:prstGeom>
          <a:noFill/>
          <a:ln/>
        </p:spPr>
        <p:txBody>
          <a:bodyPr wrap="square" lIns="0" tIns="0" rIns="0" bIns="0" rtlCol="0" anchor="t">
            <a:spAutoFit/>
          </a:bodyPr>
          <a:lstStyle/>
          <a:p>
            <a:pPr marL="0" indent="0" algn="l">
              <a:lnSpc>
                <a:spcPct val="128000"/>
              </a:lnSpc>
              <a:buNone/>
            </a:pPr>
            <a:r>
              <a:rPr lang="en-US" sz="850" dirty="0">
                <a:solidFill>
                  <a:srgbClr val="2E2E38"/>
                </a:solidFill>
                <a:latin typeface="Arial" pitchFamily="34" charset="0"/>
                <a:ea typeface="Arial" pitchFamily="34" charset="-122"/>
                <a:cs typeface="Arial" pitchFamily="34" charset="-120"/>
              </a:rPr>
              <a:t>支持 CPU 实时配置与调整核心参数，包括流控阈值（XOFF/XON）、双池预留比例以及老化定时器周期，实现动态性能优化。</a:t>
            </a:r>
            <a:endParaRPr lang="en-US" sz="850" dirty="0"/>
          </a:p>
        </p:txBody>
      </p:sp>
      <p:sp>
        <p:nvSpPr>
          <p:cNvPr id="9" name="Shape 6"/>
          <p:cNvSpPr/>
          <p:nvPr/>
        </p:nvSpPr>
        <p:spPr>
          <a:xfrm>
            <a:off x="428625" y="2143125"/>
            <a:ext cx="3000375" cy="1571625"/>
          </a:xfrm>
          <a:prstGeom prst="rect">
            <a:avLst/>
          </a:prstGeom>
          <a:solidFill>
            <a:srgbClr val="FFFFFF"/>
          </a:solidFill>
          <a:ln/>
        </p:spPr>
        <p:txBody>
          <a:bodyPr/>
          <a:lstStyle/>
          <a:p>
            <a:endParaRPr lang="zh-CN" altLang="en-US"/>
          </a:p>
        </p:txBody>
      </p:sp>
      <p:sp>
        <p:nvSpPr>
          <p:cNvPr id="10" name="Shape 7"/>
          <p:cNvSpPr/>
          <p:nvPr/>
        </p:nvSpPr>
        <p:spPr>
          <a:xfrm>
            <a:off x="428625" y="2143125"/>
            <a:ext cx="28575" cy="1571625"/>
          </a:xfrm>
          <a:prstGeom prst="rect">
            <a:avLst/>
          </a:prstGeom>
          <a:solidFill>
            <a:srgbClr val="6CA0F6"/>
          </a:solidFill>
          <a:ln/>
        </p:spPr>
        <p:txBody>
          <a:bodyPr/>
          <a:lstStyle/>
          <a:p>
            <a:endParaRPr lang="zh-CN" altLang="en-US"/>
          </a:p>
        </p:txBody>
      </p:sp>
      <p:sp>
        <p:nvSpPr>
          <p:cNvPr id="11" name="Text 8"/>
          <p:cNvSpPr/>
          <p:nvPr/>
        </p:nvSpPr>
        <p:spPr>
          <a:xfrm>
            <a:off x="607219" y="2286000"/>
            <a:ext cx="2643188" cy="196453"/>
          </a:xfrm>
          <a:prstGeom prst="rect">
            <a:avLst/>
          </a:prstGeom>
          <a:noFill/>
          <a:ln/>
        </p:spPr>
        <p:txBody>
          <a:bodyPr wrap="square" lIns="0" tIns="0" rIns="0" bIns="0" rtlCol="0" anchor="t">
            <a:spAutoFit/>
          </a:bodyPr>
          <a:lstStyle/>
          <a:p>
            <a:pPr marL="0" indent="0" algn="l">
              <a:buNone/>
            </a:pPr>
            <a:r>
              <a:rPr lang="en-US" sz="1000" b="1" dirty="0">
                <a:solidFill>
                  <a:srgbClr val="3253DC"/>
                </a:solidFill>
                <a:latin typeface="Arial" pitchFamily="34" charset="0"/>
                <a:ea typeface="Arial" pitchFamily="34" charset="-122"/>
                <a:cs typeface="Arial" pitchFamily="34" charset="-120"/>
              </a:rPr>
              <a:t>性能监控与统计</a:t>
            </a:r>
            <a:endParaRPr lang="en-US" sz="1000" dirty="0"/>
          </a:p>
        </p:txBody>
      </p:sp>
      <p:sp>
        <p:nvSpPr>
          <p:cNvPr id="12" name="Text 9"/>
          <p:cNvSpPr/>
          <p:nvPr/>
        </p:nvSpPr>
        <p:spPr>
          <a:xfrm>
            <a:off x="607219" y="2589609"/>
            <a:ext cx="2643188" cy="1097012"/>
          </a:xfrm>
          <a:prstGeom prst="rect">
            <a:avLst/>
          </a:prstGeom>
          <a:noFill/>
          <a:ln/>
        </p:spPr>
        <p:txBody>
          <a:bodyPr wrap="square" lIns="0" tIns="0" rIns="0" bIns="0" rtlCol="0" anchor="t">
            <a:spAutoFit/>
          </a:bodyPr>
          <a:lstStyle/>
          <a:p>
            <a:pPr marL="0" indent="0" algn="l">
              <a:lnSpc>
                <a:spcPct val="128000"/>
              </a:lnSpc>
              <a:buNone/>
            </a:pPr>
            <a:r>
              <a:rPr lang="en-US" sz="850" dirty="0">
                <a:solidFill>
                  <a:srgbClr val="2E2E38"/>
                </a:solidFill>
                <a:latin typeface="Arial" pitchFamily="34" charset="0"/>
                <a:ea typeface="Arial" pitchFamily="34" charset="-122"/>
                <a:cs typeface="Arial" pitchFamily="34" charset="-120"/>
              </a:rPr>
              <a:t>• </a:t>
            </a:r>
            <a:r>
              <a:rPr lang="en-US" sz="800" b="1" dirty="0">
                <a:solidFill>
                  <a:srgbClr val="2E2E38"/>
                </a:solidFill>
                <a:latin typeface="Arial" pitchFamily="34" charset="0"/>
                <a:ea typeface="Arial" pitchFamily="34" charset="-122"/>
                <a:cs typeface="Arial" pitchFamily="34" charset="-120"/>
              </a:rPr>
              <a:t>实时计数</a:t>
            </a:r>
            <a:r>
              <a:rPr lang="en-US" sz="850" dirty="0">
                <a:solidFill>
                  <a:srgbClr val="2E2E38"/>
                </a:solidFill>
                <a:latin typeface="Arial" pitchFamily="34" charset="0"/>
                <a:ea typeface="Arial" pitchFamily="34" charset="-122"/>
                <a:cs typeface="Arial" pitchFamily="34" charset="-120"/>
              </a:rPr>
              <a:t>：精确记录入队/出队报文总量及 Cell 丢弃计数。
• </a:t>
            </a:r>
            <a:r>
              <a:rPr lang="en-US" sz="800" b="1" dirty="0">
                <a:solidFill>
                  <a:srgbClr val="2E2E38"/>
                </a:solidFill>
                <a:latin typeface="Arial" pitchFamily="34" charset="0"/>
                <a:ea typeface="Arial" pitchFamily="34" charset="-122"/>
                <a:cs typeface="Arial" pitchFamily="34" charset="-120"/>
              </a:rPr>
              <a:t>水位跟踪</a:t>
            </a:r>
            <a:r>
              <a:rPr lang="en-US" sz="850" dirty="0">
                <a:solidFill>
                  <a:srgbClr val="2E2E38"/>
                </a:solidFill>
                <a:latin typeface="Arial" pitchFamily="34" charset="0"/>
                <a:ea typeface="Arial" pitchFamily="34" charset="-122"/>
                <a:cs typeface="Arial" pitchFamily="34" charset="-120"/>
              </a:rPr>
              <a:t>：实时采样各队列与全局缓存的占用峰值（Watermark）。
• </a:t>
            </a:r>
            <a:r>
              <a:rPr lang="en-US" sz="800" b="1" dirty="0">
                <a:solidFill>
                  <a:srgbClr val="2E2E38"/>
                </a:solidFill>
                <a:latin typeface="Arial" pitchFamily="34" charset="0"/>
                <a:ea typeface="Arial" pitchFamily="34" charset="-122"/>
                <a:cs typeface="Arial" pitchFamily="34" charset="-120"/>
              </a:rPr>
              <a:t>异常上报</a:t>
            </a:r>
            <a:r>
              <a:rPr lang="en-US" sz="850" dirty="0">
                <a:solidFill>
                  <a:srgbClr val="2E2E38"/>
                </a:solidFill>
                <a:latin typeface="Arial" pitchFamily="34" charset="0"/>
                <a:ea typeface="Arial" pitchFamily="34" charset="-122"/>
                <a:cs typeface="Arial" pitchFamily="34" charset="-120"/>
              </a:rPr>
              <a:t>：针对 SRAM ECC 错误或非法地址访问等异常状态，通过中断实时通知系统软件。</a:t>
            </a:r>
            <a:endParaRPr lang="en-US" sz="850" dirty="0"/>
          </a:p>
        </p:txBody>
      </p:sp>
      <p:sp>
        <p:nvSpPr>
          <p:cNvPr id="13" name="Text 10"/>
          <p:cNvSpPr/>
          <p:nvPr/>
        </p:nvSpPr>
        <p:spPr>
          <a:xfrm>
            <a:off x="5482772" y="857250"/>
            <a:ext cx="1464525" cy="175022"/>
          </a:xfrm>
          <a:prstGeom prst="rect">
            <a:avLst/>
          </a:prstGeom>
          <a:noFill/>
          <a:ln/>
        </p:spPr>
        <p:txBody>
          <a:bodyPr wrap="square" lIns="0" tIns="0" rIns="0" bIns="0" rtlCol="0" anchor="t">
            <a:spAutoFit/>
          </a:bodyPr>
          <a:lstStyle/>
          <a:p>
            <a:pPr marL="0" indent="0" algn="l">
              <a:buNone/>
            </a:pPr>
            <a:r>
              <a:rPr lang="en-US" sz="900" b="1" dirty="0">
                <a:solidFill>
                  <a:srgbClr val="3253DC"/>
                </a:solidFill>
                <a:latin typeface="Arial" pitchFamily="34" charset="0"/>
                <a:ea typeface="Arial" pitchFamily="34" charset="-122"/>
                <a:cs typeface="Arial" pitchFamily="34" charset="-120"/>
              </a:rPr>
              <a:t>CSR 与统计模块架构示意</a:t>
            </a:r>
            <a:endParaRPr lang="en-US" sz="900" dirty="0"/>
          </a:p>
        </p:txBody>
      </p:sp>
      <p:sp>
        <p:nvSpPr>
          <p:cNvPr id="14" name="Shape 11"/>
          <p:cNvSpPr/>
          <p:nvPr/>
        </p:nvSpPr>
        <p:spPr>
          <a:xfrm>
            <a:off x="3714750" y="1139428"/>
            <a:ext cx="5000625" cy="3257550"/>
          </a:xfrm>
          <a:prstGeom prst="rect">
            <a:avLst/>
          </a:prstGeom>
          <a:solidFill>
            <a:srgbClr val="FFFFFF"/>
          </a:solidFill>
          <a:ln/>
        </p:spPr>
        <p:txBody>
          <a:bodyPr/>
          <a:lstStyle/>
          <a:p>
            <a:endParaRPr lang="zh-CN" altLang="en-US"/>
          </a:p>
        </p:txBody>
      </p:sp>
      <p:pic>
        <p:nvPicPr>
          <p:cNvPr id="15" name="Image 1" descr="preencoded.png"/>
          <p:cNvPicPr>
            <a:picLocks noChangeAspect="1"/>
          </p:cNvPicPr>
          <p:nvPr/>
        </p:nvPicPr>
        <p:blipFill>
          <a:blip r:embed="rId4"/>
          <a:stretch>
            <a:fillRect/>
          </a:stretch>
        </p:blipFill>
        <p:spPr>
          <a:xfrm>
            <a:off x="3714750" y="1139428"/>
            <a:ext cx="5000625" cy="3257550"/>
          </a:xfrm>
          <a:prstGeom prst="rect">
            <a:avLst/>
          </a:prstGeom>
        </p:spPr>
      </p:pic>
      <p:sp>
        <p:nvSpPr>
          <p:cNvPr id="16" name="Text 12"/>
          <p:cNvSpPr/>
          <p:nvPr/>
        </p:nvSpPr>
        <p:spPr>
          <a:xfrm>
            <a:off x="4714875" y="4396978"/>
            <a:ext cx="3000375" cy="242888"/>
          </a:xfrm>
          <a:prstGeom prst="rect">
            <a:avLst/>
          </a:prstGeom>
          <a:noFill/>
          <a:ln/>
        </p:spPr>
        <p:txBody>
          <a:bodyPr wrap="square" lIns="0" tIns="127508" rIns="0" bIns="0" rtlCol="0" anchor="t">
            <a:spAutoFit/>
          </a:bodyPr>
          <a:lstStyle/>
          <a:p>
            <a:pPr marL="0" indent="0" algn="ctr">
              <a:buNone/>
            </a:pPr>
            <a:r>
              <a:rPr lang="en-US" sz="750" dirty="0">
                <a:solidFill>
                  <a:srgbClr val="6E6E7A"/>
                </a:solidFill>
                <a:latin typeface="Arial" pitchFamily="34" charset="0"/>
                <a:ea typeface="Arial" pitchFamily="34" charset="-122"/>
                <a:cs typeface="Arial" pitchFamily="34" charset="-120"/>
              </a:rPr>
              <a:t>强大的可观测性设计为系统调试与性能调优提供了坚实的数据支撑。</a:t>
            </a:r>
            <a:endParaRPr lang="en-US" sz="750" dirty="0"/>
          </a:p>
        </p:txBody>
      </p:sp>
      <p:sp>
        <p:nvSpPr>
          <p:cNvPr id="17" name="Text 13"/>
          <p:cNvSpPr/>
          <p:nvPr/>
        </p:nvSpPr>
        <p:spPr>
          <a:xfrm>
            <a:off x="428625" y="4879181"/>
            <a:ext cx="857473"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SMMU Design Review</a:t>
            </a:r>
            <a:endParaRPr lang="en-US" sz="600" dirty="0"/>
          </a:p>
        </p:txBody>
      </p:sp>
      <p:sp>
        <p:nvSpPr>
          <p:cNvPr id="18" name="Text 14"/>
          <p:cNvSpPr/>
          <p:nvPr/>
        </p:nvSpPr>
        <p:spPr>
          <a:xfrm>
            <a:off x="8395971" y="4879181"/>
            <a:ext cx="319404"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Page 27</a:t>
            </a:r>
            <a:endParaRPr lang="en-US" sz="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71500"/>
          </a:xfrm>
          <a:prstGeom prst="rect">
            <a:avLst/>
          </a:prstGeom>
          <a:solidFill>
            <a:srgbClr val="3253DC"/>
          </a:solidFill>
          <a:ln/>
        </p:spPr>
        <p:txBody>
          <a:bodyPr/>
          <a:lstStyle/>
          <a:p>
            <a:endParaRPr lang="zh-CN" altLang="en-US"/>
          </a:p>
        </p:txBody>
      </p:sp>
      <p:sp>
        <p:nvSpPr>
          <p:cNvPr id="4" name="Text 1"/>
          <p:cNvSpPr/>
          <p:nvPr/>
        </p:nvSpPr>
        <p:spPr>
          <a:xfrm>
            <a:off x="428625" y="130373"/>
            <a:ext cx="2844887" cy="310753"/>
          </a:xfrm>
          <a:prstGeom prst="rect">
            <a:avLst/>
          </a:prstGeom>
          <a:noFill/>
          <a:ln/>
        </p:spPr>
        <p:txBody>
          <a:bodyPr wrap="square" lIns="0" tIns="0" rIns="0" bIns="0" rtlCol="0" anchor="t">
            <a:spAutoFit/>
          </a:bodyPr>
          <a:lstStyle/>
          <a:p>
            <a:pPr marL="0" indent="0" algn="l">
              <a:buNone/>
            </a:pPr>
            <a:r>
              <a:rPr lang="en-US" sz="1600" b="1" dirty="0">
                <a:solidFill>
                  <a:srgbClr val="FFFFFF"/>
                </a:solidFill>
                <a:latin typeface="Arial" pitchFamily="34" charset="0"/>
                <a:ea typeface="Arial" pitchFamily="34" charset="-122"/>
                <a:cs typeface="Arial" pitchFamily="34" charset="-120"/>
              </a:rPr>
              <a:t>初始化与复位 (Reset &amp; Init)</a:t>
            </a:r>
            <a:endParaRPr lang="en-US" sz="1600" dirty="0"/>
          </a:p>
        </p:txBody>
      </p:sp>
      <p:sp>
        <p:nvSpPr>
          <p:cNvPr id="5" name="Shape 2"/>
          <p:cNvSpPr/>
          <p:nvPr/>
        </p:nvSpPr>
        <p:spPr>
          <a:xfrm>
            <a:off x="428625" y="928688"/>
            <a:ext cx="2667019" cy="2143125"/>
          </a:xfrm>
          <a:prstGeom prst="rect">
            <a:avLst/>
          </a:prstGeom>
          <a:solidFill>
            <a:srgbClr val="FFFFFF"/>
          </a:solidFill>
          <a:ln/>
        </p:spPr>
        <p:txBody>
          <a:bodyPr/>
          <a:lstStyle/>
          <a:p>
            <a:endParaRPr lang="zh-CN" altLang="en-US"/>
          </a:p>
        </p:txBody>
      </p:sp>
      <p:sp>
        <p:nvSpPr>
          <p:cNvPr id="6" name="Shape 3"/>
          <p:cNvSpPr/>
          <p:nvPr/>
        </p:nvSpPr>
        <p:spPr>
          <a:xfrm>
            <a:off x="428625" y="928688"/>
            <a:ext cx="28575" cy="2143125"/>
          </a:xfrm>
          <a:prstGeom prst="rect">
            <a:avLst/>
          </a:prstGeom>
          <a:solidFill>
            <a:srgbClr val="6CA0F6"/>
          </a:solidFill>
          <a:ln/>
        </p:spPr>
        <p:txBody>
          <a:bodyPr/>
          <a:lstStyle/>
          <a:p>
            <a:endParaRPr lang="zh-CN" altLang="en-US"/>
          </a:p>
        </p:txBody>
      </p:sp>
      <p:sp>
        <p:nvSpPr>
          <p:cNvPr id="7" name="Shape 4"/>
          <p:cNvSpPr/>
          <p:nvPr/>
        </p:nvSpPr>
        <p:spPr>
          <a:xfrm>
            <a:off x="571500" y="1107281"/>
            <a:ext cx="357188" cy="357188"/>
          </a:xfrm>
          <a:prstGeom prst="ellipse">
            <a:avLst/>
          </a:prstGeom>
          <a:solidFill>
            <a:srgbClr val="F2F4F8"/>
          </a:solidFill>
          <a:ln/>
        </p:spPr>
        <p:txBody>
          <a:bodyPr/>
          <a:lstStyle/>
          <a:p>
            <a:endParaRPr lang="zh-CN" altLang="en-US"/>
          </a:p>
        </p:txBody>
      </p:sp>
      <p:pic>
        <p:nvPicPr>
          <p:cNvPr id="8" name="Image 1" descr="preencoded.png"/>
          <p:cNvPicPr>
            <a:picLocks noChangeAspect="1"/>
          </p:cNvPicPr>
          <p:nvPr/>
        </p:nvPicPr>
        <p:blipFill>
          <a:blip r:embed="rId4"/>
          <a:stretch>
            <a:fillRect/>
          </a:stretch>
        </p:blipFill>
        <p:spPr>
          <a:xfrm>
            <a:off x="664369" y="1200150"/>
            <a:ext cx="171450" cy="171450"/>
          </a:xfrm>
          <a:prstGeom prst="rect">
            <a:avLst/>
          </a:prstGeom>
        </p:spPr>
      </p:pic>
      <p:sp>
        <p:nvSpPr>
          <p:cNvPr id="9" name="Text 5"/>
          <p:cNvSpPr/>
          <p:nvPr/>
        </p:nvSpPr>
        <p:spPr>
          <a:xfrm>
            <a:off x="571500" y="1607344"/>
            <a:ext cx="2362181" cy="196453"/>
          </a:xfrm>
          <a:prstGeom prst="rect">
            <a:avLst/>
          </a:prstGeom>
          <a:noFill/>
          <a:ln/>
        </p:spPr>
        <p:txBody>
          <a:bodyPr wrap="square" lIns="0" tIns="0" rIns="0" bIns="0" rtlCol="0" anchor="t">
            <a:spAutoFit/>
          </a:bodyPr>
          <a:lstStyle/>
          <a:p>
            <a:pPr marL="0" indent="0" algn="l">
              <a:buNone/>
            </a:pPr>
            <a:r>
              <a:rPr lang="en-US" sz="1000" b="1" dirty="0">
                <a:solidFill>
                  <a:srgbClr val="3253DC"/>
                </a:solidFill>
                <a:latin typeface="Arial" pitchFamily="34" charset="0"/>
                <a:ea typeface="Arial" pitchFamily="34" charset="-122"/>
                <a:cs typeface="Arial" pitchFamily="34" charset="-120"/>
              </a:rPr>
              <a:t>1. 复位释放</a:t>
            </a:r>
            <a:endParaRPr lang="en-US" sz="1000" dirty="0"/>
          </a:p>
        </p:txBody>
      </p:sp>
      <p:sp>
        <p:nvSpPr>
          <p:cNvPr id="10" name="Text 6"/>
          <p:cNvSpPr/>
          <p:nvPr/>
        </p:nvSpPr>
        <p:spPr>
          <a:xfrm>
            <a:off x="571500" y="1935956"/>
            <a:ext cx="1071563"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硬件复位信号释放后，</a:t>
            </a:r>
            <a:endParaRPr lang="en-US" sz="800" dirty="0"/>
          </a:p>
        </p:txBody>
      </p:sp>
      <p:sp>
        <p:nvSpPr>
          <p:cNvPr id="11" name="Text 7"/>
          <p:cNvSpPr/>
          <p:nvPr/>
        </p:nvSpPr>
        <p:spPr>
          <a:xfrm>
            <a:off x="1643063" y="1935956"/>
            <a:ext cx="625357"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csr_stats_init</a:t>
            </a:r>
            <a:endParaRPr lang="en-US" sz="800" dirty="0"/>
          </a:p>
        </p:txBody>
      </p:sp>
      <p:sp>
        <p:nvSpPr>
          <p:cNvPr id="12" name="Text 8"/>
          <p:cNvSpPr/>
          <p:nvPr/>
        </p:nvSpPr>
        <p:spPr>
          <a:xfrm>
            <a:off x="2268420" y="1935956"/>
            <a:ext cx="565584"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模块自动接</a:t>
            </a:r>
            <a:endParaRPr lang="en-US" sz="800" dirty="0"/>
          </a:p>
        </p:txBody>
      </p:sp>
      <p:sp>
        <p:nvSpPr>
          <p:cNvPr id="13" name="Text 9"/>
          <p:cNvSpPr/>
          <p:nvPr/>
        </p:nvSpPr>
        <p:spPr>
          <a:xfrm>
            <a:off x="571500" y="2107406"/>
            <a:ext cx="750094"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管系统控制权。</a:t>
            </a:r>
            <a:endParaRPr lang="en-US" sz="800" dirty="0"/>
          </a:p>
        </p:txBody>
      </p:sp>
      <p:sp>
        <p:nvSpPr>
          <p:cNvPr id="14" name="Text 10"/>
          <p:cNvSpPr/>
          <p:nvPr/>
        </p:nvSpPr>
        <p:spPr>
          <a:xfrm>
            <a:off x="571500" y="2325291"/>
            <a:ext cx="2362181" cy="342900"/>
          </a:xfrm>
          <a:prstGeom prst="rect">
            <a:avLst/>
          </a:prstGeom>
          <a:noFill/>
          <a:ln/>
        </p:spPr>
        <p:txBody>
          <a:bodyPr wrap="squar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所有内部状态寄存器清零，准备进入自动初始化序列。</a:t>
            </a:r>
            <a:endParaRPr lang="en-US" sz="800" dirty="0"/>
          </a:p>
        </p:txBody>
      </p:sp>
      <p:sp>
        <p:nvSpPr>
          <p:cNvPr id="15" name="Shape 11"/>
          <p:cNvSpPr/>
          <p:nvPr/>
        </p:nvSpPr>
        <p:spPr>
          <a:xfrm>
            <a:off x="3219431" y="928688"/>
            <a:ext cx="2676506" cy="2143125"/>
          </a:xfrm>
          <a:prstGeom prst="rect">
            <a:avLst/>
          </a:prstGeom>
          <a:solidFill>
            <a:srgbClr val="FFFFFF"/>
          </a:solidFill>
          <a:ln/>
        </p:spPr>
        <p:txBody>
          <a:bodyPr/>
          <a:lstStyle/>
          <a:p>
            <a:endParaRPr lang="zh-CN" altLang="en-US"/>
          </a:p>
        </p:txBody>
      </p:sp>
      <p:sp>
        <p:nvSpPr>
          <p:cNvPr id="16" name="Shape 12"/>
          <p:cNvSpPr/>
          <p:nvPr/>
        </p:nvSpPr>
        <p:spPr>
          <a:xfrm>
            <a:off x="3219431" y="928688"/>
            <a:ext cx="28575" cy="2143125"/>
          </a:xfrm>
          <a:prstGeom prst="rect">
            <a:avLst/>
          </a:prstGeom>
          <a:solidFill>
            <a:srgbClr val="6CA0F6"/>
          </a:solidFill>
          <a:ln/>
        </p:spPr>
        <p:txBody>
          <a:bodyPr/>
          <a:lstStyle/>
          <a:p>
            <a:endParaRPr lang="zh-CN" altLang="en-US"/>
          </a:p>
        </p:txBody>
      </p:sp>
      <p:sp>
        <p:nvSpPr>
          <p:cNvPr id="17" name="Shape 13"/>
          <p:cNvSpPr/>
          <p:nvPr/>
        </p:nvSpPr>
        <p:spPr>
          <a:xfrm>
            <a:off x="3371850" y="1107281"/>
            <a:ext cx="357188" cy="357188"/>
          </a:xfrm>
          <a:prstGeom prst="ellipse">
            <a:avLst/>
          </a:prstGeom>
          <a:solidFill>
            <a:srgbClr val="F2F4F8"/>
          </a:solidFill>
          <a:ln/>
        </p:spPr>
        <p:txBody>
          <a:bodyPr/>
          <a:lstStyle/>
          <a:p>
            <a:endParaRPr lang="zh-CN" altLang="en-US"/>
          </a:p>
        </p:txBody>
      </p:sp>
      <p:pic>
        <p:nvPicPr>
          <p:cNvPr id="18" name="Image 2" descr="preencoded.png"/>
          <p:cNvPicPr>
            <a:picLocks noChangeAspect="1"/>
          </p:cNvPicPr>
          <p:nvPr/>
        </p:nvPicPr>
        <p:blipFill>
          <a:blip r:embed="rId5"/>
          <a:stretch>
            <a:fillRect/>
          </a:stretch>
        </p:blipFill>
        <p:spPr>
          <a:xfrm>
            <a:off x="3443288" y="1200150"/>
            <a:ext cx="214313" cy="171450"/>
          </a:xfrm>
          <a:prstGeom prst="rect">
            <a:avLst/>
          </a:prstGeom>
        </p:spPr>
      </p:pic>
      <p:sp>
        <p:nvSpPr>
          <p:cNvPr id="19" name="Text 14"/>
          <p:cNvSpPr/>
          <p:nvPr/>
        </p:nvSpPr>
        <p:spPr>
          <a:xfrm>
            <a:off x="3371850" y="1607344"/>
            <a:ext cx="2371725" cy="196453"/>
          </a:xfrm>
          <a:prstGeom prst="rect">
            <a:avLst/>
          </a:prstGeom>
          <a:noFill/>
          <a:ln/>
        </p:spPr>
        <p:txBody>
          <a:bodyPr wrap="square" lIns="0" tIns="0" rIns="0" bIns="0" rtlCol="0" anchor="t">
            <a:spAutoFit/>
          </a:bodyPr>
          <a:lstStyle/>
          <a:p>
            <a:pPr marL="0" indent="0" algn="l">
              <a:buNone/>
            </a:pPr>
            <a:r>
              <a:rPr lang="en-US" sz="1000" b="1" dirty="0">
                <a:solidFill>
                  <a:srgbClr val="3253DC"/>
                </a:solidFill>
                <a:latin typeface="Arial" pitchFamily="34" charset="0"/>
                <a:ea typeface="Arial" pitchFamily="34" charset="-122"/>
                <a:cs typeface="Arial" pitchFamily="34" charset="-120"/>
              </a:rPr>
              <a:t>2. 链表自动构建</a:t>
            </a:r>
            <a:endParaRPr lang="en-US" sz="1000" dirty="0"/>
          </a:p>
        </p:txBody>
      </p:sp>
      <p:sp>
        <p:nvSpPr>
          <p:cNvPr id="20" name="Text 15"/>
          <p:cNvSpPr/>
          <p:nvPr/>
        </p:nvSpPr>
        <p:spPr>
          <a:xfrm>
            <a:off x="3371850" y="1910953"/>
            <a:ext cx="2371725" cy="171450"/>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系统逐拍扫描 Next-Ptr SRAM 的所有地址空间。</a:t>
            </a:r>
            <a:endParaRPr lang="en-US" sz="800" dirty="0"/>
          </a:p>
        </p:txBody>
      </p:sp>
      <p:sp>
        <p:nvSpPr>
          <p:cNvPr id="21" name="Text 16"/>
          <p:cNvSpPr/>
          <p:nvPr/>
        </p:nvSpPr>
        <p:spPr>
          <a:xfrm>
            <a:off x="3371850" y="2178844"/>
            <a:ext cx="351272"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将地址</a:t>
            </a:r>
            <a:endParaRPr lang="en-US" sz="800" dirty="0"/>
          </a:p>
        </p:txBody>
      </p:sp>
      <p:sp>
        <p:nvSpPr>
          <p:cNvPr id="22" name="Text 17"/>
          <p:cNvSpPr/>
          <p:nvPr/>
        </p:nvSpPr>
        <p:spPr>
          <a:xfrm>
            <a:off x="3723122" y="2178844"/>
            <a:ext cx="23831"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i</a:t>
            </a:r>
            <a:endParaRPr lang="en-US" sz="800" dirty="0"/>
          </a:p>
        </p:txBody>
      </p:sp>
      <p:sp>
        <p:nvSpPr>
          <p:cNvPr id="23" name="Text 18"/>
          <p:cNvSpPr/>
          <p:nvPr/>
        </p:nvSpPr>
        <p:spPr>
          <a:xfrm>
            <a:off x="3746953" y="2178844"/>
            <a:ext cx="595331"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的内容指向</a:t>
            </a:r>
            <a:endParaRPr lang="en-US" sz="800" dirty="0"/>
          </a:p>
        </p:txBody>
      </p:sp>
      <p:sp>
        <p:nvSpPr>
          <p:cNvPr id="24" name="Text 19"/>
          <p:cNvSpPr/>
          <p:nvPr/>
        </p:nvSpPr>
        <p:spPr>
          <a:xfrm>
            <a:off x="4342284" y="2178844"/>
            <a:ext cx="146000"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i+1</a:t>
            </a:r>
            <a:endParaRPr lang="en-US" sz="800" dirty="0"/>
          </a:p>
        </p:txBody>
      </p:sp>
      <p:sp>
        <p:nvSpPr>
          <p:cNvPr id="25" name="Text 20"/>
          <p:cNvSpPr/>
          <p:nvPr/>
        </p:nvSpPr>
        <p:spPr>
          <a:xfrm>
            <a:off x="4488284" y="2178844"/>
            <a:ext cx="1226437"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，从而在 SRAM 中构建出</a:t>
            </a:r>
            <a:endParaRPr lang="en-US" sz="800" dirty="0"/>
          </a:p>
        </p:txBody>
      </p:sp>
      <p:sp>
        <p:nvSpPr>
          <p:cNvPr id="26" name="Text 21"/>
          <p:cNvSpPr/>
          <p:nvPr/>
        </p:nvSpPr>
        <p:spPr>
          <a:xfrm>
            <a:off x="3371850" y="2350294"/>
            <a:ext cx="1101365"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一条覆盖全空间的初始</a:t>
            </a:r>
            <a:endParaRPr lang="en-US" sz="800" dirty="0"/>
          </a:p>
        </p:txBody>
      </p:sp>
      <p:sp>
        <p:nvSpPr>
          <p:cNvPr id="27" name="Text 22"/>
          <p:cNvSpPr/>
          <p:nvPr/>
        </p:nvSpPr>
        <p:spPr>
          <a:xfrm>
            <a:off x="4473215" y="2350294"/>
            <a:ext cx="363327" cy="117872"/>
          </a:xfrm>
          <a:prstGeom prst="rect">
            <a:avLst/>
          </a:prstGeom>
          <a:noFill/>
          <a:ln/>
        </p:spPr>
        <p:txBody>
          <a:bodyPr wrap="none" lIns="0" tIns="0" rIns="0" bIns="0" rtlCol="0" anchor="t">
            <a:spAutoFit/>
          </a:bodyPr>
          <a:lstStyle/>
          <a:p>
            <a:pPr marL="0" indent="0" algn="l">
              <a:lnSpc>
                <a:spcPct val="128000"/>
              </a:lnSpc>
              <a:buNone/>
            </a:pPr>
            <a:r>
              <a:rPr lang="en-US" sz="750" b="1" dirty="0">
                <a:solidFill>
                  <a:srgbClr val="2E2E38"/>
                </a:solidFill>
                <a:latin typeface="Arial" pitchFamily="34" charset="0"/>
                <a:ea typeface="Arial" pitchFamily="34" charset="-122"/>
                <a:cs typeface="Arial" pitchFamily="34" charset="-120"/>
              </a:rPr>
              <a:t>Free 链</a:t>
            </a:r>
            <a:endParaRPr lang="en-US" sz="750" dirty="0"/>
          </a:p>
        </p:txBody>
      </p:sp>
      <p:sp>
        <p:nvSpPr>
          <p:cNvPr id="28" name="Text 23"/>
          <p:cNvSpPr/>
          <p:nvPr/>
        </p:nvSpPr>
        <p:spPr>
          <a:xfrm>
            <a:off x="4836542" y="2350294"/>
            <a:ext cx="107156"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a:t>
            </a:r>
            <a:endParaRPr lang="en-US" sz="800" dirty="0"/>
          </a:p>
        </p:txBody>
      </p:sp>
      <p:sp>
        <p:nvSpPr>
          <p:cNvPr id="29" name="Shape 24"/>
          <p:cNvSpPr/>
          <p:nvPr/>
        </p:nvSpPr>
        <p:spPr>
          <a:xfrm>
            <a:off x="6029325" y="928688"/>
            <a:ext cx="2686050" cy="2143125"/>
          </a:xfrm>
          <a:prstGeom prst="rect">
            <a:avLst/>
          </a:prstGeom>
          <a:solidFill>
            <a:srgbClr val="FFFFFF"/>
          </a:solidFill>
          <a:ln/>
        </p:spPr>
        <p:txBody>
          <a:bodyPr/>
          <a:lstStyle/>
          <a:p>
            <a:endParaRPr lang="zh-CN" altLang="en-US"/>
          </a:p>
        </p:txBody>
      </p:sp>
      <p:sp>
        <p:nvSpPr>
          <p:cNvPr id="30" name="Shape 25"/>
          <p:cNvSpPr/>
          <p:nvPr/>
        </p:nvSpPr>
        <p:spPr>
          <a:xfrm>
            <a:off x="6029325" y="928688"/>
            <a:ext cx="28575" cy="2143125"/>
          </a:xfrm>
          <a:prstGeom prst="rect">
            <a:avLst/>
          </a:prstGeom>
          <a:solidFill>
            <a:srgbClr val="6CA0F6"/>
          </a:solidFill>
          <a:ln/>
        </p:spPr>
        <p:txBody>
          <a:bodyPr/>
          <a:lstStyle/>
          <a:p>
            <a:endParaRPr lang="zh-CN" altLang="en-US"/>
          </a:p>
        </p:txBody>
      </p:sp>
      <p:sp>
        <p:nvSpPr>
          <p:cNvPr id="31" name="Shape 26"/>
          <p:cNvSpPr/>
          <p:nvPr/>
        </p:nvSpPr>
        <p:spPr>
          <a:xfrm>
            <a:off x="6191287" y="1107281"/>
            <a:ext cx="357188" cy="357188"/>
          </a:xfrm>
          <a:prstGeom prst="ellipse">
            <a:avLst/>
          </a:prstGeom>
          <a:solidFill>
            <a:srgbClr val="F2F4F8"/>
          </a:solidFill>
          <a:ln/>
        </p:spPr>
        <p:txBody>
          <a:bodyPr/>
          <a:lstStyle/>
          <a:p>
            <a:endParaRPr lang="zh-CN" altLang="en-US"/>
          </a:p>
        </p:txBody>
      </p:sp>
      <p:pic>
        <p:nvPicPr>
          <p:cNvPr id="32" name="Image 3" descr="preencoded.png"/>
          <p:cNvPicPr>
            <a:picLocks noChangeAspect="1"/>
          </p:cNvPicPr>
          <p:nvPr/>
        </p:nvPicPr>
        <p:blipFill>
          <a:blip r:embed="rId6"/>
          <a:stretch>
            <a:fillRect/>
          </a:stretch>
        </p:blipFill>
        <p:spPr>
          <a:xfrm>
            <a:off x="6284156" y="1200150"/>
            <a:ext cx="171450" cy="171450"/>
          </a:xfrm>
          <a:prstGeom prst="rect">
            <a:avLst/>
          </a:prstGeom>
        </p:spPr>
      </p:pic>
      <p:sp>
        <p:nvSpPr>
          <p:cNvPr id="33" name="Text 27"/>
          <p:cNvSpPr/>
          <p:nvPr/>
        </p:nvSpPr>
        <p:spPr>
          <a:xfrm>
            <a:off x="6191287" y="1607344"/>
            <a:ext cx="2381269" cy="196453"/>
          </a:xfrm>
          <a:prstGeom prst="rect">
            <a:avLst/>
          </a:prstGeom>
          <a:noFill/>
          <a:ln/>
        </p:spPr>
        <p:txBody>
          <a:bodyPr wrap="square" lIns="0" tIns="0" rIns="0" bIns="0" rtlCol="0" anchor="t">
            <a:spAutoFit/>
          </a:bodyPr>
          <a:lstStyle/>
          <a:p>
            <a:pPr marL="0" indent="0" algn="l">
              <a:buNone/>
            </a:pPr>
            <a:r>
              <a:rPr lang="en-US" sz="1000" b="1" dirty="0">
                <a:solidFill>
                  <a:srgbClr val="3253DC"/>
                </a:solidFill>
                <a:latin typeface="Arial" pitchFamily="34" charset="0"/>
                <a:ea typeface="Arial" pitchFamily="34" charset="-122"/>
                <a:cs typeface="Arial" pitchFamily="34" charset="-120"/>
              </a:rPr>
              <a:t>3. 状态就绪</a:t>
            </a:r>
            <a:endParaRPr lang="en-US" sz="1000" dirty="0"/>
          </a:p>
        </p:txBody>
      </p:sp>
      <p:sp>
        <p:nvSpPr>
          <p:cNvPr id="34" name="Text 28"/>
          <p:cNvSpPr/>
          <p:nvPr/>
        </p:nvSpPr>
        <p:spPr>
          <a:xfrm>
            <a:off x="6191287" y="1935956"/>
            <a:ext cx="351272"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初始化</a:t>
            </a:r>
            <a:endParaRPr lang="en-US" sz="800" dirty="0"/>
          </a:p>
        </p:txBody>
      </p:sp>
      <p:sp>
        <p:nvSpPr>
          <p:cNvPr id="35" name="Text 29"/>
          <p:cNvSpPr/>
          <p:nvPr/>
        </p:nvSpPr>
        <p:spPr>
          <a:xfrm>
            <a:off x="6542559" y="1935956"/>
            <a:ext cx="482650"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free_head</a:t>
            </a:r>
            <a:endParaRPr lang="en-US" sz="800" dirty="0"/>
          </a:p>
        </p:txBody>
      </p:sp>
      <p:sp>
        <p:nvSpPr>
          <p:cNvPr id="36" name="Text 30"/>
          <p:cNvSpPr/>
          <p:nvPr/>
        </p:nvSpPr>
        <p:spPr>
          <a:xfrm>
            <a:off x="7025208" y="1935956"/>
            <a:ext cx="333468"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为 0，</a:t>
            </a:r>
            <a:endParaRPr lang="en-US" sz="800" dirty="0"/>
          </a:p>
        </p:txBody>
      </p:sp>
      <p:sp>
        <p:nvSpPr>
          <p:cNvPr id="37" name="Text 31"/>
          <p:cNvSpPr/>
          <p:nvPr/>
        </p:nvSpPr>
        <p:spPr>
          <a:xfrm>
            <a:off x="7358676" y="1935956"/>
            <a:ext cx="381242"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free_tail</a:t>
            </a:r>
            <a:endParaRPr lang="en-US" sz="800" dirty="0"/>
          </a:p>
        </p:txBody>
      </p:sp>
      <p:sp>
        <p:nvSpPr>
          <p:cNvPr id="38" name="Text 32"/>
          <p:cNvSpPr/>
          <p:nvPr/>
        </p:nvSpPr>
        <p:spPr>
          <a:xfrm>
            <a:off x="7739918" y="1935956"/>
            <a:ext cx="672740"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为最大地址。</a:t>
            </a:r>
            <a:endParaRPr lang="en-US" sz="800" dirty="0"/>
          </a:p>
        </p:txBody>
      </p:sp>
      <p:sp>
        <p:nvSpPr>
          <p:cNvPr id="39" name="Text 33"/>
          <p:cNvSpPr/>
          <p:nvPr/>
        </p:nvSpPr>
        <p:spPr>
          <a:xfrm>
            <a:off x="6191287" y="2178844"/>
            <a:ext cx="244115"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断言</a:t>
            </a:r>
            <a:endParaRPr lang="en-US" sz="800" dirty="0"/>
          </a:p>
        </p:txBody>
      </p:sp>
      <p:sp>
        <p:nvSpPr>
          <p:cNvPr id="40" name="Text 34"/>
          <p:cNvSpPr/>
          <p:nvPr/>
        </p:nvSpPr>
        <p:spPr>
          <a:xfrm>
            <a:off x="6435403" y="2178844"/>
            <a:ext cx="434987"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init_done</a:t>
            </a:r>
            <a:endParaRPr lang="en-US" sz="800" dirty="0"/>
          </a:p>
        </p:txBody>
      </p:sp>
      <p:sp>
        <p:nvSpPr>
          <p:cNvPr id="41" name="Text 35"/>
          <p:cNvSpPr/>
          <p:nvPr/>
        </p:nvSpPr>
        <p:spPr>
          <a:xfrm>
            <a:off x="6870390" y="2178844"/>
            <a:ext cx="1363284" cy="117872"/>
          </a:xfrm>
          <a:prstGeom prst="rect">
            <a:avLst/>
          </a:prstGeom>
          <a:noFill/>
          <a:ln/>
        </p:spPr>
        <p:txBody>
          <a:bodyPr wrap="non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信号，通知 QM 与其他模块</a:t>
            </a:r>
            <a:endParaRPr lang="en-US" sz="800" dirty="0"/>
          </a:p>
        </p:txBody>
      </p:sp>
      <p:sp>
        <p:nvSpPr>
          <p:cNvPr id="42" name="Text 36"/>
          <p:cNvSpPr/>
          <p:nvPr/>
        </p:nvSpPr>
        <p:spPr>
          <a:xfrm>
            <a:off x="6191287" y="2178844"/>
            <a:ext cx="2369772" cy="289322"/>
          </a:xfrm>
          <a:prstGeom prst="rect">
            <a:avLst/>
          </a:prstGeom>
          <a:noFill/>
          <a:ln/>
        </p:spPr>
        <p:txBody>
          <a:bodyPr wrap="squar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SMMU 已进入 Ready 状态，可以接收业务请求。</a:t>
            </a:r>
            <a:endParaRPr lang="en-US" sz="800" dirty="0"/>
          </a:p>
        </p:txBody>
      </p:sp>
      <p:sp>
        <p:nvSpPr>
          <p:cNvPr id="43" name="Shape 37"/>
          <p:cNvSpPr/>
          <p:nvPr/>
        </p:nvSpPr>
        <p:spPr>
          <a:xfrm>
            <a:off x="428625" y="3357563"/>
            <a:ext cx="2857500" cy="1285875"/>
          </a:xfrm>
          <a:prstGeom prst="rect">
            <a:avLst/>
          </a:prstGeom>
          <a:solidFill>
            <a:srgbClr val="FFFFFF"/>
          </a:solidFill>
          <a:ln/>
        </p:spPr>
        <p:txBody>
          <a:bodyPr/>
          <a:lstStyle/>
          <a:p>
            <a:endParaRPr lang="zh-CN" altLang="en-US"/>
          </a:p>
        </p:txBody>
      </p:sp>
      <p:pic>
        <p:nvPicPr>
          <p:cNvPr id="44" name="Image 4" descr="preencoded.png"/>
          <p:cNvPicPr>
            <a:picLocks noChangeAspect="1"/>
          </p:cNvPicPr>
          <p:nvPr/>
        </p:nvPicPr>
        <p:blipFill>
          <a:blip r:embed="rId7"/>
          <a:stretch>
            <a:fillRect/>
          </a:stretch>
        </p:blipFill>
        <p:spPr>
          <a:xfrm>
            <a:off x="428625" y="3357563"/>
            <a:ext cx="2857500" cy="1285875"/>
          </a:xfrm>
          <a:prstGeom prst="rect">
            <a:avLst/>
          </a:prstGeom>
        </p:spPr>
      </p:pic>
      <p:sp>
        <p:nvSpPr>
          <p:cNvPr id="45" name="Shape 38"/>
          <p:cNvSpPr/>
          <p:nvPr/>
        </p:nvSpPr>
        <p:spPr>
          <a:xfrm>
            <a:off x="3500438" y="3357563"/>
            <a:ext cx="5214938" cy="1285875"/>
          </a:xfrm>
          <a:prstGeom prst="rect">
            <a:avLst/>
          </a:prstGeom>
          <a:solidFill>
            <a:srgbClr val="FFFFFF"/>
          </a:solidFill>
          <a:ln/>
        </p:spPr>
        <p:txBody>
          <a:bodyPr/>
          <a:lstStyle/>
          <a:p>
            <a:endParaRPr lang="zh-CN" altLang="en-US"/>
          </a:p>
        </p:txBody>
      </p:sp>
      <p:sp>
        <p:nvSpPr>
          <p:cNvPr id="46" name="Shape 39"/>
          <p:cNvSpPr/>
          <p:nvPr/>
        </p:nvSpPr>
        <p:spPr>
          <a:xfrm>
            <a:off x="3500438" y="3357563"/>
            <a:ext cx="28575" cy="1285875"/>
          </a:xfrm>
          <a:prstGeom prst="rect">
            <a:avLst/>
          </a:prstGeom>
          <a:solidFill>
            <a:srgbClr val="3DBB6B"/>
          </a:solidFill>
          <a:ln/>
        </p:spPr>
        <p:txBody>
          <a:bodyPr/>
          <a:lstStyle/>
          <a:p>
            <a:endParaRPr lang="zh-CN" altLang="en-US"/>
          </a:p>
        </p:txBody>
      </p:sp>
      <p:pic>
        <p:nvPicPr>
          <p:cNvPr id="47" name="Image 5" descr="preencoded.png"/>
          <p:cNvPicPr>
            <a:picLocks noChangeAspect="1"/>
          </p:cNvPicPr>
          <p:nvPr/>
        </p:nvPicPr>
        <p:blipFill>
          <a:blip r:embed="rId8"/>
          <a:stretch>
            <a:fillRect/>
          </a:stretch>
        </p:blipFill>
        <p:spPr>
          <a:xfrm>
            <a:off x="3679031" y="3518297"/>
            <a:ext cx="128588" cy="128588"/>
          </a:xfrm>
          <a:prstGeom prst="rect">
            <a:avLst/>
          </a:prstGeom>
        </p:spPr>
      </p:pic>
      <p:sp>
        <p:nvSpPr>
          <p:cNvPr id="48" name="Text 40"/>
          <p:cNvSpPr/>
          <p:nvPr/>
        </p:nvSpPr>
        <p:spPr>
          <a:xfrm>
            <a:off x="3807619" y="3511153"/>
            <a:ext cx="550125" cy="146447"/>
          </a:xfrm>
          <a:prstGeom prst="rect">
            <a:avLst/>
          </a:prstGeom>
          <a:noFill/>
          <a:ln/>
        </p:spPr>
        <p:txBody>
          <a:bodyPr wrap="none" lIns="0" tIns="0" rIns="0" bIns="0" rtlCol="0" anchor="t">
            <a:spAutoFit/>
          </a:bodyPr>
          <a:lstStyle/>
          <a:p>
            <a:pPr marL="0" indent="0" algn="l">
              <a:buNone/>
            </a:pPr>
            <a:r>
              <a:rPr lang="en-US" sz="900" b="1" dirty="0">
                <a:solidFill>
                  <a:srgbClr val="3DBB6B"/>
                </a:solidFill>
                <a:latin typeface="Arial" pitchFamily="34" charset="0"/>
                <a:ea typeface="Arial" pitchFamily="34" charset="-122"/>
                <a:cs typeface="Arial" pitchFamily="34" charset="-120"/>
              </a:rPr>
              <a:t>设计优势</a:t>
            </a:r>
            <a:endParaRPr lang="en-US" sz="900" dirty="0"/>
          </a:p>
        </p:txBody>
      </p:sp>
      <p:sp>
        <p:nvSpPr>
          <p:cNvPr id="49" name="Text 41"/>
          <p:cNvSpPr/>
          <p:nvPr/>
        </p:nvSpPr>
        <p:spPr>
          <a:xfrm>
            <a:off x="3679031" y="3746897"/>
            <a:ext cx="4857750" cy="342900"/>
          </a:xfrm>
          <a:prstGeom prst="rect">
            <a:avLst/>
          </a:prstGeom>
          <a:noFill/>
          <a:ln/>
        </p:spPr>
        <p:txBody>
          <a:bodyPr wrap="squar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通过硬件自动初始化机制，避免了软件逐个配置 SRAM 地址的繁琐过程，极大缩短了芯片上电后的 Ready 时间。同时，这种确定性的链表构建方式也为后续的地址管理提供了可靠的基准。</a:t>
            </a:r>
            <a:endParaRPr lang="en-US" sz="800" dirty="0"/>
          </a:p>
        </p:txBody>
      </p:sp>
      <p:sp>
        <p:nvSpPr>
          <p:cNvPr id="50" name="Text 42"/>
          <p:cNvSpPr/>
          <p:nvPr/>
        </p:nvSpPr>
        <p:spPr>
          <a:xfrm>
            <a:off x="428625" y="4879181"/>
            <a:ext cx="857473"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SMMU Design Review</a:t>
            </a:r>
            <a:endParaRPr lang="en-US" sz="600" dirty="0"/>
          </a:p>
        </p:txBody>
      </p:sp>
      <p:sp>
        <p:nvSpPr>
          <p:cNvPr id="51" name="Text 43"/>
          <p:cNvSpPr/>
          <p:nvPr/>
        </p:nvSpPr>
        <p:spPr>
          <a:xfrm>
            <a:off x="8395971" y="4879181"/>
            <a:ext cx="319404"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Page 28</a:t>
            </a:r>
            <a:endParaRPr lang="en-US" sz="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71500"/>
          </a:xfrm>
          <a:prstGeom prst="rect">
            <a:avLst/>
          </a:prstGeom>
          <a:solidFill>
            <a:srgbClr val="3253DC"/>
          </a:solidFill>
          <a:ln/>
        </p:spPr>
        <p:txBody>
          <a:bodyPr/>
          <a:lstStyle/>
          <a:p>
            <a:endParaRPr lang="zh-CN" altLang="en-US"/>
          </a:p>
        </p:txBody>
      </p:sp>
      <p:sp>
        <p:nvSpPr>
          <p:cNvPr id="4" name="Text 1"/>
          <p:cNvSpPr/>
          <p:nvPr/>
        </p:nvSpPr>
        <p:spPr>
          <a:xfrm>
            <a:off x="428625" y="130373"/>
            <a:ext cx="3340708" cy="310753"/>
          </a:xfrm>
          <a:prstGeom prst="rect">
            <a:avLst/>
          </a:prstGeom>
          <a:noFill/>
          <a:ln/>
        </p:spPr>
        <p:txBody>
          <a:bodyPr wrap="square" lIns="0" tIns="0" rIns="0" bIns="0" rtlCol="0" anchor="t">
            <a:spAutoFit/>
          </a:bodyPr>
          <a:lstStyle/>
          <a:p>
            <a:pPr marL="0" indent="0" algn="l">
              <a:buNone/>
            </a:pPr>
            <a:r>
              <a:rPr lang="en-US" sz="1600" b="1" dirty="0">
                <a:solidFill>
                  <a:srgbClr val="FFFFFF"/>
                </a:solidFill>
                <a:latin typeface="Arial" pitchFamily="34" charset="0"/>
                <a:ea typeface="Arial" pitchFamily="34" charset="-122"/>
                <a:cs typeface="Arial" pitchFamily="34" charset="-120"/>
              </a:rPr>
              <a:t>验证方案 (Verification Strategy)</a:t>
            </a:r>
            <a:endParaRPr lang="en-US" sz="1600" dirty="0"/>
          </a:p>
        </p:txBody>
      </p:sp>
      <p:sp>
        <p:nvSpPr>
          <p:cNvPr id="5" name="Shape 2"/>
          <p:cNvSpPr/>
          <p:nvPr/>
        </p:nvSpPr>
        <p:spPr>
          <a:xfrm>
            <a:off x="428625" y="785813"/>
            <a:ext cx="3000375" cy="1071563"/>
          </a:xfrm>
          <a:prstGeom prst="rect">
            <a:avLst/>
          </a:prstGeom>
          <a:solidFill>
            <a:srgbClr val="FFFFFF"/>
          </a:solidFill>
          <a:ln/>
        </p:spPr>
        <p:txBody>
          <a:bodyPr/>
          <a:lstStyle/>
          <a:p>
            <a:endParaRPr lang="zh-CN" altLang="en-US"/>
          </a:p>
        </p:txBody>
      </p:sp>
      <p:sp>
        <p:nvSpPr>
          <p:cNvPr id="6" name="Shape 3"/>
          <p:cNvSpPr/>
          <p:nvPr/>
        </p:nvSpPr>
        <p:spPr>
          <a:xfrm>
            <a:off x="428625" y="785813"/>
            <a:ext cx="28575" cy="1071563"/>
          </a:xfrm>
          <a:prstGeom prst="rect">
            <a:avLst/>
          </a:prstGeom>
          <a:solidFill>
            <a:srgbClr val="6CA0F6"/>
          </a:solidFill>
          <a:ln/>
        </p:spPr>
        <p:txBody>
          <a:bodyPr/>
          <a:lstStyle/>
          <a:p>
            <a:endParaRPr lang="zh-CN" altLang="en-US"/>
          </a:p>
        </p:txBody>
      </p:sp>
      <p:sp>
        <p:nvSpPr>
          <p:cNvPr id="7" name="Text 4"/>
          <p:cNvSpPr/>
          <p:nvPr/>
        </p:nvSpPr>
        <p:spPr>
          <a:xfrm>
            <a:off x="607219" y="928688"/>
            <a:ext cx="2643188" cy="196453"/>
          </a:xfrm>
          <a:prstGeom prst="rect">
            <a:avLst/>
          </a:prstGeom>
          <a:noFill/>
          <a:ln/>
        </p:spPr>
        <p:txBody>
          <a:bodyPr wrap="square" lIns="0" tIns="0" rIns="0" bIns="0" rtlCol="0" anchor="t">
            <a:spAutoFit/>
          </a:bodyPr>
          <a:lstStyle/>
          <a:p>
            <a:pPr marL="0" indent="0" algn="l">
              <a:buNone/>
            </a:pPr>
            <a:r>
              <a:rPr lang="en-US" sz="1000" b="1" dirty="0">
                <a:solidFill>
                  <a:srgbClr val="3253DC"/>
                </a:solidFill>
                <a:latin typeface="Arial" pitchFamily="34" charset="0"/>
                <a:ea typeface="Arial" pitchFamily="34" charset="-122"/>
                <a:cs typeface="Arial" pitchFamily="34" charset="-120"/>
              </a:rPr>
              <a:t>随机测试与覆盖率</a:t>
            </a:r>
            <a:endParaRPr lang="en-US" sz="1000" dirty="0"/>
          </a:p>
        </p:txBody>
      </p:sp>
      <p:sp>
        <p:nvSpPr>
          <p:cNvPr id="8" name="Text 5"/>
          <p:cNvSpPr/>
          <p:nvPr/>
        </p:nvSpPr>
        <p:spPr>
          <a:xfrm>
            <a:off x="607219" y="1210866"/>
            <a:ext cx="2643188" cy="514350"/>
          </a:xfrm>
          <a:prstGeom prst="rect">
            <a:avLst/>
          </a:prstGeom>
          <a:noFill/>
          <a:ln/>
        </p:spPr>
        <p:txBody>
          <a:bodyPr wrap="squar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基于 </a:t>
            </a:r>
            <a:r>
              <a:rPr lang="en-US" sz="750" b="1" dirty="0">
                <a:solidFill>
                  <a:srgbClr val="2E2E38"/>
                </a:solidFill>
                <a:latin typeface="Arial" pitchFamily="34" charset="0"/>
                <a:ea typeface="Arial" pitchFamily="34" charset="-122"/>
                <a:cs typeface="Arial" pitchFamily="34" charset="-120"/>
              </a:rPr>
              <a:t>UVM</a:t>
            </a:r>
            <a:r>
              <a:rPr lang="en-US" sz="800" dirty="0">
                <a:solidFill>
                  <a:srgbClr val="2E2E38"/>
                </a:solidFill>
                <a:latin typeface="Arial" pitchFamily="34" charset="0"/>
                <a:ea typeface="Arial" pitchFamily="34" charset="-122"/>
                <a:cs typeface="Arial" pitchFamily="34" charset="-120"/>
              </a:rPr>
              <a:t> 搭建验证平台，通过海量随机包长、随机间隔及随机背压测试，确保 100% 的功能覆盖率与翻转覆盖率。</a:t>
            </a:r>
            <a:endParaRPr lang="en-US" sz="800" dirty="0"/>
          </a:p>
        </p:txBody>
      </p:sp>
      <p:sp>
        <p:nvSpPr>
          <p:cNvPr id="9" name="Shape 6"/>
          <p:cNvSpPr/>
          <p:nvPr/>
        </p:nvSpPr>
        <p:spPr>
          <a:xfrm>
            <a:off x="428625" y="2000250"/>
            <a:ext cx="3000375" cy="1071563"/>
          </a:xfrm>
          <a:prstGeom prst="rect">
            <a:avLst/>
          </a:prstGeom>
          <a:solidFill>
            <a:srgbClr val="FFFFFF"/>
          </a:solidFill>
          <a:ln/>
        </p:spPr>
        <p:txBody>
          <a:bodyPr/>
          <a:lstStyle/>
          <a:p>
            <a:endParaRPr lang="zh-CN" altLang="en-US"/>
          </a:p>
        </p:txBody>
      </p:sp>
      <p:sp>
        <p:nvSpPr>
          <p:cNvPr id="10" name="Shape 7"/>
          <p:cNvSpPr/>
          <p:nvPr/>
        </p:nvSpPr>
        <p:spPr>
          <a:xfrm>
            <a:off x="428625" y="2000250"/>
            <a:ext cx="28575" cy="1071563"/>
          </a:xfrm>
          <a:prstGeom prst="rect">
            <a:avLst/>
          </a:prstGeom>
          <a:solidFill>
            <a:srgbClr val="6CA0F6"/>
          </a:solidFill>
          <a:ln/>
        </p:spPr>
        <p:txBody>
          <a:bodyPr/>
          <a:lstStyle/>
          <a:p>
            <a:endParaRPr lang="zh-CN" altLang="en-US"/>
          </a:p>
        </p:txBody>
      </p:sp>
      <p:sp>
        <p:nvSpPr>
          <p:cNvPr id="11" name="Text 8"/>
          <p:cNvSpPr/>
          <p:nvPr/>
        </p:nvSpPr>
        <p:spPr>
          <a:xfrm>
            <a:off x="607219" y="2143125"/>
            <a:ext cx="2643188" cy="196453"/>
          </a:xfrm>
          <a:prstGeom prst="rect">
            <a:avLst/>
          </a:prstGeom>
          <a:noFill/>
          <a:ln/>
        </p:spPr>
        <p:txBody>
          <a:bodyPr wrap="square" lIns="0" tIns="0" rIns="0" bIns="0" rtlCol="0" anchor="t">
            <a:spAutoFit/>
          </a:bodyPr>
          <a:lstStyle/>
          <a:p>
            <a:pPr marL="0" indent="0" algn="l">
              <a:buNone/>
            </a:pPr>
            <a:r>
              <a:rPr lang="en-US" sz="1000" b="1" dirty="0">
                <a:solidFill>
                  <a:srgbClr val="3253DC"/>
                </a:solidFill>
                <a:latin typeface="Arial" pitchFamily="34" charset="0"/>
                <a:ea typeface="Arial" pitchFamily="34" charset="-122"/>
                <a:cs typeface="Arial" pitchFamily="34" charset="-120"/>
              </a:rPr>
              <a:t>形式化验证 (Formal)</a:t>
            </a:r>
            <a:endParaRPr lang="en-US" sz="1000" dirty="0"/>
          </a:p>
        </p:txBody>
      </p:sp>
      <p:sp>
        <p:nvSpPr>
          <p:cNvPr id="12" name="Text 9"/>
          <p:cNvSpPr/>
          <p:nvPr/>
        </p:nvSpPr>
        <p:spPr>
          <a:xfrm>
            <a:off x="607219" y="2425303"/>
            <a:ext cx="2643188" cy="342900"/>
          </a:xfrm>
          <a:prstGeom prst="rect">
            <a:avLst/>
          </a:prstGeom>
          <a:noFill/>
          <a:ln/>
        </p:spPr>
        <p:txBody>
          <a:bodyPr wrap="squar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针对核心链表逻辑（如地址不丢失、不重复分配）进行 </a:t>
            </a:r>
            <a:r>
              <a:rPr lang="en-US" sz="750" b="1" dirty="0">
                <a:solidFill>
                  <a:srgbClr val="2E2E38"/>
                </a:solidFill>
                <a:latin typeface="Arial" pitchFamily="34" charset="0"/>
                <a:ea typeface="Arial" pitchFamily="34" charset="-122"/>
                <a:cs typeface="Arial" pitchFamily="34" charset="-120"/>
              </a:rPr>
              <a:t>Formal 证明</a:t>
            </a:r>
            <a:r>
              <a:rPr lang="en-US" sz="800" dirty="0">
                <a:solidFill>
                  <a:srgbClr val="2E2E38"/>
                </a:solidFill>
                <a:latin typeface="Arial" pitchFamily="34" charset="0"/>
                <a:ea typeface="Arial" pitchFamily="34" charset="-122"/>
                <a:cs typeface="Arial" pitchFamily="34" charset="-120"/>
              </a:rPr>
              <a:t>，从数学层面确保数据结构的绝对正确性。</a:t>
            </a:r>
            <a:endParaRPr lang="en-US" sz="800" dirty="0"/>
          </a:p>
        </p:txBody>
      </p:sp>
      <p:sp>
        <p:nvSpPr>
          <p:cNvPr id="13" name="Shape 10"/>
          <p:cNvSpPr/>
          <p:nvPr/>
        </p:nvSpPr>
        <p:spPr>
          <a:xfrm>
            <a:off x="428625" y="3214688"/>
            <a:ext cx="3000375" cy="1071563"/>
          </a:xfrm>
          <a:prstGeom prst="rect">
            <a:avLst/>
          </a:prstGeom>
          <a:solidFill>
            <a:srgbClr val="FFFFFF"/>
          </a:solidFill>
          <a:ln/>
        </p:spPr>
        <p:txBody>
          <a:bodyPr/>
          <a:lstStyle/>
          <a:p>
            <a:endParaRPr lang="zh-CN" altLang="en-US"/>
          </a:p>
        </p:txBody>
      </p:sp>
      <p:sp>
        <p:nvSpPr>
          <p:cNvPr id="14" name="Shape 11"/>
          <p:cNvSpPr/>
          <p:nvPr/>
        </p:nvSpPr>
        <p:spPr>
          <a:xfrm>
            <a:off x="428625" y="3214688"/>
            <a:ext cx="28575" cy="1071563"/>
          </a:xfrm>
          <a:prstGeom prst="rect">
            <a:avLst/>
          </a:prstGeom>
          <a:solidFill>
            <a:srgbClr val="6CA0F6"/>
          </a:solidFill>
          <a:ln/>
        </p:spPr>
        <p:txBody>
          <a:bodyPr/>
          <a:lstStyle/>
          <a:p>
            <a:endParaRPr lang="zh-CN" altLang="en-US"/>
          </a:p>
        </p:txBody>
      </p:sp>
      <p:sp>
        <p:nvSpPr>
          <p:cNvPr id="15" name="Text 12"/>
          <p:cNvSpPr/>
          <p:nvPr/>
        </p:nvSpPr>
        <p:spPr>
          <a:xfrm>
            <a:off x="607219" y="3357563"/>
            <a:ext cx="2643188" cy="196453"/>
          </a:xfrm>
          <a:prstGeom prst="rect">
            <a:avLst/>
          </a:prstGeom>
          <a:noFill/>
          <a:ln/>
        </p:spPr>
        <p:txBody>
          <a:bodyPr wrap="square" lIns="0" tIns="0" rIns="0" bIns="0" rtlCol="0" anchor="t">
            <a:spAutoFit/>
          </a:bodyPr>
          <a:lstStyle/>
          <a:p>
            <a:pPr marL="0" indent="0" algn="l">
              <a:buNone/>
            </a:pPr>
            <a:r>
              <a:rPr lang="en-US" sz="1000" b="1" dirty="0">
                <a:solidFill>
                  <a:srgbClr val="3253DC"/>
                </a:solidFill>
                <a:latin typeface="Arial" pitchFamily="34" charset="0"/>
                <a:ea typeface="Arial" pitchFamily="34" charset="-122"/>
                <a:cs typeface="Arial" pitchFamily="34" charset="-120"/>
              </a:rPr>
              <a:t>异常注入与压力测试</a:t>
            </a:r>
            <a:endParaRPr lang="en-US" sz="1000" dirty="0"/>
          </a:p>
        </p:txBody>
      </p:sp>
      <p:sp>
        <p:nvSpPr>
          <p:cNvPr id="16" name="Text 13"/>
          <p:cNvSpPr/>
          <p:nvPr/>
        </p:nvSpPr>
        <p:spPr>
          <a:xfrm>
            <a:off x="607219" y="3639741"/>
            <a:ext cx="2643188" cy="514350"/>
          </a:xfrm>
          <a:prstGeom prst="rect">
            <a:avLst/>
          </a:prstGeom>
          <a:noFill/>
          <a:ln/>
        </p:spPr>
        <p:txBody>
          <a:bodyPr wrap="square" lIns="0" tIns="0" rIns="0" bIns="0" rtlCol="0" anchor="t">
            <a:spAutoFit/>
          </a:bodyPr>
          <a:lstStyle/>
          <a:p>
            <a:pPr marL="0" indent="0" algn="l">
              <a:lnSpc>
                <a:spcPct val="128000"/>
              </a:lnSpc>
              <a:buNone/>
            </a:pPr>
            <a:r>
              <a:rPr lang="en-US" sz="800" dirty="0">
                <a:solidFill>
                  <a:srgbClr val="2E2E38"/>
                </a:solidFill>
                <a:latin typeface="Arial" pitchFamily="34" charset="0"/>
                <a:ea typeface="Arial" pitchFamily="34" charset="-122"/>
                <a:cs typeface="Arial" pitchFamily="34" charset="-120"/>
              </a:rPr>
              <a:t>模拟 SRAM ECC 报错、非法命令序列等 </a:t>
            </a:r>
            <a:r>
              <a:rPr lang="en-US" sz="750" b="1" dirty="0">
                <a:solidFill>
                  <a:srgbClr val="2E2E38"/>
                </a:solidFill>
                <a:latin typeface="Arial" pitchFamily="34" charset="0"/>
                <a:ea typeface="Arial" pitchFamily="34" charset="-122"/>
                <a:cs typeface="Arial" pitchFamily="34" charset="-120"/>
              </a:rPr>
              <a:t>Corner Cases</a:t>
            </a:r>
            <a:r>
              <a:rPr lang="en-US" sz="800" dirty="0">
                <a:solidFill>
                  <a:srgbClr val="2E2E38"/>
                </a:solidFill>
                <a:latin typeface="Arial" pitchFamily="34" charset="0"/>
                <a:ea typeface="Arial" pitchFamily="34" charset="-122"/>
                <a:cs typeface="Arial" pitchFamily="34" charset="-120"/>
              </a:rPr>
              <a:t>，并在高负载突发流量下验证流控与整帧丢弃逻辑的鲁棒性。</a:t>
            </a:r>
            <a:endParaRPr lang="en-US" sz="800" dirty="0"/>
          </a:p>
        </p:txBody>
      </p:sp>
      <p:sp>
        <p:nvSpPr>
          <p:cNvPr id="17" name="Text 14"/>
          <p:cNvSpPr/>
          <p:nvPr/>
        </p:nvSpPr>
        <p:spPr>
          <a:xfrm>
            <a:off x="5422106" y="785813"/>
            <a:ext cx="1585913" cy="175022"/>
          </a:xfrm>
          <a:prstGeom prst="rect">
            <a:avLst/>
          </a:prstGeom>
          <a:noFill/>
          <a:ln/>
        </p:spPr>
        <p:txBody>
          <a:bodyPr wrap="square" lIns="0" tIns="0" rIns="0" bIns="0" rtlCol="0" anchor="t">
            <a:spAutoFit/>
          </a:bodyPr>
          <a:lstStyle/>
          <a:p>
            <a:pPr marL="0" indent="0" algn="l">
              <a:buNone/>
            </a:pPr>
            <a:r>
              <a:rPr lang="en-US" sz="900" b="1" dirty="0">
                <a:solidFill>
                  <a:srgbClr val="3253DC"/>
                </a:solidFill>
                <a:latin typeface="Arial" pitchFamily="34" charset="0"/>
                <a:ea typeface="Arial" pitchFamily="34" charset="-122"/>
                <a:cs typeface="Arial" pitchFamily="34" charset="-120"/>
              </a:rPr>
              <a:t>SMMU 验证架构与策略示意</a:t>
            </a:r>
            <a:endParaRPr lang="en-US" sz="900" dirty="0"/>
          </a:p>
        </p:txBody>
      </p:sp>
      <p:sp>
        <p:nvSpPr>
          <p:cNvPr id="18" name="Shape 15"/>
          <p:cNvSpPr/>
          <p:nvPr/>
        </p:nvSpPr>
        <p:spPr>
          <a:xfrm>
            <a:off x="3714750" y="1067991"/>
            <a:ext cx="5000625" cy="3143250"/>
          </a:xfrm>
          <a:prstGeom prst="rect">
            <a:avLst/>
          </a:prstGeom>
          <a:solidFill>
            <a:srgbClr val="FFFFFF"/>
          </a:solidFill>
          <a:ln/>
        </p:spPr>
        <p:txBody>
          <a:bodyPr/>
          <a:lstStyle/>
          <a:p>
            <a:endParaRPr lang="zh-CN" altLang="en-US"/>
          </a:p>
        </p:txBody>
      </p:sp>
      <p:pic>
        <p:nvPicPr>
          <p:cNvPr id="19" name="Image 1" descr="preencoded.png"/>
          <p:cNvPicPr>
            <a:picLocks noChangeAspect="1"/>
          </p:cNvPicPr>
          <p:nvPr/>
        </p:nvPicPr>
        <p:blipFill>
          <a:blip r:embed="rId4"/>
          <a:stretch>
            <a:fillRect/>
          </a:stretch>
        </p:blipFill>
        <p:spPr>
          <a:xfrm>
            <a:off x="3714750" y="1067991"/>
            <a:ext cx="5000625" cy="3143250"/>
          </a:xfrm>
          <a:prstGeom prst="rect">
            <a:avLst/>
          </a:prstGeom>
        </p:spPr>
      </p:pic>
      <p:sp>
        <p:nvSpPr>
          <p:cNvPr id="20" name="Text 16"/>
          <p:cNvSpPr/>
          <p:nvPr/>
        </p:nvSpPr>
        <p:spPr>
          <a:xfrm>
            <a:off x="4884316" y="4211241"/>
            <a:ext cx="2661438" cy="242888"/>
          </a:xfrm>
          <a:prstGeom prst="rect">
            <a:avLst/>
          </a:prstGeom>
          <a:noFill/>
          <a:ln/>
        </p:spPr>
        <p:txBody>
          <a:bodyPr wrap="square" lIns="0" tIns="127508" rIns="0" bIns="0" rtlCol="0" anchor="t">
            <a:spAutoFit/>
          </a:bodyPr>
          <a:lstStyle/>
          <a:p>
            <a:pPr marL="0" indent="0" algn="ctr">
              <a:buNone/>
            </a:pPr>
            <a:r>
              <a:rPr lang="en-US" sz="750" dirty="0">
                <a:solidFill>
                  <a:srgbClr val="6E6E7A"/>
                </a:solidFill>
                <a:latin typeface="Arial" pitchFamily="34" charset="0"/>
                <a:ea typeface="Arial" pitchFamily="34" charset="-122"/>
                <a:cs typeface="Arial" pitchFamily="34" charset="-120"/>
              </a:rPr>
              <a:t>多维度的验证手段共同构筑了 SMMU 设计的高可靠性防线。</a:t>
            </a:r>
            <a:endParaRPr lang="en-US" sz="750" dirty="0"/>
          </a:p>
        </p:txBody>
      </p:sp>
      <p:sp>
        <p:nvSpPr>
          <p:cNvPr id="21" name="Text 17"/>
          <p:cNvSpPr/>
          <p:nvPr/>
        </p:nvSpPr>
        <p:spPr>
          <a:xfrm>
            <a:off x="428625" y="4879181"/>
            <a:ext cx="857473"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SMMU Design Review</a:t>
            </a:r>
            <a:endParaRPr lang="en-US" sz="600" dirty="0"/>
          </a:p>
        </p:txBody>
      </p:sp>
      <p:sp>
        <p:nvSpPr>
          <p:cNvPr id="22" name="Text 18"/>
          <p:cNvSpPr/>
          <p:nvPr/>
        </p:nvSpPr>
        <p:spPr>
          <a:xfrm>
            <a:off x="8395971" y="4879181"/>
            <a:ext cx="319404"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Page 29</a:t>
            </a:r>
            <a:endParaRPr lang="en-US" sz="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71500"/>
          </a:xfrm>
          <a:prstGeom prst="rect">
            <a:avLst/>
          </a:prstGeom>
          <a:solidFill>
            <a:srgbClr val="3253DC"/>
          </a:solidFill>
          <a:ln/>
        </p:spPr>
        <p:txBody>
          <a:bodyPr/>
          <a:lstStyle/>
          <a:p>
            <a:endParaRPr lang="zh-CN" altLang="en-US"/>
          </a:p>
        </p:txBody>
      </p:sp>
      <p:sp>
        <p:nvSpPr>
          <p:cNvPr id="4" name="Text 1"/>
          <p:cNvSpPr/>
          <p:nvPr/>
        </p:nvSpPr>
        <p:spPr>
          <a:xfrm>
            <a:off x="428625" y="130373"/>
            <a:ext cx="3530464" cy="310753"/>
          </a:xfrm>
          <a:prstGeom prst="rect">
            <a:avLst/>
          </a:prstGeom>
          <a:noFill/>
          <a:ln/>
        </p:spPr>
        <p:txBody>
          <a:bodyPr wrap="square" lIns="0" tIns="0" rIns="0" bIns="0" rtlCol="0" anchor="t">
            <a:spAutoFit/>
          </a:bodyPr>
          <a:lstStyle/>
          <a:p>
            <a:pPr marL="0" indent="0" algn="l">
              <a:buNone/>
            </a:pPr>
            <a:r>
              <a:rPr lang="en-US" sz="1600" b="1" dirty="0">
                <a:solidFill>
                  <a:srgbClr val="FFFFFF"/>
                </a:solidFill>
                <a:latin typeface="Arial" pitchFamily="34" charset="0"/>
                <a:ea typeface="Arial" pitchFamily="34" charset="-122"/>
                <a:cs typeface="Arial" pitchFamily="34" charset="-120"/>
              </a:rPr>
              <a:t>设计亮点总结 (Design Highlights)</a:t>
            </a:r>
            <a:endParaRPr lang="en-US" sz="1600" dirty="0"/>
          </a:p>
        </p:txBody>
      </p:sp>
      <p:sp>
        <p:nvSpPr>
          <p:cNvPr id="5" name="Shape 2"/>
          <p:cNvSpPr/>
          <p:nvPr/>
        </p:nvSpPr>
        <p:spPr>
          <a:xfrm>
            <a:off x="428625" y="857250"/>
            <a:ext cx="4036219" cy="1821656"/>
          </a:xfrm>
          <a:prstGeom prst="rect">
            <a:avLst/>
          </a:prstGeom>
          <a:solidFill>
            <a:srgbClr val="FFFFFF"/>
          </a:solidFill>
          <a:ln/>
        </p:spPr>
        <p:txBody>
          <a:bodyPr/>
          <a:lstStyle/>
          <a:p>
            <a:endParaRPr lang="zh-CN" altLang="en-US"/>
          </a:p>
        </p:txBody>
      </p:sp>
      <p:sp>
        <p:nvSpPr>
          <p:cNvPr id="6" name="Shape 3"/>
          <p:cNvSpPr/>
          <p:nvPr/>
        </p:nvSpPr>
        <p:spPr>
          <a:xfrm>
            <a:off x="428625" y="857250"/>
            <a:ext cx="28575" cy="1821656"/>
          </a:xfrm>
          <a:prstGeom prst="rect">
            <a:avLst/>
          </a:prstGeom>
          <a:solidFill>
            <a:srgbClr val="6CA0F6"/>
          </a:solidFill>
          <a:ln/>
        </p:spPr>
        <p:txBody>
          <a:bodyPr/>
          <a:lstStyle/>
          <a:p>
            <a:endParaRPr lang="zh-CN" altLang="en-US"/>
          </a:p>
        </p:txBody>
      </p:sp>
      <p:pic>
        <p:nvPicPr>
          <p:cNvPr id="7" name="Image 1" descr="preencoded.png"/>
          <p:cNvPicPr>
            <a:picLocks noChangeAspect="1"/>
          </p:cNvPicPr>
          <p:nvPr/>
        </p:nvPicPr>
        <p:blipFill>
          <a:blip r:embed="rId4"/>
          <a:stretch>
            <a:fillRect/>
          </a:stretch>
        </p:blipFill>
        <p:spPr>
          <a:xfrm>
            <a:off x="642938" y="1035844"/>
            <a:ext cx="171450" cy="228600"/>
          </a:xfrm>
          <a:prstGeom prst="rect">
            <a:avLst/>
          </a:prstGeom>
        </p:spPr>
      </p:pic>
      <p:sp>
        <p:nvSpPr>
          <p:cNvPr id="8" name="Text 4"/>
          <p:cNvSpPr/>
          <p:nvPr/>
        </p:nvSpPr>
        <p:spPr>
          <a:xfrm>
            <a:off x="957263" y="1035844"/>
            <a:ext cx="2152948" cy="228600"/>
          </a:xfrm>
          <a:prstGeom prst="rect">
            <a:avLst/>
          </a:prstGeom>
          <a:noFill/>
          <a:ln/>
        </p:spPr>
        <p:txBody>
          <a:bodyPr wrap="square" lIns="0" tIns="0" rIns="0" bIns="0" rtlCol="0" anchor="t">
            <a:spAutoFit/>
          </a:bodyPr>
          <a:lstStyle/>
          <a:p>
            <a:pPr marL="0" indent="0" algn="l">
              <a:buNone/>
            </a:pPr>
            <a:r>
              <a:rPr lang="en-US" sz="1200" b="1" dirty="0">
                <a:solidFill>
                  <a:srgbClr val="3253DC"/>
                </a:solidFill>
                <a:latin typeface="Arial" pitchFamily="34" charset="0"/>
                <a:ea typeface="Arial" pitchFamily="34" charset="-122"/>
                <a:cs typeface="Arial" pitchFamily="34" charset="-120"/>
              </a:rPr>
              <a:t>高性能 (High Performance)</a:t>
            </a:r>
            <a:endParaRPr lang="en-US" sz="1200" dirty="0"/>
          </a:p>
        </p:txBody>
      </p:sp>
      <p:sp>
        <p:nvSpPr>
          <p:cNvPr id="9" name="Text 5"/>
          <p:cNvSpPr/>
          <p:nvPr/>
        </p:nvSpPr>
        <p:spPr>
          <a:xfrm>
            <a:off x="642938" y="1407319"/>
            <a:ext cx="3607594" cy="411435"/>
          </a:xfrm>
          <a:prstGeom prst="rect">
            <a:avLst/>
          </a:prstGeom>
          <a:noFill/>
          <a:ln/>
        </p:spPr>
        <p:txBody>
          <a:bodyPr wrap="squar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严格的 </a:t>
            </a:r>
            <a:r>
              <a:rPr lang="en-US" sz="800" b="1" dirty="0">
                <a:solidFill>
                  <a:srgbClr val="2E2E38"/>
                </a:solidFill>
                <a:latin typeface="Arial" pitchFamily="34" charset="0"/>
                <a:ea typeface="Arial" pitchFamily="34" charset="-122"/>
                <a:cs typeface="Arial" pitchFamily="34" charset="-120"/>
              </a:rPr>
              <a:t>1 拍命令响应</a:t>
            </a:r>
            <a:r>
              <a:rPr lang="en-US" sz="850" dirty="0">
                <a:solidFill>
                  <a:srgbClr val="2E2E38"/>
                </a:solidFill>
                <a:latin typeface="Arial" pitchFamily="34" charset="0"/>
                <a:ea typeface="Arial" pitchFamily="34" charset="-122"/>
                <a:cs typeface="Arial" pitchFamily="34" charset="-120"/>
              </a:rPr>
              <a:t> 时序，配合两级预取流水线，完美吸收 SRAM 延迟，支撑全线速、零空泡的报文转发性能。</a:t>
            </a:r>
            <a:endParaRPr lang="en-US" sz="850" dirty="0"/>
          </a:p>
        </p:txBody>
      </p:sp>
      <p:sp>
        <p:nvSpPr>
          <p:cNvPr id="10" name="Shape 6"/>
          <p:cNvSpPr/>
          <p:nvPr/>
        </p:nvSpPr>
        <p:spPr>
          <a:xfrm>
            <a:off x="4679156" y="857250"/>
            <a:ext cx="4036219" cy="1821656"/>
          </a:xfrm>
          <a:prstGeom prst="rect">
            <a:avLst/>
          </a:prstGeom>
          <a:solidFill>
            <a:srgbClr val="FFFFFF"/>
          </a:solidFill>
          <a:ln/>
        </p:spPr>
        <p:txBody>
          <a:bodyPr/>
          <a:lstStyle/>
          <a:p>
            <a:endParaRPr lang="zh-CN" altLang="en-US"/>
          </a:p>
        </p:txBody>
      </p:sp>
      <p:sp>
        <p:nvSpPr>
          <p:cNvPr id="11" name="Shape 7"/>
          <p:cNvSpPr/>
          <p:nvPr/>
        </p:nvSpPr>
        <p:spPr>
          <a:xfrm>
            <a:off x="4679156" y="857250"/>
            <a:ext cx="28575" cy="1821656"/>
          </a:xfrm>
          <a:prstGeom prst="rect">
            <a:avLst/>
          </a:prstGeom>
          <a:solidFill>
            <a:srgbClr val="6CA0F6"/>
          </a:solidFill>
          <a:ln/>
        </p:spPr>
        <p:txBody>
          <a:bodyPr/>
          <a:lstStyle/>
          <a:p>
            <a:endParaRPr lang="zh-CN" altLang="en-US"/>
          </a:p>
        </p:txBody>
      </p:sp>
      <p:pic>
        <p:nvPicPr>
          <p:cNvPr id="12" name="Image 2" descr="preencoded.png"/>
          <p:cNvPicPr>
            <a:picLocks noChangeAspect="1"/>
          </p:cNvPicPr>
          <p:nvPr/>
        </p:nvPicPr>
        <p:blipFill>
          <a:blip r:embed="rId5"/>
          <a:stretch>
            <a:fillRect/>
          </a:stretch>
        </p:blipFill>
        <p:spPr>
          <a:xfrm>
            <a:off x="4893469" y="1035844"/>
            <a:ext cx="228600" cy="228600"/>
          </a:xfrm>
          <a:prstGeom prst="rect">
            <a:avLst/>
          </a:prstGeom>
        </p:spPr>
      </p:pic>
      <p:sp>
        <p:nvSpPr>
          <p:cNvPr id="13" name="Text 8"/>
          <p:cNvSpPr/>
          <p:nvPr/>
        </p:nvSpPr>
        <p:spPr>
          <a:xfrm>
            <a:off x="5264944" y="1035844"/>
            <a:ext cx="1914692" cy="228600"/>
          </a:xfrm>
          <a:prstGeom prst="rect">
            <a:avLst/>
          </a:prstGeom>
          <a:noFill/>
          <a:ln/>
        </p:spPr>
        <p:txBody>
          <a:bodyPr wrap="square" lIns="0" tIns="0" rIns="0" bIns="0" rtlCol="0" anchor="t">
            <a:spAutoFit/>
          </a:bodyPr>
          <a:lstStyle/>
          <a:p>
            <a:pPr marL="0" indent="0" algn="l">
              <a:buNone/>
            </a:pPr>
            <a:r>
              <a:rPr lang="en-US" sz="1200" b="1" dirty="0">
                <a:solidFill>
                  <a:srgbClr val="3253DC"/>
                </a:solidFill>
                <a:latin typeface="Arial" pitchFamily="34" charset="0"/>
                <a:ea typeface="Arial" pitchFamily="34" charset="-122"/>
                <a:cs typeface="Arial" pitchFamily="34" charset="-120"/>
              </a:rPr>
              <a:t>高效率 (High Efficiency)</a:t>
            </a:r>
            <a:endParaRPr lang="en-US" sz="1200" dirty="0"/>
          </a:p>
        </p:txBody>
      </p:sp>
      <p:sp>
        <p:nvSpPr>
          <p:cNvPr id="14" name="Text 9"/>
          <p:cNvSpPr/>
          <p:nvPr/>
        </p:nvSpPr>
        <p:spPr>
          <a:xfrm>
            <a:off x="4893469" y="1407319"/>
            <a:ext cx="3607594" cy="411435"/>
          </a:xfrm>
          <a:prstGeom prst="rect">
            <a:avLst/>
          </a:prstGeom>
          <a:noFill/>
          <a:ln/>
        </p:spPr>
        <p:txBody>
          <a:bodyPr wrap="squar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采用 </a:t>
            </a:r>
            <a:r>
              <a:rPr lang="en-US" sz="800" b="1" dirty="0">
                <a:solidFill>
                  <a:srgbClr val="2E2E38"/>
                </a:solidFill>
                <a:latin typeface="Arial" pitchFamily="34" charset="0"/>
                <a:ea typeface="Arial" pitchFamily="34" charset="-122"/>
                <a:cs typeface="Arial" pitchFamily="34" charset="-120"/>
              </a:rPr>
              <a:t>数据与地址分离</a:t>
            </a:r>
            <a:r>
              <a:rPr lang="en-US" sz="850" dirty="0">
                <a:solidFill>
                  <a:srgbClr val="2E2E38"/>
                </a:solidFill>
                <a:latin typeface="Arial" pitchFamily="34" charset="0"/>
                <a:ea typeface="Arial" pitchFamily="34" charset="-122"/>
                <a:cs typeface="Arial" pitchFamily="34" charset="-120"/>
              </a:rPr>
              <a:t> 的核心思想，通过链表化管理实现缓存资源的动态共享，极大提升了 SRAM 的存储密度与利用率。</a:t>
            </a:r>
            <a:endParaRPr lang="en-US" sz="850" dirty="0"/>
          </a:p>
        </p:txBody>
      </p:sp>
      <p:sp>
        <p:nvSpPr>
          <p:cNvPr id="15" name="Shape 10"/>
          <p:cNvSpPr/>
          <p:nvPr/>
        </p:nvSpPr>
        <p:spPr>
          <a:xfrm>
            <a:off x="428625" y="2893219"/>
            <a:ext cx="4036219" cy="1821656"/>
          </a:xfrm>
          <a:prstGeom prst="rect">
            <a:avLst/>
          </a:prstGeom>
          <a:solidFill>
            <a:srgbClr val="FFFFFF"/>
          </a:solidFill>
          <a:ln/>
        </p:spPr>
        <p:txBody>
          <a:bodyPr/>
          <a:lstStyle/>
          <a:p>
            <a:endParaRPr lang="zh-CN" altLang="en-US"/>
          </a:p>
        </p:txBody>
      </p:sp>
      <p:sp>
        <p:nvSpPr>
          <p:cNvPr id="16" name="Shape 11"/>
          <p:cNvSpPr/>
          <p:nvPr/>
        </p:nvSpPr>
        <p:spPr>
          <a:xfrm>
            <a:off x="428625" y="2893219"/>
            <a:ext cx="28575" cy="1821656"/>
          </a:xfrm>
          <a:prstGeom prst="rect">
            <a:avLst/>
          </a:prstGeom>
          <a:solidFill>
            <a:srgbClr val="6CA0F6"/>
          </a:solidFill>
          <a:ln/>
        </p:spPr>
        <p:txBody>
          <a:bodyPr/>
          <a:lstStyle/>
          <a:p>
            <a:endParaRPr lang="zh-CN" altLang="en-US"/>
          </a:p>
        </p:txBody>
      </p:sp>
      <p:pic>
        <p:nvPicPr>
          <p:cNvPr id="17" name="Image 3" descr="preencoded.png"/>
          <p:cNvPicPr>
            <a:picLocks noChangeAspect="1"/>
          </p:cNvPicPr>
          <p:nvPr/>
        </p:nvPicPr>
        <p:blipFill>
          <a:blip r:embed="rId6"/>
          <a:stretch>
            <a:fillRect/>
          </a:stretch>
        </p:blipFill>
        <p:spPr>
          <a:xfrm>
            <a:off x="642938" y="3071813"/>
            <a:ext cx="285750" cy="228600"/>
          </a:xfrm>
          <a:prstGeom prst="rect">
            <a:avLst/>
          </a:prstGeom>
        </p:spPr>
      </p:pic>
      <p:sp>
        <p:nvSpPr>
          <p:cNvPr id="18" name="Text 12"/>
          <p:cNvSpPr/>
          <p:nvPr/>
        </p:nvSpPr>
        <p:spPr>
          <a:xfrm>
            <a:off x="1071563" y="3071813"/>
            <a:ext cx="1466980" cy="228600"/>
          </a:xfrm>
          <a:prstGeom prst="rect">
            <a:avLst/>
          </a:prstGeom>
          <a:noFill/>
          <a:ln/>
        </p:spPr>
        <p:txBody>
          <a:bodyPr wrap="square" lIns="0" tIns="0" rIns="0" bIns="0" rtlCol="0" anchor="t">
            <a:spAutoFit/>
          </a:bodyPr>
          <a:lstStyle/>
          <a:p>
            <a:pPr marL="0" indent="0" algn="l">
              <a:buNone/>
            </a:pPr>
            <a:r>
              <a:rPr lang="en-US" sz="1200" b="1" dirty="0">
                <a:solidFill>
                  <a:srgbClr val="3253DC"/>
                </a:solidFill>
                <a:latin typeface="Arial" pitchFamily="34" charset="0"/>
                <a:ea typeface="Arial" pitchFamily="34" charset="-122"/>
                <a:cs typeface="Arial" pitchFamily="34" charset="-120"/>
              </a:rPr>
              <a:t>灵活性 (Flexibility)</a:t>
            </a:r>
            <a:endParaRPr lang="en-US" sz="1200" dirty="0"/>
          </a:p>
        </p:txBody>
      </p:sp>
      <p:sp>
        <p:nvSpPr>
          <p:cNvPr id="19" name="Text 13"/>
          <p:cNvSpPr/>
          <p:nvPr/>
        </p:nvSpPr>
        <p:spPr>
          <a:xfrm>
            <a:off x="642938" y="3443288"/>
            <a:ext cx="3607594" cy="411435"/>
          </a:xfrm>
          <a:prstGeom prst="rect">
            <a:avLst/>
          </a:prstGeom>
          <a:noFill/>
          <a:ln/>
        </p:spPr>
        <p:txBody>
          <a:bodyPr wrap="squar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全模块 </a:t>
            </a:r>
            <a:r>
              <a:rPr lang="en-US" sz="800" b="1" dirty="0">
                <a:solidFill>
                  <a:srgbClr val="2E2E38"/>
                </a:solidFill>
                <a:latin typeface="Arial" pitchFamily="34" charset="0"/>
                <a:ea typeface="Arial" pitchFamily="34" charset="-122"/>
                <a:cs typeface="Arial" pitchFamily="34" charset="-120"/>
              </a:rPr>
              <a:t>参数化设计</a:t>
            </a:r>
            <a:r>
              <a:rPr lang="en-US" sz="850" dirty="0">
                <a:solidFill>
                  <a:srgbClr val="2E2E38"/>
                </a:solidFill>
                <a:latin typeface="Arial" pitchFamily="34" charset="0"/>
                <a:ea typeface="Arial" pitchFamily="34" charset="-122"/>
                <a:cs typeface="Arial" pitchFamily="34" charset="-120"/>
              </a:rPr>
              <a:t>，支持队列数、缓存深度、端口位宽的灵活配置，能够快速适配不同规格的交换芯片设计需求。</a:t>
            </a:r>
            <a:endParaRPr lang="en-US" sz="850" dirty="0"/>
          </a:p>
        </p:txBody>
      </p:sp>
      <p:sp>
        <p:nvSpPr>
          <p:cNvPr id="20" name="Shape 14"/>
          <p:cNvSpPr/>
          <p:nvPr/>
        </p:nvSpPr>
        <p:spPr>
          <a:xfrm>
            <a:off x="4679156" y="2893219"/>
            <a:ext cx="4036219" cy="1821656"/>
          </a:xfrm>
          <a:prstGeom prst="rect">
            <a:avLst/>
          </a:prstGeom>
          <a:solidFill>
            <a:srgbClr val="FFFFFF"/>
          </a:solidFill>
          <a:ln/>
        </p:spPr>
        <p:txBody>
          <a:bodyPr/>
          <a:lstStyle/>
          <a:p>
            <a:endParaRPr lang="zh-CN" altLang="en-US"/>
          </a:p>
        </p:txBody>
      </p:sp>
      <p:sp>
        <p:nvSpPr>
          <p:cNvPr id="21" name="Shape 15"/>
          <p:cNvSpPr/>
          <p:nvPr/>
        </p:nvSpPr>
        <p:spPr>
          <a:xfrm>
            <a:off x="4679156" y="2893219"/>
            <a:ext cx="28575" cy="1821656"/>
          </a:xfrm>
          <a:prstGeom prst="rect">
            <a:avLst/>
          </a:prstGeom>
          <a:solidFill>
            <a:srgbClr val="6CA0F6"/>
          </a:solidFill>
          <a:ln/>
        </p:spPr>
        <p:txBody>
          <a:bodyPr/>
          <a:lstStyle/>
          <a:p>
            <a:endParaRPr lang="zh-CN" altLang="en-US"/>
          </a:p>
        </p:txBody>
      </p:sp>
      <p:pic>
        <p:nvPicPr>
          <p:cNvPr id="22" name="Image 4" descr="preencoded.png"/>
          <p:cNvPicPr>
            <a:picLocks noChangeAspect="1"/>
          </p:cNvPicPr>
          <p:nvPr/>
        </p:nvPicPr>
        <p:blipFill>
          <a:blip r:embed="rId7"/>
          <a:stretch>
            <a:fillRect/>
          </a:stretch>
        </p:blipFill>
        <p:spPr>
          <a:xfrm>
            <a:off x="4893469" y="3071813"/>
            <a:ext cx="228600" cy="228600"/>
          </a:xfrm>
          <a:prstGeom prst="rect">
            <a:avLst/>
          </a:prstGeom>
        </p:spPr>
      </p:pic>
      <p:sp>
        <p:nvSpPr>
          <p:cNvPr id="23" name="Text 16"/>
          <p:cNvSpPr/>
          <p:nvPr/>
        </p:nvSpPr>
        <p:spPr>
          <a:xfrm>
            <a:off x="5264944" y="3071813"/>
            <a:ext cx="1657406" cy="228600"/>
          </a:xfrm>
          <a:prstGeom prst="rect">
            <a:avLst/>
          </a:prstGeom>
          <a:noFill/>
          <a:ln/>
        </p:spPr>
        <p:txBody>
          <a:bodyPr wrap="square" lIns="0" tIns="0" rIns="0" bIns="0" rtlCol="0" anchor="t">
            <a:spAutoFit/>
          </a:bodyPr>
          <a:lstStyle/>
          <a:p>
            <a:pPr marL="0" indent="0" algn="l">
              <a:buNone/>
            </a:pPr>
            <a:r>
              <a:rPr lang="en-US" sz="1200" b="1" dirty="0">
                <a:solidFill>
                  <a:srgbClr val="3253DC"/>
                </a:solidFill>
                <a:latin typeface="Arial" pitchFamily="34" charset="0"/>
                <a:ea typeface="Arial" pitchFamily="34" charset="-122"/>
                <a:cs typeface="Arial" pitchFamily="34" charset="-120"/>
              </a:rPr>
              <a:t>鲁棒性 (Robustness)</a:t>
            </a:r>
            <a:endParaRPr lang="en-US" sz="1200" dirty="0"/>
          </a:p>
        </p:txBody>
      </p:sp>
      <p:sp>
        <p:nvSpPr>
          <p:cNvPr id="24" name="Text 17"/>
          <p:cNvSpPr/>
          <p:nvPr/>
        </p:nvSpPr>
        <p:spPr>
          <a:xfrm>
            <a:off x="4893469" y="3443288"/>
            <a:ext cx="3607594" cy="411435"/>
          </a:xfrm>
          <a:prstGeom prst="rect">
            <a:avLst/>
          </a:prstGeom>
          <a:noFill/>
          <a:ln/>
        </p:spPr>
        <p:txBody>
          <a:bodyPr wrap="square" lIns="0" tIns="0" rIns="0" bIns="0" rtlCol="0" anchor="t">
            <a:spAutoFit/>
          </a:bodyPr>
          <a:lstStyle/>
          <a:p>
            <a:pPr marL="0" indent="0" algn="l">
              <a:lnSpc>
                <a:spcPct val="144000"/>
              </a:lnSpc>
              <a:buNone/>
            </a:pPr>
            <a:r>
              <a:rPr lang="en-US" sz="850" dirty="0">
                <a:solidFill>
                  <a:srgbClr val="2E2E38"/>
                </a:solidFill>
                <a:latin typeface="Arial" pitchFamily="34" charset="0"/>
                <a:ea typeface="Arial" pitchFamily="34" charset="-122"/>
                <a:cs typeface="Arial" pitchFamily="34" charset="-120"/>
              </a:rPr>
              <a:t>集成了精细的 </a:t>
            </a:r>
            <a:r>
              <a:rPr lang="en-US" sz="800" b="1" dirty="0">
                <a:solidFill>
                  <a:srgbClr val="2E2E38"/>
                </a:solidFill>
                <a:latin typeface="Arial" pitchFamily="34" charset="0"/>
                <a:ea typeface="Arial" pitchFamily="34" charset="-122"/>
                <a:cs typeface="Arial" pitchFamily="34" charset="-120"/>
              </a:rPr>
              <a:t>三级流控反馈</a:t>
            </a:r>
            <a:r>
              <a:rPr lang="en-US" sz="850" dirty="0">
                <a:solidFill>
                  <a:srgbClr val="2E2E38"/>
                </a:solidFill>
                <a:latin typeface="Arial" pitchFamily="34" charset="0"/>
                <a:ea typeface="Arial" pitchFamily="34" charset="-122"/>
                <a:cs typeface="Arial" pitchFamily="34" charset="-120"/>
              </a:rPr>
              <a:t>、整帧丢弃保护以及主动老化冲刷机制，确保系统在极端拥塞或异常场景下依然稳定可靠。</a:t>
            </a:r>
            <a:endParaRPr lang="en-US" sz="850" dirty="0"/>
          </a:p>
        </p:txBody>
      </p:sp>
      <p:sp>
        <p:nvSpPr>
          <p:cNvPr id="25" name="Text 18"/>
          <p:cNvSpPr/>
          <p:nvPr/>
        </p:nvSpPr>
        <p:spPr>
          <a:xfrm>
            <a:off x="428625" y="4879181"/>
            <a:ext cx="857473"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SMMU Design Review</a:t>
            </a:r>
            <a:endParaRPr lang="en-US" sz="600" dirty="0"/>
          </a:p>
        </p:txBody>
      </p:sp>
      <p:sp>
        <p:nvSpPr>
          <p:cNvPr id="26" name="Text 19"/>
          <p:cNvSpPr/>
          <p:nvPr/>
        </p:nvSpPr>
        <p:spPr>
          <a:xfrm>
            <a:off x="8395971" y="4879181"/>
            <a:ext cx="319404" cy="100013"/>
          </a:xfrm>
          <a:prstGeom prst="rect">
            <a:avLst/>
          </a:prstGeom>
          <a:noFill/>
          <a:ln/>
        </p:spPr>
        <p:txBody>
          <a:bodyPr wrap="none" lIns="0" tIns="0" rIns="0" bIns="0" rtlCol="0" anchor="t">
            <a:spAutoFit/>
          </a:bodyPr>
          <a:lstStyle/>
          <a:p>
            <a:pPr marL="0" indent="0" algn="l">
              <a:buNone/>
            </a:pPr>
            <a:r>
              <a:rPr lang="en-US" sz="600" dirty="0">
                <a:solidFill>
                  <a:srgbClr val="6E6E7A"/>
                </a:solidFill>
                <a:latin typeface="Arial" pitchFamily="34" charset="0"/>
                <a:ea typeface="Arial" pitchFamily="34" charset="-122"/>
                <a:cs typeface="Arial" pitchFamily="34" charset="-120"/>
              </a:rPr>
              <a:t>Page 30</a:t>
            </a:r>
            <a:endParaRPr lang="en-US" sz="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2311561" y="173236"/>
            <a:ext cx="4520878" cy="617934"/>
          </a:xfrm>
          <a:prstGeom prst="rect">
            <a:avLst/>
          </a:prstGeom>
          <a:noFill/>
          <a:ln/>
        </p:spPr>
        <p:txBody>
          <a:bodyPr wrap="square" lIns="0" tIns="0" rIns="0" bIns="0" rtlCol="0" anchor="t">
            <a:spAutoFit/>
          </a:bodyPr>
          <a:lstStyle/>
          <a:p>
            <a:pPr marL="0" indent="0" algn="l">
              <a:buNone/>
            </a:pPr>
            <a:r>
              <a:rPr lang="en-US" sz="3300" b="1" kern="0" spc="2" dirty="0">
                <a:solidFill>
                  <a:srgbClr val="FFFFFF"/>
                </a:solidFill>
                <a:latin typeface="Arial" pitchFamily="34" charset="0"/>
                <a:ea typeface="Arial" pitchFamily="34" charset="-122"/>
                <a:cs typeface="Arial" pitchFamily="34" charset="-120"/>
              </a:rPr>
              <a:t>结束语 (Conclusion)</a:t>
            </a:r>
            <a:endParaRPr lang="en-US" sz="3300" dirty="0"/>
          </a:p>
        </p:txBody>
      </p:sp>
      <p:sp>
        <p:nvSpPr>
          <p:cNvPr id="4" name="Text 1"/>
          <p:cNvSpPr/>
          <p:nvPr/>
        </p:nvSpPr>
        <p:spPr>
          <a:xfrm>
            <a:off x="3671888" y="934045"/>
            <a:ext cx="1800225" cy="271463"/>
          </a:xfrm>
          <a:prstGeom prst="rect">
            <a:avLst/>
          </a:prstGeom>
          <a:noFill/>
          <a:ln/>
        </p:spPr>
        <p:txBody>
          <a:bodyPr wrap="square" lIns="0" tIns="0" rIns="0" bIns="0" rtlCol="0" anchor="t">
            <a:spAutoFit/>
          </a:bodyPr>
          <a:lstStyle/>
          <a:p>
            <a:pPr marL="0" indent="0" algn="l">
              <a:buNone/>
            </a:pPr>
            <a:r>
              <a:rPr lang="en-US" sz="1400" b="1" dirty="0">
                <a:solidFill>
                  <a:srgbClr val="00C2DE"/>
                </a:solidFill>
                <a:latin typeface="Arial" pitchFamily="34" charset="0"/>
                <a:ea typeface="Arial" pitchFamily="34" charset="-122"/>
                <a:cs typeface="Arial" pitchFamily="34" charset="-120"/>
              </a:rPr>
              <a:t>感谢您的关注与支持</a:t>
            </a:r>
            <a:endParaRPr lang="en-US" sz="1400" dirty="0"/>
          </a:p>
        </p:txBody>
      </p:sp>
      <p:pic>
        <p:nvPicPr>
          <p:cNvPr id="5" name="Image 1" descr="preencoded.png"/>
          <p:cNvPicPr>
            <a:picLocks noChangeAspect="1"/>
          </p:cNvPicPr>
          <p:nvPr/>
        </p:nvPicPr>
        <p:blipFill>
          <a:blip r:embed="rId4"/>
          <a:stretch>
            <a:fillRect/>
          </a:stretch>
        </p:blipFill>
        <p:spPr>
          <a:xfrm>
            <a:off x="4214813" y="1659136"/>
            <a:ext cx="714375" cy="571500"/>
          </a:xfrm>
          <a:prstGeom prst="rect">
            <a:avLst/>
          </a:prstGeom>
        </p:spPr>
      </p:pic>
      <p:sp>
        <p:nvSpPr>
          <p:cNvPr id="6" name="Text 2"/>
          <p:cNvSpPr/>
          <p:nvPr/>
        </p:nvSpPr>
        <p:spPr>
          <a:xfrm>
            <a:off x="4219556" y="2434233"/>
            <a:ext cx="704887" cy="292894"/>
          </a:xfrm>
          <a:prstGeom prst="rect">
            <a:avLst/>
          </a:prstGeom>
          <a:noFill/>
          <a:ln/>
        </p:spPr>
        <p:txBody>
          <a:bodyPr wrap="none" lIns="0" tIns="0" rIns="0" bIns="0" rtlCol="0" anchor="t">
            <a:spAutoFit/>
          </a:bodyPr>
          <a:lstStyle/>
          <a:p>
            <a:pPr marL="0" indent="0" algn="l">
              <a:buNone/>
            </a:pPr>
            <a:r>
              <a:rPr lang="en-US" sz="1800" b="1" dirty="0">
                <a:solidFill>
                  <a:srgbClr val="FFFFFF"/>
                </a:solidFill>
                <a:latin typeface="Arial" pitchFamily="34" charset="0"/>
                <a:ea typeface="Arial" pitchFamily="34" charset="-122"/>
                <a:cs typeface="Arial" pitchFamily="34" charset="-120"/>
              </a:rPr>
              <a:t>Q &amp; A</a:t>
            </a:r>
            <a:endParaRPr lang="en-US" sz="1800" dirty="0"/>
          </a:p>
        </p:txBody>
      </p:sp>
      <p:sp>
        <p:nvSpPr>
          <p:cNvPr id="7" name="Shape 3"/>
          <p:cNvSpPr/>
          <p:nvPr/>
        </p:nvSpPr>
        <p:spPr>
          <a:xfrm>
            <a:off x="2928938" y="3155752"/>
            <a:ext cx="3286125" cy="1814513"/>
          </a:xfrm>
          <a:prstGeom prst="rect">
            <a:avLst/>
          </a:prstGeom>
          <a:solidFill>
            <a:srgbClr val="FFFFFF">
              <a:alpha val="10000"/>
            </a:srgbClr>
          </a:solidFill>
          <a:ln/>
        </p:spPr>
        <p:txBody>
          <a:bodyPr/>
          <a:lstStyle/>
          <a:p>
            <a:endParaRPr lang="zh-CN" altLang="en-US"/>
          </a:p>
        </p:txBody>
      </p:sp>
      <p:sp>
        <p:nvSpPr>
          <p:cNvPr id="8" name="Text 4"/>
          <p:cNvSpPr/>
          <p:nvPr/>
        </p:nvSpPr>
        <p:spPr>
          <a:xfrm>
            <a:off x="3671888" y="3298627"/>
            <a:ext cx="1800225" cy="135731"/>
          </a:xfrm>
          <a:prstGeom prst="rect">
            <a:avLst/>
          </a:prstGeom>
          <a:noFill/>
          <a:ln/>
        </p:spPr>
        <p:txBody>
          <a:bodyPr wrap="square" lIns="0" tIns="0" rIns="0" bIns="0" rtlCol="0" anchor="t">
            <a:spAutoFit/>
          </a:bodyPr>
          <a:lstStyle/>
          <a:p>
            <a:pPr marL="0" indent="0" algn="l">
              <a:buNone/>
            </a:pPr>
            <a:r>
              <a:rPr lang="en-US" sz="700" b="1" dirty="0">
                <a:solidFill>
                  <a:srgbClr val="00C2DE"/>
                </a:solidFill>
                <a:latin typeface="Arial" pitchFamily="34" charset="0"/>
                <a:ea typeface="Arial" pitchFamily="34" charset="-122"/>
                <a:cs typeface="Arial" pitchFamily="34" charset="-120"/>
              </a:rPr>
              <a:t>核心设计回顾：基于链表的动态缓存管理</a:t>
            </a:r>
            <a:endParaRPr lang="en-US" sz="700" dirty="0"/>
          </a:p>
        </p:txBody>
      </p:sp>
      <p:sp>
        <p:nvSpPr>
          <p:cNvPr id="9" name="Shape 5"/>
          <p:cNvSpPr/>
          <p:nvPr/>
        </p:nvSpPr>
        <p:spPr>
          <a:xfrm>
            <a:off x="3143250" y="3541514"/>
            <a:ext cx="2857500" cy="1428750"/>
          </a:xfrm>
          <a:prstGeom prst="rect">
            <a:avLst/>
          </a:prstGeom>
          <a:solidFill>
            <a:srgbClr val="FFFFFF"/>
          </a:solidFill>
          <a:ln/>
        </p:spPr>
        <p:txBody>
          <a:bodyPr/>
          <a:lstStyle/>
          <a:p>
            <a:endParaRPr lang="zh-CN" altLang="en-US"/>
          </a:p>
        </p:txBody>
      </p:sp>
      <p:pic>
        <p:nvPicPr>
          <p:cNvPr id="10" name="Image 2" descr="preencoded.png"/>
          <p:cNvPicPr>
            <a:picLocks noChangeAspect="1"/>
          </p:cNvPicPr>
          <p:nvPr/>
        </p:nvPicPr>
        <p:blipFill>
          <a:blip r:embed="rId5"/>
          <a:stretch>
            <a:fillRect/>
          </a:stretch>
        </p:blipFill>
        <p:spPr>
          <a:xfrm>
            <a:off x="3143250" y="3541514"/>
            <a:ext cx="2857500" cy="1428750"/>
          </a:xfrm>
          <a:prstGeom prst="rect">
            <a:avLst/>
          </a:prstGeom>
        </p:spPr>
      </p:pic>
      <p:sp>
        <p:nvSpPr>
          <p:cNvPr id="11" name="Text 6"/>
          <p:cNvSpPr/>
          <p:nvPr/>
        </p:nvSpPr>
        <p:spPr>
          <a:xfrm>
            <a:off x="3639350" y="4722019"/>
            <a:ext cx="1865244" cy="135731"/>
          </a:xfrm>
          <a:prstGeom prst="rect">
            <a:avLst/>
          </a:prstGeom>
          <a:noFill/>
          <a:ln/>
        </p:spPr>
        <p:txBody>
          <a:bodyPr wrap="square" lIns="0" tIns="0" rIns="0" bIns="0" rtlCol="0" anchor="t">
            <a:spAutoFit/>
          </a:bodyPr>
          <a:lstStyle/>
          <a:p>
            <a:pPr marL="0" indent="0" algn="l">
              <a:buNone/>
            </a:pPr>
            <a:r>
              <a:rPr lang="en-US" sz="750" dirty="0">
                <a:solidFill>
                  <a:srgbClr val="FFFFFF">
                    <a:alpha val="60000"/>
                  </a:srgbClr>
                </a:solidFill>
                <a:latin typeface="Arial" pitchFamily="34" charset="0"/>
                <a:ea typeface="Arial" pitchFamily="34" charset="-122"/>
                <a:cs typeface="Arial" pitchFamily="34" charset="-120"/>
              </a:rPr>
              <a:t>Smart MMU (SMMU) 设计模块讲解 | 2026</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8f6f869-1ed0-46b3-a227-1d3e52347e28}" enabled="1" method="Standard" siteId="{98e9ba89-e1a1-4e38-9007-8bdabc25de1d}" removed="0"/>
</clbl:labelList>
</file>

<file path=docProps/app.xml><?xml version="1.0" encoding="utf-8"?>
<Properties xmlns="http://schemas.openxmlformats.org/officeDocument/2006/extended-properties" xmlns:vt="http://schemas.openxmlformats.org/officeDocument/2006/docPropsVTypes">
  <TotalTime>161</TotalTime>
  <Words>2860</Words>
  <Application>Microsoft Office PowerPoint</Application>
  <PresentationFormat>On-screen Show (16:9)</PresentationFormat>
  <Paragraphs>626</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Jinyin Yan</cp:lastModifiedBy>
  <cp:revision>3</cp:revision>
  <dcterms:created xsi:type="dcterms:W3CDTF">2026-07-16T13:34:12Z</dcterms:created>
  <dcterms:modified xsi:type="dcterms:W3CDTF">2026-07-19T05:43:07Z</dcterms:modified>
</cp:coreProperties>
</file>